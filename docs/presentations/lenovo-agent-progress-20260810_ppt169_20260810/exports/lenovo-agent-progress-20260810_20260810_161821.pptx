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  <Relationship Id="rId1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这次汇报只回答一个问题：七一六 v2 之后，我们把架构共识推进到了什么可验证程度。答案是，四个已经合并的 Pull Request，把治理要求、服务端任务事实、固定场景执行和真实浏览器界面连成了一条可审查证据链。这里的关键词是可审查，而不是生产级完成；真实持久恢复、连接器和用户价值仍然需要后续证据。</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先给结论，四个 Pull Request 已经形成了一个受治理的 Demo 1 纵切。第一个固定场景、来源和协议，第二个建立 TaskStore、接口、事件流和真实 Task Bar，第三个加入固定循环、局部冲突、控制与提交，第四个把同一份服务端 Snapshot 投影到交付物工作区并完成浏览器验证。这个链条证明工程路径已经串通，但不能被扩展成通用后台长任务或生产验收结论。</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为了避免后端先行、前台补图和来源失联，我们把七一六 v2 的反馈写成了三项完成门槛。每个推进都必须说明用户看见什么、这个状态由哪个服务端事实产生，以及设计判断来自哪一条可追溯来源。Prompt、思维链、Worker 内部对话、密钥和底层堆栈默认隐藏，因为它们不会帮助用户做决定。缺少任何一项，内容都不能进入完成结论。</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在写 Runtime 代码之前，我们先把来源按证明力分级。用户反馈和会议材料证明需求与演示输入，ReAct、LangGraph 和 NIST 支持设计原则，只有提交、源码、测试、截图和端到端运行才能证明本地实现。与此同时，我们固定了 Task、Branch、ArtifactVersion、VerificationReport、ConflictRecord、ControlEvent、TaskEvent 和 TaskCommit 等核心实体。PR 四的三十七个 Python 测试只证明协议、类型和治理入口，并不证明 Store、事件流或前台已经运行。</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有了协议以后，PR 五解决的是 Task Bar 的真值来源。前台读取 Task ID、目标、阶段、预算和版本，接口提供创建、列表、详情与按 after 游标读取的 Task SSE，Store 则保存 Snapshot、事件和工件版本，并执行 Owner 隔离与创建幂等。针对性七个测试和全量四十四个 Python 测试验证了内存路径。PostgreSQL 目前只有保存代码路径，没有本机实跑、进程重启、多实例通知或浏览器端到端证据。</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在服务端 Task 真值之上，PR 六加入固定客户 A 的受控状态转换。Start 在一次原子 mutation 中物化 Observe、Plan、Act 和 Verify，正式口径二千四百万元与预测口径二千六百八十万元只阻塞经营分析分支，其他分支仍可形成已验证工件。只有最后一个冲突解决、经营分析重新验证、客户回复更新到第三版以后，服务端才生成 TaskCommit 和 state hash。针对性十五个与全量五十六个 Python 测试支持这条固定路径，但它不是后台持续调度，Steer 也只能表述为已经记录、等待后续循环应用。</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接下来把视线转到用户真正看到的界面。右侧 Task Runtime 与左侧 Artifact Workspace 共享同一份 Snapshot，分支 head、版本、结构化内容、验证、冲突、lineage 和 Commit 都来自服务端，前端不会补造工件或完成状态。固定三类工件使用 allowlist，未知字段和不安全的 source reference 默认隐藏，但这只是前端第二道投影，不是服务端通用脱敏保证。System Edge 的两条端到端用例覆盖了主路径和发送前失败恢复，主路径终态是一项任务、三个已提交分支和七个唯一工件版本。</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这张图是以后每次前端设计都要回看的事实映射。Task Bar 对应 TaskSnapshot，分支与冲突对应 branches、conflicts 和事件，工件区对应 artifact versions、verification reports 与 last commit，控制动作必须等待服务端 mutation 返回新的 Snapshot。Action Gate 仍然读取独立的 RunSnapshot，所以 Task Runtime 与副作用动作目前还是两条事实链。SSE 只负责发现变化，随后必须重新读取 Snapshot 对账；连接颜色、动画和 Toast 都不是业务真值。</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为了让进度可复核，我们把证据按类型分别计数。四表示四个已合并 Pull Request，五十六表示 PR 六时点的全量 Python 回归，二表示 PR 七的 system Edge 浏览器端到端用例，五表示带实测尺寸和 SHA 二百五十六摘要的截图。底部两张图只证明浏览器在请求发送前中止后，能够保留原 key、刷新页面并用同 key 对账，最终没有生成重复工件。它不证明服务端已经提交、但响应在返回途中丢失的恢复路径。</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到这里必须把已证明和未证明清楚分开。我们已经证明协议与来源留痕、内存 Store 的固定状态转换、局部冲突、工件 lineage、验证、Commit 和指定浏览器路径。我们还没有证明 PostgreSQL 与 API 重启、多实例一致性、SSE 断线与序号缺口、提交后响应丢失、真实模型与连接器、通用脱敏、工件到动作失效绑定和人工编辑新版本。关于 Task Bar 是否降低理解成本、分支隔离是否带来业务收益，以及控制动作是否符合用户心智，仍然只是待用户研究的假设。</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因此下一轮不扩概念面，而是按四个连续 Pull Request 补齐会改变完成结论的证据。第一步实跑 PostgreSQL 并做 API 重启对账，第二步覆盖提交后响应丢失与 Task SSE 断线恢复，第三步建立工件与 Action 的版本绑定并验证旧审批和 Permit 失效，第四步围绕四项用户假设开展目标任务测试。每一步都要再次通过场景与来源、服务端事实、前台输出、运行证据和限制这五个门槛。完成这些基础证据之后，真实 Connector 与 Adaptive Swarm 仍需分别进入实现与验证，只有新增对应运行证据后才能写入“已实现”结论。</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2584ed4111dcf80.jpg"/>
  <Relationship Id="rId3" Type="http://schemas.openxmlformats.org/officeDocument/2006/relationships/image" Target="../media/image_cf333b7422f9483f.jpg"/>
  <Relationship Id="rId4" Type="http://schemas.openxmlformats.org/officeDocument/2006/relationships/image" Target="../media/image_90360c4366ce0302.jpg"/>
  <Relationship Id="rId5"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402171cb14be1dc.jpg"/>
  <Relationship Id="rId3" Type="http://schemas.openxmlformats.org/officeDocument/2006/relationships/image" Target="../media/image_90d215a81a6a8e50.jpg"/>
  <Relationship Id="rId4"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9F8"/>
            </a:solidFill>
            <a:ln>
              <a:noFill/>
            </a:ln>
          </p:spPr>
        </p:sp>
        <p:sp>
          <p:nvSpPr>
            <p:cNvPr id="3" name="Line 3"/>
            <p:cNvSpPr/>
            <p:nvPr/>
          </p:nvSpPr>
          <p:spPr>
            <a:xfrm>
              <a:off x="533400" y="381000"/>
              <a:ext cx="9525" cy="6172200"/>
            </a:xfrm>
            <a:custGeom>
              <a:avLst/>
              <a:gdLst/>
              <a:ahLst/>
              <a:cxnLst/>
              <a:rect l="l" t="t" r="r" b="b"/>
              <a:pathLst>
                <a:path w="9525" h="6172200">
                  <a:moveTo>
                    <a:pt x="0" y="0"/>
                  </a:moveTo>
                  <a:lnTo>
                    <a:pt x="0" y="6172200"/>
                  </a:lnTo>
                </a:path>
              </a:pathLst>
            </a:custGeom>
            <a:noFill/>
            <a:ln w="57150">
              <a:solidFill>
                <a:srgbClr val="14865F"/>
              </a:solidFill>
            </a:ln>
          </p:spPr>
        </p:sp>
        <p:sp>
          <p:nvSpPr>
            <p:cNvPr id="4" name="Line 4"/>
            <p:cNvSpPr/>
            <p:nvPr/>
          </p:nvSpPr>
          <p:spPr>
            <a:xfrm>
              <a:off x="762000" y="990600"/>
              <a:ext cx="10896600" cy="9525"/>
            </a:xfrm>
            <a:custGeom>
              <a:avLst/>
              <a:gdLst/>
              <a:ahLst/>
              <a:cxnLst/>
              <a:rect l="l" t="t" r="r" b="b"/>
              <a:pathLst>
                <a:path w="10896600" h="9525">
                  <a:moveTo>
                    <a:pt x="0" y="0"/>
                  </a:moveTo>
                  <a:lnTo>
                    <a:pt x="10896600" y="0"/>
                  </a:lnTo>
                </a:path>
              </a:pathLst>
            </a:custGeom>
            <a:noFill/>
            <a:ln w="9525">
              <a:solidFill>
                <a:srgbClr val="CDD8D2"/>
              </a:solidFill>
            </a:ln>
          </p:spPr>
        </p:sp>
      </p:grpSp>
      <p:grpSp>
        <p:nvGrpSpPr>
          <p:cNvPr id="7" name="Group 7"/>
          <p:cNvGrpSpPr/>
          <p:nvPr/>
        </p:nvGrpSpPr>
        <p:grpSpPr>
          <a:xfrm>
            <a:off x="9888017" y="3314700"/>
            <a:ext cx="1903933" cy="4591050"/>
            <a:chOff x="9888017" y="3314700"/>
            <a:chExt cx="1903933" cy="4591050"/>
          </a:xfrm>
        </p:grpSpPr>
        <p:sp>
          <p:nvSpPr>
            <p:cNvPr id="6" name="TextBox 6"/>
            <p:cNvSpPr txBox="1"/>
            <p:nvPr/>
          </p:nvSpPr>
          <p:spPr>
            <a:xfrm>
              <a:off x="9888017" y="3314700"/>
              <a:ext cx="1903933" cy="4591050"/>
            </a:xfrm>
            <a:prstGeom prst="rect">
              <a:avLst/>
            </a:prstGeom>
            <a:noFill/>
            <a:ln>
              <a:noFill/>
            </a:ln>
          </p:spPr>
          <p:txBody>
            <a:bodyPr wrap="none" lIns="0" tIns="0" rIns="0" bIns="0" anchor="t" anchorCtr="0">
              <a:spAutoFit/>
            </a:bodyPr>
            <a:lstStyle/>
            <a:p>
              <a:pPr algn="r"/>
              <a:r>
                <a:rPr lang="en-US" sz="24000" b="1" dirty="0">
                  <a:solidFill>
                    <a:srgbClr val="1C2A24">
                      <a:alphaMod val="8000"/>
                    </a:srgbClr>
                  </a:solidFill>
                  <a:latin typeface="Segoe UI"/>
                  <a:ea typeface="Segoe UI"/>
                  <a:cs typeface="Segoe UI"/>
                </a:rPr>
                <a:t>4</a:t>
              </a:r>
            </a:p>
          </p:txBody>
        </p:sp>
      </p:grpSp>
      <p:grpSp>
        <p:nvGrpSpPr>
          <p:cNvPr id="14" name="Group 14"/>
          <p:cNvGrpSpPr/>
          <p:nvPr/>
        </p:nvGrpSpPr>
        <p:grpSpPr>
          <a:xfrm>
            <a:off x="762000" y="495300"/>
            <a:ext cx="10901935" cy="356425"/>
            <a:chOff x="762000" y="495300"/>
            <a:chExt cx="10901935" cy="356425"/>
          </a:xfrm>
        </p:grpSpPr>
        <p:grpSp>
          <p:nvGrpSpPr>
            <p:cNvPr id="11" name="Group 11"/>
            <p:cNvGrpSpPr/>
            <p:nvPr/>
          </p:nvGrpSpPr>
          <p:grpSpPr>
            <a:xfrm>
              <a:off x="762000" y="495300"/>
              <a:ext cx="304800" cy="304800"/>
              <a:chOff x="762000" y="495300"/>
              <a:chExt cx="304800" cy="304800"/>
            </a:xfrm>
          </p:grpSpPr>
          <p:sp>
            <p:nvSpPr>
              <p:cNvPr id="8" name="Freeform 8"/>
              <p:cNvSpPr/>
              <p:nvPr/>
            </p:nvSpPr>
            <p:spPr>
              <a:xfrm>
                <a:off x="762000" y="495300"/>
                <a:ext cx="304800" cy="304800"/>
              </a:xfrm>
              <a:custGeom>
                <a:avLst/>
                <a:gdLst/>
                <a:ahLst/>
                <a:cxnLst/>
                <a:rect l="l" t="t" r="r" b="b"/>
                <a:pathLst>
                  <a:path w="304800" h="304800">
                    <a:moveTo>
                      <a:pt x="155624" y="38145"/>
                    </a:moveTo>
                    <a:cubicBezTo>
                      <a:pt x="154553" y="38115"/>
                      <a:pt x="153478" y="38100"/>
                      <a:pt x="152400" y="38100"/>
                    </a:cubicBezTo>
                    <a:cubicBezTo>
                      <a:pt x="89274" y="38100"/>
                      <a:pt x="38100" y="89274"/>
                      <a:pt x="38100" y="152400"/>
                    </a:cubicBezTo>
                    <a:cubicBezTo>
                      <a:pt x="38100" y="215526"/>
                      <a:pt x="89274" y="266700"/>
                      <a:pt x="152400" y="266700"/>
                    </a:cubicBezTo>
                    <a:cubicBezTo>
                      <a:pt x="215526" y="266700"/>
                      <a:pt x="266700" y="215526"/>
                      <a:pt x="266700" y="152400"/>
                    </a:cubicBezTo>
                    <a:cubicBezTo>
                      <a:pt x="266700" y="151322"/>
                      <a:pt x="266685" y="150247"/>
                      <a:pt x="266656" y="149176"/>
                    </a:cubicBezTo>
                    <a:lnTo>
                      <a:pt x="300308" y="115523"/>
                    </a:lnTo>
                    <a:cubicBezTo>
                      <a:pt x="303242" y="127332"/>
                      <a:pt x="304800" y="139684"/>
                      <a:pt x="304800" y="152400"/>
                    </a:cubicBezTo>
                    <a:cubicBezTo>
                      <a:pt x="304800" y="236569"/>
                      <a:pt x="236569" y="304800"/>
                      <a:pt x="152400" y="304800"/>
                    </a:cubicBezTo>
                    <a:cubicBezTo>
                      <a:pt x="68232" y="304800"/>
                      <a:pt x="0" y="236569"/>
                      <a:pt x="0" y="152400"/>
                    </a:cubicBezTo>
                    <a:cubicBezTo>
                      <a:pt x="0" y="68232"/>
                      <a:pt x="68232" y="0"/>
                      <a:pt x="152400" y="0"/>
                    </a:cubicBezTo>
                    <a:cubicBezTo>
                      <a:pt x="165116" y="0"/>
                      <a:pt x="177468" y="1557"/>
                      <a:pt x="189277" y="4492"/>
                    </a:cubicBezTo>
                    <a:lnTo>
                      <a:pt x="155624" y="38145"/>
                    </a:lnTo>
                    <a:close/>
                  </a:path>
                </a:pathLst>
              </a:custGeom>
              <a:solidFill>
                <a:srgbClr val="14865F"/>
              </a:solidFill>
              <a:ln>
                <a:noFill/>
              </a:ln>
            </p:spPr>
          </p:sp>
          <p:sp>
            <p:nvSpPr>
              <p:cNvPr id="9" name="Freeform 9"/>
              <p:cNvSpPr/>
              <p:nvPr/>
            </p:nvSpPr>
            <p:spPr>
              <a:xfrm>
                <a:off x="838200" y="573900"/>
                <a:ext cx="150000" cy="150000"/>
              </a:xfrm>
              <a:custGeom>
                <a:avLst/>
                <a:gdLst/>
                <a:ahLst/>
                <a:cxnLst/>
                <a:rect l="l" t="t" r="r" b="b"/>
                <a:pathLst>
                  <a:path w="150000" h="150000">
                    <a:moveTo>
                      <a:pt x="0" y="73799"/>
                    </a:moveTo>
                    <a:cubicBezTo>
                      <a:pt x="0" y="38293"/>
                      <a:pt x="24284" y="8459"/>
                      <a:pt x="57150" y="0"/>
                    </a:cubicBezTo>
                    <a:lnTo>
                      <a:pt x="57150" y="40796"/>
                    </a:lnTo>
                    <a:cubicBezTo>
                      <a:pt x="45762" y="47384"/>
                      <a:pt x="38100" y="59697"/>
                      <a:pt x="38100" y="73799"/>
                    </a:cubicBezTo>
                    <a:cubicBezTo>
                      <a:pt x="38100" y="94841"/>
                      <a:pt x="55158" y="111899"/>
                      <a:pt x="76200" y="111899"/>
                    </a:cubicBezTo>
                    <a:cubicBezTo>
                      <a:pt x="90302" y="111899"/>
                      <a:pt x="102615" y="104237"/>
                      <a:pt x="109203" y="92849"/>
                    </a:cubicBezTo>
                    <a:lnTo>
                      <a:pt x="150000" y="92849"/>
                    </a:lnTo>
                    <a:cubicBezTo>
                      <a:pt x="141540" y="125715"/>
                      <a:pt x="111706" y="150000"/>
                      <a:pt x="76200" y="150000"/>
                    </a:cubicBezTo>
                    <a:cubicBezTo>
                      <a:pt x="34116" y="150000"/>
                      <a:pt x="0" y="115883"/>
                      <a:pt x="0" y="73799"/>
                    </a:cubicBezTo>
                    <a:close/>
                  </a:path>
                </a:pathLst>
              </a:custGeom>
              <a:solidFill>
                <a:srgbClr val="14865F"/>
              </a:solidFill>
              <a:ln>
                <a:noFill/>
              </a:ln>
            </p:spPr>
          </p:sp>
          <p:sp>
            <p:nvSpPr>
              <p:cNvPr id="10" name="Freeform 10"/>
              <p:cNvSpPr/>
              <p:nvPr/>
            </p:nvSpPr>
            <p:spPr>
              <a:xfrm>
                <a:off x="910455" y="495300"/>
                <a:ext cx="156345" cy="156345"/>
              </a:xfrm>
              <a:custGeom>
                <a:avLst/>
                <a:gdLst/>
                <a:ahLst/>
                <a:cxnLst/>
                <a:rect l="l" t="t" r="r" b="b"/>
                <a:pathLst>
                  <a:path w="156345" h="156345">
                    <a:moveTo>
                      <a:pt x="118245" y="38100"/>
                    </a:moveTo>
                    <a:lnTo>
                      <a:pt x="99195" y="0"/>
                    </a:lnTo>
                    <a:lnTo>
                      <a:pt x="42045" y="57150"/>
                    </a:lnTo>
                    <a:lnTo>
                      <a:pt x="42045" y="87359"/>
                    </a:lnTo>
                    <a:lnTo>
                      <a:pt x="0" y="129405"/>
                    </a:lnTo>
                    <a:lnTo>
                      <a:pt x="26941" y="156345"/>
                    </a:lnTo>
                    <a:lnTo>
                      <a:pt x="68986" y="114300"/>
                    </a:lnTo>
                    <a:lnTo>
                      <a:pt x="99195" y="114300"/>
                    </a:lnTo>
                    <a:lnTo>
                      <a:pt x="156345" y="57150"/>
                    </a:lnTo>
                    <a:lnTo>
                      <a:pt x="118245" y="38100"/>
                    </a:lnTo>
                    <a:close/>
                  </a:path>
                </a:pathLst>
              </a:custGeom>
              <a:solidFill>
                <a:srgbClr val="14865F"/>
              </a:solidFill>
              <a:ln>
                <a:noFill/>
              </a:ln>
            </p:spPr>
          </p:sp>
        </p:grpSp>
        <p:sp>
          <p:nvSpPr>
            <p:cNvPr id="12" name="TextBox 12"/>
            <p:cNvSpPr txBox="1"/>
            <p:nvPr/>
          </p:nvSpPr>
          <p:spPr>
            <a:xfrm>
              <a:off x="1212342" y="587692"/>
              <a:ext cx="3159069" cy="264033"/>
            </a:xfrm>
            <a:prstGeom prst="rect">
              <a:avLst/>
            </a:prstGeom>
            <a:noFill/>
            <a:ln>
              <a:noFill/>
            </a:ln>
          </p:spPr>
          <p:txBody>
            <a:bodyPr wrap="none" lIns="0" tIns="0" rIns="0" bIns="0" anchor="t" anchorCtr="0">
              <a:spAutoFit/>
            </a:bodyPr>
            <a:lstStyle/>
            <a:p>
              <a:pPr algn="l"/>
              <a:r>
                <a:rPr lang="en-US" sz="1350" b="1" dirty="0">
                  <a:solidFill>
                    <a:srgbClr val="52605A"/>
                  </a:solidFill>
                  <a:latin typeface="Segoe UI"/>
                  <a:ea typeface="Segoe UI"/>
                  <a:cs typeface="Segoe UI"/>
                </a:rPr>
                <a:t>OFFICE AGENT · PROGRESS REVIEW</a:t>
              </a:r>
            </a:p>
          </p:txBody>
        </p:sp>
        <p:sp>
          <p:nvSpPr>
            <p:cNvPr id="13" name="TextBox 13"/>
            <p:cNvSpPr txBox="1"/>
            <p:nvPr/>
          </p:nvSpPr>
          <p:spPr>
            <a:xfrm>
              <a:off x="10875836" y="620078"/>
              <a:ext cx="788099" cy="205359"/>
            </a:xfrm>
            <a:prstGeom prst="rect">
              <a:avLst/>
            </a:prstGeom>
            <a:noFill/>
            <a:ln>
              <a:noFill/>
            </a:ln>
          </p:spPr>
          <p:txBody>
            <a:bodyPr wrap="none" lIns="0" tIns="0" rIns="0" bIns="0" anchor="t" anchorCtr="0">
              <a:spAutoFit/>
            </a:bodyPr>
            <a:lstStyle/>
            <a:p>
              <a:pPr algn="r"/>
              <a:r>
                <a:rPr lang="en-US" sz="1050" dirty="0">
                  <a:solidFill>
                    <a:srgbClr val="74817B"/>
                  </a:solidFill>
                  <a:latin typeface="Consolas"/>
                  <a:ea typeface="Consolas"/>
                  <a:cs typeface="Consolas"/>
                </a:rPr>
                <a:t>2026.08.10</a:t>
              </a:r>
            </a:p>
          </p:txBody>
        </p:sp>
      </p:grpSp>
      <p:grpSp>
        <p:nvGrpSpPr>
          <p:cNvPr id="18" name="Group 18"/>
          <p:cNvGrpSpPr/>
          <p:nvPr/>
        </p:nvGrpSpPr>
        <p:grpSpPr>
          <a:xfrm>
            <a:off x="895350" y="1874520"/>
            <a:ext cx="4896351" cy="2164842"/>
            <a:chOff x="895350" y="1874520"/>
            <a:chExt cx="4896351" cy="2164842"/>
          </a:xfrm>
        </p:grpSpPr>
        <p:sp>
          <p:nvSpPr>
            <p:cNvPr id="15" name="TextBox 15"/>
            <p:cNvSpPr txBox="1"/>
            <p:nvPr/>
          </p:nvSpPr>
          <p:spPr>
            <a:xfrm>
              <a:off x="895350" y="1874520"/>
              <a:ext cx="4896351" cy="1047750"/>
            </a:xfrm>
            <a:prstGeom prst="rect">
              <a:avLst/>
            </a:prstGeom>
            <a:noFill/>
            <a:ln>
              <a:noFill/>
            </a:ln>
          </p:spPr>
          <p:txBody>
            <a:bodyPr wrap="none" lIns="0" tIns="0" rIns="0" bIns="0" anchor="t" anchorCtr="0">
              <a:spAutoFit/>
            </a:bodyPr>
            <a:lstStyle/>
            <a:p>
              <a:pPr algn="l"/>
              <a:r>
                <a:rPr lang="en-US" sz="5400" b="1" dirty="0">
                  <a:solidFill>
                    <a:srgbClr val="1C2A24"/>
                  </a:solidFill>
                  <a:latin typeface="Segoe UI"/>
                  <a:ea typeface="Segoe UI"/>
                  <a:cs typeface="Segoe UI"/>
                </a:rPr>
                <a:t>Office Agent</a:t>
              </a:r>
            </a:p>
          </p:txBody>
        </p:sp>
        <p:sp>
          <p:nvSpPr>
            <p:cNvPr id="16" name="TextBox 16"/>
            <p:cNvSpPr txBox="1"/>
            <p:nvPr/>
          </p:nvSpPr>
          <p:spPr>
            <a:xfrm>
              <a:off x="895350" y="2674620"/>
              <a:ext cx="2962077" cy="1047750"/>
            </a:xfrm>
            <a:prstGeom prst="rect">
              <a:avLst/>
            </a:prstGeom>
            <a:noFill/>
            <a:ln>
              <a:noFill/>
            </a:ln>
          </p:spPr>
          <p:txBody>
            <a:bodyPr wrap="none" lIns="0" tIns="0" rIns="0" bIns="0" anchor="t" anchorCtr="0">
              <a:spAutoFit/>
            </a:bodyPr>
            <a:lstStyle/>
            <a:p>
              <a:pPr algn="l"/>
              <a:r>
                <a:rPr lang="en-US" sz="5400" b="1" dirty="0">
                  <a:solidFill>
                    <a:srgbClr val="1C2A24"/>
                  </a:solidFill>
                  <a:latin typeface="Segoe UI"/>
                  <a:ea typeface="Segoe UI"/>
                  <a:cs typeface="Segoe UI"/>
                </a:rPr>
                <a:t>Runtime</a:t>
              </a:r>
            </a:p>
          </p:txBody>
        </p:sp>
        <p:sp>
          <p:nvSpPr>
            <p:cNvPr id="17" name="TextBox 17"/>
            <p:cNvSpPr txBox="1"/>
            <p:nvPr/>
          </p:nvSpPr>
          <p:spPr>
            <a:xfrm>
              <a:off x="940308" y="3569970"/>
              <a:ext cx="4342124" cy="469392"/>
            </a:xfrm>
            <a:prstGeom prst="rect">
              <a:avLst/>
            </a:prstGeom>
            <a:noFill/>
            <a:ln>
              <a:noFill/>
            </a:ln>
          </p:spPr>
          <p:txBody>
            <a:bodyPr wrap="none" lIns="0" tIns="0" rIns="0" bIns="0" anchor="t" anchorCtr="0">
              <a:spAutoFit/>
            </a:bodyPr>
            <a:lstStyle/>
            <a:p>
              <a:pPr algn="l"/>
              <a:r>
                <a:rPr lang="zh-CN" sz="2400" b="1" dirty="0">
                  <a:solidFill>
                    <a:srgbClr val="202824"/>
                  </a:solidFill>
                  <a:latin typeface="Segoe UI"/>
                  <a:ea typeface="Microsoft YaHei UI"/>
                  <a:cs typeface="Segoe UI"/>
                </a:rPr>
                <a:t>从架构共识到可验证 Demo 1</a:t>
              </a:r>
            </a:p>
          </p:txBody>
        </p:sp>
      </p:grpSp>
      <p:grpSp>
        <p:nvGrpSpPr>
          <p:cNvPr id="22" name="Group 22"/>
          <p:cNvGrpSpPr/>
          <p:nvPr/>
        </p:nvGrpSpPr>
        <p:grpSpPr>
          <a:xfrm>
            <a:off x="903732" y="4476750"/>
            <a:ext cx="5431612" cy="1034034"/>
            <a:chOff x="903732" y="4476750"/>
            <a:chExt cx="5431612" cy="1034034"/>
          </a:xfrm>
        </p:grpSpPr>
        <p:sp>
          <p:nvSpPr>
            <p:cNvPr id="19" name="Rectangle 19"/>
            <p:cNvSpPr/>
            <p:nvPr/>
          </p:nvSpPr>
          <p:spPr>
            <a:xfrm>
              <a:off x="914400" y="4476750"/>
              <a:ext cx="4171950" cy="57150"/>
            </a:xfrm>
            <a:prstGeom prst="rect">
              <a:avLst/>
            </a:prstGeom>
            <a:solidFill>
              <a:srgbClr val="14865F"/>
            </a:solidFill>
            <a:ln>
              <a:noFill/>
            </a:ln>
          </p:spPr>
        </p:sp>
        <p:sp>
          <p:nvSpPr>
            <p:cNvPr id="20" name="TextBox 20"/>
            <p:cNvSpPr txBox="1"/>
            <p:nvPr/>
          </p:nvSpPr>
          <p:spPr>
            <a:xfrm>
              <a:off x="903732" y="4745355"/>
              <a:ext cx="5431612" cy="410718"/>
            </a:xfrm>
            <a:prstGeom prst="rect">
              <a:avLst/>
            </a:prstGeom>
            <a:noFill/>
            <a:ln>
              <a:noFill/>
            </a:ln>
          </p:spPr>
          <p:txBody>
            <a:bodyPr wrap="none" lIns="0" tIns="0" rIns="0" bIns="0" anchor="t" anchorCtr="0">
              <a:spAutoFit/>
            </a:bodyPr>
            <a:lstStyle/>
            <a:p>
              <a:pPr algn="l"/>
              <a:r>
                <a:rPr lang="zh-CN" sz="2100" b="1" dirty="0">
                  <a:solidFill>
                    <a:srgbClr val="202824"/>
                  </a:solidFill>
                  <a:latin typeface="Segoe UI"/>
                  <a:ea typeface="Microsoft YaHei UI"/>
                  <a:cs typeface="Segoe UI"/>
                </a:rPr>
                <a:t>4 个已合并 PR · 1 条可审查工程证据链</a:t>
              </a:r>
            </a:p>
          </p:txBody>
        </p:sp>
        <p:sp>
          <p:nvSpPr>
            <p:cNvPr id="21" name="TextBox 21"/>
            <p:cNvSpPr txBox="1"/>
            <p:nvPr/>
          </p:nvSpPr>
          <p:spPr>
            <a:xfrm>
              <a:off x="905256" y="5158740"/>
              <a:ext cx="2477795" cy="352044"/>
            </a:xfrm>
            <a:prstGeom prst="rect">
              <a:avLst/>
            </a:prstGeom>
            <a:noFill/>
            <a:ln>
              <a:noFill/>
            </a:ln>
          </p:spPr>
          <p:txBody>
            <a:bodyPr wrap="none" lIns="0" tIns="0" rIns="0" bIns="0" anchor="t" anchorCtr="0">
              <a:spAutoFit/>
            </a:bodyPr>
            <a:lstStyle/>
            <a:p>
              <a:pPr algn="l"/>
              <a:r>
                <a:rPr lang="zh-CN" sz="1800" dirty="0">
                  <a:solidFill>
                    <a:srgbClr val="52605A"/>
                  </a:solidFill>
                  <a:latin typeface="Segoe UI"/>
                  <a:ea typeface="Microsoft YaHei UI"/>
                  <a:cs typeface="Segoe UI"/>
                </a:rPr>
                <a:t>0716-v2 会后推进汇报</a:t>
              </a:r>
            </a:p>
          </p:txBody>
        </p:sp>
      </p:grpSp>
      <p:grpSp>
        <p:nvGrpSpPr>
          <p:cNvPr id="26" name="Group 26"/>
          <p:cNvGrpSpPr/>
          <p:nvPr/>
        </p:nvGrpSpPr>
        <p:grpSpPr>
          <a:xfrm>
            <a:off x="756666" y="6229350"/>
            <a:ext cx="10907268" cy="415861"/>
            <a:chOff x="756666" y="6229350"/>
            <a:chExt cx="10907268" cy="415861"/>
          </a:xfrm>
        </p:grpSpPr>
        <p:sp>
          <p:nvSpPr>
            <p:cNvPr id="23" name="Line 23"/>
            <p:cNvSpPr/>
            <p:nvPr/>
          </p:nvSpPr>
          <p:spPr>
            <a:xfrm>
              <a:off x="762000" y="6229350"/>
              <a:ext cx="10896600" cy="9525"/>
            </a:xfrm>
            <a:custGeom>
              <a:avLst/>
              <a:gdLst/>
              <a:ahLst/>
              <a:cxnLst/>
              <a:rect l="l" t="t" r="r" b="b"/>
              <a:pathLst>
                <a:path w="10896600" h="9525">
                  <a:moveTo>
                    <a:pt x="0" y="0"/>
                  </a:moveTo>
                  <a:lnTo>
                    <a:pt x="10896600" y="0"/>
                  </a:lnTo>
                </a:path>
              </a:pathLst>
            </a:custGeom>
            <a:noFill/>
            <a:ln w="9525">
              <a:solidFill>
                <a:srgbClr val="CDD8D2"/>
              </a:solidFill>
            </a:ln>
          </p:spPr>
        </p:sp>
        <p:sp>
          <p:nvSpPr>
            <p:cNvPr id="24" name="TextBox 24"/>
            <p:cNvSpPr txBox="1"/>
            <p:nvPr/>
          </p:nvSpPr>
          <p:spPr>
            <a:xfrm>
              <a:off x="756666" y="6439852"/>
              <a:ext cx="3325349" cy="205359"/>
            </a:xfrm>
            <a:prstGeom prst="rect">
              <a:avLst/>
            </a:prstGeom>
            <a:noFill/>
            <a:ln>
              <a:noFill/>
            </a:ln>
          </p:spPr>
          <p:txBody>
            <a:bodyPr wrap="none" lIns="0" tIns="0" rIns="0" bIns="0" anchor="t" anchorCtr="0">
              <a:spAutoFit/>
            </a:bodyPr>
            <a:lstStyle/>
            <a:p>
              <a:pPr algn="l"/>
              <a:r>
                <a:rPr lang="zh-CN" sz="1050" dirty="0">
                  <a:solidFill>
                    <a:srgbClr val="74817B"/>
                  </a:solidFill>
                  <a:latin typeface="Segoe UI"/>
                  <a:ea typeface="Microsoft YaHei UI"/>
                  <a:cs typeface="Segoe UI"/>
                </a:rPr>
                <a:t>联想 × 华南理工 · lenovo_agent · master 0a02bb9</a:t>
              </a:r>
            </a:p>
          </p:txBody>
        </p:sp>
        <p:sp>
          <p:nvSpPr>
            <p:cNvPr id="25" name="TextBox 25"/>
            <p:cNvSpPr txBox="1"/>
            <p:nvPr/>
          </p:nvSpPr>
          <p:spPr>
            <a:xfrm>
              <a:off x="11406835" y="6439852"/>
              <a:ext cx="257099" cy="205359"/>
            </a:xfrm>
            <a:prstGeom prst="rect">
              <a:avLst/>
            </a:prstGeom>
            <a:noFill/>
            <a:ln>
              <a:noFill/>
            </a:ln>
          </p:spPr>
          <p:txBody>
            <a:bodyPr wrap="none" lIns="0" tIns="0" rIns="0" bIns="0" anchor="t" anchorCtr="0">
              <a:spAutoFit/>
            </a:bodyPr>
            <a:lstStyle/>
            <a:p>
              <a:pPr algn="r"/>
              <a:r>
                <a:rPr lang="en-US" sz="1050" dirty="0">
                  <a:solidFill>
                    <a:srgbClr val="14865F"/>
                  </a:solidFill>
                  <a:latin typeface="Consolas"/>
                  <a:ea typeface="Consolas"/>
                  <a:cs typeface="Consolas"/>
                </a:rPr>
                <a:t>P01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8"/>
          </a:solidFill>
          <a:ln>
            <a:noFill/>
          </a:ln>
        </p:spPr>
      </p:sp>
      <p:grpSp>
        <p:nvGrpSpPr>
          <p:cNvPr id="7" name="Group 7"/>
          <p:cNvGrpSpPr/>
          <p:nvPr/>
        </p:nvGrpSpPr>
        <p:grpSpPr>
          <a:xfrm>
            <a:off x="533400" y="400050"/>
            <a:ext cx="11130534" cy="670179"/>
            <a:chOff x="533400" y="400050"/>
            <a:chExt cx="11130534" cy="670179"/>
          </a:xfrm>
        </p:grpSpPr>
        <p:sp>
          <p:nvSpPr>
            <p:cNvPr id="3" name="Rectangle 3"/>
            <p:cNvSpPr/>
            <p:nvPr/>
          </p:nvSpPr>
          <p:spPr>
            <a:xfrm>
              <a:off x="533400" y="400050"/>
              <a:ext cx="57150" cy="495300"/>
            </a:xfrm>
            <a:prstGeom prst="rect">
              <a:avLst/>
            </a:prstGeom>
            <a:solidFill>
              <a:srgbClr val="14865F"/>
            </a:solidFill>
            <a:ln>
              <a:noFill/>
            </a:ln>
          </p:spPr>
        </p:sp>
        <p:sp>
          <p:nvSpPr>
            <p:cNvPr id="4" name="TextBox 4"/>
            <p:cNvSpPr txBox="1"/>
            <p:nvPr/>
          </p:nvSpPr>
          <p:spPr>
            <a:xfrm>
              <a:off x="745236" y="424815"/>
              <a:ext cx="5800009" cy="645414"/>
            </a:xfrm>
            <a:prstGeom prst="rect">
              <a:avLst/>
            </a:prstGeom>
            <a:noFill/>
            <a:ln>
              <a:noFill/>
            </a:ln>
          </p:spPr>
          <p:txBody>
            <a:bodyPr wrap="none" lIns="0" tIns="0" rIns="0" bIns="0" anchor="t" anchorCtr="0">
              <a:spAutoFit/>
            </a:bodyPr>
            <a:lstStyle/>
            <a:p>
              <a:pPr algn="l"/>
              <a:r>
                <a:rPr lang="zh-CN" sz="3300" b="1" dirty="0">
                  <a:solidFill>
                    <a:srgbClr val="1C2A24"/>
                  </a:solidFill>
                  <a:latin typeface="Segoe UI"/>
                  <a:ea typeface="Microsoft YaHei UI"/>
                  <a:cs typeface="Segoe UI"/>
                </a:rPr>
                <a:t>四个 PR 已形成可审查纵切</a:t>
              </a:r>
            </a:p>
          </p:txBody>
        </p:sp>
        <p:sp>
          <p:nvSpPr>
            <p:cNvPr id="5" name="TextBox 5"/>
            <p:cNvSpPr txBox="1"/>
            <p:nvPr/>
          </p:nvSpPr>
          <p:spPr>
            <a:xfrm>
              <a:off x="10294163" y="629602"/>
              <a:ext cx="1369771" cy="205359"/>
            </a:xfrm>
            <a:prstGeom prst="rect">
              <a:avLst/>
            </a:prstGeom>
            <a:noFill/>
            <a:ln>
              <a:noFill/>
            </a:ln>
          </p:spPr>
          <p:txBody>
            <a:bodyPr wrap="none" lIns="0" tIns="0" rIns="0" bIns="0" anchor="t" anchorCtr="0">
              <a:spAutoFit/>
            </a:bodyPr>
            <a:lstStyle/>
            <a:p>
              <a:pPr algn="r"/>
              <a:r>
                <a:rPr lang="en-US" sz="1050" dirty="0">
                  <a:solidFill>
                    <a:srgbClr val="74817B"/>
                  </a:solidFill>
                  <a:latin typeface="Consolas"/>
                  <a:ea typeface="Consolas"/>
                  <a:cs typeface="Consolas"/>
                </a:rPr>
                <a:t>ANSWER FIRST · P02</a:t>
              </a:r>
            </a:p>
          </p:txBody>
        </p:sp>
        <p:sp>
          <p:nvSpPr>
            <p:cNvPr id="6" name="Line 6"/>
            <p:cNvSpPr/>
            <p:nvPr/>
          </p:nvSpPr>
          <p:spPr>
            <a:xfrm>
              <a:off x="533400" y="1028700"/>
              <a:ext cx="11125200" cy="9525"/>
            </a:xfrm>
            <a:custGeom>
              <a:avLst/>
              <a:gdLst/>
              <a:ahLst/>
              <a:cxnLst/>
              <a:rect l="l" t="t" r="r" b="b"/>
              <a:pathLst>
                <a:path w="11125200" h="9525">
                  <a:moveTo>
                    <a:pt x="0" y="0"/>
                  </a:moveTo>
                  <a:lnTo>
                    <a:pt x="11125200" y="0"/>
                  </a:lnTo>
                </a:path>
              </a:pathLst>
            </a:custGeom>
            <a:noFill/>
            <a:ln w="9525">
              <a:solidFill>
                <a:srgbClr val="CDD8D2"/>
              </a:solidFill>
            </a:ln>
          </p:spPr>
        </p:sp>
      </p:grpSp>
      <p:grpSp>
        <p:nvGrpSpPr>
          <p:cNvPr id="9" name="Group 9"/>
          <p:cNvGrpSpPr/>
          <p:nvPr/>
        </p:nvGrpSpPr>
        <p:grpSpPr>
          <a:xfrm>
            <a:off x="522732" y="1183005"/>
            <a:ext cx="10158603" cy="772668"/>
            <a:chOff x="522732" y="1183005"/>
            <a:chExt cx="10158603" cy="772668"/>
          </a:xfrm>
        </p:grpSpPr>
        <p:sp>
          <p:nvSpPr>
            <p:cNvPr id="8" name="TextBox 8"/>
            <p:cNvSpPr txBox="1"/>
            <p:nvPr/>
          </p:nvSpPr>
          <p:spPr>
            <a:xfrm>
              <a:off x="522732" y="1183005"/>
              <a:ext cx="10158603" cy="772668"/>
            </a:xfrm>
            <a:prstGeom prst="rect">
              <a:avLst/>
            </a:prstGeom>
            <a:noFill/>
            <a:ln>
              <a:noFill/>
            </a:ln>
          </p:spPr>
          <p:txBody>
            <a:bodyPr wrap="square" lIns="0" tIns="0" rIns="0" bIns="0" anchor="t" anchorCtr="0"/>
            <a:lstStyle/>
            <a:p>
              <a:pPr algn="l">
                <a:lnSpc>
                  <a:spcPts val="2850"/>
                </a:lnSpc>
              </a:pPr>
              <a:r>
                <a:rPr lang="zh-CN" sz="2100" b="1" dirty="0">
                  <a:solidFill>
                    <a:srgbClr val="202824"/>
                  </a:solidFill>
                  <a:latin typeface="Segoe UI"/>
                  <a:ea typeface="Microsoft YaHei UI"/>
                  <a:cs typeface="Segoe UI"/>
                </a:rPr>
                <a:t>治理门槛、服务端任务事实、固定 Fixture 状态转换与真实浏览器投影已经串联；</a:t>
              </a:r>
              <a:r>
                <a:rPr lang="zh-CN" sz="2100" b="1" dirty="0">
                  <a:solidFill>
                    <a:srgbClr val="202824"/>
                  </a:solidFill>
                  <a:latin typeface="Segoe UI"/>
                  <a:ea typeface="Microsoft YaHei UI"/>
                  <a:cs typeface="Segoe UI"/>
                </a:rPr>
                <a:t>当前结论仍限定为工程纵切，不是生产级长任务引擎。</a:t>
              </a:r>
            </a:p>
          </p:txBody>
        </p:sp>
      </p:grpSp>
      <p:grpSp>
        <p:nvGrpSpPr>
          <p:cNvPr id="43" name="Group 43"/>
          <p:cNvGrpSpPr/>
          <p:nvPr/>
        </p:nvGrpSpPr>
        <p:grpSpPr>
          <a:xfrm>
            <a:off x="533400" y="2381250"/>
            <a:ext cx="11125200" cy="1756601"/>
            <a:chOff x="533400" y="2381250"/>
            <a:chExt cx="11125200" cy="1756601"/>
          </a:xfrm>
        </p:grpSpPr>
        <p:grpSp>
          <p:nvGrpSpPr>
            <p:cNvPr id="18" name="Group 18"/>
            <p:cNvGrpSpPr/>
            <p:nvPr/>
          </p:nvGrpSpPr>
          <p:grpSpPr>
            <a:xfrm>
              <a:off x="533400" y="2381250"/>
              <a:ext cx="2807836" cy="1756601"/>
              <a:chOff x="533400" y="2381250"/>
              <a:chExt cx="2807836" cy="1756601"/>
            </a:xfrm>
          </p:grpSpPr>
          <p:sp>
            <p:nvSpPr>
              <p:cNvPr id="10" name="Polygon 10"/>
              <p:cNvSpPr/>
              <p:nvPr/>
            </p:nvSpPr>
            <p:spPr>
              <a:xfrm>
                <a:off x="533400" y="2381250"/>
                <a:ext cx="2571750" cy="990600"/>
              </a:xfrm>
              <a:custGeom>
                <a:avLst/>
                <a:gdLst/>
                <a:ahLst/>
                <a:cxnLst/>
                <a:rect l="l" t="t" r="r" b="b"/>
                <a:pathLst>
                  <a:path w="2571750" h="990600">
                    <a:moveTo>
                      <a:pt x="0" y="0"/>
                    </a:moveTo>
                    <a:lnTo>
                      <a:pt x="2305050" y="0"/>
                    </a:lnTo>
                    <a:lnTo>
                      <a:pt x="2571750" y="495300"/>
                    </a:lnTo>
                    <a:lnTo>
                      <a:pt x="2305050" y="990600"/>
                    </a:lnTo>
                    <a:lnTo>
                      <a:pt x="0" y="990600"/>
                    </a:lnTo>
                    <a:close/>
                  </a:path>
                </a:pathLst>
              </a:custGeom>
              <a:solidFill>
                <a:srgbClr val="FFFFFF"/>
              </a:solidFill>
              <a:ln w="19050">
                <a:solidFill>
                  <a:srgbClr val="CDD8D2"/>
                </a:solidFill>
              </a:ln>
            </p:spPr>
          </p:sp>
          <p:grpSp>
            <p:nvGrpSpPr>
              <p:cNvPr id="13" name="Group 13"/>
              <p:cNvGrpSpPr/>
              <p:nvPr/>
            </p:nvGrpSpPr>
            <p:grpSpPr>
              <a:xfrm>
                <a:off x="783431" y="2590800"/>
                <a:ext cx="242888" cy="323850"/>
                <a:chOff x="783431" y="2590800"/>
                <a:chExt cx="242888" cy="323850"/>
              </a:xfrm>
            </p:grpSpPr>
            <p:sp>
              <p:nvSpPr>
                <p:cNvPr id="11" name="Freeform 11"/>
                <p:cNvSpPr/>
                <p:nvPr/>
              </p:nvSpPr>
              <p:spPr>
                <a:xfrm>
                  <a:off x="783431" y="2590800"/>
                  <a:ext cx="242888" cy="323850"/>
                </a:xfrm>
                <a:custGeom>
                  <a:avLst/>
                  <a:gdLst/>
                  <a:ahLst/>
                  <a:cxnLst/>
                  <a:rect l="l" t="t" r="r" b="b"/>
                  <a:pathLst>
                    <a:path w="242888" h="323850">
                      <a:moveTo>
                        <a:pt x="101203" y="0"/>
                      </a:moveTo>
                      <a:lnTo>
                        <a:pt x="0" y="0"/>
                      </a:lnTo>
                      <a:lnTo>
                        <a:pt x="0" y="323850"/>
                      </a:lnTo>
                      <a:lnTo>
                        <a:pt x="242888" y="323850"/>
                      </a:lnTo>
                      <a:lnTo>
                        <a:pt x="242888" y="141684"/>
                      </a:lnTo>
                      <a:lnTo>
                        <a:pt x="101203" y="141684"/>
                      </a:lnTo>
                      <a:lnTo>
                        <a:pt x="101203" y="0"/>
                      </a:lnTo>
                      <a:close/>
                    </a:path>
                  </a:pathLst>
                </a:custGeom>
                <a:solidFill>
                  <a:srgbClr val="14865F"/>
                </a:solidFill>
                <a:ln>
                  <a:noFill/>
                </a:ln>
              </p:spPr>
            </p:sp>
            <p:sp>
              <p:nvSpPr>
                <p:cNvPr id="12" name="Freeform 12"/>
                <p:cNvSpPr/>
                <p:nvPr/>
              </p:nvSpPr>
              <p:spPr>
                <a:xfrm>
                  <a:off x="925116" y="2590800"/>
                  <a:ext cx="101203" cy="101203"/>
                </a:xfrm>
                <a:custGeom>
                  <a:avLst/>
                  <a:gdLst/>
                  <a:ahLst/>
                  <a:cxnLst/>
                  <a:rect l="l" t="t" r="r" b="b"/>
                  <a:pathLst>
                    <a:path w="101203" h="101203">
                      <a:moveTo>
                        <a:pt x="0" y="0"/>
                      </a:moveTo>
                      <a:lnTo>
                        <a:pt x="0" y="101203"/>
                      </a:lnTo>
                      <a:lnTo>
                        <a:pt x="101203" y="101203"/>
                      </a:lnTo>
                      <a:lnTo>
                        <a:pt x="0" y="0"/>
                      </a:lnTo>
                      <a:close/>
                    </a:path>
                  </a:pathLst>
                </a:custGeom>
                <a:solidFill>
                  <a:srgbClr val="14865F"/>
                </a:solidFill>
                <a:ln>
                  <a:noFill/>
                </a:ln>
              </p:spPr>
            </p:sp>
          </p:grpSp>
          <p:sp>
            <p:nvSpPr>
              <p:cNvPr id="14" name="TextBox 14"/>
              <p:cNvSpPr txBox="1"/>
              <p:nvPr/>
            </p:nvSpPr>
            <p:spPr>
              <a:xfrm>
                <a:off x="1193292" y="2597468"/>
                <a:ext cx="517779" cy="264033"/>
              </a:xfrm>
              <a:prstGeom prst="rect">
                <a:avLst/>
              </a:prstGeom>
              <a:noFill/>
              <a:ln>
                <a:noFill/>
              </a:ln>
            </p:spPr>
            <p:txBody>
              <a:bodyPr wrap="none" lIns="0" tIns="0" rIns="0" bIns="0" anchor="t" anchorCtr="0">
                <a:spAutoFit/>
              </a:bodyPr>
              <a:lstStyle/>
              <a:p>
                <a:pPr algn="l"/>
                <a:r>
                  <a:rPr lang="en-US" sz="1350" b="1" dirty="0">
                    <a:solidFill>
                      <a:srgbClr val="14865F"/>
                    </a:solidFill>
                    <a:latin typeface="Consolas"/>
                    <a:ea typeface="Consolas"/>
                    <a:cs typeface="Consolas"/>
                  </a:rPr>
                  <a:t>PR #4</a:t>
                </a:r>
              </a:p>
            </p:txBody>
          </p:sp>
          <p:sp>
            <p:nvSpPr>
              <p:cNvPr id="15" name="TextBox 15"/>
              <p:cNvSpPr txBox="1"/>
              <p:nvPr/>
            </p:nvSpPr>
            <p:spPr>
              <a:xfrm>
                <a:off x="1191006" y="2910840"/>
                <a:ext cx="1290447" cy="352044"/>
              </a:xfrm>
              <a:prstGeom prst="rect">
                <a:avLst/>
              </a:prstGeom>
              <a:noFill/>
              <a:ln>
                <a:noFill/>
              </a:ln>
            </p:spPr>
            <p:txBody>
              <a:bodyPr wrap="none" lIns="0" tIns="0" rIns="0" bIns="0" anchor="t" anchorCtr="0">
                <a:spAutoFit/>
              </a:bodyPr>
              <a:lstStyle/>
              <a:p>
                <a:pPr algn="l"/>
                <a:r>
                  <a:rPr lang="zh-CN" sz="1800" b="1" dirty="0">
                    <a:solidFill>
                      <a:srgbClr val="1C2A24"/>
                    </a:solidFill>
                    <a:latin typeface="Segoe UI"/>
                    <a:ea typeface="Microsoft YaHei UI"/>
                    <a:cs typeface="Segoe UI"/>
                  </a:rPr>
                  <a:t>协议与留痕</a:t>
                </a:r>
              </a:p>
            </p:txBody>
          </p:sp>
          <p:sp>
            <p:nvSpPr>
              <p:cNvPr id="16" name="TextBox 16"/>
              <p:cNvSpPr txBox="1"/>
              <p:nvPr/>
            </p:nvSpPr>
            <p:spPr>
              <a:xfrm>
                <a:off x="736092" y="3588068"/>
                <a:ext cx="2605144" cy="264033"/>
              </a:xfrm>
              <a:prstGeom prst="rect">
                <a:avLst/>
              </a:prstGeom>
              <a:noFill/>
              <a:ln>
                <a:noFill/>
              </a:ln>
            </p:spPr>
            <p:txBody>
              <a:bodyPr wrap="none" lIns="0" tIns="0" rIns="0" bIns="0" anchor="t" anchorCtr="0">
                <a:spAutoFit/>
              </a:bodyPr>
              <a:lstStyle/>
              <a:p>
                <a:pPr algn="l"/>
                <a:r>
                  <a:rPr lang="en-US" sz="1350" dirty="0">
                    <a:solidFill>
                      <a:srgbClr val="52605A"/>
                    </a:solidFill>
                    <a:latin typeface="Segoe UI"/>
                    <a:ea typeface="Segoe UI"/>
                    <a:cs typeface="Segoe UI"/>
                  </a:rPr>
                  <a:t>Scenario · Source · Contract</a:t>
                </a:r>
              </a:p>
            </p:txBody>
          </p:sp>
          <p:sp>
            <p:nvSpPr>
              <p:cNvPr id="17" name="TextBox 17"/>
              <p:cNvSpPr txBox="1"/>
              <p:nvPr/>
            </p:nvSpPr>
            <p:spPr>
              <a:xfrm>
                <a:off x="736092" y="3873818"/>
                <a:ext cx="1002640"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UI 事实矩阵</a:t>
                </a:r>
              </a:p>
            </p:txBody>
          </p:sp>
        </p:grpSp>
        <p:grpSp>
          <p:nvGrpSpPr>
            <p:cNvPr id="28" name="Group 28"/>
            <p:cNvGrpSpPr/>
            <p:nvPr/>
          </p:nvGrpSpPr>
          <p:grpSpPr>
            <a:xfrm>
              <a:off x="3181350" y="2381250"/>
              <a:ext cx="2571750" cy="1756601"/>
              <a:chOff x="3181350" y="2381250"/>
              <a:chExt cx="2571750" cy="1756601"/>
            </a:xfrm>
          </p:grpSpPr>
          <p:sp>
            <p:nvSpPr>
              <p:cNvPr id="19" name="Polygon 19"/>
              <p:cNvSpPr/>
              <p:nvPr/>
            </p:nvSpPr>
            <p:spPr>
              <a:xfrm>
                <a:off x="3181350" y="2381250"/>
                <a:ext cx="2571750" cy="990600"/>
              </a:xfrm>
              <a:custGeom>
                <a:avLst/>
                <a:gdLst/>
                <a:ahLst/>
                <a:cxnLst/>
                <a:rect l="l" t="t" r="r" b="b"/>
                <a:pathLst>
                  <a:path w="2571750" h="990600">
                    <a:moveTo>
                      <a:pt x="0" y="0"/>
                    </a:moveTo>
                    <a:lnTo>
                      <a:pt x="2305050" y="0"/>
                    </a:lnTo>
                    <a:lnTo>
                      <a:pt x="2571750" y="495300"/>
                    </a:lnTo>
                    <a:lnTo>
                      <a:pt x="2305050" y="990600"/>
                    </a:lnTo>
                    <a:lnTo>
                      <a:pt x="0" y="990600"/>
                    </a:lnTo>
                    <a:lnTo>
                      <a:pt x="266700" y="495300"/>
                    </a:lnTo>
                    <a:close/>
                  </a:path>
                </a:pathLst>
              </a:custGeom>
              <a:solidFill>
                <a:srgbClr val="EEF3F0"/>
              </a:solidFill>
              <a:ln w="19050">
                <a:solidFill>
                  <a:srgbClr val="CDD8D2"/>
                </a:solidFill>
              </a:ln>
            </p:spPr>
          </p:sp>
          <p:grpSp>
            <p:nvGrpSpPr>
              <p:cNvPr id="23" name="Group 23"/>
              <p:cNvGrpSpPr/>
              <p:nvPr/>
            </p:nvGrpSpPr>
            <p:grpSpPr>
              <a:xfrm>
                <a:off x="3583781" y="2590800"/>
                <a:ext cx="242888" cy="323850"/>
                <a:chOff x="3583781" y="2590800"/>
                <a:chExt cx="242888" cy="323850"/>
              </a:xfrm>
            </p:grpSpPr>
            <p:sp>
              <p:nvSpPr>
                <p:cNvPr id="20" name="Freeform 20"/>
                <p:cNvSpPr/>
                <p:nvPr/>
              </p:nvSpPr>
              <p:spPr>
                <a:xfrm>
                  <a:off x="3583781" y="2720340"/>
                  <a:ext cx="242888" cy="93107"/>
                </a:xfrm>
                <a:custGeom>
                  <a:avLst/>
                  <a:gdLst/>
                  <a:ahLst/>
                  <a:cxnLst/>
                  <a:rect l="l" t="t" r="r" b="b"/>
                  <a:pathLst>
                    <a:path w="242888" h="93107">
                      <a:moveTo>
                        <a:pt x="225422" y="10326"/>
                      </a:moveTo>
                      <a:cubicBezTo>
                        <a:pt x="231116" y="7479"/>
                        <a:pt x="237064" y="4044"/>
                        <a:pt x="242888" y="0"/>
                      </a:cubicBezTo>
                      <a:lnTo>
                        <a:pt x="242888" y="32385"/>
                      </a:lnTo>
                      <a:cubicBezTo>
                        <a:pt x="242888" y="65920"/>
                        <a:pt x="188515" y="93107"/>
                        <a:pt x="121444" y="93107"/>
                      </a:cubicBezTo>
                      <a:cubicBezTo>
                        <a:pt x="54372" y="93107"/>
                        <a:pt x="0" y="65920"/>
                        <a:pt x="0" y="32385"/>
                      </a:cubicBezTo>
                      <a:lnTo>
                        <a:pt x="0" y="0"/>
                      </a:lnTo>
                      <a:cubicBezTo>
                        <a:pt x="5824" y="4044"/>
                        <a:pt x="11772" y="7479"/>
                        <a:pt x="17466" y="10326"/>
                      </a:cubicBezTo>
                      <a:cubicBezTo>
                        <a:pt x="46168" y="24677"/>
                        <a:pt x="82986" y="32385"/>
                        <a:pt x="121444" y="32385"/>
                      </a:cubicBezTo>
                      <a:cubicBezTo>
                        <a:pt x="159901" y="32385"/>
                        <a:pt x="196719" y="24677"/>
                        <a:pt x="225422" y="10326"/>
                      </a:cubicBezTo>
                      <a:close/>
                    </a:path>
                  </a:pathLst>
                </a:custGeom>
                <a:solidFill>
                  <a:srgbClr val="14865F"/>
                </a:solidFill>
                <a:ln>
                  <a:noFill/>
                </a:ln>
              </p:spPr>
            </p:sp>
            <p:sp>
              <p:nvSpPr>
                <p:cNvPr id="21" name="Freeform 21"/>
                <p:cNvSpPr/>
                <p:nvPr/>
              </p:nvSpPr>
              <p:spPr>
                <a:xfrm>
                  <a:off x="3583781" y="2821543"/>
                  <a:ext cx="242888" cy="93107"/>
                </a:xfrm>
                <a:custGeom>
                  <a:avLst/>
                  <a:gdLst/>
                  <a:ahLst/>
                  <a:cxnLst/>
                  <a:rect l="l" t="t" r="r" b="b"/>
                  <a:pathLst>
                    <a:path w="242888" h="93107">
                      <a:moveTo>
                        <a:pt x="0" y="0"/>
                      </a:moveTo>
                      <a:lnTo>
                        <a:pt x="0" y="32385"/>
                      </a:lnTo>
                      <a:cubicBezTo>
                        <a:pt x="0" y="65922"/>
                        <a:pt x="54372" y="93107"/>
                        <a:pt x="121444" y="93107"/>
                      </a:cubicBezTo>
                      <a:cubicBezTo>
                        <a:pt x="188515" y="93107"/>
                        <a:pt x="242888" y="65922"/>
                        <a:pt x="242888" y="32385"/>
                      </a:cubicBezTo>
                      <a:lnTo>
                        <a:pt x="242888" y="0"/>
                      </a:lnTo>
                      <a:cubicBezTo>
                        <a:pt x="237064" y="4044"/>
                        <a:pt x="231116" y="7479"/>
                        <a:pt x="225422" y="10327"/>
                      </a:cubicBezTo>
                      <a:cubicBezTo>
                        <a:pt x="196719" y="24677"/>
                        <a:pt x="159901" y="32385"/>
                        <a:pt x="121444" y="32385"/>
                      </a:cubicBezTo>
                      <a:cubicBezTo>
                        <a:pt x="82986" y="32385"/>
                        <a:pt x="46168" y="24677"/>
                        <a:pt x="17466" y="10327"/>
                      </a:cubicBezTo>
                      <a:cubicBezTo>
                        <a:pt x="11772" y="7479"/>
                        <a:pt x="5824" y="4044"/>
                        <a:pt x="0" y="0"/>
                      </a:cubicBezTo>
                      <a:close/>
                    </a:path>
                  </a:pathLst>
                </a:custGeom>
                <a:solidFill>
                  <a:srgbClr val="14865F"/>
                </a:solidFill>
                <a:ln>
                  <a:noFill/>
                </a:ln>
              </p:spPr>
            </p:sp>
            <p:sp>
              <p:nvSpPr>
                <p:cNvPr id="22" name="Freeform 22"/>
                <p:cNvSpPr/>
                <p:nvPr/>
              </p:nvSpPr>
              <p:spPr>
                <a:xfrm>
                  <a:off x="3583781" y="2590800"/>
                  <a:ext cx="242888" cy="121444"/>
                </a:xfrm>
                <a:custGeom>
                  <a:avLst/>
                  <a:gdLst/>
                  <a:ahLst/>
                  <a:cxnLst/>
                  <a:rect l="l" t="t" r="r" b="b"/>
                  <a:pathLst>
                    <a:path w="242888" h="121444">
                      <a:moveTo>
                        <a:pt x="121444" y="0"/>
                      </a:moveTo>
                      <a:cubicBezTo>
                        <a:pt x="188515" y="0"/>
                        <a:pt x="242888" y="27186"/>
                        <a:pt x="242888" y="60722"/>
                      </a:cubicBezTo>
                      <a:cubicBezTo>
                        <a:pt x="242888" y="94258"/>
                        <a:pt x="188515" y="121444"/>
                        <a:pt x="121444" y="121444"/>
                      </a:cubicBezTo>
                      <a:cubicBezTo>
                        <a:pt x="54372" y="121444"/>
                        <a:pt x="0" y="94258"/>
                        <a:pt x="0" y="60722"/>
                      </a:cubicBezTo>
                      <a:cubicBezTo>
                        <a:pt x="0" y="27186"/>
                        <a:pt x="54372" y="0"/>
                        <a:pt x="121444" y="0"/>
                      </a:cubicBezTo>
                      <a:close/>
                    </a:path>
                  </a:pathLst>
                </a:custGeom>
                <a:solidFill>
                  <a:srgbClr val="14865F"/>
                </a:solidFill>
                <a:ln>
                  <a:noFill/>
                </a:ln>
              </p:spPr>
            </p:sp>
          </p:grpSp>
          <p:sp>
            <p:nvSpPr>
              <p:cNvPr id="24" name="TextBox 24"/>
              <p:cNvSpPr txBox="1"/>
              <p:nvPr/>
            </p:nvSpPr>
            <p:spPr>
              <a:xfrm>
                <a:off x="3993642" y="2597468"/>
                <a:ext cx="517779" cy="264033"/>
              </a:xfrm>
              <a:prstGeom prst="rect">
                <a:avLst/>
              </a:prstGeom>
              <a:noFill/>
              <a:ln>
                <a:noFill/>
              </a:ln>
            </p:spPr>
            <p:txBody>
              <a:bodyPr wrap="none" lIns="0" tIns="0" rIns="0" bIns="0" anchor="t" anchorCtr="0">
                <a:spAutoFit/>
              </a:bodyPr>
              <a:lstStyle/>
              <a:p>
                <a:pPr algn="l"/>
                <a:r>
                  <a:rPr lang="en-US" sz="1350" b="1" dirty="0">
                    <a:solidFill>
                      <a:srgbClr val="14865F"/>
                    </a:solidFill>
                    <a:latin typeface="Consolas"/>
                    <a:ea typeface="Consolas"/>
                    <a:cs typeface="Consolas"/>
                  </a:rPr>
                  <a:t>PR #5</a:t>
                </a:r>
              </a:p>
            </p:txBody>
          </p:sp>
          <p:sp>
            <p:nvSpPr>
              <p:cNvPr id="25" name="TextBox 25"/>
              <p:cNvSpPr txBox="1"/>
              <p:nvPr/>
            </p:nvSpPr>
            <p:spPr>
              <a:xfrm>
                <a:off x="3991356" y="2910840"/>
                <a:ext cx="1290447" cy="352044"/>
              </a:xfrm>
              <a:prstGeom prst="rect">
                <a:avLst/>
              </a:prstGeom>
              <a:noFill/>
              <a:ln>
                <a:noFill/>
              </a:ln>
            </p:spPr>
            <p:txBody>
              <a:bodyPr wrap="none" lIns="0" tIns="0" rIns="0" bIns="0" anchor="t" anchorCtr="0">
                <a:spAutoFit/>
              </a:bodyPr>
              <a:lstStyle/>
              <a:p>
                <a:pPr algn="l"/>
                <a:r>
                  <a:rPr lang="zh-CN" sz="1800" b="1" dirty="0">
                    <a:solidFill>
                      <a:srgbClr val="1C2A24"/>
                    </a:solidFill>
                    <a:latin typeface="Segoe UI"/>
                    <a:ea typeface="Microsoft YaHei UI"/>
                    <a:cs typeface="Segoe UI"/>
                  </a:rPr>
                  <a:t>服务端真值</a:t>
                </a:r>
              </a:p>
            </p:txBody>
          </p:sp>
          <p:sp>
            <p:nvSpPr>
              <p:cNvPr id="26" name="TextBox 26"/>
              <p:cNvSpPr txBox="1"/>
              <p:nvPr/>
            </p:nvSpPr>
            <p:spPr>
              <a:xfrm>
                <a:off x="3384042" y="3588068"/>
                <a:ext cx="2095226" cy="264033"/>
              </a:xfrm>
              <a:prstGeom prst="rect">
                <a:avLst/>
              </a:prstGeom>
              <a:noFill/>
              <a:ln>
                <a:noFill/>
              </a:ln>
            </p:spPr>
            <p:txBody>
              <a:bodyPr wrap="none" lIns="0" tIns="0" rIns="0" bIns="0" anchor="t" anchorCtr="0">
                <a:spAutoFit/>
              </a:bodyPr>
              <a:lstStyle/>
              <a:p>
                <a:pPr algn="l"/>
                <a:r>
                  <a:rPr lang="en-US" sz="1350" dirty="0">
                    <a:solidFill>
                      <a:srgbClr val="52605A"/>
                    </a:solidFill>
                    <a:latin typeface="Segoe UI"/>
                    <a:ea typeface="Segoe UI"/>
                    <a:cs typeface="Segoe UI"/>
                  </a:rPr>
                  <a:t>TaskStore · REST · SSE</a:t>
                </a:r>
              </a:p>
            </p:txBody>
          </p:sp>
          <p:sp>
            <p:nvSpPr>
              <p:cNvPr id="27" name="TextBox 27"/>
              <p:cNvSpPr txBox="1"/>
              <p:nvPr/>
            </p:nvSpPr>
            <p:spPr>
              <a:xfrm>
                <a:off x="3384042" y="3873818"/>
                <a:ext cx="1204877"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真实 Task Bar</a:t>
                </a:r>
              </a:p>
            </p:txBody>
          </p:sp>
        </p:grpSp>
        <p:grpSp>
          <p:nvGrpSpPr>
            <p:cNvPr id="35" name="Group 35"/>
            <p:cNvGrpSpPr/>
            <p:nvPr/>
          </p:nvGrpSpPr>
          <p:grpSpPr>
            <a:xfrm>
              <a:off x="5829300" y="2381250"/>
              <a:ext cx="2571750" cy="1756601"/>
              <a:chOff x="5829300" y="2381250"/>
              <a:chExt cx="2571750" cy="1756601"/>
            </a:xfrm>
          </p:grpSpPr>
          <p:sp>
            <p:nvSpPr>
              <p:cNvPr id="29" name="Polygon 29"/>
              <p:cNvSpPr/>
              <p:nvPr/>
            </p:nvSpPr>
            <p:spPr>
              <a:xfrm>
                <a:off x="5829300" y="2381250"/>
                <a:ext cx="2571750" cy="990600"/>
              </a:xfrm>
              <a:custGeom>
                <a:avLst/>
                <a:gdLst/>
                <a:ahLst/>
                <a:cxnLst/>
                <a:rect l="l" t="t" r="r" b="b"/>
                <a:pathLst>
                  <a:path w="2571750" h="990600">
                    <a:moveTo>
                      <a:pt x="0" y="0"/>
                    </a:moveTo>
                    <a:lnTo>
                      <a:pt x="2305050" y="0"/>
                    </a:lnTo>
                    <a:lnTo>
                      <a:pt x="2571750" y="495300"/>
                    </a:lnTo>
                    <a:lnTo>
                      <a:pt x="2305050" y="990600"/>
                    </a:lnTo>
                    <a:lnTo>
                      <a:pt x="0" y="990600"/>
                    </a:lnTo>
                    <a:lnTo>
                      <a:pt x="266700" y="495300"/>
                    </a:lnTo>
                    <a:close/>
                  </a:path>
                </a:pathLst>
              </a:custGeom>
              <a:solidFill>
                <a:srgbClr val="FFFFFF"/>
              </a:solidFill>
              <a:ln w="19050">
                <a:solidFill>
                  <a:srgbClr val="CDD8D2"/>
                </a:solidFill>
              </a:ln>
            </p:spPr>
          </p:sp>
          <p:sp>
            <p:nvSpPr>
              <p:cNvPr id="30" name="Freeform 30"/>
              <p:cNvSpPr/>
              <p:nvPr/>
            </p:nvSpPr>
            <p:spPr>
              <a:xfrm>
                <a:off x="6221611" y="2590800"/>
                <a:ext cx="263128" cy="323850"/>
              </a:xfrm>
              <a:custGeom>
                <a:avLst/>
                <a:gdLst/>
                <a:ahLst/>
                <a:cxnLst/>
                <a:rect l="l" t="t" r="r" b="b"/>
                <a:pathLst>
                  <a:path w="263128" h="323850">
                    <a:moveTo>
                      <a:pt x="70842" y="96993"/>
                    </a:moveTo>
                    <a:cubicBezTo>
                      <a:pt x="88714" y="89184"/>
                      <a:pt x="101203" y="71351"/>
                      <a:pt x="101203" y="50602"/>
                    </a:cubicBezTo>
                    <a:cubicBezTo>
                      <a:pt x="101203" y="22655"/>
                      <a:pt x="78548" y="0"/>
                      <a:pt x="50602" y="0"/>
                    </a:cubicBezTo>
                    <a:cubicBezTo>
                      <a:pt x="22655" y="0"/>
                      <a:pt x="0" y="22655"/>
                      <a:pt x="0" y="50602"/>
                    </a:cubicBezTo>
                    <a:cubicBezTo>
                      <a:pt x="0" y="71351"/>
                      <a:pt x="12489" y="89184"/>
                      <a:pt x="30361" y="96993"/>
                    </a:cubicBezTo>
                    <a:lnTo>
                      <a:pt x="30361" y="226857"/>
                    </a:lnTo>
                    <a:cubicBezTo>
                      <a:pt x="12489" y="234666"/>
                      <a:pt x="0" y="252498"/>
                      <a:pt x="0" y="273248"/>
                    </a:cubicBezTo>
                    <a:cubicBezTo>
                      <a:pt x="0" y="301195"/>
                      <a:pt x="22655" y="323850"/>
                      <a:pt x="50602" y="323850"/>
                    </a:cubicBezTo>
                    <a:cubicBezTo>
                      <a:pt x="78548" y="323850"/>
                      <a:pt x="101203" y="301195"/>
                      <a:pt x="101203" y="273248"/>
                    </a:cubicBezTo>
                    <a:cubicBezTo>
                      <a:pt x="101203" y="252498"/>
                      <a:pt x="88714" y="234666"/>
                      <a:pt x="70842" y="226857"/>
                    </a:cubicBezTo>
                    <a:lnTo>
                      <a:pt x="70842" y="182166"/>
                    </a:lnTo>
                    <a:lnTo>
                      <a:pt x="232767" y="182166"/>
                    </a:lnTo>
                    <a:lnTo>
                      <a:pt x="232767" y="96993"/>
                    </a:lnTo>
                    <a:cubicBezTo>
                      <a:pt x="250640" y="89184"/>
                      <a:pt x="263128" y="71351"/>
                      <a:pt x="263128" y="50602"/>
                    </a:cubicBezTo>
                    <a:cubicBezTo>
                      <a:pt x="263128" y="22655"/>
                      <a:pt x="240473" y="0"/>
                      <a:pt x="212527" y="0"/>
                    </a:cubicBezTo>
                    <a:cubicBezTo>
                      <a:pt x="184580" y="0"/>
                      <a:pt x="161925" y="22655"/>
                      <a:pt x="161925" y="50602"/>
                    </a:cubicBezTo>
                    <a:cubicBezTo>
                      <a:pt x="161925" y="71351"/>
                      <a:pt x="174413" y="89184"/>
                      <a:pt x="192286" y="96993"/>
                    </a:cubicBezTo>
                    <a:lnTo>
                      <a:pt x="192286" y="141684"/>
                    </a:lnTo>
                    <a:lnTo>
                      <a:pt x="70842" y="141684"/>
                    </a:lnTo>
                    <a:lnTo>
                      <a:pt x="70842" y="96993"/>
                    </a:lnTo>
                    <a:close/>
                  </a:path>
                </a:pathLst>
              </a:custGeom>
              <a:solidFill>
                <a:srgbClr val="14865F"/>
              </a:solidFill>
              <a:ln>
                <a:noFill/>
              </a:ln>
            </p:spPr>
          </p:sp>
          <p:sp>
            <p:nvSpPr>
              <p:cNvPr id="31" name="TextBox 31"/>
              <p:cNvSpPr txBox="1"/>
              <p:nvPr/>
            </p:nvSpPr>
            <p:spPr>
              <a:xfrm>
                <a:off x="6641592" y="2597468"/>
                <a:ext cx="517779" cy="264033"/>
              </a:xfrm>
              <a:prstGeom prst="rect">
                <a:avLst/>
              </a:prstGeom>
              <a:noFill/>
              <a:ln>
                <a:noFill/>
              </a:ln>
            </p:spPr>
            <p:txBody>
              <a:bodyPr wrap="none" lIns="0" tIns="0" rIns="0" bIns="0" anchor="t" anchorCtr="0">
                <a:spAutoFit/>
              </a:bodyPr>
              <a:lstStyle/>
              <a:p>
                <a:pPr algn="l"/>
                <a:r>
                  <a:rPr lang="en-US" sz="1350" b="1" dirty="0">
                    <a:solidFill>
                      <a:srgbClr val="14865F"/>
                    </a:solidFill>
                    <a:latin typeface="Consolas"/>
                    <a:ea typeface="Consolas"/>
                    <a:cs typeface="Consolas"/>
                  </a:rPr>
                  <a:t>PR #6</a:t>
                </a:r>
              </a:p>
            </p:txBody>
          </p:sp>
          <p:sp>
            <p:nvSpPr>
              <p:cNvPr id="32" name="TextBox 32"/>
              <p:cNvSpPr txBox="1"/>
              <p:nvPr/>
            </p:nvSpPr>
            <p:spPr>
              <a:xfrm>
                <a:off x="6639306" y="2910840"/>
                <a:ext cx="1544879" cy="352044"/>
              </a:xfrm>
              <a:prstGeom prst="rect">
                <a:avLst/>
              </a:prstGeom>
              <a:noFill/>
              <a:ln>
                <a:noFill/>
              </a:ln>
            </p:spPr>
            <p:txBody>
              <a:bodyPr wrap="none" lIns="0" tIns="0" rIns="0" bIns="0" anchor="t" anchorCtr="0">
                <a:spAutoFit/>
              </a:bodyPr>
              <a:lstStyle/>
              <a:p>
                <a:pPr algn="l"/>
                <a:r>
                  <a:rPr lang="zh-CN" sz="1800" b="1" dirty="0">
                    <a:solidFill>
                      <a:srgbClr val="1C2A24"/>
                    </a:solidFill>
                    <a:latin typeface="Segoe UI"/>
                    <a:ea typeface="Microsoft YaHei UI"/>
                    <a:cs typeface="Segoe UI"/>
                  </a:rPr>
                  <a:t>受控状态转换</a:t>
                </a:r>
              </a:p>
            </p:txBody>
          </p:sp>
          <p:sp>
            <p:nvSpPr>
              <p:cNvPr id="33" name="TextBox 33"/>
              <p:cNvSpPr txBox="1"/>
              <p:nvPr/>
            </p:nvSpPr>
            <p:spPr>
              <a:xfrm>
                <a:off x="6031992" y="3588068"/>
                <a:ext cx="2214051" cy="264033"/>
              </a:xfrm>
              <a:prstGeom prst="rect">
                <a:avLst/>
              </a:prstGeom>
              <a:noFill/>
              <a:ln>
                <a:noFill/>
              </a:ln>
            </p:spPr>
            <p:txBody>
              <a:bodyPr wrap="none" lIns="0" tIns="0" rIns="0" bIns="0" anchor="t" anchorCtr="0">
                <a:spAutoFit/>
              </a:bodyPr>
              <a:lstStyle/>
              <a:p>
                <a:pPr algn="l"/>
                <a:r>
                  <a:rPr lang="en-US" sz="1350" dirty="0">
                    <a:solidFill>
                      <a:srgbClr val="52605A"/>
                    </a:solidFill>
                    <a:latin typeface="Segoe UI"/>
                    <a:ea typeface="Segoe UI"/>
                    <a:cs typeface="Segoe UI"/>
                  </a:rPr>
                  <a:t>Loop · Conflict · Control</a:t>
                </a:r>
              </a:p>
            </p:txBody>
          </p:sp>
          <p:sp>
            <p:nvSpPr>
              <p:cNvPr id="34" name="TextBox 34"/>
              <p:cNvSpPr txBox="1"/>
              <p:nvPr/>
            </p:nvSpPr>
            <p:spPr>
              <a:xfrm>
                <a:off x="6031992" y="3873818"/>
                <a:ext cx="1415246" cy="264033"/>
              </a:xfrm>
              <a:prstGeom prst="rect">
                <a:avLst/>
              </a:prstGeom>
              <a:noFill/>
              <a:ln>
                <a:noFill/>
              </a:ln>
            </p:spPr>
            <p:txBody>
              <a:bodyPr wrap="none" lIns="0" tIns="0" rIns="0" bIns="0" anchor="t" anchorCtr="0">
                <a:spAutoFit/>
              </a:bodyPr>
              <a:lstStyle/>
              <a:p>
                <a:pPr algn="l"/>
                <a:r>
                  <a:rPr lang="en-US" sz="1350" dirty="0">
                    <a:solidFill>
                      <a:srgbClr val="52605A"/>
                    </a:solidFill>
                    <a:latin typeface="Segoe UI"/>
                    <a:ea typeface="Segoe UI"/>
                    <a:cs typeface="Segoe UI"/>
                  </a:rPr>
                  <a:t>Verified Commit</a:t>
                </a:r>
              </a:p>
            </p:txBody>
          </p:sp>
        </p:grpSp>
        <p:grpSp>
          <p:nvGrpSpPr>
            <p:cNvPr id="42" name="Group 42"/>
            <p:cNvGrpSpPr/>
            <p:nvPr/>
          </p:nvGrpSpPr>
          <p:grpSpPr>
            <a:xfrm>
              <a:off x="8477250" y="2381250"/>
              <a:ext cx="3181350" cy="1756601"/>
              <a:chOff x="8477250" y="2381250"/>
              <a:chExt cx="3181350" cy="1756601"/>
            </a:xfrm>
          </p:grpSpPr>
          <p:sp>
            <p:nvSpPr>
              <p:cNvPr id="36" name="Polygon 36"/>
              <p:cNvSpPr/>
              <p:nvPr/>
            </p:nvSpPr>
            <p:spPr>
              <a:xfrm>
                <a:off x="8477250" y="2381250"/>
                <a:ext cx="3181350" cy="990600"/>
              </a:xfrm>
              <a:custGeom>
                <a:avLst/>
                <a:gdLst/>
                <a:ahLst/>
                <a:cxnLst/>
                <a:rect l="l" t="t" r="r" b="b"/>
                <a:pathLst>
                  <a:path w="3181350" h="990600">
                    <a:moveTo>
                      <a:pt x="0" y="0"/>
                    </a:moveTo>
                    <a:lnTo>
                      <a:pt x="2895600" y="0"/>
                    </a:lnTo>
                    <a:lnTo>
                      <a:pt x="3181350" y="495300"/>
                    </a:lnTo>
                    <a:lnTo>
                      <a:pt x="2895600" y="990600"/>
                    </a:lnTo>
                    <a:lnTo>
                      <a:pt x="0" y="990600"/>
                    </a:lnTo>
                    <a:lnTo>
                      <a:pt x="266700" y="495300"/>
                    </a:lnTo>
                    <a:close/>
                  </a:path>
                </a:pathLst>
              </a:custGeom>
              <a:solidFill>
                <a:srgbClr val="14865F"/>
              </a:solidFill>
              <a:ln w="19050">
                <a:solidFill>
                  <a:srgbClr val="14865F"/>
                </a:solidFill>
              </a:ln>
            </p:spPr>
          </p:sp>
          <p:sp>
            <p:nvSpPr>
              <p:cNvPr id="37" name="Freeform 37"/>
              <p:cNvSpPr/>
              <p:nvPr/>
            </p:nvSpPr>
            <p:spPr>
              <a:xfrm>
                <a:off x="8896350" y="2631281"/>
                <a:ext cx="323850" cy="283369"/>
              </a:xfrm>
              <a:custGeom>
                <a:avLst/>
                <a:gdLst/>
                <a:ahLst/>
                <a:cxnLst/>
                <a:rect l="l" t="t" r="r" b="b"/>
                <a:pathLst>
                  <a:path w="323850" h="283369">
                    <a:moveTo>
                      <a:pt x="0" y="0"/>
                    </a:moveTo>
                    <a:lnTo>
                      <a:pt x="323850" y="0"/>
                    </a:lnTo>
                    <a:lnTo>
                      <a:pt x="323850" y="202406"/>
                    </a:lnTo>
                    <a:lnTo>
                      <a:pt x="202406" y="202406"/>
                    </a:lnTo>
                    <a:lnTo>
                      <a:pt x="202406" y="222647"/>
                    </a:lnTo>
                    <a:lnTo>
                      <a:pt x="242888" y="263128"/>
                    </a:lnTo>
                    <a:lnTo>
                      <a:pt x="242888" y="283369"/>
                    </a:lnTo>
                    <a:lnTo>
                      <a:pt x="80962" y="283369"/>
                    </a:lnTo>
                    <a:lnTo>
                      <a:pt x="80962" y="263128"/>
                    </a:lnTo>
                    <a:lnTo>
                      <a:pt x="121444" y="222647"/>
                    </a:lnTo>
                    <a:lnTo>
                      <a:pt x="121444" y="202406"/>
                    </a:lnTo>
                    <a:lnTo>
                      <a:pt x="0" y="202406"/>
                    </a:lnTo>
                    <a:lnTo>
                      <a:pt x="0" y="0"/>
                    </a:lnTo>
                    <a:close/>
                    <a:moveTo>
                      <a:pt x="40481" y="40481"/>
                    </a:moveTo>
                    <a:lnTo>
                      <a:pt x="283369" y="40481"/>
                    </a:lnTo>
                    <a:lnTo>
                      <a:pt x="283369" y="161925"/>
                    </a:lnTo>
                    <a:lnTo>
                      <a:pt x="40481" y="161925"/>
                    </a:lnTo>
                    <a:lnTo>
                      <a:pt x="40481" y="40481"/>
                    </a:lnTo>
                    <a:close/>
                  </a:path>
                </a:pathLst>
              </a:custGeom>
              <a:solidFill>
                <a:srgbClr val="FFFFFF"/>
              </a:solidFill>
              <a:ln>
                <a:noFill/>
              </a:ln>
            </p:spPr>
          </p:sp>
          <p:sp>
            <p:nvSpPr>
              <p:cNvPr id="38" name="TextBox 38"/>
              <p:cNvSpPr txBox="1"/>
              <p:nvPr/>
            </p:nvSpPr>
            <p:spPr>
              <a:xfrm>
                <a:off x="9346692" y="2597468"/>
                <a:ext cx="517779"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Consolas"/>
                    <a:ea typeface="Consolas"/>
                    <a:cs typeface="Consolas"/>
                  </a:rPr>
                  <a:t>PR #7</a:t>
                </a:r>
              </a:p>
            </p:txBody>
          </p:sp>
          <p:sp>
            <p:nvSpPr>
              <p:cNvPr id="39" name="TextBox 39"/>
              <p:cNvSpPr txBox="1"/>
              <p:nvPr/>
            </p:nvSpPr>
            <p:spPr>
              <a:xfrm>
                <a:off x="9344406" y="29108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Segoe UI"/>
                    <a:ea typeface="Microsoft YaHei UI"/>
                    <a:cs typeface="Segoe UI"/>
                  </a:rPr>
                  <a:t>前台工件闭环</a:t>
                </a:r>
              </a:p>
            </p:txBody>
          </p:sp>
          <p:sp>
            <p:nvSpPr>
              <p:cNvPr id="40" name="TextBox 40"/>
              <p:cNvSpPr txBox="1"/>
              <p:nvPr/>
            </p:nvSpPr>
            <p:spPr>
              <a:xfrm>
                <a:off x="8679942" y="3588068"/>
                <a:ext cx="2294109" cy="264033"/>
              </a:xfrm>
              <a:prstGeom prst="rect">
                <a:avLst/>
              </a:prstGeom>
              <a:noFill/>
              <a:ln>
                <a:noFill/>
              </a:ln>
            </p:spPr>
            <p:txBody>
              <a:bodyPr wrap="none" lIns="0" tIns="0" rIns="0" bIns="0" anchor="t" anchorCtr="0">
                <a:spAutoFit/>
              </a:bodyPr>
              <a:lstStyle/>
              <a:p>
                <a:pPr algn="l"/>
                <a:r>
                  <a:rPr lang="en-US" sz="1350" dirty="0">
                    <a:solidFill>
                      <a:srgbClr val="14865F"/>
                    </a:solidFill>
                    <a:latin typeface="Segoe UI"/>
                    <a:ea typeface="Segoe UI"/>
                    <a:cs typeface="Segoe UI"/>
                  </a:rPr>
                  <a:t>Artifact Workspace · E2E</a:t>
                </a:r>
              </a:p>
            </p:txBody>
          </p:sp>
          <p:sp>
            <p:nvSpPr>
              <p:cNvPr id="41" name="TextBox 41"/>
              <p:cNvSpPr txBox="1"/>
              <p:nvPr/>
            </p:nvSpPr>
            <p:spPr>
              <a:xfrm>
                <a:off x="8679942" y="3873818"/>
                <a:ext cx="1131399"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桌面 + 移动端</a:t>
                </a:r>
              </a:p>
            </p:txBody>
          </p:sp>
        </p:grpSp>
      </p:grpSp>
      <p:grpSp>
        <p:nvGrpSpPr>
          <p:cNvPr id="53" name="Group 53"/>
          <p:cNvGrpSpPr/>
          <p:nvPr/>
        </p:nvGrpSpPr>
        <p:grpSpPr>
          <a:xfrm>
            <a:off x="533400" y="4629150"/>
            <a:ext cx="11125200" cy="1257300"/>
            <a:chOff x="533400" y="4629150"/>
            <a:chExt cx="11125200" cy="1257300"/>
          </a:xfrm>
        </p:grpSpPr>
        <p:sp>
          <p:nvSpPr>
            <p:cNvPr id="44" name="Rectangle 44"/>
            <p:cNvSpPr/>
            <p:nvPr/>
          </p:nvSpPr>
          <p:spPr>
            <a:xfrm>
              <a:off x="533400" y="4629150"/>
              <a:ext cx="11125200" cy="1257300"/>
            </a:xfrm>
            <a:prstGeom prst="rect">
              <a:avLst/>
            </a:prstGeom>
            <a:solidFill>
              <a:srgbClr val="EEF3F0"/>
            </a:solidFill>
            <a:ln>
              <a:noFill/>
            </a:ln>
          </p:spPr>
        </p:sp>
        <p:sp>
          <p:nvSpPr>
            <p:cNvPr id="45" name="Rectangle 45"/>
            <p:cNvSpPr/>
            <p:nvPr/>
          </p:nvSpPr>
          <p:spPr>
            <a:xfrm>
              <a:off x="533400" y="4629150"/>
              <a:ext cx="76200" cy="1257300"/>
            </a:xfrm>
            <a:prstGeom prst="rect">
              <a:avLst/>
            </a:prstGeom>
            <a:solidFill>
              <a:srgbClr val="C58B2B"/>
            </a:solidFill>
            <a:ln>
              <a:noFill/>
            </a:ln>
          </p:spPr>
        </p:sp>
        <p:sp>
          <p:nvSpPr>
            <p:cNvPr id="46" name="Freeform 46"/>
            <p:cNvSpPr/>
            <p:nvPr/>
          </p:nvSpPr>
          <p:spPr>
            <a:xfrm>
              <a:off x="838200" y="4914900"/>
              <a:ext cx="381000" cy="357188"/>
            </a:xfrm>
            <a:custGeom>
              <a:avLst/>
              <a:gdLst/>
              <a:ahLst/>
              <a:cxnLst/>
              <a:rect l="l" t="t" r="r" b="b"/>
              <a:pathLst>
                <a:path w="381000" h="357188">
                  <a:moveTo>
                    <a:pt x="381000" y="357188"/>
                  </a:moveTo>
                  <a:lnTo>
                    <a:pt x="0" y="357188"/>
                  </a:lnTo>
                  <a:lnTo>
                    <a:pt x="0" y="285750"/>
                  </a:lnTo>
                  <a:lnTo>
                    <a:pt x="166688" y="0"/>
                  </a:lnTo>
                  <a:lnTo>
                    <a:pt x="214312" y="0"/>
                  </a:lnTo>
                  <a:lnTo>
                    <a:pt x="381000" y="285750"/>
                  </a:lnTo>
                  <a:lnTo>
                    <a:pt x="381000" y="357188"/>
                  </a:lnTo>
                  <a:close/>
                  <a:moveTo>
                    <a:pt x="166688" y="95250"/>
                  </a:moveTo>
                  <a:lnTo>
                    <a:pt x="214312" y="95250"/>
                  </a:lnTo>
                  <a:lnTo>
                    <a:pt x="214312" y="214312"/>
                  </a:lnTo>
                  <a:lnTo>
                    <a:pt x="166688" y="214312"/>
                  </a:lnTo>
                  <a:lnTo>
                    <a:pt x="166688" y="95250"/>
                  </a:lnTo>
                  <a:close/>
                  <a:moveTo>
                    <a:pt x="166688" y="261938"/>
                  </a:moveTo>
                  <a:lnTo>
                    <a:pt x="214312" y="261938"/>
                  </a:lnTo>
                  <a:lnTo>
                    <a:pt x="214312" y="309562"/>
                  </a:lnTo>
                  <a:lnTo>
                    <a:pt x="166688" y="309562"/>
                  </a:lnTo>
                  <a:lnTo>
                    <a:pt x="166688" y="261938"/>
                  </a:lnTo>
                  <a:close/>
                </a:path>
              </a:pathLst>
            </a:custGeom>
            <a:solidFill>
              <a:srgbClr val="C58B2B"/>
            </a:solidFill>
            <a:ln>
              <a:noFill/>
            </a:ln>
          </p:spPr>
        </p:sp>
        <p:sp>
          <p:nvSpPr>
            <p:cNvPr id="47" name="TextBox 47"/>
            <p:cNvSpPr txBox="1"/>
            <p:nvPr/>
          </p:nvSpPr>
          <p:spPr>
            <a:xfrm>
              <a:off x="1437132" y="4935855"/>
              <a:ext cx="2692870" cy="410718"/>
            </a:xfrm>
            <a:prstGeom prst="rect">
              <a:avLst/>
            </a:prstGeom>
            <a:noFill/>
            <a:ln>
              <a:noFill/>
            </a:ln>
          </p:spPr>
          <p:txBody>
            <a:bodyPr wrap="none" lIns="0" tIns="0" rIns="0" bIns="0" anchor="t" anchorCtr="0">
              <a:spAutoFit/>
            </a:bodyPr>
            <a:lstStyle/>
            <a:p>
              <a:pPr algn="l"/>
              <a:r>
                <a:rPr lang="zh-CN" sz="2100" b="1" dirty="0">
                  <a:solidFill>
                    <a:srgbClr val="1C2A24"/>
                  </a:solidFill>
                  <a:latin typeface="Segoe UI"/>
                  <a:ea typeface="Microsoft YaHei UI"/>
                  <a:cs typeface="Segoe UI"/>
                </a:rPr>
                <a:t>边界必须与进展同屏</a:t>
              </a:r>
            </a:p>
          </p:txBody>
        </p:sp>
        <p:sp>
          <p:nvSpPr>
            <p:cNvPr id="48" name="TextBox 48"/>
            <p:cNvSpPr txBox="1"/>
            <p:nvPr/>
          </p:nvSpPr>
          <p:spPr>
            <a:xfrm>
              <a:off x="1439418" y="5384482"/>
              <a:ext cx="5806957" cy="322707"/>
            </a:xfrm>
            <a:prstGeom prst="rect">
              <a:avLst/>
            </a:prstGeom>
            <a:noFill/>
            <a:ln>
              <a:noFill/>
            </a:ln>
          </p:spPr>
          <p:txBody>
            <a:bodyPr wrap="none" lIns="0" tIns="0" rIns="0" bIns="0" anchor="t" anchorCtr="0">
              <a:spAutoFit/>
            </a:bodyPr>
            <a:lstStyle/>
            <a:p>
              <a:pPr algn="l"/>
              <a:r>
                <a:rPr lang="zh-CN" sz="1650" dirty="0">
                  <a:solidFill>
                    <a:srgbClr val="202824"/>
                  </a:solidFill>
                  <a:latin typeface="Segoe UI"/>
                  <a:ea typeface="Microsoft YaHei UI"/>
                  <a:cs typeface="Segoe UI"/>
                </a:rPr>
                <a:t>固定 Fixture · 内存 Store · start 为一次原子 mutation</a:t>
              </a:r>
            </a:p>
          </p:txBody>
        </p:sp>
        <p:sp>
          <p:nvSpPr>
            <p:cNvPr id="49" name="Line 49"/>
            <p:cNvSpPr/>
            <p:nvPr/>
          </p:nvSpPr>
          <p:spPr>
            <a:xfrm>
              <a:off x="6896100" y="4857750"/>
              <a:ext cx="9525" cy="838200"/>
            </a:xfrm>
            <a:custGeom>
              <a:avLst/>
              <a:gdLst/>
              <a:ahLst/>
              <a:cxnLst/>
              <a:rect l="l" t="t" r="r" b="b"/>
              <a:pathLst>
                <a:path w="9525" h="838200">
                  <a:moveTo>
                    <a:pt x="0" y="0"/>
                  </a:moveTo>
                  <a:lnTo>
                    <a:pt x="0" y="838200"/>
                  </a:lnTo>
                </a:path>
              </a:pathLst>
            </a:custGeom>
            <a:noFill/>
            <a:ln w="9525">
              <a:solidFill>
                <a:srgbClr val="CDD8D2"/>
              </a:solidFill>
            </a:ln>
          </p:spPr>
        </p:sp>
        <p:sp>
          <p:nvSpPr>
            <p:cNvPr id="50" name="TextBox 50"/>
            <p:cNvSpPr txBox="1"/>
            <p:nvPr/>
          </p:nvSpPr>
          <p:spPr>
            <a:xfrm>
              <a:off x="7232904" y="4880610"/>
              <a:ext cx="1445971" cy="234696"/>
            </a:xfrm>
            <a:prstGeom prst="rect">
              <a:avLst/>
            </a:prstGeom>
            <a:noFill/>
            <a:ln>
              <a:noFill/>
            </a:ln>
          </p:spPr>
          <p:txBody>
            <a:bodyPr wrap="none" lIns="0" tIns="0" rIns="0" bIns="0" anchor="t" anchorCtr="0">
              <a:spAutoFit/>
            </a:bodyPr>
            <a:lstStyle/>
            <a:p>
              <a:pPr algn="l"/>
              <a:r>
                <a:rPr lang="en-US" sz="1200" b="1" dirty="0">
                  <a:solidFill>
                    <a:srgbClr val="C58B2B"/>
                  </a:solidFill>
                  <a:latin typeface="Consolas"/>
                  <a:ea typeface="Consolas"/>
                  <a:cs typeface="Consolas"/>
                </a:rPr>
                <a:t>NOT YET VERIFIED</a:t>
              </a:r>
            </a:p>
          </p:txBody>
        </p:sp>
        <p:sp>
          <p:nvSpPr>
            <p:cNvPr id="51" name="TextBox 51"/>
            <p:cNvSpPr txBox="1"/>
            <p:nvPr/>
          </p:nvSpPr>
          <p:spPr>
            <a:xfrm>
              <a:off x="7231380" y="5153025"/>
              <a:ext cx="2741148" cy="293370"/>
            </a:xfrm>
            <a:prstGeom prst="rect">
              <a:avLst/>
            </a:prstGeom>
            <a:noFill/>
            <a:ln>
              <a:noFill/>
            </a:ln>
          </p:spPr>
          <p:txBody>
            <a:bodyPr wrap="none" lIns="0" tIns="0" rIns="0" bIns="0" anchor="t" anchorCtr="0">
              <a:spAutoFit/>
            </a:bodyPr>
            <a:lstStyle/>
            <a:p>
              <a:pPr algn="l"/>
              <a:r>
                <a:rPr lang="zh-CN" sz="1500" dirty="0">
                  <a:solidFill>
                    <a:srgbClr val="202824"/>
                  </a:solidFill>
                  <a:latin typeface="Segoe UI"/>
                  <a:ea typeface="Microsoft YaHei UI"/>
                  <a:cs typeface="Segoe UI"/>
                </a:rPr>
                <a:t>PostgreSQL 重启 · SSE 断线</a:t>
              </a:r>
            </a:p>
          </p:txBody>
        </p:sp>
        <p:sp>
          <p:nvSpPr>
            <p:cNvPr id="52" name="TextBox 52"/>
            <p:cNvSpPr txBox="1"/>
            <p:nvPr/>
          </p:nvSpPr>
          <p:spPr>
            <a:xfrm>
              <a:off x="7231380" y="5457825"/>
              <a:ext cx="2534920" cy="293370"/>
            </a:xfrm>
            <a:prstGeom prst="rect">
              <a:avLst/>
            </a:prstGeom>
            <a:noFill/>
            <a:ln>
              <a:noFill/>
            </a:ln>
          </p:spPr>
          <p:txBody>
            <a:bodyPr wrap="none" lIns="0" tIns="0" rIns="0" bIns="0" anchor="t" anchorCtr="0">
              <a:spAutoFit/>
            </a:bodyPr>
            <a:lstStyle/>
            <a:p>
              <a:pPr algn="l"/>
              <a:r>
                <a:rPr lang="zh-CN" sz="1500" dirty="0">
                  <a:solidFill>
                    <a:srgbClr val="202824"/>
                  </a:solidFill>
                  <a:latin typeface="Segoe UI"/>
                  <a:ea typeface="Microsoft YaHei UI"/>
                  <a:cs typeface="Segoe UI"/>
                </a:rPr>
                <a:t>真实 Connector · 用户研究</a:t>
              </a:r>
            </a:p>
          </p:txBody>
        </p:sp>
      </p:grpSp>
      <p:grpSp>
        <p:nvGrpSpPr>
          <p:cNvPr id="56" name="Group 56"/>
          <p:cNvGrpSpPr/>
          <p:nvPr/>
        </p:nvGrpSpPr>
        <p:grpSpPr>
          <a:xfrm>
            <a:off x="528066" y="6439852"/>
            <a:ext cx="11135868" cy="205359"/>
            <a:chOff x="528066" y="6439852"/>
            <a:chExt cx="11135868" cy="205359"/>
          </a:xfrm>
        </p:grpSpPr>
        <p:sp>
          <p:nvSpPr>
            <p:cNvPr id="54" name="TextBox 54"/>
            <p:cNvSpPr txBox="1"/>
            <p:nvPr/>
          </p:nvSpPr>
          <p:spPr>
            <a:xfrm>
              <a:off x="528066" y="6439852"/>
              <a:ext cx="3420299" cy="205359"/>
            </a:xfrm>
            <a:prstGeom prst="rect">
              <a:avLst/>
            </a:prstGeom>
            <a:noFill/>
            <a:ln>
              <a:noFill/>
            </a:ln>
          </p:spPr>
          <p:txBody>
            <a:bodyPr wrap="none" lIns="0" tIns="0" rIns="0" bIns="0" anchor="t" anchorCtr="0">
              <a:spAutoFit/>
            </a:bodyPr>
            <a:lstStyle/>
            <a:p>
              <a:pPr algn="l"/>
              <a:r>
                <a:rPr lang="en-US" sz="1050" dirty="0">
                  <a:solidFill>
                    <a:srgbClr val="74817B"/>
                  </a:solidFill>
                  <a:latin typeface="Segoe UI"/>
                  <a:ea typeface="Segoe UI"/>
                  <a:cs typeface="Segoe UI"/>
                </a:rPr>
                <a:t>Source: REPORT_STATUS_SNAPSHOT · DR-0002 §6</a:t>
              </a:r>
            </a:p>
          </p:txBody>
        </p:sp>
        <p:sp>
          <p:nvSpPr>
            <p:cNvPr id="55" name="TextBox 55"/>
            <p:cNvSpPr txBox="1"/>
            <p:nvPr/>
          </p:nvSpPr>
          <p:spPr>
            <a:xfrm>
              <a:off x="11179740" y="6439852"/>
              <a:ext cx="484194" cy="205359"/>
            </a:xfrm>
            <a:prstGeom prst="rect">
              <a:avLst/>
            </a:prstGeom>
            <a:noFill/>
            <a:ln>
              <a:noFill/>
            </a:ln>
          </p:spPr>
          <p:txBody>
            <a:bodyPr wrap="none" lIns="0" tIns="0" rIns="0" bIns="0" anchor="t" anchorCtr="0">
              <a:spAutoFit/>
            </a:bodyPr>
            <a:lstStyle/>
            <a:p>
              <a:pPr algn="r"/>
              <a:r>
                <a:rPr lang="en-US" sz="1050" dirty="0">
                  <a:solidFill>
                    <a:srgbClr val="14865F"/>
                  </a:solidFill>
                  <a:latin typeface="Consolas"/>
                  <a:ea typeface="Consolas"/>
                  <a:cs typeface="Consolas"/>
                </a:rPr>
                <a:t>02 / 11</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8"/>
          </a:solidFill>
          <a:ln>
            <a:noFill/>
          </a:ln>
        </p:spPr>
      </p:sp>
      <p:grpSp>
        <p:nvGrpSpPr>
          <p:cNvPr id="6" name="Group 6"/>
          <p:cNvGrpSpPr/>
          <p:nvPr/>
        </p:nvGrpSpPr>
        <p:grpSpPr>
          <a:xfrm>
            <a:off x="533400" y="400050"/>
            <a:ext cx="11130534" cy="670179"/>
            <a:chOff x="533400" y="400050"/>
            <a:chExt cx="11130534" cy="670179"/>
          </a:xfrm>
        </p:grpSpPr>
        <p:sp>
          <p:nvSpPr>
            <p:cNvPr id="3" name="Rectangle 3"/>
            <p:cNvSpPr/>
            <p:nvPr/>
          </p:nvSpPr>
          <p:spPr>
            <a:xfrm>
              <a:off x="533400" y="400050"/>
              <a:ext cx="57150" cy="495300"/>
            </a:xfrm>
            <a:prstGeom prst="rect">
              <a:avLst/>
            </a:prstGeom>
            <a:solidFill>
              <a:srgbClr val="14865F"/>
            </a:solidFill>
            <a:ln>
              <a:noFill/>
            </a:ln>
          </p:spPr>
        </p:sp>
        <p:sp>
          <p:nvSpPr>
            <p:cNvPr id="4" name="TextBox 4"/>
            <p:cNvSpPr txBox="1"/>
            <p:nvPr/>
          </p:nvSpPr>
          <p:spPr>
            <a:xfrm>
              <a:off x="745236" y="424815"/>
              <a:ext cx="8499746" cy="645414"/>
            </a:xfrm>
            <a:prstGeom prst="rect">
              <a:avLst/>
            </a:prstGeom>
            <a:noFill/>
            <a:ln>
              <a:noFill/>
            </a:ln>
          </p:spPr>
          <p:txBody>
            <a:bodyPr wrap="none" lIns="0" tIns="0" rIns="0" bIns="0" anchor="t" anchorCtr="0">
              <a:spAutoFit/>
            </a:bodyPr>
            <a:lstStyle/>
            <a:p>
              <a:pPr algn="l"/>
              <a:r>
                <a:rPr lang="zh-CN" sz="3300" b="1" dirty="0">
                  <a:solidFill>
                    <a:srgbClr val="1C2A24"/>
                  </a:solidFill>
                  <a:latin typeface="Segoe UI"/>
                  <a:ea typeface="Microsoft YaHei UI"/>
                  <a:cs typeface="Segoe UI"/>
                </a:rPr>
                <a:t>0716-v2 反馈不再是提醒，而是完成门槛</a:t>
              </a:r>
            </a:p>
          </p:txBody>
        </p:sp>
        <p:sp>
          <p:nvSpPr>
            <p:cNvPr id="5" name="TextBox 5"/>
            <p:cNvSpPr txBox="1"/>
            <p:nvPr/>
          </p:nvSpPr>
          <p:spPr>
            <a:xfrm>
              <a:off x="10383774" y="629602"/>
              <a:ext cx="1280160" cy="205359"/>
            </a:xfrm>
            <a:prstGeom prst="rect">
              <a:avLst/>
            </a:prstGeom>
            <a:noFill/>
            <a:ln>
              <a:noFill/>
            </a:ln>
          </p:spPr>
          <p:txBody>
            <a:bodyPr wrap="none" lIns="0" tIns="0" rIns="0" bIns="0" anchor="t" anchorCtr="0">
              <a:spAutoFit/>
            </a:bodyPr>
            <a:lstStyle/>
            <a:p>
              <a:pPr algn="r"/>
              <a:r>
                <a:rPr lang="en-US" sz="1050" dirty="0">
                  <a:solidFill>
                    <a:srgbClr val="74817B"/>
                  </a:solidFill>
                  <a:latin typeface="Consolas"/>
                  <a:ea typeface="Consolas"/>
                  <a:cs typeface="Consolas"/>
                </a:rPr>
                <a:t>GOVERNANCE · P03</a:t>
              </a:r>
            </a:p>
          </p:txBody>
        </p:sp>
      </p:grpSp>
      <p:grpSp>
        <p:nvGrpSpPr>
          <p:cNvPr id="9" name="Group 9"/>
          <p:cNvGrpSpPr/>
          <p:nvPr/>
        </p:nvGrpSpPr>
        <p:grpSpPr>
          <a:xfrm>
            <a:off x="522732" y="1068705"/>
            <a:ext cx="11301146" cy="521970"/>
            <a:chOff x="522732" y="1068705"/>
            <a:chExt cx="11301146" cy="521970"/>
          </a:xfrm>
        </p:grpSpPr>
        <p:sp>
          <p:nvSpPr>
            <p:cNvPr id="7" name="TextBox 7"/>
            <p:cNvSpPr txBox="1"/>
            <p:nvPr/>
          </p:nvSpPr>
          <p:spPr>
            <a:xfrm>
              <a:off x="522732" y="1068705"/>
              <a:ext cx="11301146" cy="410718"/>
            </a:xfrm>
            <a:prstGeom prst="rect">
              <a:avLst/>
            </a:prstGeom>
            <a:noFill/>
            <a:ln>
              <a:noFill/>
            </a:ln>
          </p:spPr>
          <p:txBody>
            <a:bodyPr wrap="none" lIns="0" tIns="0" rIns="0" bIns="0" anchor="t" anchorCtr="0">
              <a:spAutoFit/>
            </a:bodyPr>
            <a:lstStyle/>
            <a:p>
              <a:pPr algn="l"/>
              <a:r>
                <a:rPr lang="zh-CN" sz="2100" b="1" dirty="0">
                  <a:solidFill>
                    <a:srgbClr val="202824"/>
                  </a:solidFill>
                  <a:latin typeface="Segoe UI"/>
                  <a:ea typeface="Microsoft YaHei UI"/>
                  <a:cs typeface="Segoe UI"/>
                </a:rPr>
                <a:t>每个决策、推进与汇报都必须同时回答：用户看见什么、依据是什么、设计从哪里来。</a:t>
              </a:r>
            </a:p>
          </p:txBody>
        </p:sp>
        <p:sp>
          <p:nvSpPr>
            <p:cNvPr id="8" name="Line 8"/>
            <p:cNvSpPr/>
            <p:nvPr/>
          </p:nvSpPr>
          <p:spPr>
            <a:xfrm>
              <a:off x="533400" y="1581150"/>
              <a:ext cx="11125200" cy="9525"/>
            </a:xfrm>
            <a:custGeom>
              <a:avLst/>
              <a:gdLst/>
              <a:ahLst/>
              <a:cxnLst/>
              <a:rect l="l" t="t" r="r" b="b"/>
              <a:pathLst>
                <a:path w="11125200" h="9525">
                  <a:moveTo>
                    <a:pt x="0" y="0"/>
                  </a:moveTo>
                  <a:lnTo>
                    <a:pt x="11125200" y="0"/>
                  </a:lnTo>
                </a:path>
              </a:pathLst>
            </a:custGeom>
            <a:noFill/>
            <a:ln w="9525">
              <a:solidFill>
                <a:srgbClr val="CDD8D2"/>
              </a:solidFill>
            </a:ln>
          </p:spPr>
        </p:sp>
      </p:grpSp>
      <p:grpSp>
        <p:nvGrpSpPr>
          <p:cNvPr id="23" name="Group 23"/>
          <p:cNvGrpSpPr/>
          <p:nvPr/>
        </p:nvGrpSpPr>
        <p:grpSpPr>
          <a:xfrm>
            <a:off x="533400" y="1924050"/>
            <a:ext cx="3429000" cy="3352800"/>
            <a:chOff x="533400" y="1924050"/>
            <a:chExt cx="3429000" cy="3352800"/>
          </a:xfrm>
        </p:grpSpPr>
        <p:sp>
          <p:nvSpPr>
            <p:cNvPr id="10" name="Rectangle 10"/>
            <p:cNvSpPr/>
            <p:nvPr/>
          </p:nvSpPr>
          <p:spPr>
            <a:xfrm>
              <a:off x="533400" y="1924050"/>
              <a:ext cx="3429000" cy="3352800"/>
            </a:xfrm>
            <a:prstGeom prst="rect">
              <a:avLst/>
            </a:prstGeom>
            <a:solidFill>
              <a:srgbClr val="FFFFFF"/>
            </a:solidFill>
            <a:ln w="9525">
              <a:solidFill>
                <a:srgbClr val="CDD8D2"/>
              </a:solidFill>
            </a:ln>
          </p:spPr>
        </p:sp>
        <p:sp>
          <p:nvSpPr>
            <p:cNvPr id="11" name="Rectangle 11"/>
            <p:cNvSpPr/>
            <p:nvPr/>
          </p:nvSpPr>
          <p:spPr>
            <a:xfrm>
              <a:off x="533400" y="1924050"/>
              <a:ext cx="3429000" cy="76200"/>
            </a:xfrm>
            <a:prstGeom prst="rect">
              <a:avLst/>
            </a:prstGeom>
            <a:solidFill>
              <a:srgbClr val="14865F"/>
            </a:solidFill>
            <a:ln>
              <a:noFill/>
            </a:ln>
          </p:spPr>
        </p:sp>
        <p:sp>
          <p:nvSpPr>
            <p:cNvPr id="12" name="TextBox 12"/>
            <p:cNvSpPr txBox="1"/>
            <p:nvPr/>
          </p:nvSpPr>
          <p:spPr>
            <a:xfrm>
              <a:off x="742950" y="2061210"/>
              <a:ext cx="691142" cy="819150"/>
            </a:xfrm>
            <a:prstGeom prst="rect">
              <a:avLst/>
            </a:prstGeom>
            <a:noFill/>
            <a:ln>
              <a:noFill/>
            </a:ln>
          </p:spPr>
          <p:txBody>
            <a:bodyPr wrap="none" lIns="0" tIns="0" rIns="0" bIns="0" anchor="t" anchorCtr="0">
              <a:spAutoFit/>
            </a:bodyPr>
            <a:lstStyle/>
            <a:p>
              <a:pPr algn="l"/>
              <a:r>
                <a:rPr lang="en-US" sz="4200" b="1" dirty="0">
                  <a:solidFill>
                    <a:srgbClr val="14865F"/>
                  </a:solidFill>
                  <a:latin typeface="Consolas"/>
                  <a:ea typeface="Consolas"/>
                  <a:cs typeface="Consolas"/>
                </a:rPr>
                <a:t>01</a:t>
              </a:r>
            </a:p>
          </p:txBody>
        </p:sp>
        <p:sp>
          <p:nvSpPr>
            <p:cNvPr id="13" name="Freeform 13"/>
            <p:cNvSpPr/>
            <p:nvPr/>
          </p:nvSpPr>
          <p:spPr>
            <a:xfrm>
              <a:off x="3276600" y="2205038"/>
              <a:ext cx="419100" cy="366712"/>
            </a:xfrm>
            <a:custGeom>
              <a:avLst/>
              <a:gdLst/>
              <a:ahLst/>
              <a:cxnLst/>
              <a:rect l="l" t="t" r="r" b="b"/>
              <a:pathLst>
                <a:path w="419100" h="366712">
                  <a:moveTo>
                    <a:pt x="0" y="0"/>
                  </a:moveTo>
                  <a:lnTo>
                    <a:pt x="419100" y="0"/>
                  </a:lnTo>
                  <a:lnTo>
                    <a:pt x="419100" y="261938"/>
                  </a:lnTo>
                  <a:lnTo>
                    <a:pt x="261938" y="261938"/>
                  </a:lnTo>
                  <a:lnTo>
                    <a:pt x="261938" y="288131"/>
                  </a:lnTo>
                  <a:lnTo>
                    <a:pt x="314325" y="340519"/>
                  </a:lnTo>
                  <a:lnTo>
                    <a:pt x="314325" y="366712"/>
                  </a:lnTo>
                  <a:lnTo>
                    <a:pt x="104775" y="366712"/>
                  </a:lnTo>
                  <a:lnTo>
                    <a:pt x="104775" y="340519"/>
                  </a:lnTo>
                  <a:lnTo>
                    <a:pt x="157162" y="288131"/>
                  </a:lnTo>
                  <a:lnTo>
                    <a:pt x="157162" y="261938"/>
                  </a:lnTo>
                  <a:lnTo>
                    <a:pt x="0" y="261938"/>
                  </a:lnTo>
                  <a:lnTo>
                    <a:pt x="0" y="0"/>
                  </a:lnTo>
                  <a:close/>
                  <a:moveTo>
                    <a:pt x="52388" y="52388"/>
                  </a:moveTo>
                  <a:lnTo>
                    <a:pt x="366712" y="52388"/>
                  </a:lnTo>
                  <a:lnTo>
                    <a:pt x="366712" y="209550"/>
                  </a:lnTo>
                  <a:lnTo>
                    <a:pt x="52388" y="209550"/>
                  </a:lnTo>
                  <a:lnTo>
                    <a:pt x="52388" y="52388"/>
                  </a:lnTo>
                  <a:close/>
                </a:path>
              </a:pathLst>
            </a:custGeom>
            <a:solidFill>
              <a:srgbClr val="14865F"/>
            </a:solidFill>
            <a:ln>
              <a:noFill/>
            </a:ln>
          </p:spPr>
        </p:sp>
        <p:sp>
          <p:nvSpPr>
            <p:cNvPr id="14" name="TextBox 14"/>
            <p:cNvSpPr txBox="1"/>
            <p:nvPr/>
          </p:nvSpPr>
          <p:spPr>
            <a:xfrm>
              <a:off x="751332" y="2745105"/>
              <a:ext cx="1208684" cy="410718"/>
            </a:xfrm>
            <a:prstGeom prst="rect">
              <a:avLst/>
            </a:prstGeom>
            <a:noFill/>
            <a:ln>
              <a:noFill/>
            </a:ln>
          </p:spPr>
          <p:txBody>
            <a:bodyPr wrap="none" lIns="0" tIns="0" rIns="0" bIns="0" anchor="t" anchorCtr="0">
              <a:spAutoFit/>
            </a:bodyPr>
            <a:lstStyle/>
            <a:p>
              <a:pPr algn="l"/>
              <a:r>
                <a:rPr lang="zh-CN" sz="2100" b="1" dirty="0">
                  <a:solidFill>
                    <a:srgbClr val="1C2A24"/>
                  </a:solidFill>
                  <a:latin typeface="Segoe UI"/>
                  <a:ea typeface="Microsoft YaHei UI"/>
                  <a:cs typeface="Segoe UI"/>
                </a:rPr>
                <a:t>前台输出</a:t>
              </a:r>
            </a:p>
          </p:txBody>
        </p:sp>
        <p:sp>
          <p:nvSpPr>
            <p:cNvPr id="15" name="Line 15"/>
            <p:cNvSpPr/>
            <p:nvPr/>
          </p:nvSpPr>
          <p:spPr>
            <a:xfrm>
              <a:off x="762000" y="3181350"/>
              <a:ext cx="2971800" cy="9525"/>
            </a:xfrm>
            <a:custGeom>
              <a:avLst/>
              <a:gdLst/>
              <a:ahLst/>
              <a:cxnLst/>
              <a:rect l="l" t="t" r="r" b="b"/>
              <a:pathLst>
                <a:path w="2971800" h="9525">
                  <a:moveTo>
                    <a:pt x="0" y="0"/>
                  </a:moveTo>
                  <a:lnTo>
                    <a:pt x="2971800" y="0"/>
                  </a:lnTo>
                </a:path>
              </a:pathLst>
            </a:custGeom>
            <a:noFill/>
            <a:ln w="9525">
              <a:solidFill>
                <a:srgbClr val="DFE7E3"/>
              </a:solidFill>
            </a:ln>
          </p:spPr>
        </p:sp>
        <p:sp>
          <p:nvSpPr>
            <p:cNvPr id="16" name="Ellipse 16"/>
            <p:cNvSpPr/>
            <p:nvPr/>
          </p:nvSpPr>
          <p:spPr>
            <a:xfrm>
              <a:off x="790575" y="3514725"/>
              <a:ext cx="95250" cy="95250"/>
            </a:xfrm>
            <a:prstGeom prst="ellipse">
              <a:avLst/>
            </a:prstGeom>
            <a:solidFill>
              <a:srgbClr val="14865F"/>
            </a:solidFill>
            <a:ln>
              <a:noFill/>
            </a:ln>
          </p:spPr>
        </p:sp>
        <p:sp>
          <p:nvSpPr>
            <p:cNvPr id="17" name="TextBox 17"/>
            <p:cNvSpPr txBox="1"/>
            <p:nvPr/>
          </p:nvSpPr>
          <p:spPr>
            <a:xfrm>
              <a:off x="1019556" y="3444240"/>
              <a:ext cx="2792806"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目标 · 状态 · 版本 · 冲突</a:t>
              </a:r>
            </a:p>
          </p:txBody>
        </p:sp>
        <p:sp>
          <p:nvSpPr>
            <p:cNvPr id="18" name="Ellipse 18"/>
            <p:cNvSpPr/>
            <p:nvPr/>
          </p:nvSpPr>
          <p:spPr>
            <a:xfrm>
              <a:off x="790575" y="4010025"/>
              <a:ext cx="95250" cy="95250"/>
            </a:xfrm>
            <a:prstGeom prst="ellipse">
              <a:avLst/>
            </a:prstGeom>
            <a:solidFill>
              <a:srgbClr val="14865F"/>
            </a:solidFill>
            <a:ln>
              <a:noFill/>
            </a:ln>
          </p:spPr>
        </p:sp>
        <p:sp>
          <p:nvSpPr>
            <p:cNvPr id="19" name="TextBox 19"/>
            <p:cNvSpPr txBox="1"/>
            <p:nvPr/>
          </p:nvSpPr>
          <p:spPr>
            <a:xfrm>
              <a:off x="1019556" y="3939540"/>
              <a:ext cx="2477795"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验证结果 · 待确认动作</a:t>
              </a:r>
            </a:p>
          </p:txBody>
        </p:sp>
        <p:sp>
          <p:nvSpPr>
            <p:cNvPr id="20" name="Ellipse 20"/>
            <p:cNvSpPr/>
            <p:nvPr/>
          </p:nvSpPr>
          <p:spPr>
            <a:xfrm>
              <a:off x="790575" y="4505325"/>
              <a:ext cx="95250" cy="95250"/>
            </a:xfrm>
            <a:prstGeom prst="ellipse">
              <a:avLst/>
            </a:prstGeom>
            <a:solidFill>
              <a:srgbClr val="C58B2B"/>
            </a:solidFill>
            <a:ln>
              <a:noFill/>
            </a:ln>
          </p:spPr>
        </p:sp>
        <p:sp>
          <p:nvSpPr>
            <p:cNvPr id="21" name="TextBox 21"/>
            <p:cNvSpPr txBox="1"/>
            <p:nvPr/>
          </p:nvSpPr>
          <p:spPr>
            <a:xfrm>
              <a:off x="1019556" y="4434840"/>
              <a:ext cx="2514143"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等待 · 失败 · 恢复路径</a:t>
              </a:r>
            </a:p>
          </p:txBody>
        </p:sp>
        <p:sp>
          <p:nvSpPr>
            <p:cNvPr id="22" name="TextBox 22"/>
            <p:cNvSpPr txBox="1"/>
            <p:nvPr/>
          </p:nvSpPr>
          <p:spPr>
            <a:xfrm>
              <a:off x="755142" y="4902518"/>
              <a:ext cx="2376297"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只展示会改变用户判断的事实</a:t>
              </a:r>
            </a:p>
          </p:txBody>
        </p:sp>
      </p:grpSp>
      <p:grpSp>
        <p:nvGrpSpPr>
          <p:cNvPr id="40" name="Group 40"/>
          <p:cNvGrpSpPr/>
          <p:nvPr/>
        </p:nvGrpSpPr>
        <p:grpSpPr>
          <a:xfrm>
            <a:off x="4381500" y="1924050"/>
            <a:ext cx="3494166" cy="3352800"/>
            <a:chOff x="4381500" y="1924050"/>
            <a:chExt cx="3494166" cy="3352800"/>
          </a:xfrm>
        </p:grpSpPr>
        <p:sp>
          <p:nvSpPr>
            <p:cNvPr id="24" name="Rectangle 24"/>
            <p:cNvSpPr/>
            <p:nvPr/>
          </p:nvSpPr>
          <p:spPr>
            <a:xfrm>
              <a:off x="4381500" y="1924050"/>
              <a:ext cx="3429000" cy="3352800"/>
            </a:xfrm>
            <a:prstGeom prst="rect">
              <a:avLst/>
            </a:prstGeom>
            <a:solidFill>
              <a:srgbClr val="EEF3F0"/>
            </a:solidFill>
            <a:ln w="9525">
              <a:solidFill>
                <a:srgbClr val="CDD8D2"/>
              </a:solidFill>
            </a:ln>
          </p:spPr>
        </p:sp>
        <p:sp>
          <p:nvSpPr>
            <p:cNvPr id="25" name="Rectangle 25"/>
            <p:cNvSpPr/>
            <p:nvPr/>
          </p:nvSpPr>
          <p:spPr>
            <a:xfrm>
              <a:off x="4381500" y="1924050"/>
              <a:ext cx="3429000" cy="76200"/>
            </a:xfrm>
            <a:prstGeom prst="rect">
              <a:avLst/>
            </a:prstGeom>
            <a:solidFill>
              <a:srgbClr val="1C2A24"/>
            </a:solidFill>
            <a:ln>
              <a:noFill/>
            </a:ln>
          </p:spPr>
        </p:sp>
        <p:sp>
          <p:nvSpPr>
            <p:cNvPr id="26" name="TextBox 26"/>
            <p:cNvSpPr txBox="1"/>
            <p:nvPr/>
          </p:nvSpPr>
          <p:spPr>
            <a:xfrm>
              <a:off x="4591050" y="2061210"/>
              <a:ext cx="691142" cy="819150"/>
            </a:xfrm>
            <a:prstGeom prst="rect">
              <a:avLst/>
            </a:prstGeom>
            <a:noFill/>
            <a:ln>
              <a:noFill/>
            </a:ln>
          </p:spPr>
          <p:txBody>
            <a:bodyPr wrap="none" lIns="0" tIns="0" rIns="0" bIns="0" anchor="t" anchorCtr="0">
              <a:spAutoFit/>
            </a:bodyPr>
            <a:lstStyle/>
            <a:p>
              <a:pPr algn="l"/>
              <a:r>
                <a:rPr lang="en-US" sz="4200" b="1" dirty="0">
                  <a:solidFill>
                    <a:srgbClr val="1C2A24"/>
                  </a:solidFill>
                  <a:latin typeface="Consolas"/>
                  <a:ea typeface="Consolas"/>
                  <a:cs typeface="Consolas"/>
                </a:rPr>
                <a:t>02</a:t>
              </a:r>
            </a:p>
          </p:txBody>
        </p:sp>
        <p:grpSp>
          <p:nvGrpSpPr>
            <p:cNvPr id="30" name="Group 30"/>
            <p:cNvGrpSpPr/>
            <p:nvPr/>
          </p:nvGrpSpPr>
          <p:grpSpPr>
            <a:xfrm>
              <a:off x="7124700" y="2152650"/>
              <a:ext cx="419100" cy="419100"/>
              <a:chOff x="7124700" y="2152650"/>
              <a:chExt cx="419100" cy="419100"/>
            </a:xfrm>
          </p:grpSpPr>
          <p:sp>
            <p:nvSpPr>
              <p:cNvPr id="27" name="Freeform 27"/>
              <p:cNvSpPr/>
              <p:nvPr/>
            </p:nvSpPr>
            <p:spPr>
              <a:xfrm>
                <a:off x="7255669" y="2152650"/>
                <a:ext cx="288131" cy="288131"/>
              </a:xfrm>
              <a:custGeom>
                <a:avLst/>
                <a:gdLst/>
                <a:ahLst/>
                <a:cxnLst/>
                <a:rect l="l" t="t" r="r" b="b"/>
                <a:pathLst>
                  <a:path w="288131" h="288131">
                    <a:moveTo>
                      <a:pt x="53704" y="40221"/>
                    </a:moveTo>
                    <a:cubicBezTo>
                      <a:pt x="79457" y="14468"/>
                      <a:pt x="114386" y="0"/>
                      <a:pt x="150808" y="0"/>
                    </a:cubicBezTo>
                    <a:cubicBezTo>
                      <a:pt x="226649" y="0"/>
                      <a:pt x="288131" y="61482"/>
                      <a:pt x="288131" y="137324"/>
                    </a:cubicBezTo>
                    <a:cubicBezTo>
                      <a:pt x="288131" y="173745"/>
                      <a:pt x="273664" y="208674"/>
                      <a:pt x="247911" y="234428"/>
                    </a:cubicBezTo>
                    <a:lnTo>
                      <a:pt x="194206" y="288131"/>
                    </a:lnTo>
                    <a:lnTo>
                      <a:pt x="157162" y="251088"/>
                    </a:lnTo>
                    <a:lnTo>
                      <a:pt x="210868" y="197384"/>
                    </a:lnTo>
                    <a:cubicBezTo>
                      <a:pt x="226796" y="181455"/>
                      <a:pt x="235744" y="159851"/>
                      <a:pt x="235744" y="137324"/>
                    </a:cubicBezTo>
                    <a:cubicBezTo>
                      <a:pt x="235744" y="90415"/>
                      <a:pt x="197716" y="52388"/>
                      <a:pt x="150808" y="52388"/>
                    </a:cubicBezTo>
                    <a:cubicBezTo>
                      <a:pt x="128280" y="52388"/>
                      <a:pt x="106676" y="61336"/>
                      <a:pt x="90747" y="77265"/>
                    </a:cubicBezTo>
                    <a:lnTo>
                      <a:pt x="37043" y="130969"/>
                    </a:lnTo>
                    <a:lnTo>
                      <a:pt x="0" y="93925"/>
                    </a:lnTo>
                    <a:lnTo>
                      <a:pt x="53704" y="40221"/>
                    </a:lnTo>
                    <a:close/>
                  </a:path>
                </a:pathLst>
              </a:custGeom>
              <a:solidFill>
                <a:srgbClr val="1C2A24"/>
              </a:solidFill>
              <a:ln>
                <a:noFill/>
              </a:ln>
            </p:spPr>
          </p:sp>
          <p:sp>
            <p:nvSpPr>
              <p:cNvPr id="28" name="Freeform 28"/>
              <p:cNvSpPr/>
              <p:nvPr/>
            </p:nvSpPr>
            <p:spPr>
              <a:xfrm>
                <a:off x="7124700" y="2283619"/>
                <a:ext cx="288131" cy="288131"/>
              </a:xfrm>
              <a:custGeom>
                <a:avLst/>
                <a:gdLst/>
                <a:ahLst/>
                <a:cxnLst/>
                <a:rect l="l" t="t" r="r" b="b"/>
                <a:pathLst>
                  <a:path w="288131" h="288131">
                    <a:moveTo>
                      <a:pt x="197384" y="210868"/>
                    </a:moveTo>
                    <a:lnTo>
                      <a:pt x="251088" y="157162"/>
                    </a:lnTo>
                    <a:lnTo>
                      <a:pt x="288131" y="194206"/>
                    </a:lnTo>
                    <a:lnTo>
                      <a:pt x="234428" y="247911"/>
                    </a:lnTo>
                    <a:cubicBezTo>
                      <a:pt x="208674" y="273664"/>
                      <a:pt x="173745" y="288131"/>
                      <a:pt x="137324" y="288131"/>
                    </a:cubicBezTo>
                    <a:cubicBezTo>
                      <a:pt x="61482" y="288131"/>
                      <a:pt x="0" y="226649"/>
                      <a:pt x="0" y="150808"/>
                    </a:cubicBezTo>
                    <a:cubicBezTo>
                      <a:pt x="0" y="114386"/>
                      <a:pt x="14468" y="79457"/>
                      <a:pt x="40221" y="53704"/>
                    </a:cubicBezTo>
                    <a:lnTo>
                      <a:pt x="93925" y="0"/>
                    </a:lnTo>
                    <a:lnTo>
                      <a:pt x="130969" y="37043"/>
                    </a:lnTo>
                    <a:lnTo>
                      <a:pt x="77265" y="90747"/>
                    </a:lnTo>
                    <a:cubicBezTo>
                      <a:pt x="61336" y="106676"/>
                      <a:pt x="52388" y="128280"/>
                      <a:pt x="52388" y="150808"/>
                    </a:cubicBezTo>
                    <a:cubicBezTo>
                      <a:pt x="52388" y="197716"/>
                      <a:pt x="90415" y="235744"/>
                      <a:pt x="137324" y="235744"/>
                    </a:cubicBezTo>
                    <a:cubicBezTo>
                      <a:pt x="159851" y="235744"/>
                      <a:pt x="181455" y="226796"/>
                      <a:pt x="197384" y="210868"/>
                    </a:cubicBezTo>
                    <a:close/>
                  </a:path>
                </a:pathLst>
              </a:custGeom>
              <a:solidFill>
                <a:srgbClr val="1C2A24"/>
              </a:solidFill>
              <a:ln>
                <a:noFill/>
              </a:ln>
            </p:spPr>
          </p:sp>
          <p:sp>
            <p:nvSpPr>
              <p:cNvPr id="29" name="Freeform 29"/>
              <p:cNvSpPr/>
              <p:nvPr/>
            </p:nvSpPr>
            <p:spPr>
              <a:xfrm>
                <a:off x="7237147" y="2265097"/>
                <a:ext cx="194206" cy="194206"/>
              </a:xfrm>
              <a:custGeom>
                <a:avLst/>
                <a:gdLst/>
                <a:ahLst/>
                <a:cxnLst/>
                <a:rect l="l" t="t" r="r" b="b"/>
                <a:pathLst>
                  <a:path w="194206" h="194206">
                    <a:moveTo>
                      <a:pt x="37044" y="194206"/>
                    </a:moveTo>
                    <a:lnTo>
                      <a:pt x="194206" y="37044"/>
                    </a:lnTo>
                    <a:lnTo>
                      <a:pt x="157163" y="0"/>
                    </a:lnTo>
                    <a:lnTo>
                      <a:pt x="0" y="157163"/>
                    </a:lnTo>
                    <a:lnTo>
                      <a:pt x="37044" y="194206"/>
                    </a:lnTo>
                    <a:close/>
                  </a:path>
                </a:pathLst>
              </a:custGeom>
              <a:solidFill>
                <a:srgbClr val="1C2A24"/>
              </a:solidFill>
              <a:ln>
                <a:noFill/>
              </a:ln>
            </p:spPr>
          </p:sp>
        </p:grpSp>
        <p:sp>
          <p:nvSpPr>
            <p:cNvPr id="31" name="TextBox 31"/>
            <p:cNvSpPr txBox="1"/>
            <p:nvPr/>
          </p:nvSpPr>
          <p:spPr>
            <a:xfrm>
              <a:off x="4599432" y="2745105"/>
              <a:ext cx="1505522" cy="410718"/>
            </a:xfrm>
            <a:prstGeom prst="rect">
              <a:avLst/>
            </a:prstGeom>
            <a:noFill/>
            <a:ln>
              <a:noFill/>
            </a:ln>
          </p:spPr>
          <p:txBody>
            <a:bodyPr wrap="none" lIns="0" tIns="0" rIns="0" bIns="0" anchor="t" anchorCtr="0">
              <a:spAutoFit/>
            </a:bodyPr>
            <a:lstStyle/>
            <a:p>
              <a:pPr algn="l"/>
              <a:r>
                <a:rPr lang="zh-CN" sz="2100" b="1" dirty="0">
                  <a:solidFill>
                    <a:srgbClr val="1C2A24"/>
                  </a:solidFill>
                  <a:latin typeface="Segoe UI"/>
                  <a:ea typeface="Microsoft YaHei UI"/>
                  <a:cs typeface="Segoe UI"/>
                </a:rPr>
                <a:t>前后端统一</a:t>
              </a:r>
            </a:p>
          </p:txBody>
        </p:sp>
        <p:sp>
          <p:nvSpPr>
            <p:cNvPr id="32" name="Line 32"/>
            <p:cNvSpPr/>
            <p:nvPr/>
          </p:nvSpPr>
          <p:spPr>
            <a:xfrm>
              <a:off x="4610100" y="3181350"/>
              <a:ext cx="2971800" cy="9525"/>
            </a:xfrm>
            <a:custGeom>
              <a:avLst/>
              <a:gdLst/>
              <a:ahLst/>
              <a:cxnLst/>
              <a:rect l="l" t="t" r="r" b="b"/>
              <a:pathLst>
                <a:path w="2971800" h="9525">
                  <a:moveTo>
                    <a:pt x="0" y="0"/>
                  </a:moveTo>
                  <a:lnTo>
                    <a:pt x="2971800" y="0"/>
                  </a:lnTo>
                </a:path>
              </a:pathLst>
            </a:custGeom>
            <a:noFill/>
            <a:ln w="9525">
              <a:solidFill>
                <a:srgbClr val="CDD8D2"/>
              </a:solidFill>
            </a:ln>
          </p:spPr>
        </p:sp>
        <p:sp>
          <p:nvSpPr>
            <p:cNvPr id="33" name="Ellipse 33"/>
            <p:cNvSpPr/>
            <p:nvPr/>
          </p:nvSpPr>
          <p:spPr>
            <a:xfrm>
              <a:off x="4638675" y="3514725"/>
              <a:ext cx="95250" cy="95250"/>
            </a:xfrm>
            <a:prstGeom prst="ellipse">
              <a:avLst/>
            </a:prstGeom>
            <a:solidFill>
              <a:srgbClr val="1C2A24"/>
            </a:solidFill>
            <a:ln>
              <a:noFill/>
            </a:ln>
          </p:spPr>
        </p:sp>
        <p:sp>
          <p:nvSpPr>
            <p:cNvPr id="34" name="TextBox 34"/>
            <p:cNvSpPr txBox="1"/>
            <p:nvPr/>
          </p:nvSpPr>
          <p:spPr>
            <a:xfrm>
              <a:off x="4867656" y="3444240"/>
              <a:ext cx="2729027"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UI 状态 → Snapshot 字段</a:t>
              </a:r>
            </a:p>
          </p:txBody>
        </p:sp>
        <p:sp>
          <p:nvSpPr>
            <p:cNvPr id="35" name="Ellipse 35"/>
            <p:cNvSpPr/>
            <p:nvPr/>
          </p:nvSpPr>
          <p:spPr>
            <a:xfrm>
              <a:off x="4638675" y="4010025"/>
              <a:ext cx="95250" cy="95250"/>
            </a:xfrm>
            <a:prstGeom prst="ellipse">
              <a:avLst/>
            </a:prstGeom>
            <a:solidFill>
              <a:srgbClr val="1C2A24"/>
            </a:solidFill>
            <a:ln>
              <a:noFill/>
            </a:ln>
          </p:spPr>
        </p:sp>
        <p:sp>
          <p:nvSpPr>
            <p:cNvPr id="36" name="TextBox 36"/>
            <p:cNvSpPr txBox="1"/>
            <p:nvPr/>
          </p:nvSpPr>
          <p:spPr>
            <a:xfrm>
              <a:off x="4867656" y="3939540"/>
              <a:ext cx="2517892"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状态变化 → 有序 Event</a:t>
              </a:r>
            </a:p>
          </p:txBody>
        </p:sp>
        <p:sp>
          <p:nvSpPr>
            <p:cNvPr id="37" name="Ellipse 37"/>
            <p:cNvSpPr/>
            <p:nvPr/>
          </p:nvSpPr>
          <p:spPr>
            <a:xfrm>
              <a:off x="4638675" y="4505325"/>
              <a:ext cx="95250" cy="95250"/>
            </a:xfrm>
            <a:prstGeom prst="ellipse">
              <a:avLst/>
            </a:prstGeom>
            <a:solidFill>
              <a:srgbClr val="B34B3E"/>
            </a:solidFill>
            <a:ln>
              <a:noFill/>
            </a:ln>
          </p:spPr>
        </p:sp>
        <p:sp>
          <p:nvSpPr>
            <p:cNvPr id="38" name="TextBox 38"/>
            <p:cNvSpPr txBox="1"/>
            <p:nvPr/>
          </p:nvSpPr>
          <p:spPr>
            <a:xfrm>
              <a:off x="4867656" y="4434840"/>
              <a:ext cx="3008010"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颜色 / Toast 不能创造事实</a:t>
              </a:r>
            </a:p>
          </p:txBody>
        </p:sp>
        <p:sp>
          <p:nvSpPr>
            <p:cNvPr id="39" name="TextBox 39"/>
            <p:cNvSpPr txBox="1"/>
            <p:nvPr/>
          </p:nvSpPr>
          <p:spPr>
            <a:xfrm>
              <a:off x="4603242" y="4902518"/>
              <a:ext cx="2921508"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不存在于服务端，就不能写成已完成</a:t>
              </a:r>
            </a:p>
          </p:txBody>
        </p:sp>
      </p:grpSp>
      <p:grpSp>
        <p:nvGrpSpPr>
          <p:cNvPr id="59" name="Group 59"/>
          <p:cNvGrpSpPr/>
          <p:nvPr/>
        </p:nvGrpSpPr>
        <p:grpSpPr>
          <a:xfrm>
            <a:off x="8229600" y="1924050"/>
            <a:ext cx="3486331" cy="3356801"/>
            <a:chOff x="8229600" y="1924050"/>
            <a:chExt cx="3486331" cy="3356801"/>
          </a:xfrm>
        </p:grpSpPr>
        <p:sp>
          <p:nvSpPr>
            <p:cNvPr id="41" name="Rectangle 41"/>
            <p:cNvSpPr/>
            <p:nvPr/>
          </p:nvSpPr>
          <p:spPr>
            <a:xfrm>
              <a:off x="8229600" y="1924050"/>
              <a:ext cx="3429000" cy="3352800"/>
            </a:xfrm>
            <a:prstGeom prst="rect">
              <a:avLst/>
            </a:prstGeom>
            <a:solidFill>
              <a:srgbClr val="FFFFFF"/>
            </a:solidFill>
            <a:ln w="9525">
              <a:solidFill>
                <a:srgbClr val="CDD8D2"/>
              </a:solidFill>
            </a:ln>
          </p:spPr>
        </p:sp>
        <p:sp>
          <p:nvSpPr>
            <p:cNvPr id="42" name="Rectangle 42"/>
            <p:cNvSpPr/>
            <p:nvPr/>
          </p:nvSpPr>
          <p:spPr>
            <a:xfrm>
              <a:off x="8229600" y="1924050"/>
              <a:ext cx="3429000" cy="76200"/>
            </a:xfrm>
            <a:prstGeom prst="rect">
              <a:avLst/>
            </a:prstGeom>
            <a:solidFill>
              <a:srgbClr val="C58B2B"/>
            </a:solidFill>
            <a:ln>
              <a:noFill/>
            </a:ln>
          </p:spPr>
        </p:sp>
        <p:sp>
          <p:nvSpPr>
            <p:cNvPr id="43" name="TextBox 43"/>
            <p:cNvSpPr txBox="1"/>
            <p:nvPr/>
          </p:nvSpPr>
          <p:spPr>
            <a:xfrm>
              <a:off x="8439150" y="2061210"/>
              <a:ext cx="691142" cy="819150"/>
            </a:xfrm>
            <a:prstGeom prst="rect">
              <a:avLst/>
            </a:prstGeom>
            <a:noFill/>
            <a:ln>
              <a:noFill/>
            </a:ln>
          </p:spPr>
          <p:txBody>
            <a:bodyPr wrap="none" lIns="0" tIns="0" rIns="0" bIns="0" anchor="t" anchorCtr="0">
              <a:spAutoFit/>
            </a:bodyPr>
            <a:lstStyle/>
            <a:p>
              <a:pPr algn="l"/>
              <a:r>
                <a:rPr lang="en-US" sz="4200" b="1" dirty="0">
                  <a:solidFill>
                    <a:srgbClr val="C58B2B"/>
                  </a:solidFill>
                  <a:latin typeface="Consolas"/>
                  <a:ea typeface="Consolas"/>
                  <a:cs typeface="Consolas"/>
                </a:rPr>
                <a:t>03</a:t>
              </a:r>
            </a:p>
          </p:txBody>
        </p:sp>
        <p:grpSp>
          <p:nvGrpSpPr>
            <p:cNvPr id="48" name="Group 48"/>
            <p:cNvGrpSpPr/>
            <p:nvPr/>
          </p:nvGrpSpPr>
          <p:grpSpPr>
            <a:xfrm>
              <a:off x="10972800" y="2178844"/>
              <a:ext cx="419100" cy="366712"/>
              <a:chOff x="10972800" y="2178844"/>
              <a:chExt cx="419100" cy="366712"/>
            </a:xfrm>
          </p:grpSpPr>
          <p:sp>
            <p:nvSpPr>
              <p:cNvPr id="44" name="Freeform 44"/>
              <p:cNvSpPr/>
              <p:nvPr/>
            </p:nvSpPr>
            <p:spPr>
              <a:xfrm>
                <a:off x="11051381" y="2178844"/>
                <a:ext cx="130969" cy="130969"/>
              </a:xfrm>
              <a:custGeom>
                <a:avLst/>
                <a:gdLst/>
                <a:ahLst/>
                <a:cxnLst/>
                <a:rect l="l" t="t" r="r" b="b"/>
                <a:pathLst>
                  <a:path w="130969" h="130969">
                    <a:moveTo>
                      <a:pt x="130969" y="65484"/>
                    </a:moveTo>
                    <a:cubicBezTo>
                      <a:pt x="130969" y="101650"/>
                      <a:pt x="101650" y="130969"/>
                      <a:pt x="65484" y="130969"/>
                    </a:cubicBezTo>
                    <a:cubicBezTo>
                      <a:pt x="29318" y="130969"/>
                      <a:pt x="0" y="101650"/>
                      <a:pt x="0" y="65484"/>
                    </a:cubicBezTo>
                    <a:cubicBezTo>
                      <a:pt x="0" y="29318"/>
                      <a:pt x="29318" y="0"/>
                      <a:pt x="65484" y="0"/>
                    </a:cubicBezTo>
                    <a:cubicBezTo>
                      <a:pt x="101650" y="0"/>
                      <a:pt x="130969" y="29318"/>
                      <a:pt x="130969" y="65484"/>
                    </a:cubicBezTo>
                    <a:close/>
                  </a:path>
                </a:pathLst>
              </a:custGeom>
              <a:solidFill>
                <a:srgbClr val="C58B2B"/>
              </a:solidFill>
              <a:ln>
                <a:noFill/>
              </a:ln>
            </p:spPr>
          </p:sp>
          <p:sp>
            <p:nvSpPr>
              <p:cNvPr id="45" name="Freeform 45"/>
              <p:cNvSpPr/>
              <p:nvPr/>
            </p:nvSpPr>
            <p:spPr>
              <a:xfrm>
                <a:off x="10972800" y="2362200"/>
                <a:ext cx="209550" cy="183356"/>
              </a:xfrm>
              <a:custGeom>
                <a:avLst/>
                <a:gdLst/>
                <a:ahLst/>
                <a:cxnLst/>
                <a:rect l="l" t="t" r="r" b="b"/>
                <a:pathLst>
                  <a:path w="209550" h="183356">
                    <a:moveTo>
                      <a:pt x="78581" y="0"/>
                    </a:moveTo>
                    <a:cubicBezTo>
                      <a:pt x="35182" y="0"/>
                      <a:pt x="0" y="35182"/>
                      <a:pt x="0" y="78581"/>
                    </a:cubicBezTo>
                    <a:lnTo>
                      <a:pt x="0" y="183356"/>
                    </a:lnTo>
                    <a:lnTo>
                      <a:pt x="209550" y="183356"/>
                    </a:lnTo>
                    <a:lnTo>
                      <a:pt x="209550" y="0"/>
                    </a:lnTo>
                    <a:lnTo>
                      <a:pt x="78581" y="0"/>
                    </a:lnTo>
                    <a:close/>
                  </a:path>
                </a:pathLst>
              </a:custGeom>
              <a:solidFill>
                <a:srgbClr val="C58B2B"/>
              </a:solidFill>
              <a:ln>
                <a:noFill/>
              </a:ln>
            </p:spPr>
          </p:sp>
          <p:sp>
            <p:nvSpPr>
              <p:cNvPr id="46" name="Freeform 46"/>
              <p:cNvSpPr/>
              <p:nvPr/>
            </p:nvSpPr>
            <p:spPr>
              <a:xfrm>
                <a:off x="11234738" y="2362200"/>
                <a:ext cx="157162" cy="183356"/>
              </a:xfrm>
              <a:custGeom>
                <a:avLst/>
                <a:gdLst/>
                <a:ahLst/>
                <a:cxnLst/>
                <a:rect l="l" t="t" r="r" b="b"/>
                <a:pathLst>
                  <a:path w="157162" h="183356">
                    <a:moveTo>
                      <a:pt x="78581" y="0"/>
                    </a:moveTo>
                    <a:lnTo>
                      <a:pt x="0" y="0"/>
                    </a:lnTo>
                    <a:lnTo>
                      <a:pt x="0" y="183356"/>
                    </a:lnTo>
                    <a:lnTo>
                      <a:pt x="157162" y="183356"/>
                    </a:lnTo>
                    <a:lnTo>
                      <a:pt x="157162" y="78581"/>
                    </a:lnTo>
                    <a:cubicBezTo>
                      <a:pt x="157162" y="35182"/>
                      <a:pt x="121982" y="0"/>
                      <a:pt x="78581" y="0"/>
                    </a:cubicBezTo>
                    <a:close/>
                  </a:path>
                </a:pathLst>
              </a:custGeom>
              <a:solidFill>
                <a:srgbClr val="C58B2B"/>
              </a:solidFill>
              <a:ln>
                <a:noFill/>
              </a:ln>
            </p:spPr>
          </p:sp>
          <p:sp>
            <p:nvSpPr>
              <p:cNvPr id="47" name="Freeform 47"/>
              <p:cNvSpPr/>
              <p:nvPr/>
            </p:nvSpPr>
            <p:spPr>
              <a:xfrm>
                <a:off x="11234738" y="2205038"/>
                <a:ext cx="104775" cy="104775"/>
              </a:xfrm>
              <a:custGeom>
                <a:avLst/>
                <a:gdLst/>
                <a:ahLst/>
                <a:cxnLst/>
                <a:rect l="l" t="t" r="r" b="b"/>
                <a:pathLst>
                  <a:path w="104775" h="104775">
                    <a:moveTo>
                      <a:pt x="52388" y="104775"/>
                    </a:moveTo>
                    <a:cubicBezTo>
                      <a:pt x="81321" y="104775"/>
                      <a:pt x="104775" y="81320"/>
                      <a:pt x="104775" y="52388"/>
                    </a:cubicBezTo>
                    <a:cubicBezTo>
                      <a:pt x="104775" y="23455"/>
                      <a:pt x="81321" y="0"/>
                      <a:pt x="52388" y="0"/>
                    </a:cubicBezTo>
                    <a:cubicBezTo>
                      <a:pt x="23454" y="0"/>
                      <a:pt x="0" y="23455"/>
                      <a:pt x="0" y="52388"/>
                    </a:cubicBezTo>
                    <a:cubicBezTo>
                      <a:pt x="0" y="81320"/>
                      <a:pt x="23454" y="104775"/>
                      <a:pt x="52388" y="104775"/>
                    </a:cubicBezTo>
                    <a:close/>
                  </a:path>
                </a:pathLst>
              </a:custGeom>
              <a:solidFill>
                <a:srgbClr val="C58B2B"/>
              </a:solidFill>
              <a:ln>
                <a:noFill/>
              </a:ln>
            </p:spPr>
          </p:sp>
        </p:grpSp>
        <p:sp>
          <p:nvSpPr>
            <p:cNvPr id="49" name="TextBox 49"/>
            <p:cNvSpPr txBox="1"/>
            <p:nvPr/>
          </p:nvSpPr>
          <p:spPr>
            <a:xfrm>
              <a:off x="8447532" y="2745105"/>
              <a:ext cx="1505522" cy="410718"/>
            </a:xfrm>
            <a:prstGeom prst="rect">
              <a:avLst/>
            </a:prstGeom>
            <a:noFill/>
            <a:ln>
              <a:noFill/>
            </a:ln>
          </p:spPr>
          <p:txBody>
            <a:bodyPr wrap="none" lIns="0" tIns="0" rIns="0" bIns="0" anchor="t" anchorCtr="0">
              <a:spAutoFit/>
            </a:bodyPr>
            <a:lstStyle/>
            <a:p>
              <a:pPr algn="l"/>
              <a:r>
                <a:rPr lang="zh-CN" sz="2100" b="1" dirty="0">
                  <a:solidFill>
                    <a:srgbClr val="1C2A24"/>
                  </a:solidFill>
                  <a:latin typeface="Segoe UI"/>
                  <a:ea typeface="Microsoft YaHei UI"/>
                  <a:cs typeface="Segoe UI"/>
                </a:rPr>
                <a:t>场景与来源</a:t>
              </a:r>
            </a:p>
          </p:txBody>
        </p:sp>
        <p:sp>
          <p:nvSpPr>
            <p:cNvPr id="50" name="Line 50"/>
            <p:cNvSpPr/>
            <p:nvPr/>
          </p:nvSpPr>
          <p:spPr>
            <a:xfrm>
              <a:off x="8458200" y="3181350"/>
              <a:ext cx="2971800" cy="9525"/>
            </a:xfrm>
            <a:custGeom>
              <a:avLst/>
              <a:gdLst/>
              <a:ahLst/>
              <a:cxnLst/>
              <a:rect l="l" t="t" r="r" b="b"/>
              <a:pathLst>
                <a:path w="2971800" h="9525">
                  <a:moveTo>
                    <a:pt x="0" y="0"/>
                  </a:moveTo>
                  <a:lnTo>
                    <a:pt x="2971800" y="0"/>
                  </a:lnTo>
                </a:path>
              </a:pathLst>
            </a:custGeom>
            <a:noFill/>
            <a:ln w="9525">
              <a:solidFill>
                <a:srgbClr val="DFE7E3"/>
              </a:solidFill>
            </a:ln>
          </p:spPr>
        </p:sp>
        <p:sp>
          <p:nvSpPr>
            <p:cNvPr id="51" name="Ellipse 51"/>
            <p:cNvSpPr/>
            <p:nvPr/>
          </p:nvSpPr>
          <p:spPr>
            <a:xfrm>
              <a:off x="8486775" y="3514725"/>
              <a:ext cx="95250" cy="95250"/>
            </a:xfrm>
            <a:prstGeom prst="ellipse">
              <a:avLst/>
            </a:prstGeom>
            <a:solidFill>
              <a:srgbClr val="C58B2B"/>
            </a:solidFill>
            <a:ln>
              <a:noFill/>
            </a:ln>
          </p:spPr>
        </p:sp>
        <p:sp>
          <p:nvSpPr>
            <p:cNvPr id="52" name="TextBox 52"/>
            <p:cNvSpPr txBox="1"/>
            <p:nvPr/>
          </p:nvSpPr>
          <p:spPr>
            <a:xfrm>
              <a:off x="8715756" y="3444240"/>
              <a:ext cx="3000175"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登记 Source ID 与精确引用</a:t>
              </a:r>
            </a:p>
          </p:txBody>
        </p:sp>
        <p:sp>
          <p:nvSpPr>
            <p:cNvPr id="53" name="Ellipse 53"/>
            <p:cNvSpPr/>
            <p:nvPr/>
          </p:nvSpPr>
          <p:spPr>
            <a:xfrm>
              <a:off x="8486775" y="4010025"/>
              <a:ext cx="95250" cy="95250"/>
            </a:xfrm>
            <a:prstGeom prst="ellipse">
              <a:avLst/>
            </a:prstGeom>
            <a:solidFill>
              <a:srgbClr val="C58B2B"/>
            </a:solidFill>
            <a:ln>
              <a:noFill/>
            </a:ln>
          </p:spPr>
        </p:sp>
        <p:sp>
          <p:nvSpPr>
            <p:cNvPr id="54" name="TextBox 54"/>
            <p:cNvSpPr txBox="1"/>
            <p:nvPr/>
          </p:nvSpPr>
          <p:spPr>
            <a:xfrm>
              <a:off x="8715756" y="3939540"/>
              <a:ext cx="2199132"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说明支持判断与局限</a:t>
              </a:r>
            </a:p>
          </p:txBody>
        </p:sp>
        <p:sp>
          <p:nvSpPr>
            <p:cNvPr id="55" name="Ellipse 55"/>
            <p:cNvSpPr/>
            <p:nvPr/>
          </p:nvSpPr>
          <p:spPr>
            <a:xfrm>
              <a:off x="8486775" y="4505325"/>
              <a:ext cx="95250" cy="95250"/>
            </a:xfrm>
            <a:prstGeom prst="ellipse">
              <a:avLst/>
            </a:prstGeom>
            <a:solidFill>
              <a:srgbClr val="C58B2B"/>
            </a:solidFill>
            <a:ln>
              <a:noFill/>
            </a:ln>
          </p:spPr>
        </p:sp>
        <p:sp>
          <p:nvSpPr>
            <p:cNvPr id="56" name="TextBox 56"/>
            <p:cNvSpPr txBox="1"/>
            <p:nvPr/>
          </p:nvSpPr>
          <p:spPr>
            <a:xfrm>
              <a:off x="8715756" y="4434840"/>
              <a:ext cx="2235479"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设计依据 ≠ 运行证据</a:t>
              </a:r>
            </a:p>
          </p:txBody>
        </p:sp>
        <p:sp>
          <p:nvSpPr>
            <p:cNvPr id="57" name="TextBox 57"/>
            <p:cNvSpPr txBox="1"/>
            <p:nvPr/>
          </p:nvSpPr>
          <p:spPr>
            <a:xfrm>
              <a:off x="8451342" y="4769168"/>
              <a:ext cx="2249081"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反馈 / 论文 / 源码分级使用</a:t>
              </a:r>
            </a:p>
          </p:txBody>
        </p:sp>
        <p:sp>
          <p:nvSpPr>
            <p:cNvPr id="58" name="TextBox 58"/>
            <p:cNvSpPr txBox="1"/>
            <p:nvPr/>
          </p:nvSpPr>
          <p:spPr>
            <a:xfrm>
              <a:off x="8451342" y="5016818"/>
              <a:ext cx="1649349"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各自只支持明确范围</a:t>
              </a:r>
            </a:p>
          </p:txBody>
        </p:sp>
      </p:grpSp>
      <p:grpSp>
        <p:nvGrpSpPr>
          <p:cNvPr id="64" name="Group 64"/>
          <p:cNvGrpSpPr/>
          <p:nvPr/>
        </p:nvGrpSpPr>
        <p:grpSpPr>
          <a:xfrm>
            <a:off x="533400" y="5543550"/>
            <a:ext cx="11125200" cy="609600"/>
            <a:chOff x="533400" y="5543550"/>
            <a:chExt cx="11125200" cy="609600"/>
          </a:xfrm>
        </p:grpSpPr>
        <p:sp>
          <p:nvSpPr>
            <p:cNvPr id="60" name="Rectangle 60"/>
            <p:cNvSpPr/>
            <p:nvPr/>
          </p:nvSpPr>
          <p:spPr>
            <a:xfrm>
              <a:off x="533400" y="5543550"/>
              <a:ext cx="11125200" cy="609600"/>
            </a:xfrm>
            <a:prstGeom prst="rect">
              <a:avLst/>
            </a:prstGeom>
            <a:solidFill>
              <a:srgbClr val="1C2A24"/>
            </a:solidFill>
            <a:ln>
              <a:noFill/>
            </a:ln>
          </p:spPr>
        </p:sp>
        <p:sp>
          <p:nvSpPr>
            <p:cNvPr id="61" name="Freeform 61"/>
            <p:cNvSpPr/>
            <p:nvPr/>
          </p:nvSpPr>
          <p:spPr>
            <a:xfrm>
              <a:off x="804862" y="5657850"/>
              <a:ext cx="333375" cy="381000"/>
            </a:xfrm>
            <a:custGeom>
              <a:avLst/>
              <a:gdLst/>
              <a:ahLst/>
              <a:cxnLst/>
              <a:rect l="l" t="t" r="r" b="b"/>
              <a:pathLst>
                <a:path w="333375" h="381000">
                  <a:moveTo>
                    <a:pt x="166688" y="381000"/>
                  </a:moveTo>
                  <a:lnTo>
                    <a:pt x="79774" y="318918"/>
                  </a:lnTo>
                  <a:cubicBezTo>
                    <a:pt x="29712" y="283159"/>
                    <a:pt x="0" y="225425"/>
                    <a:pt x="0" y="163903"/>
                  </a:cubicBezTo>
                  <a:lnTo>
                    <a:pt x="0" y="71438"/>
                  </a:lnTo>
                  <a:lnTo>
                    <a:pt x="166688" y="0"/>
                  </a:lnTo>
                  <a:lnTo>
                    <a:pt x="333375" y="71438"/>
                  </a:lnTo>
                  <a:lnTo>
                    <a:pt x="333375" y="163903"/>
                  </a:lnTo>
                  <a:cubicBezTo>
                    <a:pt x="333375" y="225425"/>
                    <a:pt x="303664" y="283159"/>
                    <a:pt x="253601" y="318918"/>
                  </a:cubicBezTo>
                  <a:lnTo>
                    <a:pt x="166688" y="381000"/>
                  </a:lnTo>
                  <a:close/>
                  <a:moveTo>
                    <a:pt x="266869" y="135901"/>
                  </a:moveTo>
                  <a:lnTo>
                    <a:pt x="233193" y="102224"/>
                  </a:lnTo>
                  <a:lnTo>
                    <a:pt x="142875" y="192543"/>
                  </a:lnTo>
                  <a:lnTo>
                    <a:pt x="100182" y="149849"/>
                  </a:lnTo>
                  <a:lnTo>
                    <a:pt x="66506" y="183526"/>
                  </a:lnTo>
                  <a:lnTo>
                    <a:pt x="142875" y="259894"/>
                  </a:lnTo>
                  <a:lnTo>
                    <a:pt x="266869" y="135901"/>
                  </a:lnTo>
                  <a:close/>
                </a:path>
              </a:pathLst>
            </a:custGeom>
            <a:solidFill>
              <a:srgbClr val="FFFFFF"/>
            </a:solidFill>
            <a:ln>
              <a:noFill/>
            </a:ln>
          </p:spPr>
        </p:sp>
        <p:sp>
          <p:nvSpPr>
            <p:cNvPr id="62" name="TextBox 62"/>
            <p:cNvSpPr txBox="1"/>
            <p:nvPr/>
          </p:nvSpPr>
          <p:spPr>
            <a:xfrm>
              <a:off x="1360932" y="5716905"/>
              <a:ext cx="4503576" cy="410718"/>
            </a:xfrm>
            <a:prstGeom prst="rect">
              <a:avLst/>
            </a:prstGeom>
            <a:noFill/>
            <a:ln>
              <a:noFill/>
            </a:ln>
          </p:spPr>
          <p:txBody>
            <a:bodyPr wrap="none" lIns="0" tIns="0" rIns="0" bIns="0" anchor="t" anchorCtr="0">
              <a:spAutoFit/>
            </a:bodyPr>
            <a:lstStyle/>
            <a:p>
              <a:pPr algn="l"/>
              <a:r>
                <a:rPr lang="zh-CN" sz="2100" b="1" dirty="0">
                  <a:solidFill>
                    <a:srgbClr val="FFFFFF"/>
                  </a:solidFill>
                  <a:latin typeface="Segoe UI"/>
                  <a:ea typeface="Microsoft YaHei UI"/>
                  <a:cs typeface="Segoe UI"/>
                </a:rPr>
                <a:t>缺少任一项，不进入“完成”结论。</a:t>
              </a:r>
            </a:p>
          </p:txBody>
        </p:sp>
        <p:sp>
          <p:nvSpPr>
            <p:cNvPr id="63" name="TextBox 63"/>
            <p:cNvSpPr txBox="1"/>
            <p:nvPr/>
          </p:nvSpPr>
          <p:spPr>
            <a:xfrm>
              <a:off x="6075531" y="5759768"/>
              <a:ext cx="5361327" cy="264033"/>
            </a:xfrm>
            <a:prstGeom prst="rect">
              <a:avLst/>
            </a:prstGeom>
            <a:noFill/>
            <a:ln>
              <a:noFill/>
            </a:ln>
          </p:spPr>
          <p:txBody>
            <a:bodyPr wrap="none" lIns="0" tIns="0" rIns="0" bIns="0" anchor="t" anchorCtr="0">
              <a:spAutoFit/>
            </a:bodyPr>
            <a:lstStyle/>
            <a:p>
              <a:pPr algn="r"/>
              <a:r>
                <a:rPr lang="zh-CN" sz="1350" dirty="0">
                  <a:solidFill>
                    <a:srgbClr val="CDD8D2"/>
                  </a:solidFill>
                  <a:latin typeface="Segoe UI"/>
                  <a:ea typeface="Microsoft YaHei UI"/>
                  <a:cs typeface="Segoe UI"/>
                </a:rPr>
                <a:t>默认隐藏 Prompt、思维链、Worker 对话、密钥、Permit 与堆栈</a:t>
              </a:r>
            </a:p>
          </p:txBody>
        </p:sp>
      </p:grpSp>
      <p:grpSp>
        <p:nvGrpSpPr>
          <p:cNvPr id="67" name="Group 67"/>
          <p:cNvGrpSpPr/>
          <p:nvPr/>
        </p:nvGrpSpPr>
        <p:grpSpPr>
          <a:xfrm>
            <a:off x="528066" y="6439852"/>
            <a:ext cx="11135868" cy="205359"/>
            <a:chOff x="528066" y="6439852"/>
            <a:chExt cx="11135868" cy="205359"/>
          </a:xfrm>
        </p:grpSpPr>
        <p:sp>
          <p:nvSpPr>
            <p:cNvPr id="65" name="TextBox 65"/>
            <p:cNvSpPr txBox="1"/>
            <p:nvPr/>
          </p:nvSpPr>
          <p:spPr>
            <a:xfrm>
              <a:off x="528066" y="6439852"/>
              <a:ext cx="4424136" cy="205359"/>
            </a:xfrm>
            <a:prstGeom prst="rect">
              <a:avLst/>
            </a:prstGeom>
            <a:noFill/>
            <a:ln>
              <a:noFill/>
            </a:ln>
          </p:spPr>
          <p:txBody>
            <a:bodyPr wrap="none" lIns="0" tIns="0" rIns="0" bIns="0" anchor="t" anchorCtr="0">
              <a:spAutoFit/>
            </a:bodyPr>
            <a:lstStyle/>
            <a:p>
              <a:pPr algn="l"/>
              <a:r>
                <a:rPr lang="en-US" sz="1050" dirty="0">
                  <a:solidFill>
                    <a:srgbClr val="74817B"/>
                  </a:solidFill>
                  <a:latin typeface="Segoe UI"/>
                  <a:ea typeface="Segoe UI"/>
                  <a:cs typeface="Segoe UI"/>
                </a:rPr>
                <a:t>Source: DR-0001 · SOURCE_REGISTER · UI_SERVER_FACT_MATRIX</a:t>
              </a:r>
            </a:p>
          </p:txBody>
        </p:sp>
        <p:sp>
          <p:nvSpPr>
            <p:cNvPr id="66" name="TextBox 66"/>
            <p:cNvSpPr txBox="1"/>
            <p:nvPr/>
          </p:nvSpPr>
          <p:spPr>
            <a:xfrm>
              <a:off x="11179740" y="6439852"/>
              <a:ext cx="484194" cy="205359"/>
            </a:xfrm>
            <a:prstGeom prst="rect">
              <a:avLst/>
            </a:prstGeom>
            <a:noFill/>
            <a:ln>
              <a:noFill/>
            </a:ln>
          </p:spPr>
          <p:txBody>
            <a:bodyPr wrap="none" lIns="0" tIns="0" rIns="0" bIns="0" anchor="t" anchorCtr="0">
              <a:spAutoFit/>
            </a:bodyPr>
            <a:lstStyle/>
            <a:p>
              <a:pPr algn="r"/>
              <a:r>
                <a:rPr lang="en-US" sz="1050" dirty="0">
                  <a:solidFill>
                    <a:srgbClr val="14865F"/>
                  </a:solidFill>
                  <a:latin typeface="Consolas"/>
                  <a:ea typeface="Consolas"/>
                  <a:cs typeface="Consolas"/>
                </a:rPr>
                <a:t>03 / 11</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8"/>
          </a:solidFill>
          <a:ln>
            <a:noFill/>
          </a:ln>
        </p:spPr>
      </p:sp>
      <p:grpSp>
        <p:nvGrpSpPr>
          <p:cNvPr id="6" name="Group 6"/>
          <p:cNvGrpSpPr/>
          <p:nvPr/>
        </p:nvGrpSpPr>
        <p:grpSpPr>
          <a:xfrm>
            <a:off x="533400" y="400050"/>
            <a:ext cx="11130534" cy="670179"/>
            <a:chOff x="533400" y="400050"/>
            <a:chExt cx="11130534" cy="670179"/>
          </a:xfrm>
        </p:grpSpPr>
        <p:sp>
          <p:nvSpPr>
            <p:cNvPr id="3" name="Rectangle 3"/>
            <p:cNvSpPr/>
            <p:nvPr/>
          </p:nvSpPr>
          <p:spPr>
            <a:xfrm>
              <a:off x="533400" y="400050"/>
              <a:ext cx="57150" cy="495300"/>
            </a:xfrm>
            <a:prstGeom prst="rect">
              <a:avLst/>
            </a:prstGeom>
            <a:solidFill>
              <a:srgbClr val="14865F"/>
            </a:solidFill>
            <a:ln>
              <a:noFill/>
            </a:ln>
          </p:spPr>
        </p:sp>
        <p:sp>
          <p:nvSpPr>
            <p:cNvPr id="4" name="TextBox 4"/>
            <p:cNvSpPr txBox="1"/>
            <p:nvPr/>
          </p:nvSpPr>
          <p:spPr>
            <a:xfrm>
              <a:off x="745236" y="424815"/>
              <a:ext cx="6687160" cy="645414"/>
            </a:xfrm>
            <a:prstGeom prst="rect">
              <a:avLst/>
            </a:prstGeom>
            <a:noFill/>
            <a:ln>
              <a:noFill/>
            </a:ln>
          </p:spPr>
          <p:txBody>
            <a:bodyPr wrap="none" lIns="0" tIns="0" rIns="0" bIns="0" anchor="t" anchorCtr="0">
              <a:spAutoFit/>
            </a:bodyPr>
            <a:lstStyle/>
            <a:p>
              <a:pPr algn="l"/>
              <a:r>
                <a:rPr lang="zh-CN" sz="3300" b="1" dirty="0">
                  <a:solidFill>
                    <a:srgbClr val="1C2A24"/>
                  </a:solidFill>
                  <a:latin typeface="Segoe UI"/>
                  <a:ea typeface="Microsoft YaHei UI"/>
                  <a:cs typeface="Segoe UI"/>
                </a:rPr>
                <a:t>PR #4：先让设计与事实有出处</a:t>
              </a:r>
            </a:p>
          </p:txBody>
        </p:sp>
        <p:sp>
          <p:nvSpPr>
            <p:cNvPr id="5" name="TextBox 5"/>
            <p:cNvSpPr txBox="1"/>
            <p:nvPr/>
          </p:nvSpPr>
          <p:spPr>
            <a:xfrm>
              <a:off x="10465918" y="629602"/>
              <a:ext cx="1198016" cy="205359"/>
            </a:xfrm>
            <a:prstGeom prst="rect">
              <a:avLst/>
            </a:prstGeom>
            <a:noFill/>
            <a:ln>
              <a:noFill/>
            </a:ln>
          </p:spPr>
          <p:txBody>
            <a:bodyPr wrap="none" lIns="0" tIns="0" rIns="0" bIns="0" anchor="t" anchorCtr="0">
              <a:spAutoFit/>
            </a:bodyPr>
            <a:lstStyle/>
            <a:p>
              <a:pPr algn="r"/>
              <a:r>
                <a:rPr lang="en-US" sz="1050" dirty="0">
                  <a:solidFill>
                    <a:srgbClr val="74817B"/>
                  </a:solidFill>
                  <a:latin typeface="Consolas"/>
                  <a:ea typeface="Consolas"/>
                  <a:cs typeface="Consolas"/>
                </a:rPr>
                <a:t>CONTRACTS · P04</a:t>
              </a:r>
            </a:p>
          </p:txBody>
        </p:sp>
      </p:grpSp>
      <p:grpSp>
        <p:nvGrpSpPr>
          <p:cNvPr id="9" name="Group 9"/>
          <p:cNvGrpSpPr/>
          <p:nvPr/>
        </p:nvGrpSpPr>
        <p:grpSpPr>
          <a:xfrm>
            <a:off x="522732" y="1087755"/>
            <a:ext cx="11453485" cy="521970"/>
            <a:chOff x="522732" y="1087755"/>
            <a:chExt cx="11453485" cy="521970"/>
          </a:xfrm>
        </p:grpSpPr>
        <p:sp>
          <p:nvSpPr>
            <p:cNvPr id="7" name="TextBox 7"/>
            <p:cNvSpPr txBox="1"/>
            <p:nvPr/>
          </p:nvSpPr>
          <p:spPr>
            <a:xfrm>
              <a:off x="522732" y="1087755"/>
              <a:ext cx="11453485" cy="410718"/>
            </a:xfrm>
            <a:prstGeom prst="rect">
              <a:avLst/>
            </a:prstGeom>
            <a:noFill/>
            <a:ln>
              <a:noFill/>
            </a:ln>
          </p:spPr>
          <p:txBody>
            <a:bodyPr wrap="none" lIns="0" tIns="0" rIns="0" bIns="0" anchor="t" anchorCtr="0">
              <a:spAutoFit/>
            </a:bodyPr>
            <a:lstStyle/>
            <a:p>
              <a:pPr algn="l"/>
              <a:r>
                <a:rPr lang="zh-CN" sz="2100" b="1" dirty="0">
                  <a:solidFill>
                    <a:srgbClr val="202824"/>
                  </a:solidFill>
                  <a:latin typeface="Segoe UI"/>
                  <a:ea typeface="Microsoft YaHei UI"/>
                  <a:cs typeface="Segoe UI"/>
                </a:rPr>
                <a:t>先固定场景、来源、协议与 UI 事实矩阵，避免静态原型或口头判断冒充实现证据。</a:t>
              </a:r>
            </a:p>
          </p:txBody>
        </p:sp>
        <p:sp>
          <p:nvSpPr>
            <p:cNvPr id="8" name="Line 8"/>
            <p:cNvSpPr/>
            <p:nvPr/>
          </p:nvSpPr>
          <p:spPr>
            <a:xfrm>
              <a:off x="533400" y="1600200"/>
              <a:ext cx="11125200" cy="9525"/>
            </a:xfrm>
            <a:custGeom>
              <a:avLst/>
              <a:gdLst/>
              <a:ahLst/>
              <a:cxnLst/>
              <a:rect l="l" t="t" r="r" b="b"/>
              <a:pathLst>
                <a:path w="11125200" h="9525">
                  <a:moveTo>
                    <a:pt x="0" y="0"/>
                  </a:moveTo>
                  <a:lnTo>
                    <a:pt x="11125200" y="0"/>
                  </a:lnTo>
                </a:path>
              </a:pathLst>
            </a:custGeom>
            <a:noFill/>
            <a:ln w="9525">
              <a:solidFill>
                <a:srgbClr val="CDD8D2"/>
              </a:solidFill>
            </a:ln>
          </p:spPr>
        </p:sp>
      </p:grpSp>
      <p:grpSp>
        <p:nvGrpSpPr>
          <p:cNvPr id="43" name="Group 43"/>
          <p:cNvGrpSpPr/>
          <p:nvPr/>
        </p:nvGrpSpPr>
        <p:grpSpPr>
          <a:xfrm>
            <a:off x="522732" y="1811655"/>
            <a:ext cx="4442079" cy="4250246"/>
            <a:chOff x="522732" y="1811655"/>
            <a:chExt cx="4442079" cy="4250246"/>
          </a:xfrm>
        </p:grpSpPr>
        <p:sp>
          <p:nvSpPr>
            <p:cNvPr id="10" name="TextBox 10"/>
            <p:cNvSpPr txBox="1"/>
            <p:nvPr/>
          </p:nvSpPr>
          <p:spPr>
            <a:xfrm>
              <a:off x="522732" y="1811655"/>
              <a:ext cx="2396033" cy="410718"/>
            </a:xfrm>
            <a:prstGeom prst="rect">
              <a:avLst/>
            </a:prstGeom>
            <a:noFill/>
            <a:ln>
              <a:noFill/>
            </a:ln>
          </p:spPr>
          <p:txBody>
            <a:bodyPr wrap="none" lIns="0" tIns="0" rIns="0" bIns="0" anchor="t" anchorCtr="0">
              <a:spAutoFit/>
            </a:bodyPr>
            <a:lstStyle/>
            <a:p>
              <a:pPr algn="l"/>
              <a:r>
                <a:rPr lang="zh-CN" sz="2100" b="1" dirty="0">
                  <a:solidFill>
                    <a:srgbClr val="1C2A24"/>
                  </a:solidFill>
                  <a:latin typeface="Segoe UI"/>
                  <a:ea typeface="Microsoft YaHei UI"/>
                  <a:cs typeface="Segoe UI"/>
                </a:rPr>
                <a:t>来源按证明力分级</a:t>
              </a:r>
            </a:p>
          </p:txBody>
        </p:sp>
        <p:sp>
          <p:nvSpPr>
            <p:cNvPr id="11" name="Line 11"/>
            <p:cNvSpPr/>
            <p:nvPr/>
          </p:nvSpPr>
          <p:spPr>
            <a:xfrm>
              <a:off x="781050" y="2419350"/>
              <a:ext cx="9525" cy="2419350"/>
            </a:xfrm>
            <a:custGeom>
              <a:avLst/>
              <a:gdLst/>
              <a:ahLst/>
              <a:cxnLst/>
              <a:rect l="l" t="t" r="r" b="b"/>
              <a:pathLst>
                <a:path w="9525" h="2419350">
                  <a:moveTo>
                    <a:pt x="0" y="0"/>
                  </a:moveTo>
                  <a:lnTo>
                    <a:pt x="0" y="2419350"/>
                  </a:lnTo>
                </a:path>
              </a:pathLst>
            </a:custGeom>
            <a:noFill/>
            <a:ln w="19050">
              <a:solidFill>
                <a:srgbClr val="CDD8D2"/>
              </a:solidFill>
            </a:ln>
          </p:spPr>
        </p:sp>
        <p:grpSp>
          <p:nvGrpSpPr>
            <p:cNvPr id="21" name="Group 21"/>
            <p:cNvGrpSpPr/>
            <p:nvPr/>
          </p:nvGrpSpPr>
          <p:grpSpPr>
            <a:xfrm>
              <a:off x="666750" y="2440781"/>
              <a:ext cx="4143585" cy="916020"/>
              <a:chOff x="666750" y="2440781"/>
              <a:chExt cx="4143585" cy="916020"/>
            </a:xfrm>
          </p:grpSpPr>
          <p:sp>
            <p:nvSpPr>
              <p:cNvPr id="12" name="Ellipse 12"/>
              <p:cNvSpPr/>
              <p:nvPr/>
            </p:nvSpPr>
            <p:spPr>
              <a:xfrm>
                <a:off x="666750" y="2533650"/>
                <a:ext cx="228600" cy="228600"/>
              </a:xfrm>
              <a:prstGeom prst="ellipse">
                <a:avLst/>
              </a:prstGeom>
              <a:solidFill>
                <a:srgbClr val="14865F"/>
              </a:solidFill>
              <a:ln>
                <a:noFill/>
              </a:ln>
            </p:spPr>
          </p:sp>
          <p:grpSp>
            <p:nvGrpSpPr>
              <p:cNvPr id="17" name="Group 17"/>
              <p:cNvGrpSpPr/>
              <p:nvPr/>
            </p:nvGrpSpPr>
            <p:grpSpPr>
              <a:xfrm>
                <a:off x="1028700" y="2440781"/>
                <a:ext cx="342900" cy="300038"/>
                <a:chOff x="1028700" y="2440781"/>
                <a:chExt cx="342900" cy="300038"/>
              </a:xfrm>
            </p:grpSpPr>
            <p:sp>
              <p:nvSpPr>
                <p:cNvPr id="13" name="Freeform 13"/>
                <p:cNvSpPr/>
                <p:nvPr/>
              </p:nvSpPr>
              <p:spPr>
                <a:xfrm>
                  <a:off x="1092994" y="2440781"/>
                  <a:ext cx="107156" cy="107156"/>
                </a:xfrm>
                <a:custGeom>
                  <a:avLst/>
                  <a:gdLst/>
                  <a:ahLst/>
                  <a:cxnLst/>
                  <a:rect l="l" t="t" r="r" b="b"/>
                  <a:pathLst>
                    <a:path w="107156" h="107156">
                      <a:moveTo>
                        <a:pt x="107156" y="53578"/>
                      </a:moveTo>
                      <a:cubicBezTo>
                        <a:pt x="107156" y="83168"/>
                        <a:pt x="83168" y="107156"/>
                        <a:pt x="53578" y="107156"/>
                      </a:cubicBezTo>
                      <a:cubicBezTo>
                        <a:pt x="23988" y="107156"/>
                        <a:pt x="0" y="83168"/>
                        <a:pt x="0" y="53578"/>
                      </a:cubicBezTo>
                      <a:cubicBezTo>
                        <a:pt x="0" y="23988"/>
                        <a:pt x="23988" y="0"/>
                        <a:pt x="53578" y="0"/>
                      </a:cubicBezTo>
                      <a:cubicBezTo>
                        <a:pt x="83168" y="0"/>
                        <a:pt x="107156" y="23988"/>
                        <a:pt x="107156" y="53578"/>
                      </a:cubicBezTo>
                      <a:close/>
                    </a:path>
                  </a:pathLst>
                </a:custGeom>
                <a:solidFill>
                  <a:srgbClr val="14865F"/>
                </a:solidFill>
                <a:ln>
                  <a:noFill/>
                </a:ln>
              </p:spPr>
            </p:sp>
            <p:sp>
              <p:nvSpPr>
                <p:cNvPr id="14" name="Freeform 14"/>
                <p:cNvSpPr/>
                <p:nvPr/>
              </p:nvSpPr>
              <p:spPr>
                <a:xfrm>
                  <a:off x="1028700" y="2590800"/>
                  <a:ext cx="171450" cy="150019"/>
                </a:xfrm>
                <a:custGeom>
                  <a:avLst/>
                  <a:gdLst/>
                  <a:ahLst/>
                  <a:cxnLst/>
                  <a:rect l="l" t="t" r="r" b="b"/>
                  <a:pathLst>
                    <a:path w="171450" h="150019">
                      <a:moveTo>
                        <a:pt x="64294" y="0"/>
                      </a:moveTo>
                      <a:cubicBezTo>
                        <a:pt x="28785" y="0"/>
                        <a:pt x="0" y="28785"/>
                        <a:pt x="0" y="64294"/>
                      </a:cubicBezTo>
                      <a:lnTo>
                        <a:pt x="0" y="150019"/>
                      </a:lnTo>
                      <a:lnTo>
                        <a:pt x="171450" y="150019"/>
                      </a:lnTo>
                      <a:lnTo>
                        <a:pt x="171450" y="0"/>
                      </a:lnTo>
                      <a:lnTo>
                        <a:pt x="64294" y="0"/>
                      </a:lnTo>
                      <a:close/>
                    </a:path>
                  </a:pathLst>
                </a:custGeom>
                <a:solidFill>
                  <a:srgbClr val="14865F"/>
                </a:solidFill>
                <a:ln>
                  <a:noFill/>
                </a:ln>
              </p:spPr>
            </p:sp>
            <p:sp>
              <p:nvSpPr>
                <p:cNvPr id="15" name="Freeform 15"/>
                <p:cNvSpPr/>
                <p:nvPr/>
              </p:nvSpPr>
              <p:spPr>
                <a:xfrm>
                  <a:off x="1243012" y="2590800"/>
                  <a:ext cx="128588" cy="150019"/>
                </a:xfrm>
                <a:custGeom>
                  <a:avLst/>
                  <a:gdLst/>
                  <a:ahLst/>
                  <a:cxnLst/>
                  <a:rect l="l" t="t" r="r" b="b"/>
                  <a:pathLst>
                    <a:path w="128588" h="150019">
                      <a:moveTo>
                        <a:pt x="64294" y="0"/>
                      </a:moveTo>
                      <a:lnTo>
                        <a:pt x="0" y="0"/>
                      </a:lnTo>
                      <a:lnTo>
                        <a:pt x="0" y="150019"/>
                      </a:lnTo>
                      <a:lnTo>
                        <a:pt x="128588" y="150019"/>
                      </a:lnTo>
                      <a:lnTo>
                        <a:pt x="128588" y="64294"/>
                      </a:lnTo>
                      <a:cubicBezTo>
                        <a:pt x="128588" y="28785"/>
                        <a:pt x="99803" y="0"/>
                        <a:pt x="64294" y="0"/>
                      </a:cubicBezTo>
                      <a:close/>
                    </a:path>
                  </a:pathLst>
                </a:custGeom>
                <a:solidFill>
                  <a:srgbClr val="14865F"/>
                </a:solidFill>
                <a:ln>
                  <a:noFill/>
                </a:ln>
              </p:spPr>
            </p:sp>
            <p:sp>
              <p:nvSpPr>
                <p:cNvPr id="16" name="Freeform 16"/>
                <p:cNvSpPr/>
                <p:nvPr/>
              </p:nvSpPr>
              <p:spPr>
                <a:xfrm>
                  <a:off x="1243012" y="2462212"/>
                  <a:ext cx="85725" cy="85725"/>
                </a:xfrm>
                <a:custGeom>
                  <a:avLst/>
                  <a:gdLst/>
                  <a:ahLst/>
                  <a:cxnLst/>
                  <a:rect l="l" t="t" r="r" b="b"/>
                  <a:pathLst>
                    <a:path w="85725" h="85725">
                      <a:moveTo>
                        <a:pt x="42862" y="85725"/>
                      </a:moveTo>
                      <a:cubicBezTo>
                        <a:pt x="66535" y="85725"/>
                        <a:pt x="85725" y="66535"/>
                        <a:pt x="85725" y="42862"/>
                      </a:cubicBezTo>
                      <a:cubicBezTo>
                        <a:pt x="85725" y="19190"/>
                        <a:pt x="66535" y="0"/>
                        <a:pt x="42862" y="0"/>
                      </a:cubicBezTo>
                      <a:cubicBezTo>
                        <a:pt x="19190" y="0"/>
                        <a:pt x="0" y="19190"/>
                        <a:pt x="0" y="42862"/>
                      </a:cubicBezTo>
                      <a:cubicBezTo>
                        <a:pt x="0" y="66535"/>
                        <a:pt x="19190" y="85725"/>
                        <a:pt x="42862" y="85725"/>
                      </a:cubicBezTo>
                      <a:close/>
                    </a:path>
                  </a:pathLst>
                </a:custGeom>
                <a:solidFill>
                  <a:srgbClr val="14865F"/>
                </a:solidFill>
                <a:ln>
                  <a:noFill/>
                </a:ln>
              </p:spPr>
            </p:sp>
          </p:grpSp>
          <p:sp>
            <p:nvSpPr>
              <p:cNvPr id="18" name="TextBox 18"/>
              <p:cNvSpPr txBox="1"/>
              <p:nvPr/>
            </p:nvSpPr>
            <p:spPr>
              <a:xfrm>
                <a:off x="1495806" y="2472690"/>
                <a:ext cx="2089791"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Stakeholder 输入</a:t>
                </a:r>
              </a:p>
            </p:txBody>
          </p:sp>
          <p:sp>
            <p:nvSpPr>
              <p:cNvPr id="19" name="TextBox 19"/>
              <p:cNvSpPr txBox="1"/>
              <p:nvPr/>
            </p:nvSpPr>
            <p:spPr>
              <a:xfrm>
                <a:off x="1498092" y="2845118"/>
                <a:ext cx="3312243"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0716-v2 会后反馈、原始汇报、内部脚本</a:t>
                </a:r>
              </a:p>
            </p:txBody>
          </p:sp>
          <p:sp>
            <p:nvSpPr>
              <p:cNvPr id="20" name="TextBox 20"/>
              <p:cNvSpPr txBox="1"/>
              <p:nvPr/>
            </p:nvSpPr>
            <p:spPr>
              <a:xfrm>
                <a:off x="1498092" y="3092768"/>
                <a:ext cx="3103245" cy="264033"/>
              </a:xfrm>
              <a:prstGeom prst="rect">
                <a:avLst/>
              </a:prstGeom>
              <a:noFill/>
              <a:ln>
                <a:noFill/>
              </a:ln>
            </p:spPr>
            <p:txBody>
              <a:bodyPr wrap="none" lIns="0" tIns="0" rIns="0" bIns="0" anchor="t" anchorCtr="0">
                <a:spAutoFit/>
              </a:bodyPr>
              <a:lstStyle/>
              <a:p>
                <a:pPr algn="l"/>
                <a:r>
                  <a:rPr lang="zh-CN" sz="1350" dirty="0">
                    <a:solidFill>
                      <a:srgbClr val="C58B2B"/>
                    </a:solidFill>
                    <a:latin typeface="Segoe UI"/>
                    <a:ea typeface="Microsoft YaHei UI"/>
                    <a:cs typeface="Segoe UI"/>
                  </a:rPr>
                  <a:t>证明需求与演示输入，不证明方案有效</a:t>
                </a:r>
              </a:p>
            </p:txBody>
          </p:sp>
        </p:grpSp>
        <p:grpSp>
          <p:nvGrpSpPr>
            <p:cNvPr id="30" name="Group 30"/>
            <p:cNvGrpSpPr/>
            <p:nvPr/>
          </p:nvGrpSpPr>
          <p:grpSpPr>
            <a:xfrm>
              <a:off x="666750" y="3390900"/>
              <a:ext cx="4298061" cy="937451"/>
              <a:chOff x="666750" y="3390900"/>
              <a:chExt cx="4298061" cy="937451"/>
            </a:xfrm>
          </p:grpSpPr>
          <p:sp>
            <p:nvSpPr>
              <p:cNvPr id="22" name="Ellipse 22"/>
              <p:cNvSpPr/>
              <p:nvPr/>
            </p:nvSpPr>
            <p:spPr>
              <a:xfrm>
                <a:off x="666750" y="3505200"/>
                <a:ext cx="228600" cy="228600"/>
              </a:xfrm>
              <a:prstGeom prst="ellipse">
                <a:avLst/>
              </a:prstGeom>
              <a:solidFill>
                <a:srgbClr val="C58B2B"/>
              </a:solidFill>
              <a:ln>
                <a:noFill/>
              </a:ln>
            </p:spPr>
          </p:sp>
          <p:grpSp>
            <p:nvGrpSpPr>
              <p:cNvPr id="26" name="Group 26"/>
              <p:cNvGrpSpPr/>
              <p:nvPr/>
            </p:nvGrpSpPr>
            <p:grpSpPr>
              <a:xfrm>
                <a:off x="1028700" y="3390900"/>
                <a:ext cx="342900" cy="342900"/>
                <a:chOff x="1028700" y="3390900"/>
                <a:chExt cx="342900" cy="342900"/>
              </a:xfrm>
            </p:grpSpPr>
            <p:sp>
              <p:nvSpPr>
                <p:cNvPr id="23" name="Freeform 23"/>
                <p:cNvSpPr/>
                <p:nvPr/>
              </p:nvSpPr>
              <p:spPr>
                <a:xfrm>
                  <a:off x="1135856" y="3390900"/>
                  <a:ext cx="235744" cy="235744"/>
                </a:xfrm>
                <a:custGeom>
                  <a:avLst/>
                  <a:gdLst/>
                  <a:ahLst/>
                  <a:cxnLst/>
                  <a:rect l="l" t="t" r="r" b="b"/>
                  <a:pathLst>
                    <a:path w="235744" h="235744">
                      <a:moveTo>
                        <a:pt x="43939" y="32908"/>
                      </a:moveTo>
                      <a:cubicBezTo>
                        <a:pt x="65010" y="11838"/>
                        <a:pt x="93589" y="0"/>
                        <a:pt x="123388" y="0"/>
                      </a:cubicBezTo>
                      <a:cubicBezTo>
                        <a:pt x="185440" y="0"/>
                        <a:pt x="235744" y="50304"/>
                        <a:pt x="235744" y="112356"/>
                      </a:cubicBezTo>
                      <a:cubicBezTo>
                        <a:pt x="235744" y="142155"/>
                        <a:pt x="223907" y="170733"/>
                        <a:pt x="202836" y="191804"/>
                      </a:cubicBezTo>
                      <a:lnTo>
                        <a:pt x="158896" y="235744"/>
                      </a:lnTo>
                      <a:lnTo>
                        <a:pt x="128588" y="205435"/>
                      </a:lnTo>
                      <a:lnTo>
                        <a:pt x="172528" y="161496"/>
                      </a:lnTo>
                      <a:cubicBezTo>
                        <a:pt x="185560" y="148463"/>
                        <a:pt x="192881" y="130787"/>
                        <a:pt x="192881" y="112356"/>
                      </a:cubicBezTo>
                      <a:cubicBezTo>
                        <a:pt x="192881" y="73976"/>
                        <a:pt x="161767" y="42862"/>
                        <a:pt x="123388" y="42862"/>
                      </a:cubicBezTo>
                      <a:cubicBezTo>
                        <a:pt x="104957" y="42862"/>
                        <a:pt x="87280" y="50184"/>
                        <a:pt x="74248" y="63217"/>
                      </a:cubicBezTo>
                      <a:lnTo>
                        <a:pt x="30308" y="107156"/>
                      </a:lnTo>
                      <a:lnTo>
                        <a:pt x="0" y="76848"/>
                      </a:lnTo>
                      <a:lnTo>
                        <a:pt x="43939" y="32908"/>
                      </a:lnTo>
                      <a:close/>
                    </a:path>
                  </a:pathLst>
                </a:custGeom>
                <a:solidFill>
                  <a:srgbClr val="C58B2B"/>
                </a:solidFill>
                <a:ln>
                  <a:noFill/>
                </a:ln>
              </p:spPr>
            </p:sp>
            <p:sp>
              <p:nvSpPr>
                <p:cNvPr id="24" name="Freeform 24"/>
                <p:cNvSpPr/>
                <p:nvPr/>
              </p:nvSpPr>
              <p:spPr>
                <a:xfrm>
                  <a:off x="1028700" y="3498056"/>
                  <a:ext cx="235744" cy="235744"/>
                </a:xfrm>
                <a:custGeom>
                  <a:avLst/>
                  <a:gdLst/>
                  <a:ahLst/>
                  <a:cxnLst/>
                  <a:rect l="l" t="t" r="r" b="b"/>
                  <a:pathLst>
                    <a:path w="235744" h="235744">
                      <a:moveTo>
                        <a:pt x="161496" y="172528"/>
                      </a:moveTo>
                      <a:lnTo>
                        <a:pt x="205435" y="128588"/>
                      </a:lnTo>
                      <a:lnTo>
                        <a:pt x="235744" y="158896"/>
                      </a:lnTo>
                      <a:lnTo>
                        <a:pt x="191804" y="202836"/>
                      </a:lnTo>
                      <a:cubicBezTo>
                        <a:pt x="170733" y="223907"/>
                        <a:pt x="142155" y="235744"/>
                        <a:pt x="112356" y="235744"/>
                      </a:cubicBezTo>
                      <a:cubicBezTo>
                        <a:pt x="50304" y="235744"/>
                        <a:pt x="0" y="185440"/>
                        <a:pt x="0" y="123388"/>
                      </a:cubicBezTo>
                      <a:cubicBezTo>
                        <a:pt x="0" y="93589"/>
                        <a:pt x="11837" y="65010"/>
                        <a:pt x="32908" y="43939"/>
                      </a:cubicBezTo>
                      <a:lnTo>
                        <a:pt x="76848" y="0"/>
                      </a:lnTo>
                      <a:lnTo>
                        <a:pt x="107156" y="30308"/>
                      </a:lnTo>
                      <a:lnTo>
                        <a:pt x="63217" y="74248"/>
                      </a:lnTo>
                      <a:cubicBezTo>
                        <a:pt x="50184" y="87280"/>
                        <a:pt x="42862" y="104957"/>
                        <a:pt x="42862" y="123388"/>
                      </a:cubicBezTo>
                      <a:cubicBezTo>
                        <a:pt x="42862" y="161767"/>
                        <a:pt x="73976" y="192881"/>
                        <a:pt x="112356" y="192881"/>
                      </a:cubicBezTo>
                      <a:cubicBezTo>
                        <a:pt x="130787" y="192881"/>
                        <a:pt x="148463" y="185560"/>
                        <a:pt x="161496" y="172528"/>
                      </a:cubicBezTo>
                      <a:close/>
                    </a:path>
                  </a:pathLst>
                </a:custGeom>
                <a:solidFill>
                  <a:srgbClr val="C58B2B"/>
                </a:solidFill>
                <a:ln>
                  <a:noFill/>
                </a:ln>
              </p:spPr>
            </p:sp>
            <p:sp>
              <p:nvSpPr>
                <p:cNvPr id="25" name="Freeform 25"/>
                <p:cNvSpPr/>
                <p:nvPr/>
              </p:nvSpPr>
              <p:spPr>
                <a:xfrm>
                  <a:off x="1120702" y="3482902"/>
                  <a:ext cx="158896" cy="158896"/>
                </a:xfrm>
                <a:custGeom>
                  <a:avLst/>
                  <a:gdLst/>
                  <a:ahLst/>
                  <a:cxnLst/>
                  <a:rect l="l" t="t" r="r" b="b"/>
                  <a:pathLst>
                    <a:path w="158896" h="158896">
                      <a:moveTo>
                        <a:pt x="30309" y="158896"/>
                      </a:moveTo>
                      <a:lnTo>
                        <a:pt x="158896" y="30309"/>
                      </a:lnTo>
                      <a:lnTo>
                        <a:pt x="128588" y="0"/>
                      </a:lnTo>
                      <a:lnTo>
                        <a:pt x="0" y="128588"/>
                      </a:lnTo>
                      <a:lnTo>
                        <a:pt x="30309" y="158896"/>
                      </a:lnTo>
                      <a:close/>
                    </a:path>
                  </a:pathLst>
                </a:custGeom>
                <a:solidFill>
                  <a:srgbClr val="C58B2B"/>
                </a:solidFill>
                <a:ln>
                  <a:noFill/>
                </a:ln>
              </p:spPr>
            </p:sp>
          </p:grpSp>
          <p:sp>
            <p:nvSpPr>
              <p:cNvPr id="27" name="TextBox 27"/>
              <p:cNvSpPr txBox="1"/>
              <p:nvPr/>
            </p:nvSpPr>
            <p:spPr>
              <a:xfrm>
                <a:off x="1495806" y="3444240"/>
                <a:ext cx="1799311"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研究与官方实践</a:t>
                </a:r>
              </a:p>
            </p:txBody>
          </p:sp>
          <p:sp>
            <p:nvSpPr>
              <p:cNvPr id="28" name="TextBox 28"/>
              <p:cNvSpPr txBox="1"/>
              <p:nvPr/>
            </p:nvSpPr>
            <p:spPr>
              <a:xfrm>
                <a:off x="1498092" y="3816668"/>
                <a:ext cx="2873875" cy="264033"/>
              </a:xfrm>
              <a:prstGeom prst="rect">
                <a:avLst/>
              </a:prstGeom>
              <a:noFill/>
              <a:ln>
                <a:noFill/>
              </a:ln>
            </p:spPr>
            <p:txBody>
              <a:bodyPr wrap="none" lIns="0" tIns="0" rIns="0" bIns="0" anchor="t" anchorCtr="0">
                <a:spAutoFit/>
              </a:bodyPr>
              <a:lstStyle/>
              <a:p>
                <a:pPr algn="l"/>
                <a:r>
                  <a:rPr lang="en-US" sz="1350" dirty="0">
                    <a:solidFill>
                      <a:srgbClr val="52605A"/>
                    </a:solidFill>
                    <a:latin typeface="Segoe UI"/>
                    <a:ea typeface="Segoe UI"/>
                    <a:cs typeface="Segoe UI"/>
                  </a:rPr>
                  <a:t>ReAct · LangGraph · NIST AI RMF</a:t>
                </a:r>
              </a:p>
            </p:txBody>
          </p:sp>
          <p:sp>
            <p:nvSpPr>
              <p:cNvPr id="29" name="TextBox 29"/>
              <p:cNvSpPr txBox="1"/>
              <p:nvPr/>
            </p:nvSpPr>
            <p:spPr>
              <a:xfrm>
                <a:off x="1498092" y="4064318"/>
                <a:ext cx="3466719" cy="264033"/>
              </a:xfrm>
              <a:prstGeom prst="rect">
                <a:avLst/>
              </a:prstGeom>
              <a:noFill/>
              <a:ln>
                <a:noFill/>
              </a:ln>
            </p:spPr>
            <p:txBody>
              <a:bodyPr wrap="none" lIns="0" tIns="0" rIns="0" bIns="0" anchor="t" anchorCtr="0">
                <a:spAutoFit/>
              </a:bodyPr>
              <a:lstStyle/>
              <a:p>
                <a:pPr algn="l"/>
                <a:r>
                  <a:rPr lang="zh-CN" sz="1350" dirty="0">
                    <a:solidFill>
                      <a:srgbClr val="C58B2B"/>
                    </a:solidFill>
                    <a:latin typeface="Segoe UI"/>
                    <a:ea typeface="Microsoft YaHei UI"/>
                    <a:cs typeface="Segoe UI"/>
                  </a:rPr>
                  <a:t>支持设计原则，不证明本地实现或体验收益</a:t>
                </a:r>
              </a:p>
            </p:txBody>
          </p:sp>
        </p:grpSp>
        <p:grpSp>
          <p:nvGrpSpPr>
            <p:cNvPr id="39" name="Group 39"/>
            <p:cNvGrpSpPr/>
            <p:nvPr/>
          </p:nvGrpSpPr>
          <p:grpSpPr>
            <a:xfrm>
              <a:off x="666750" y="4380850"/>
              <a:ext cx="3738705" cy="919051"/>
              <a:chOff x="666750" y="4380850"/>
              <a:chExt cx="3738705" cy="919051"/>
            </a:xfrm>
          </p:grpSpPr>
          <p:sp>
            <p:nvSpPr>
              <p:cNvPr id="31" name="Ellipse 31"/>
              <p:cNvSpPr/>
              <p:nvPr/>
            </p:nvSpPr>
            <p:spPr>
              <a:xfrm>
                <a:off x="666750" y="4476750"/>
                <a:ext cx="228600" cy="228600"/>
              </a:xfrm>
              <a:prstGeom prst="ellipse">
                <a:avLst/>
              </a:prstGeom>
              <a:solidFill>
                <a:srgbClr val="1C2A24"/>
              </a:solidFill>
              <a:ln>
                <a:noFill/>
              </a:ln>
            </p:spPr>
          </p:sp>
          <p:grpSp>
            <p:nvGrpSpPr>
              <p:cNvPr id="35" name="Group 35"/>
              <p:cNvGrpSpPr/>
              <p:nvPr/>
            </p:nvGrpSpPr>
            <p:grpSpPr>
              <a:xfrm>
                <a:off x="1028700" y="4380850"/>
                <a:ext cx="342900" cy="306099"/>
                <a:chOff x="1028700" y="4380850"/>
                <a:chExt cx="342900" cy="306099"/>
              </a:xfrm>
            </p:grpSpPr>
            <p:sp>
              <p:nvSpPr>
                <p:cNvPr id="32" name="Freeform 32"/>
                <p:cNvSpPr/>
                <p:nvPr/>
              </p:nvSpPr>
              <p:spPr>
                <a:xfrm>
                  <a:off x="1157503" y="4380850"/>
                  <a:ext cx="85294" cy="306099"/>
                </a:xfrm>
                <a:custGeom>
                  <a:avLst/>
                  <a:gdLst/>
                  <a:ahLst/>
                  <a:cxnLst/>
                  <a:rect l="l" t="t" r="r" b="b"/>
                  <a:pathLst>
                    <a:path w="85294" h="306099">
                      <a:moveTo>
                        <a:pt x="42863" y="0"/>
                      </a:moveTo>
                      <a:lnTo>
                        <a:pt x="0" y="300038"/>
                      </a:lnTo>
                      <a:lnTo>
                        <a:pt x="42432" y="306099"/>
                      </a:lnTo>
                      <a:lnTo>
                        <a:pt x="85294" y="6062"/>
                      </a:lnTo>
                      <a:lnTo>
                        <a:pt x="42863" y="0"/>
                      </a:lnTo>
                      <a:close/>
                    </a:path>
                  </a:pathLst>
                </a:custGeom>
                <a:solidFill>
                  <a:srgbClr val="1C2A24"/>
                </a:solidFill>
                <a:ln>
                  <a:noFill/>
                </a:ln>
              </p:spPr>
            </p:sp>
            <p:sp>
              <p:nvSpPr>
                <p:cNvPr id="33" name="Freeform 33"/>
                <p:cNvSpPr/>
                <p:nvPr/>
              </p:nvSpPr>
              <p:spPr>
                <a:xfrm>
                  <a:off x="1266283" y="4458891"/>
                  <a:ext cx="105317" cy="150019"/>
                </a:xfrm>
                <a:custGeom>
                  <a:avLst/>
                  <a:gdLst/>
                  <a:ahLst/>
                  <a:cxnLst/>
                  <a:rect l="l" t="t" r="r" b="b"/>
                  <a:pathLst>
                    <a:path w="105317" h="150019">
                      <a:moveTo>
                        <a:pt x="30308" y="150019"/>
                      </a:moveTo>
                      <a:lnTo>
                        <a:pt x="0" y="119711"/>
                      </a:lnTo>
                      <a:lnTo>
                        <a:pt x="44701" y="75009"/>
                      </a:lnTo>
                      <a:lnTo>
                        <a:pt x="0" y="30309"/>
                      </a:lnTo>
                      <a:lnTo>
                        <a:pt x="30308" y="0"/>
                      </a:lnTo>
                      <a:lnTo>
                        <a:pt x="105317" y="75009"/>
                      </a:lnTo>
                      <a:lnTo>
                        <a:pt x="30308" y="150019"/>
                      </a:lnTo>
                      <a:close/>
                    </a:path>
                  </a:pathLst>
                </a:custGeom>
                <a:solidFill>
                  <a:srgbClr val="1C2A24"/>
                </a:solidFill>
                <a:ln>
                  <a:noFill/>
                </a:ln>
              </p:spPr>
            </p:sp>
            <p:sp>
              <p:nvSpPr>
                <p:cNvPr id="34" name="Freeform 34"/>
                <p:cNvSpPr/>
                <p:nvPr/>
              </p:nvSpPr>
              <p:spPr>
                <a:xfrm>
                  <a:off x="1028700" y="4458891"/>
                  <a:ext cx="105318" cy="150019"/>
                </a:xfrm>
                <a:custGeom>
                  <a:avLst/>
                  <a:gdLst/>
                  <a:ahLst/>
                  <a:cxnLst/>
                  <a:rect l="l" t="t" r="r" b="b"/>
                  <a:pathLst>
                    <a:path w="105318" h="150019">
                      <a:moveTo>
                        <a:pt x="60617" y="75009"/>
                      </a:moveTo>
                      <a:lnTo>
                        <a:pt x="105318" y="119711"/>
                      </a:lnTo>
                      <a:lnTo>
                        <a:pt x="75009" y="150019"/>
                      </a:lnTo>
                      <a:lnTo>
                        <a:pt x="0" y="75009"/>
                      </a:lnTo>
                      <a:lnTo>
                        <a:pt x="75009" y="0"/>
                      </a:lnTo>
                      <a:lnTo>
                        <a:pt x="105318" y="30309"/>
                      </a:lnTo>
                      <a:lnTo>
                        <a:pt x="60617" y="75009"/>
                      </a:lnTo>
                      <a:close/>
                    </a:path>
                  </a:pathLst>
                </a:custGeom>
                <a:solidFill>
                  <a:srgbClr val="1C2A24"/>
                </a:solidFill>
                <a:ln>
                  <a:noFill/>
                </a:ln>
              </p:spPr>
            </p:sp>
          </p:grpSp>
          <p:sp>
            <p:nvSpPr>
              <p:cNvPr id="36" name="TextBox 36"/>
              <p:cNvSpPr txBox="1"/>
              <p:nvPr/>
            </p:nvSpPr>
            <p:spPr>
              <a:xfrm>
                <a:off x="1495806" y="4415790"/>
                <a:ext cx="1036015"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仓库事实</a:t>
                </a:r>
              </a:p>
            </p:txBody>
          </p:sp>
          <p:sp>
            <p:nvSpPr>
              <p:cNvPr id="37" name="TextBox 37"/>
              <p:cNvSpPr txBox="1"/>
              <p:nvPr/>
            </p:nvSpPr>
            <p:spPr>
              <a:xfrm>
                <a:off x="1498092" y="4788218"/>
                <a:ext cx="2907363"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commit · 源码 · 测试 · 截图 · E2E</a:t>
                </a:r>
              </a:p>
            </p:txBody>
          </p:sp>
          <p:sp>
            <p:nvSpPr>
              <p:cNvPr id="38" name="TextBox 38"/>
              <p:cNvSpPr txBox="1"/>
              <p:nvPr/>
            </p:nvSpPr>
            <p:spPr>
              <a:xfrm>
                <a:off x="1498092" y="5035868"/>
                <a:ext cx="2394471" cy="264033"/>
              </a:xfrm>
              <a:prstGeom prst="rect">
                <a:avLst/>
              </a:prstGeom>
              <a:noFill/>
              <a:ln>
                <a:noFill/>
              </a:ln>
            </p:spPr>
            <p:txBody>
              <a:bodyPr wrap="none" lIns="0" tIns="0" rIns="0" bIns="0" anchor="t" anchorCtr="0">
                <a:spAutoFit/>
              </a:bodyPr>
              <a:lstStyle/>
              <a:p>
                <a:pPr algn="l"/>
                <a:r>
                  <a:rPr lang="zh-CN" sz="1350" dirty="0">
                    <a:solidFill>
                      <a:srgbClr val="14865F"/>
                    </a:solidFill>
                    <a:latin typeface="Segoe UI"/>
                    <a:ea typeface="Microsoft YaHei UI"/>
                    <a:cs typeface="Segoe UI"/>
                  </a:rPr>
                  <a:t>只在实测范围内支持“已实现”</a:t>
                </a:r>
              </a:p>
            </p:txBody>
          </p:sp>
        </p:grpSp>
        <p:sp>
          <p:nvSpPr>
            <p:cNvPr id="40" name="Rectangle 40"/>
            <p:cNvSpPr/>
            <p:nvPr/>
          </p:nvSpPr>
          <p:spPr>
            <a:xfrm>
              <a:off x="533400" y="5410200"/>
              <a:ext cx="4038600" cy="647700"/>
            </a:xfrm>
            <a:prstGeom prst="rect">
              <a:avLst/>
            </a:prstGeom>
            <a:solidFill>
              <a:srgbClr val="EEF3F0"/>
            </a:solidFill>
            <a:ln>
              <a:noFill/>
            </a:ln>
          </p:spPr>
        </p:sp>
        <p:sp>
          <p:nvSpPr>
            <p:cNvPr id="41" name="TextBox 41"/>
            <p:cNvSpPr txBox="1"/>
            <p:nvPr/>
          </p:nvSpPr>
          <p:spPr>
            <a:xfrm>
              <a:off x="717042" y="5531168"/>
              <a:ext cx="2227463" cy="264033"/>
            </a:xfrm>
            <a:prstGeom prst="rect">
              <a:avLst/>
            </a:prstGeom>
            <a:noFill/>
            <a:ln>
              <a:noFill/>
            </a:ln>
          </p:spPr>
          <p:txBody>
            <a:bodyPr wrap="none" lIns="0" tIns="0" rIns="0" bIns="0" anchor="t" anchorCtr="0">
              <a:spAutoFit/>
            </a:bodyPr>
            <a:lstStyle/>
            <a:p>
              <a:pPr algn="l"/>
              <a:r>
                <a:rPr lang="en-US" sz="1350" b="1" dirty="0">
                  <a:solidFill>
                    <a:srgbClr val="1C2A24"/>
                  </a:solidFill>
                  <a:latin typeface="Consolas"/>
                  <a:ea typeface="Consolas"/>
                  <a:cs typeface="Consolas"/>
                </a:rPr>
                <a:t>SOURCE ID ≠ source_ref</a:t>
              </a:r>
            </a:p>
          </p:txBody>
        </p:sp>
        <p:sp>
          <p:nvSpPr>
            <p:cNvPr id="42" name="TextBox 42"/>
            <p:cNvSpPr txBox="1"/>
            <p:nvPr/>
          </p:nvSpPr>
          <p:spPr>
            <a:xfrm>
              <a:off x="717042" y="5797868"/>
              <a:ext cx="3714489"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设计依据与运行时 Fixture 引用必须分开记录</a:t>
              </a:r>
            </a:p>
          </p:txBody>
        </p:sp>
      </p:grpSp>
      <p:grpSp>
        <p:nvGrpSpPr>
          <p:cNvPr id="76" name="Group 76"/>
          <p:cNvGrpSpPr/>
          <p:nvPr/>
        </p:nvGrpSpPr>
        <p:grpSpPr>
          <a:xfrm>
            <a:off x="5037582" y="1811655"/>
            <a:ext cx="6627876" cy="4613529"/>
            <a:chOff x="5037582" y="1811655"/>
            <a:chExt cx="6627876" cy="4613529"/>
          </a:xfrm>
        </p:grpSpPr>
        <p:sp>
          <p:nvSpPr>
            <p:cNvPr id="44" name="TextBox 44"/>
            <p:cNvSpPr txBox="1"/>
            <p:nvPr/>
          </p:nvSpPr>
          <p:spPr>
            <a:xfrm>
              <a:off x="5037582" y="1811655"/>
              <a:ext cx="2396033" cy="410718"/>
            </a:xfrm>
            <a:prstGeom prst="rect">
              <a:avLst/>
            </a:prstGeom>
            <a:noFill/>
            <a:ln>
              <a:noFill/>
            </a:ln>
          </p:spPr>
          <p:txBody>
            <a:bodyPr wrap="none" lIns="0" tIns="0" rIns="0" bIns="0" anchor="t" anchorCtr="0">
              <a:spAutoFit/>
            </a:bodyPr>
            <a:lstStyle/>
            <a:p>
              <a:pPr algn="l"/>
              <a:r>
                <a:rPr lang="zh-CN" sz="2100" b="1" dirty="0">
                  <a:solidFill>
                    <a:srgbClr val="1C2A24"/>
                  </a:solidFill>
                  <a:latin typeface="Segoe UI"/>
                  <a:ea typeface="Microsoft YaHei UI"/>
                  <a:cs typeface="Segoe UI"/>
                </a:rPr>
                <a:t>协议骨架先于实现</a:t>
              </a:r>
            </a:p>
          </p:txBody>
        </p:sp>
        <p:grpSp>
          <p:nvGrpSpPr>
            <p:cNvPr id="54" name="Group 54"/>
            <p:cNvGrpSpPr/>
            <p:nvPr/>
          </p:nvGrpSpPr>
          <p:grpSpPr>
            <a:xfrm>
              <a:off x="5048250" y="2324100"/>
              <a:ext cx="6610350" cy="990600"/>
              <a:chOff x="5048250" y="2324100"/>
              <a:chExt cx="6610350" cy="990600"/>
            </a:xfrm>
          </p:grpSpPr>
          <p:sp>
            <p:nvSpPr>
              <p:cNvPr id="45" name="Rectangle 45"/>
              <p:cNvSpPr/>
              <p:nvPr/>
            </p:nvSpPr>
            <p:spPr>
              <a:xfrm>
                <a:off x="5048250" y="2324100"/>
                <a:ext cx="6610350" cy="990600"/>
              </a:xfrm>
              <a:prstGeom prst="rect">
                <a:avLst/>
              </a:prstGeom>
              <a:solidFill>
                <a:srgbClr val="FFFFFF"/>
              </a:solidFill>
              <a:ln w="9525">
                <a:solidFill>
                  <a:srgbClr val="CDD8D2"/>
                </a:solidFill>
              </a:ln>
            </p:spPr>
          </p:sp>
          <p:sp>
            <p:nvSpPr>
              <p:cNvPr id="46" name="Rectangle 46"/>
              <p:cNvSpPr/>
              <p:nvPr/>
            </p:nvSpPr>
            <p:spPr>
              <a:xfrm>
                <a:off x="5048250" y="2324100"/>
                <a:ext cx="76200" cy="990600"/>
              </a:xfrm>
              <a:prstGeom prst="rect">
                <a:avLst/>
              </a:prstGeom>
              <a:solidFill>
                <a:srgbClr val="14865F"/>
              </a:solidFill>
              <a:ln>
                <a:noFill/>
              </a:ln>
            </p:spPr>
          </p:sp>
          <p:grpSp>
            <p:nvGrpSpPr>
              <p:cNvPr id="50" name="Group 50"/>
              <p:cNvGrpSpPr/>
              <p:nvPr/>
            </p:nvGrpSpPr>
            <p:grpSpPr>
              <a:xfrm>
                <a:off x="5341144" y="2590800"/>
                <a:ext cx="366712" cy="419100"/>
                <a:chOff x="5341144" y="2590800"/>
                <a:chExt cx="366712" cy="419100"/>
              </a:xfrm>
            </p:grpSpPr>
            <p:sp>
              <p:nvSpPr>
                <p:cNvPr id="47" name="Freeform 47"/>
                <p:cNvSpPr/>
                <p:nvPr/>
              </p:nvSpPr>
              <p:spPr>
                <a:xfrm>
                  <a:off x="5341144" y="2590800"/>
                  <a:ext cx="366712" cy="209550"/>
                </a:xfrm>
                <a:custGeom>
                  <a:avLst/>
                  <a:gdLst/>
                  <a:ahLst/>
                  <a:cxnLst/>
                  <a:rect l="l" t="t" r="r" b="b"/>
                  <a:pathLst>
                    <a:path w="366712" h="209550">
                      <a:moveTo>
                        <a:pt x="0" y="130969"/>
                      </a:moveTo>
                      <a:lnTo>
                        <a:pt x="0" y="78581"/>
                      </a:lnTo>
                      <a:lnTo>
                        <a:pt x="183356" y="0"/>
                      </a:lnTo>
                      <a:lnTo>
                        <a:pt x="366712" y="78581"/>
                      </a:lnTo>
                      <a:lnTo>
                        <a:pt x="366712" y="130969"/>
                      </a:lnTo>
                      <a:lnTo>
                        <a:pt x="183356" y="209550"/>
                      </a:lnTo>
                      <a:lnTo>
                        <a:pt x="0" y="130969"/>
                      </a:lnTo>
                      <a:close/>
                    </a:path>
                  </a:pathLst>
                </a:custGeom>
                <a:solidFill>
                  <a:srgbClr val="14865F"/>
                </a:solidFill>
                <a:ln>
                  <a:noFill/>
                </a:ln>
              </p:spPr>
            </p:sp>
            <p:sp>
              <p:nvSpPr>
                <p:cNvPr id="48" name="Freeform 48"/>
                <p:cNvSpPr/>
                <p:nvPr/>
              </p:nvSpPr>
              <p:spPr>
                <a:xfrm>
                  <a:off x="5341144" y="2878931"/>
                  <a:ext cx="366712" cy="130969"/>
                </a:xfrm>
                <a:custGeom>
                  <a:avLst/>
                  <a:gdLst/>
                  <a:ahLst/>
                  <a:cxnLst/>
                  <a:rect l="l" t="t" r="r" b="b"/>
                  <a:pathLst>
                    <a:path w="366712" h="130969">
                      <a:moveTo>
                        <a:pt x="183356" y="130969"/>
                      </a:moveTo>
                      <a:lnTo>
                        <a:pt x="0" y="52388"/>
                      </a:lnTo>
                      <a:lnTo>
                        <a:pt x="0" y="0"/>
                      </a:lnTo>
                      <a:lnTo>
                        <a:pt x="183356" y="78581"/>
                      </a:lnTo>
                      <a:lnTo>
                        <a:pt x="366712" y="0"/>
                      </a:lnTo>
                      <a:lnTo>
                        <a:pt x="366712" y="52388"/>
                      </a:lnTo>
                      <a:lnTo>
                        <a:pt x="183356" y="130969"/>
                      </a:lnTo>
                      <a:close/>
                    </a:path>
                  </a:pathLst>
                </a:custGeom>
                <a:solidFill>
                  <a:srgbClr val="14865F"/>
                </a:solidFill>
                <a:ln>
                  <a:noFill/>
                </a:ln>
              </p:spPr>
            </p:sp>
            <p:sp>
              <p:nvSpPr>
                <p:cNvPr id="49" name="Freeform 49"/>
                <p:cNvSpPr/>
                <p:nvPr/>
              </p:nvSpPr>
              <p:spPr>
                <a:xfrm>
                  <a:off x="5341144" y="2774156"/>
                  <a:ext cx="366712" cy="130969"/>
                </a:xfrm>
                <a:custGeom>
                  <a:avLst/>
                  <a:gdLst/>
                  <a:ahLst/>
                  <a:cxnLst/>
                  <a:rect l="l" t="t" r="r" b="b"/>
                  <a:pathLst>
                    <a:path w="366712" h="130969">
                      <a:moveTo>
                        <a:pt x="0" y="52388"/>
                      </a:moveTo>
                      <a:lnTo>
                        <a:pt x="183356" y="130969"/>
                      </a:lnTo>
                      <a:lnTo>
                        <a:pt x="366712" y="52388"/>
                      </a:lnTo>
                      <a:lnTo>
                        <a:pt x="366712" y="0"/>
                      </a:lnTo>
                      <a:lnTo>
                        <a:pt x="183356" y="78581"/>
                      </a:lnTo>
                      <a:lnTo>
                        <a:pt x="0" y="0"/>
                      </a:lnTo>
                      <a:lnTo>
                        <a:pt x="0" y="52388"/>
                      </a:lnTo>
                      <a:close/>
                    </a:path>
                  </a:pathLst>
                </a:custGeom>
                <a:solidFill>
                  <a:srgbClr val="14865F"/>
                </a:solidFill>
                <a:ln>
                  <a:noFill/>
                </a:ln>
              </p:spPr>
            </p:sp>
          </p:grpSp>
          <p:sp>
            <p:nvSpPr>
              <p:cNvPr id="51" name="TextBox 51"/>
              <p:cNvSpPr txBox="1"/>
              <p:nvPr/>
            </p:nvSpPr>
            <p:spPr>
              <a:xfrm>
                <a:off x="5934456" y="2472690"/>
                <a:ext cx="1290447"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任务与版本</a:t>
                </a:r>
              </a:p>
            </p:txBody>
          </p:sp>
          <p:sp>
            <p:nvSpPr>
              <p:cNvPr id="52" name="TextBox 52"/>
              <p:cNvSpPr txBox="1"/>
              <p:nvPr/>
            </p:nvSpPr>
            <p:spPr>
              <a:xfrm>
                <a:off x="7974870" y="2521268"/>
                <a:ext cx="3347688" cy="264033"/>
              </a:xfrm>
              <a:prstGeom prst="rect">
                <a:avLst/>
              </a:prstGeom>
              <a:noFill/>
              <a:ln>
                <a:noFill/>
              </a:ln>
            </p:spPr>
            <p:txBody>
              <a:bodyPr wrap="none" lIns="0" tIns="0" rIns="0" bIns="0" anchor="t" anchorCtr="0">
                <a:spAutoFit/>
              </a:bodyPr>
              <a:lstStyle/>
              <a:p>
                <a:pPr algn="r"/>
                <a:r>
                  <a:rPr lang="zh-CN" sz="1350" dirty="0">
                    <a:solidFill>
                      <a:srgbClr val="74817B"/>
                    </a:solidFill>
                    <a:latin typeface="Segoe UI"/>
                    <a:ea typeface="Microsoft YaHei UI"/>
                    <a:cs typeface="Segoe UI"/>
                  </a:rPr>
                  <a:t>身份、Owner、version、head、lineage</a:t>
                </a:r>
              </a:p>
            </p:txBody>
          </p:sp>
          <p:sp>
            <p:nvSpPr>
              <p:cNvPr id="53" name="TextBox 53"/>
              <p:cNvSpPr txBox="1"/>
              <p:nvPr/>
            </p:nvSpPr>
            <p:spPr>
              <a:xfrm>
                <a:off x="5936742" y="2902268"/>
                <a:ext cx="2865320" cy="264033"/>
              </a:xfrm>
              <a:prstGeom prst="rect">
                <a:avLst/>
              </a:prstGeom>
              <a:noFill/>
              <a:ln>
                <a:noFill/>
              </a:ln>
            </p:spPr>
            <p:txBody>
              <a:bodyPr wrap="none" lIns="0" tIns="0" rIns="0" bIns="0" anchor="t" anchorCtr="0">
                <a:spAutoFit/>
              </a:bodyPr>
              <a:lstStyle/>
              <a:p>
                <a:pPr algn="l"/>
                <a:r>
                  <a:rPr lang="en-US" sz="1350" dirty="0">
                    <a:solidFill>
                      <a:srgbClr val="52605A"/>
                    </a:solidFill>
                    <a:latin typeface="Consolas"/>
                    <a:ea typeface="Consolas"/>
                    <a:cs typeface="Consolas"/>
                  </a:rPr>
                  <a:t>Task · Branch · ArtifactVersion</a:t>
                </a:r>
              </a:p>
            </p:txBody>
          </p:sp>
        </p:grpSp>
        <p:grpSp>
          <p:nvGrpSpPr>
            <p:cNvPr id="61" name="Group 61"/>
            <p:cNvGrpSpPr/>
            <p:nvPr/>
          </p:nvGrpSpPr>
          <p:grpSpPr>
            <a:xfrm>
              <a:off x="5048250" y="3505200"/>
              <a:ext cx="6610350" cy="990600"/>
              <a:chOff x="5048250" y="3505200"/>
              <a:chExt cx="6610350" cy="990600"/>
            </a:xfrm>
          </p:grpSpPr>
          <p:sp>
            <p:nvSpPr>
              <p:cNvPr id="55" name="Rectangle 55"/>
              <p:cNvSpPr/>
              <p:nvPr/>
            </p:nvSpPr>
            <p:spPr>
              <a:xfrm>
                <a:off x="5048250" y="3505200"/>
                <a:ext cx="6610350" cy="990600"/>
              </a:xfrm>
              <a:prstGeom prst="rect">
                <a:avLst/>
              </a:prstGeom>
              <a:solidFill>
                <a:srgbClr val="EEF3F0"/>
              </a:solidFill>
              <a:ln w="9525">
                <a:solidFill>
                  <a:srgbClr val="CDD8D2"/>
                </a:solidFill>
              </a:ln>
            </p:spPr>
          </p:sp>
          <p:sp>
            <p:nvSpPr>
              <p:cNvPr id="56" name="Rectangle 56"/>
              <p:cNvSpPr/>
              <p:nvPr/>
            </p:nvSpPr>
            <p:spPr>
              <a:xfrm>
                <a:off x="5048250" y="3505200"/>
                <a:ext cx="76200" cy="990600"/>
              </a:xfrm>
              <a:prstGeom prst="rect">
                <a:avLst/>
              </a:prstGeom>
              <a:solidFill>
                <a:srgbClr val="C58B2B"/>
              </a:solidFill>
              <a:ln>
                <a:noFill/>
              </a:ln>
            </p:spPr>
          </p:sp>
          <p:sp>
            <p:nvSpPr>
              <p:cNvPr id="57" name="Freeform 57"/>
              <p:cNvSpPr/>
              <p:nvPr/>
            </p:nvSpPr>
            <p:spPr>
              <a:xfrm>
                <a:off x="5341144" y="3771900"/>
                <a:ext cx="366712" cy="419100"/>
              </a:xfrm>
              <a:custGeom>
                <a:avLst/>
                <a:gdLst/>
                <a:ahLst/>
                <a:cxnLst/>
                <a:rect l="l" t="t" r="r" b="b"/>
                <a:pathLst>
                  <a:path w="366712" h="419100">
                    <a:moveTo>
                      <a:pt x="183356" y="419100"/>
                    </a:moveTo>
                    <a:lnTo>
                      <a:pt x="87751" y="350810"/>
                    </a:lnTo>
                    <a:cubicBezTo>
                      <a:pt x="32683" y="311475"/>
                      <a:pt x="0" y="247968"/>
                      <a:pt x="0" y="180293"/>
                    </a:cubicBezTo>
                    <a:lnTo>
                      <a:pt x="0" y="78581"/>
                    </a:lnTo>
                    <a:lnTo>
                      <a:pt x="183356" y="0"/>
                    </a:lnTo>
                    <a:lnTo>
                      <a:pt x="366712" y="78581"/>
                    </a:lnTo>
                    <a:lnTo>
                      <a:pt x="366712" y="180293"/>
                    </a:lnTo>
                    <a:cubicBezTo>
                      <a:pt x="366712" y="247968"/>
                      <a:pt x="334031" y="311475"/>
                      <a:pt x="278961" y="350810"/>
                    </a:cubicBezTo>
                    <a:lnTo>
                      <a:pt x="183356" y="419100"/>
                    </a:lnTo>
                    <a:close/>
                    <a:moveTo>
                      <a:pt x="293556" y="149491"/>
                    </a:moveTo>
                    <a:lnTo>
                      <a:pt x="256513" y="112447"/>
                    </a:lnTo>
                    <a:lnTo>
                      <a:pt x="157162" y="211797"/>
                    </a:lnTo>
                    <a:lnTo>
                      <a:pt x="110200" y="164834"/>
                    </a:lnTo>
                    <a:lnTo>
                      <a:pt x="73156" y="201878"/>
                    </a:lnTo>
                    <a:lnTo>
                      <a:pt x="157162" y="285884"/>
                    </a:lnTo>
                    <a:lnTo>
                      <a:pt x="293556" y="149491"/>
                    </a:lnTo>
                    <a:close/>
                  </a:path>
                </a:pathLst>
              </a:custGeom>
              <a:solidFill>
                <a:srgbClr val="C58B2B"/>
              </a:solidFill>
              <a:ln>
                <a:noFill/>
              </a:ln>
            </p:spPr>
          </p:sp>
          <p:sp>
            <p:nvSpPr>
              <p:cNvPr id="58" name="TextBox 58"/>
              <p:cNvSpPr txBox="1"/>
              <p:nvPr/>
            </p:nvSpPr>
            <p:spPr>
              <a:xfrm>
                <a:off x="5934456" y="3653790"/>
                <a:ext cx="1290447"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证据与控制</a:t>
                </a:r>
              </a:p>
            </p:txBody>
          </p:sp>
          <p:sp>
            <p:nvSpPr>
              <p:cNvPr id="59" name="TextBox 59"/>
              <p:cNvSpPr txBox="1"/>
              <p:nvPr/>
            </p:nvSpPr>
            <p:spPr>
              <a:xfrm>
                <a:off x="8764524" y="3702368"/>
                <a:ext cx="2558034" cy="264033"/>
              </a:xfrm>
              <a:prstGeom prst="rect">
                <a:avLst/>
              </a:prstGeom>
              <a:noFill/>
              <a:ln>
                <a:noFill/>
              </a:ln>
            </p:spPr>
            <p:txBody>
              <a:bodyPr wrap="none" lIns="0" tIns="0" rIns="0" bIns="0" anchor="t" anchorCtr="0">
                <a:spAutoFit/>
              </a:bodyPr>
              <a:lstStyle/>
              <a:p>
                <a:pPr algn="r"/>
                <a:r>
                  <a:rPr lang="zh-CN" sz="1350" dirty="0">
                    <a:solidFill>
                      <a:srgbClr val="74817B"/>
                    </a:solidFill>
                    <a:latin typeface="Segoe UI"/>
                    <a:ea typeface="Microsoft YaHei UI"/>
                    <a:cs typeface="Segoe UI"/>
                  </a:rPr>
                  <a:t>验证、冲突、预期版本、幂等键</a:t>
                </a:r>
              </a:p>
            </p:txBody>
          </p:sp>
          <p:sp>
            <p:nvSpPr>
              <p:cNvPr id="60" name="TextBox 60"/>
              <p:cNvSpPr txBox="1"/>
              <p:nvPr/>
            </p:nvSpPr>
            <p:spPr>
              <a:xfrm>
                <a:off x="5936742" y="4083368"/>
                <a:ext cx="4592210" cy="264033"/>
              </a:xfrm>
              <a:prstGeom prst="rect">
                <a:avLst/>
              </a:prstGeom>
              <a:noFill/>
              <a:ln>
                <a:noFill/>
              </a:ln>
            </p:spPr>
            <p:txBody>
              <a:bodyPr wrap="none" lIns="0" tIns="0" rIns="0" bIns="0" anchor="t" anchorCtr="0">
                <a:spAutoFit/>
              </a:bodyPr>
              <a:lstStyle/>
              <a:p>
                <a:pPr algn="l"/>
                <a:r>
                  <a:rPr lang="en-US" sz="1350" dirty="0">
                    <a:solidFill>
                      <a:srgbClr val="52605A"/>
                    </a:solidFill>
                    <a:latin typeface="Consolas"/>
                    <a:ea typeface="Consolas"/>
                    <a:cs typeface="Consolas"/>
                  </a:rPr>
                  <a:t>VerificationReport · ConflictRecord · ControlEvent</a:t>
                </a:r>
              </a:p>
            </p:txBody>
          </p:sp>
        </p:grpSp>
        <p:grpSp>
          <p:nvGrpSpPr>
            <p:cNvPr id="70" name="Group 70"/>
            <p:cNvGrpSpPr/>
            <p:nvPr/>
          </p:nvGrpSpPr>
          <p:grpSpPr>
            <a:xfrm>
              <a:off x="5048250" y="4686300"/>
              <a:ext cx="6610350" cy="990600"/>
              <a:chOff x="5048250" y="4686300"/>
              <a:chExt cx="6610350" cy="990600"/>
            </a:xfrm>
          </p:grpSpPr>
          <p:sp>
            <p:nvSpPr>
              <p:cNvPr id="62" name="Rectangle 62"/>
              <p:cNvSpPr/>
              <p:nvPr/>
            </p:nvSpPr>
            <p:spPr>
              <a:xfrm>
                <a:off x="5048250" y="4686300"/>
                <a:ext cx="6610350" cy="990600"/>
              </a:xfrm>
              <a:prstGeom prst="rect">
                <a:avLst/>
              </a:prstGeom>
              <a:solidFill>
                <a:srgbClr val="FFFFFF"/>
              </a:solidFill>
              <a:ln w="9525">
                <a:solidFill>
                  <a:srgbClr val="CDD8D2"/>
                </a:solidFill>
              </a:ln>
            </p:spPr>
          </p:sp>
          <p:sp>
            <p:nvSpPr>
              <p:cNvPr id="63" name="Rectangle 63"/>
              <p:cNvSpPr/>
              <p:nvPr/>
            </p:nvSpPr>
            <p:spPr>
              <a:xfrm>
                <a:off x="5048250" y="4686300"/>
                <a:ext cx="76200" cy="990600"/>
              </a:xfrm>
              <a:prstGeom prst="rect">
                <a:avLst/>
              </a:prstGeom>
              <a:solidFill>
                <a:srgbClr val="1C2A24"/>
              </a:solidFill>
              <a:ln>
                <a:noFill/>
              </a:ln>
            </p:spPr>
          </p:sp>
          <p:grpSp>
            <p:nvGrpSpPr>
              <p:cNvPr id="66" name="Group 66"/>
              <p:cNvGrpSpPr/>
              <p:nvPr/>
            </p:nvGrpSpPr>
            <p:grpSpPr>
              <a:xfrm>
                <a:off x="5367338" y="4953000"/>
                <a:ext cx="314325" cy="419100"/>
                <a:chOff x="5367338" y="4953000"/>
                <a:chExt cx="314325" cy="419100"/>
              </a:xfrm>
            </p:grpSpPr>
            <p:sp>
              <p:nvSpPr>
                <p:cNvPr id="64" name="Freeform 64"/>
                <p:cNvSpPr/>
                <p:nvPr/>
              </p:nvSpPr>
              <p:spPr>
                <a:xfrm>
                  <a:off x="5367338" y="4953000"/>
                  <a:ext cx="314325" cy="419100"/>
                </a:xfrm>
                <a:custGeom>
                  <a:avLst/>
                  <a:gdLst/>
                  <a:ahLst/>
                  <a:cxnLst/>
                  <a:rect l="l" t="t" r="r" b="b"/>
                  <a:pathLst>
                    <a:path w="314325" h="419100">
                      <a:moveTo>
                        <a:pt x="130969" y="0"/>
                      </a:moveTo>
                      <a:lnTo>
                        <a:pt x="0" y="0"/>
                      </a:lnTo>
                      <a:lnTo>
                        <a:pt x="0" y="419100"/>
                      </a:lnTo>
                      <a:lnTo>
                        <a:pt x="314325" y="419100"/>
                      </a:lnTo>
                      <a:lnTo>
                        <a:pt x="314325" y="183356"/>
                      </a:lnTo>
                      <a:lnTo>
                        <a:pt x="130969" y="183356"/>
                      </a:lnTo>
                      <a:lnTo>
                        <a:pt x="130969" y="0"/>
                      </a:lnTo>
                      <a:close/>
                    </a:path>
                  </a:pathLst>
                </a:custGeom>
                <a:solidFill>
                  <a:srgbClr val="1C2A24"/>
                </a:solidFill>
                <a:ln>
                  <a:noFill/>
                </a:ln>
              </p:spPr>
            </p:sp>
            <p:sp>
              <p:nvSpPr>
                <p:cNvPr id="65" name="Freeform 65"/>
                <p:cNvSpPr/>
                <p:nvPr/>
              </p:nvSpPr>
              <p:spPr>
                <a:xfrm>
                  <a:off x="5550694" y="4953000"/>
                  <a:ext cx="130969" cy="130969"/>
                </a:xfrm>
                <a:custGeom>
                  <a:avLst/>
                  <a:gdLst/>
                  <a:ahLst/>
                  <a:cxnLst/>
                  <a:rect l="l" t="t" r="r" b="b"/>
                  <a:pathLst>
                    <a:path w="130969" h="130969">
                      <a:moveTo>
                        <a:pt x="0" y="0"/>
                      </a:moveTo>
                      <a:lnTo>
                        <a:pt x="0" y="130969"/>
                      </a:lnTo>
                      <a:lnTo>
                        <a:pt x="130969" y="130969"/>
                      </a:lnTo>
                      <a:lnTo>
                        <a:pt x="0" y="0"/>
                      </a:lnTo>
                      <a:close/>
                    </a:path>
                  </a:pathLst>
                </a:custGeom>
                <a:solidFill>
                  <a:srgbClr val="1C2A24"/>
                </a:solidFill>
                <a:ln>
                  <a:noFill/>
                </a:ln>
              </p:spPr>
            </p:sp>
          </p:grpSp>
          <p:sp>
            <p:nvSpPr>
              <p:cNvPr id="67" name="TextBox 67"/>
              <p:cNvSpPr txBox="1"/>
              <p:nvPr/>
            </p:nvSpPr>
            <p:spPr>
              <a:xfrm>
                <a:off x="5934456" y="4834890"/>
                <a:ext cx="1575027"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Trace 与提交</a:t>
                </a:r>
              </a:p>
            </p:txBody>
          </p:sp>
          <p:sp>
            <p:nvSpPr>
              <p:cNvPr id="68" name="TextBox 68"/>
              <p:cNvSpPr txBox="1"/>
              <p:nvPr/>
            </p:nvSpPr>
            <p:spPr>
              <a:xfrm>
                <a:off x="8282921" y="4883468"/>
                <a:ext cx="3039637" cy="264033"/>
              </a:xfrm>
              <a:prstGeom prst="rect">
                <a:avLst/>
              </a:prstGeom>
              <a:noFill/>
              <a:ln>
                <a:noFill/>
              </a:ln>
            </p:spPr>
            <p:txBody>
              <a:bodyPr wrap="none" lIns="0" tIns="0" rIns="0" bIns="0" anchor="t" anchorCtr="0">
                <a:spAutoFit/>
              </a:bodyPr>
              <a:lstStyle/>
              <a:p>
                <a:pPr algn="r"/>
                <a:r>
                  <a:rPr lang="zh-CN" sz="1350" dirty="0">
                    <a:solidFill>
                      <a:srgbClr val="74817B"/>
                    </a:solidFill>
                    <a:latin typeface="Segoe UI"/>
                    <a:ea typeface="Microsoft YaHei UI"/>
                    <a:cs typeface="Segoe UI"/>
                  </a:rPr>
                  <a:t>sequence、引用完整性、state hash</a:t>
                </a:r>
              </a:p>
            </p:txBody>
          </p:sp>
          <p:sp>
            <p:nvSpPr>
              <p:cNvPr id="69" name="TextBox 69"/>
              <p:cNvSpPr txBox="1"/>
              <p:nvPr/>
            </p:nvSpPr>
            <p:spPr>
              <a:xfrm>
                <a:off x="5936742" y="5264468"/>
                <a:ext cx="2174573" cy="264033"/>
              </a:xfrm>
              <a:prstGeom prst="rect">
                <a:avLst/>
              </a:prstGeom>
              <a:noFill/>
              <a:ln>
                <a:noFill/>
              </a:ln>
            </p:spPr>
            <p:txBody>
              <a:bodyPr wrap="none" lIns="0" tIns="0" rIns="0" bIns="0" anchor="t" anchorCtr="0">
                <a:spAutoFit/>
              </a:bodyPr>
              <a:lstStyle/>
              <a:p>
                <a:pPr algn="l"/>
                <a:r>
                  <a:rPr lang="en-US" sz="1350" dirty="0">
                    <a:solidFill>
                      <a:srgbClr val="52605A"/>
                    </a:solidFill>
                    <a:latin typeface="Consolas"/>
                    <a:ea typeface="Consolas"/>
                    <a:cs typeface="Consolas"/>
                  </a:rPr>
                  <a:t>TaskEvent · TaskCommit</a:t>
                </a:r>
              </a:p>
            </p:txBody>
          </p:sp>
        </p:grpSp>
        <p:grpSp>
          <p:nvGrpSpPr>
            <p:cNvPr id="75" name="Group 75"/>
            <p:cNvGrpSpPr/>
            <p:nvPr/>
          </p:nvGrpSpPr>
          <p:grpSpPr>
            <a:xfrm>
              <a:off x="5048250" y="5905500"/>
              <a:ext cx="6617208" cy="519684"/>
              <a:chOff x="5048250" y="5905500"/>
              <a:chExt cx="6617208" cy="519684"/>
            </a:xfrm>
          </p:grpSpPr>
          <p:sp>
            <p:nvSpPr>
              <p:cNvPr id="71" name="Line 71"/>
              <p:cNvSpPr/>
              <p:nvPr/>
            </p:nvSpPr>
            <p:spPr>
              <a:xfrm>
                <a:off x="5048250" y="5905500"/>
                <a:ext cx="6610350" cy="9525"/>
              </a:xfrm>
              <a:custGeom>
                <a:avLst/>
                <a:gdLst/>
                <a:ahLst/>
                <a:cxnLst/>
                <a:rect l="l" t="t" r="r" b="b"/>
                <a:pathLst>
                  <a:path w="6610350" h="9525">
                    <a:moveTo>
                      <a:pt x="0" y="0"/>
                    </a:moveTo>
                    <a:lnTo>
                      <a:pt x="6610350" y="0"/>
                    </a:lnTo>
                  </a:path>
                </a:pathLst>
              </a:custGeom>
              <a:noFill/>
              <a:ln w="38100">
                <a:solidFill>
                  <a:srgbClr val="14865F"/>
                </a:solidFill>
              </a:ln>
            </p:spPr>
          </p:sp>
          <p:sp>
            <p:nvSpPr>
              <p:cNvPr id="72" name="Freeform 72"/>
              <p:cNvSpPr/>
              <p:nvPr/>
            </p:nvSpPr>
            <p:spPr>
              <a:xfrm>
                <a:off x="5048250" y="6038850"/>
                <a:ext cx="304800" cy="304800"/>
              </a:xfrm>
              <a:custGeom>
                <a:avLst/>
                <a:gdLst/>
                <a:ahLst/>
                <a:cxnLst/>
                <a:rect l="l" t="t" r="r" b="b"/>
                <a:pathLst>
                  <a:path w="304800" h="304800">
                    <a:moveTo>
                      <a:pt x="152400" y="304800"/>
                    </a:moveTo>
                    <a:cubicBezTo>
                      <a:pt x="236569" y="304800"/>
                      <a:pt x="304800" y="236569"/>
                      <a:pt x="304800" y="152400"/>
                    </a:cubicBezTo>
                    <a:cubicBezTo>
                      <a:pt x="304800" y="68232"/>
                      <a:pt x="236569" y="0"/>
                      <a:pt x="152400" y="0"/>
                    </a:cubicBezTo>
                    <a:cubicBezTo>
                      <a:pt x="68232" y="0"/>
                      <a:pt x="0" y="68232"/>
                      <a:pt x="0" y="152400"/>
                    </a:cubicBezTo>
                    <a:cubicBezTo>
                      <a:pt x="0" y="236569"/>
                      <a:pt x="68232" y="304800"/>
                      <a:pt x="152400" y="304800"/>
                    </a:cubicBezTo>
                    <a:close/>
                    <a:moveTo>
                      <a:pt x="242070" y="108720"/>
                    </a:moveTo>
                    <a:lnTo>
                      <a:pt x="215130" y="81780"/>
                    </a:lnTo>
                    <a:lnTo>
                      <a:pt x="123825" y="173084"/>
                    </a:lnTo>
                    <a:lnTo>
                      <a:pt x="89670" y="138930"/>
                    </a:lnTo>
                    <a:lnTo>
                      <a:pt x="62730" y="165870"/>
                    </a:lnTo>
                    <a:lnTo>
                      <a:pt x="123825" y="226966"/>
                    </a:lnTo>
                    <a:lnTo>
                      <a:pt x="242070" y="108720"/>
                    </a:lnTo>
                    <a:close/>
                  </a:path>
                </a:pathLst>
              </a:custGeom>
              <a:solidFill>
                <a:srgbClr val="14865F"/>
              </a:solidFill>
              <a:ln>
                <a:noFill/>
              </a:ln>
            </p:spPr>
          </p:sp>
          <p:sp>
            <p:nvSpPr>
              <p:cNvPr id="73" name="TextBox 73"/>
              <p:cNvSpPr txBox="1"/>
              <p:nvPr/>
            </p:nvSpPr>
            <p:spPr>
              <a:xfrm>
                <a:off x="5496306" y="6073140"/>
                <a:ext cx="3649290"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PR #4：全量 Python 37 passed</a:t>
                </a:r>
              </a:p>
            </p:txBody>
          </p:sp>
          <p:sp>
            <p:nvSpPr>
              <p:cNvPr id="74" name="TextBox 74"/>
              <p:cNvSpPr txBox="1"/>
              <p:nvPr/>
            </p:nvSpPr>
            <p:spPr>
              <a:xfrm>
                <a:off x="9289161" y="6083618"/>
                <a:ext cx="2376297" cy="264033"/>
              </a:xfrm>
              <a:prstGeom prst="rect">
                <a:avLst/>
              </a:prstGeom>
              <a:noFill/>
              <a:ln>
                <a:noFill/>
              </a:ln>
            </p:spPr>
            <p:txBody>
              <a:bodyPr wrap="none" lIns="0" tIns="0" rIns="0" bIns="0" anchor="t" anchorCtr="0">
                <a:spAutoFit/>
              </a:bodyPr>
              <a:lstStyle/>
              <a:p>
                <a:pPr algn="r"/>
                <a:r>
                  <a:rPr lang="zh-CN" sz="1350" dirty="0">
                    <a:solidFill>
                      <a:srgbClr val="C58B2B"/>
                    </a:solidFill>
                    <a:latin typeface="Segoe UI"/>
                    <a:ea typeface="Microsoft YaHei UI"/>
                    <a:cs typeface="Segoe UI"/>
                  </a:rPr>
                  <a:t>只证明协议、类型与治理入口</a:t>
                </a:r>
              </a:p>
            </p:txBody>
          </p:sp>
        </p:grpSp>
      </p:grpSp>
      <p:grpSp>
        <p:nvGrpSpPr>
          <p:cNvPr id="79" name="Group 79"/>
          <p:cNvGrpSpPr/>
          <p:nvPr/>
        </p:nvGrpSpPr>
        <p:grpSpPr>
          <a:xfrm>
            <a:off x="528066" y="6439852"/>
            <a:ext cx="11135868" cy="205359"/>
            <a:chOff x="528066" y="6439852"/>
            <a:chExt cx="11135868" cy="205359"/>
          </a:xfrm>
        </p:grpSpPr>
        <p:sp>
          <p:nvSpPr>
            <p:cNvPr id="77" name="TextBox 77"/>
            <p:cNvSpPr txBox="1"/>
            <p:nvPr/>
          </p:nvSpPr>
          <p:spPr>
            <a:xfrm>
              <a:off x="528066" y="6439852"/>
              <a:ext cx="4088578" cy="205359"/>
            </a:xfrm>
            <a:prstGeom prst="rect">
              <a:avLst/>
            </a:prstGeom>
            <a:noFill/>
            <a:ln>
              <a:noFill/>
            </a:ln>
          </p:spPr>
          <p:txBody>
            <a:bodyPr wrap="none" lIns="0" tIns="0" rIns="0" bIns="0" anchor="t" anchorCtr="0">
              <a:spAutoFit/>
            </a:bodyPr>
            <a:lstStyle/>
            <a:p>
              <a:pPr algn="l"/>
              <a:r>
                <a:rPr lang="en-US" sz="1050" dirty="0">
                  <a:solidFill>
                    <a:srgbClr val="74817B"/>
                  </a:solidFill>
                  <a:latin typeface="Segoe UI"/>
                  <a:ea typeface="Segoe UI"/>
                  <a:cs typeface="Segoe UI"/>
                </a:rPr>
                <a:t>Source: SOURCE_REGISTER · SCENARIO-001 · DR-0002 §2-4</a:t>
              </a:r>
            </a:p>
          </p:txBody>
        </p:sp>
        <p:sp>
          <p:nvSpPr>
            <p:cNvPr id="78" name="TextBox 78"/>
            <p:cNvSpPr txBox="1"/>
            <p:nvPr/>
          </p:nvSpPr>
          <p:spPr>
            <a:xfrm>
              <a:off x="11179740" y="6439852"/>
              <a:ext cx="484194" cy="205359"/>
            </a:xfrm>
            <a:prstGeom prst="rect">
              <a:avLst/>
            </a:prstGeom>
            <a:noFill/>
            <a:ln>
              <a:noFill/>
            </a:ln>
          </p:spPr>
          <p:txBody>
            <a:bodyPr wrap="none" lIns="0" tIns="0" rIns="0" bIns="0" anchor="t" anchorCtr="0">
              <a:spAutoFit/>
            </a:bodyPr>
            <a:lstStyle/>
            <a:p>
              <a:pPr algn="r"/>
              <a:r>
                <a:rPr lang="en-US" sz="1050" dirty="0">
                  <a:solidFill>
                    <a:srgbClr val="14865F"/>
                  </a:solidFill>
                  <a:latin typeface="Consolas"/>
                  <a:ea typeface="Consolas"/>
                  <a:cs typeface="Consolas"/>
                </a:rPr>
                <a:t>04 / 11</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8"/>
          </a:solidFill>
          <a:ln>
            <a:noFill/>
          </a:ln>
        </p:spPr>
      </p:sp>
      <p:grpSp>
        <p:nvGrpSpPr>
          <p:cNvPr id="6" name="Group 6"/>
          <p:cNvGrpSpPr/>
          <p:nvPr/>
        </p:nvGrpSpPr>
        <p:grpSpPr>
          <a:xfrm>
            <a:off x="533400" y="400050"/>
            <a:ext cx="11130534" cy="670179"/>
            <a:chOff x="533400" y="400050"/>
            <a:chExt cx="11130534" cy="670179"/>
          </a:xfrm>
        </p:grpSpPr>
        <p:sp>
          <p:nvSpPr>
            <p:cNvPr id="3" name="Rectangle 3"/>
            <p:cNvSpPr/>
            <p:nvPr/>
          </p:nvSpPr>
          <p:spPr>
            <a:xfrm>
              <a:off x="533400" y="400050"/>
              <a:ext cx="57150" cy="495300"/>
            </a:xfrm>
            <a:prstGeom prst="rect">
              <a:avLst/>
            </a:prstGeom>
            <a:solidFill>
              <a:srgbClr val="14865F"/>
            </a:solidFill>
            <a:ln>
              <a:noFill/>
            </a:ln>
          </p:spPr>
        </p:sp>
        <p:sp>
          <p:nvSpPr>
            <p:cNvPr id="4" name="TextBox 4"/>
            <p:cNvSpPr txBox="1"/>
            <p:nvPr/>
          </p:nvSpPr>
          <p:spPr>
            <a:xfrm>
              <a:off x="745236" y="424815"/>
              <a:ext cx="8138901" cy="645414"/>
            </a:xfrm>
            <a:prstGeom prst="rect">
              <a:avLst/>
            </a:prstGeom>
            <a:noFill/>
            <a:ln>
              <a:noFill/>
            </a:ln>
          </p:spPr>
          <p:txBody>
            <a:bodyPr wrap="none" lIns="0" tIns="0" rIns="0" bIns="0" anchor="t" anchorCtr="0">
              <a:spAutoFit/>
            </a:bodyPr>
            <a:lstStyle/>
            <a:p>
              <a:pPr algn="l"/>
              <a:r>
                <a:rPr lang="zh-CN" sz="3300" b="1" dirty="0">
                  <a:solidFill>
                    <a:srgbClr val="1C2A24"/>
                  </a:solidFill>
                  <a:latin typeface="Segoe UI"/>
                  <a:ea typeface="Microsoft YaHei UI"/>
                  <a:cs typeface="Segoe UI"/>
                </a:rPr>
                <a:t>PR #5：Task Bar 背后有了服务端真值</a:t>
              </a:r>
            </a:p>
          </p:txBody>
        </p:sp>
        <p:sp>
          <p:nvSpPr>
            <p:cNvPr id="5" name="TextBox 5"/>
            <p:cNvSpPr txBox="1"/>
            <p:nvPr/>
          </p:nvSpPr>
          <p:spPr>
            <a:xfrm>
              <a:off x="10450982" y="629602"/>
              <a:ext cx="1212952" cy="205359"/>
            </a:xfrm>
            <a:prstGeom prst="rect">
              <a:avLst/>
            </a:prstGeom>
            <a:noFill/>
            <a:ln>
              <a:noFill/>
            </a:ln>
          </p:spPr>
          <p:txBody>
            <a:bodyPr wrap="none" lIns="0" tIns="0" rIns="0" bIns="0" anchor="t" anchorCtr="0">
              <a:spAutoFit/>
            </a:bodyPr>
            <a:lstStyle/>
            <a:p>
              <a:pPr algn="r"/>
              <a:r>
                <a:rPr lang="en-US" sz="1050" dirty="0">
                  <a:solidFill>
                    <a:srgbClr val="74817B"/>
                  </a:solidFill>
                  <a:latin typeface="Consolas"/>
                  <a:ea typeface="Consolas"/>
                  <a:cs typeface="Consolas"/>
                </a:rPr>
                <a:t>TASK FACTS · P05</a:t>
              </a:r>
            </a:p>
          </p:txBody>
        </p:sp>
      </p:grpSp>
      <p:grpSp>
        <p:nvGrpSpPr>
          <p:cNvPr id="9" name="Group 9"/>
          <p:cNvGrpSpPr/>
          <p:nvPr/>
        </p:nvGrpSpPr>
        <p:grpSpPr>
          <a:xfrm>
            <a:off x="522732" y="1068705"/>
            <a:ext cx="12965954" cy="521970"/>
            <a:chOff x="522732" y="1068705"/>
            <a:chExt cx="12965954" cy="521970"/>
          </a:xfrm>
        </p:grpSpPr>
        <p:sp>
          <p:nvSpPr>
            <p:cNvPr id="7" name="TextBox 7"/>
            <p:cNvSpPr txBox="1"/>
            <p:nvPr/>
          </p:nvSpPr>
          <p:spPr>
            <a:xfrm>
              <a:off x="522732" y="1068705"/>
              <a:ext cx="12965954" cy="410718"/>
            </a:xfrm>
            <a:prstGeom prst="rect">
              <a:avLst/>
            </a:prstGeom>
            <a:noFill/>
            <a:ln>
              <a:noFill/>
            </a:ln>
          </p:spPr>
          <p:txBody>
            <a:bodyPr wrap="none" lIns="0" tIns="0" rIns="0" bIns="0" anchor="t" anchorCtr="0">
              <a:spAutoFit/>
            </a:bodyPr>
            <a:lstStyle/>
            <a:p>
              <a:pPr algn="l"/>
              <a:r>
                <a:rPr lang="zh-CN" sz="2100" b="1" dirty="0">
                  <a:solidFill>
                    <a:srgbClr val="202824"/>
                  </a:solidFill>
                  <a:latin typeface="Segoe UI"/>
                  <a:ea typeface="Microsoft YaHei UI"/>
                  <a:cs typeface="Segoe UI"/>
                </a:rPr>
                <a:t>Task Bar 不再模拟进度，而是读取 Owner 隔离、可幂等创建、可按序查询的服务端 Task 事实。</a:t>
              </a:r>
            </a:p>
          </p:txBody>
        </p:sp>
        <p:sp>
          <p:nvSpPr>
            <p:cNvPr id="8" name="Line 8"/>
            <p:cNvSpPr/>
            <p:nvPr/>
          </p:nvSpPr>
          <p:spPr>
            <a:xfrm>
              <a:off x="533400" y="1581150"/>
              <a:ext cx="11125200" cy="9525"/>
            </a:xfrm>
            <a:custGeom>
              <a:avLst/>
              <a:gdLst/>
              <a:ahLst/>
              <a:cxnLst/>
              <a:rect l="l" t="t" r="r" b="b"/>
              <a:pathLst>
                <a:path w="11125200" h="9525">
                  <a:moveTo>
                    <a:pt x="0" y="0"/>
                  </a:moveTo>
                  <a:lnTo>
                    <a:pt x="11125200" y="0"/>
                  </a:lnTo>
                </a:path>
              </a:pathLst>
            </a:custGeom>
            <a:noFill/>
            <a:ln w="9525">
              <a:solidFill>
                <a:srgbClr val="CDD8D2"/>
              </a:solidFill>
            </a:ln>
          </p:spPr>
        </p:sp>
      </p:grpSp>
      <p:grpSp>
        <p:nvGrpSpPr>
          <p:cNvPr id="20" name="Group 20"/>
          <p:cNvGrpSpPr/>
          <p:nvPr/>
        </p:nvGrpSpPr>
        <p:grpSpPr>
          <a:xfrm>
            <a:off x="533400" y="1885950"/>
            <a:ext cx="11125200" cy="1066800"/>
            <a:chOff x="533400" y="1885950"/>
            <a:chExt cx="11125200" cy="1066800"/>
          </a:xfrm>
        </p:grpSpPr>
        <p:sp>
          <p:nvSpPr>
            <p:cNvPr id="10" name="Rectangle 10"/>
            <p:cNvSpPr/>
            <p:nvPr/>
          </p:nvSpPr>
          <p:spPr>
            <a:xfrm>
              <a:off x="533400" y="1885950"/>
              <a:ext cx="11125200" cy="1066800"/>
            </a:xfrm>
            <a:prstGeom prst="rect">
              <a:avLst/>
            </a:prstGeom>
            <a:solidFill>
              <a:srgbClr val="FFFFFF"/>
            </a:solidFill>
            <a:ln w="9525">
              <a:solidFill>
                <a:srgbClr val="CDD8D2"/>
              </a:solidFill>
            </a:ln>
          </p:spPr>
        </p:sp>
        <p:sp>
          <p:nvSpPr>
            <p:cNvPr id="11" name="Rectangle 11"/>
            <p:cNvSpPr/>
            <p:nvPr/>
          </p:nvSpPr>
          <p:spPr>
            <a:xfrm>
              <a:off x="533400" y="1885950"/>
              <a:ext cx="685800" cy="1066800"/>
            </a:xfrm>
            <a:prstGeom prst="rect">
              <a:avLst/>
            </a:prstGeom>
            <a:solidFill>
              <a:srgbClr val="14865F"/>
            </a:solidFill>
            <a:ln>
              <a:noFill/>
            </a:ln>
          </p:spPr>
        </p:sp>
        <p:sp>
          <p:nvSpPr>
            <p:cNvPr id="12" name="TextBox 12"/>
            <p:cNvSpPr txBox="1"/>
            <p:nvPr/>
          </p:nvSpPr>
          <p:spPr>
            <a:xfrm>
              <a:off x="702372" y="2326005"/>
              <a:ext cx="347857" cy="410718"/>
            </a:xfrm>
            <a:prstGeom prst="rect">
              <a:avLst/>
            </a:prstGeom>
            <a:noFill/>
            <a:ln>
              <a:noFill/>
            </a:ln>
          </p:spPr>
          <p:txBody>
            <a:bodyPr wrap="none" lIns="0" tIns="0" rIns="0" bIns="0" anchor="t" anchorCtr="0">
              <a:spAutoFit/>
            </a:bodyPr>
            <a:lstStyle/>
            <a:p>
              <a:pPr algn="ctr"/>
              <a:r>
                <a:rPr lang="en-US" sz="2100" b="1" dirty="0">
                  <a:solidFill>
                    <a:srgbClr val="FFFFFF"/>
                  </a:solidFill>
                  <a:latin typeface="Consolas"/>
                  <a:ea typeface="Consolas"/>
                  <a:cs typeface="Consolas"/>
                </a:rPr>
                <a:t>01</a:t>
              </a:r>
            </a:p>
          </p:txBody>
        </p:sp>
        <p:sp>
          <p:nvSpPr>
            <p:cNvPr id="13" name="Freeform 13"/>
            <p:cNvSpPr/>
            <p:nvPr/>
          </p:nvSpPr>
          <p:spPr>
            <a:xfrm>
              <a:off x="1466850" y="2209800"/>
              <a:ext cx="457200" cy="400050"/>
            </a:xfrm>
            <a:custGeom>
              <a:avLst/>
              <a:gdLst/>
              <a:ahLst/>
              <a:cxnLst/>
              <a:rect l="l" t="t" r="r" b="b"/>
              <a:pathLst>
                <a:path w="457200" h="400050">
                  <a:moveTo>
                    <a:pt x="0" y="0"/>
                  </a:moveTo>
                  <a:lnTo>
                    <a:pt x="457200" y="0"/>
                  </a:lnTo>
                  <a:lnTo>
                    <a:pt x="457200" y="285750"/>
                  </a:lnTo>
                  <a:lnTo>
                    <a:pt x="285750" y="285750"/>
                  </a:lnTo>
                  <a:lnTo>
                    <a:pt x="285750" y="314325"/>
                  </a:lnTo>
                  <a:lnTo>
                    <a:pt x="342900" y="371475"/>
                  </a:lnTo>
                  <a:lnTo>
                    <a:pt x="342900" y="400050"/>
                  </a:lnTo>
                  <a:lnTo>
                    <a:pt x="114300" y="400050"/>
                  </a:lnTo>
                  <a:lnTo>
                    <a:pt x="114300" y="371475"/>
                  </a:lnTo>
                  <a:lnTo>
                    <a:pt x="171450" y="314325"/>
                  </a:lnTo>
                  <a:lnTo>
                    <a:pt x="171450" y="285750"/>
                  </a:lnTo>
                  <a:lnTo>
                    <a:pt x="0" y="285750"/>
                  </a:lnTo>
                  <a:lnTo>
                    <a:pt x="0" y="0"/>
                  </a:lnTo>
                  <a:close/>
                  <a:moveTo>
                    <a:pt x="57150" y="57150"/>
                  </a:moveTo>
                  <a:lnTo>
                    <a:pt x="400050" y="57150"/>
                  </a:lnTo>
                  <a:lnTo>
                    <a:pt x="400050" y="228600"/>
                  </a:lnTo>
                  <a:lnTo>
                    <a:pt x="57150" y="228600"/>
                  </a:lnTo>
                  <a:lnTo>
                    <a:pt x="57150" y="57150"/>
                  </a:lnTo>
                  <a:close/>
                </a:path>
              </a:pathLst>
            </a:custGeom>
            <a:solidFill>
              <a:srgbClr val="14865F"/>
            </a:solidFill>
            <a:ln>
              <a:noFill/>
            </a:ln>
          </p:spPr>
        </p:sp>
        <p:sp>
          <p:nvSpPr>
            <p:cNvPr id="14" name="TextBox 14"/>
            <p:cNvSpPr txBox="1"/>
            <p:nvPr/>
          </p:nvSpPr>
          <p:spPr>
            <a:xfrm>
              <a:off x="2105406" y="2053590"/>
              <a:ext cx="2480996" cy="352044"/>
            </a:xfrm>
            <a:prstGeom prst="rect">
              <a:avLst/>
            </a:prstGeom>
            <a:noFill/>
            <a:ln>
              <a:noFill/>
            </a:ln>
          </p:spPr>
          <p:txBody>
            <a:bodyPr wrap="none" lIns="0" tIns="0" rIns="0" bIns="0" anchor="t" anchorCtr="0">
              <a:spAutoFit/>
            </a:bodyPr>
            <a:lstStyle/>
            <a:p>
              <a:pPr algn="l"/>
              <a:r>
                <a:rPr lang="en-US" sz="1800" b="1" dirty="0">
                  <a:solidFill>
                    <a:srgbClr val="202824"/>
                  </a:solidFill>
                  <a:latin typeface="Segoe UI"/>
                  <a:ea typeface="Segoe UI"/>
                  <a:cs typeface="Segoe UI"/>
                </a:rPr>
                <a:t>UI · Active Task Bar</a:t>
              </a:r>
            </a:p>
          </p:txBody>
        </p:sp>
        <p:sp>
          <p:nvSpPr>
            <p:cNvPr id="15" name="TextBox 15"/>
            <p:cNvSpPr txBox="1"/>
            <p:nvPr/>
          </p:nvSpPr>
          <p:spPr>
            <a:xfrm>
              <a:off x="2105406" y="2434590"/>
              <a:ext cx="5590712" cy="352044"/>
            </a:xfrm>
            <a:prstGeom prst="rect">
              <a:avLst/>
            </a:prstGeom>
            <a:noFill/>
            <a:ln>
              <a:noFill/>
            </a:ln>
          </p:spPr>
          <p:txBody>
            <a:bodyPr wrap="none" lIns="0" tIns="0" rIns="0" bIns="0" anchor="t" anchorCtr="0">
              <a:spAutoFit/>
            </a:bodyPr>
            <a:lstStyle/>
            <a:p>
              <a:pPr algn="l"/>
              <a:r>
                <a:rPr lang="zh-CN" sz="1800" dirty="0">
                  <a:solidFill>
                    <a:srgbClr val="52605A"/>
                  </a:solidFill>
                  <a:latin typeface="Segoe UI"/>
                  <a:ea typeface="Microsoft YaHei UI"/>
                  <a:cs typeface="Segoe UI"/>
                </a:rPr>
                <a:t>Task ID · 目标 · 阶段 · 预算 · version · 同步状态</a:t>
              </a:r>
            </a:p>
          </p:txBody>
        </p:sp>
        <p:sp>
          <p:nvSpPr>
            <p:cNvPr id="16" name="Line 16"/>
            <p:cNvSpPr/>
            <p:nvPr/>
          </p:nvSpPr>
          <p:spPr>
            <a:xfrm>
              <a:off x="8420100" y="2057400"/>
              <a:ext cx="9525" cy="723900"/>
            </a:xfrm>
            <a:custGeom>
              <a:avLst/>
              <a:gdLst/>
              <a:ahLst/>
              <a:cxnLst/>
              <a:rect l="l" t="t" r="r" b="b"/>
              <a:pathLst>
                <a:path w="9525" h="723900">
                  <a:moveTo>
                    <a:pt x="0" y="0"/>
                  </a:moveTo>
                  <a:lnTo>
                    <a:pt x="0" y="723900"/>
                  </a:lnTo>
                </a:path>
              </a:pathLst>
            </a:custGeom>
            <a:noFill/>
            <a:ln w="9525">
              <a:solidFill>
                <a:srgbClr val="DFE7E3"/>
              </a:solidFill>
            </a:ln>
          </p:spPr>
        </p:sp>
        <p:sp>
          <p:nvSpPr>
            <p:cNvPr id="17" name="TextBox 17"/>
            <p:cNvSpPr txBox="1"/>
            <p:nvPr/>
          </p:nvSpPr>
          <p:spPr>
            <a:xfrm>
              <a:off x="8679942" y="2140268"/>
              <a:ext cx="457291" cy="264033"/>
            </a:xfrm>
            <a:prstGeom prst="rect">
              <a:avLst/>
            </a:prstGeom>
            <a:noFill/>
            <a:ln>
              <a:noFill/>
            </a:ln>
          </p:spPr>
          <p:txBody>
            <a:bodyPr wrap="none" lIns="0" tIns="0" rIns="0" bIns="0" anchor="t" anchorCtr="0">
              <a:spAutoFit/>
            </a:bodyPr>
            <a:lstStyle/>
            <a:p>
              <a:pPr algn="l"/>
              <a:r>
                <a:rPr lang="en-US" sz="1350" b="1" dirty="0">
                  <a:solidFill>
                    <a:srgbClr val="14865F"/>
                  </a:solidFill>
                  <a:latin typeface="Consolas"/>
                  <a:ea typeface="Consolas"/>
                  <a:cs typeface="Consolas"/>
                </a:rPr>
                <a:t>READ</a:t>
              </a:r>
            </a:p>
          </p:txBody>
        </p:sp>
        <p:sp>
          <p:nvSpPr>
            <p:cNvPr id="18" name="TextBox 18"/>
            <p:cNvSpPr txBox="1"/>
            <p:nvPr/>
          </p:nvSpPr>
          <p:spPr>
            <a:xfrm>
              <a:off x="8679942" y="2426018"/>
              <a:ext cx="1829886"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只渲染 TaskSnapshot</a:t>
              </a:r>
            </a:p>
          </p:txBody>
        </p:sp>
        <p:sp>
          <p:nvSpPr>
            <p:cNvPr id="19" name="TextBox 19"/>
            <p:cNvSpPr txBox="1"/>
            <p:nvPr/>
          </p:nvSpPr>
          <p:spPr>
            <a:xfrm>
              <a:off x="10763631" y="2426018"/>
              <a:ext cx="558927" cy="264033"/>
            </a:xfrm>
            <a:prstGeom prst="rect">
              <a:avLst/>
            </a:prstGeom>
            <a:noFill/>
            <a:ln>
              <a:noFill/>
            </a:ln>
          </p:spPr>
          <p:txBody>
            <a:bodyPr wrap="none" lIns="0" tIns="0" rIns="0" bIns="0" anchor="t" anchorCtr="0">
              <a:spAutoFit/>
            </a:bodyPr>
            <a:lstStyle/>
            <a:p>
              <a:pPr algn="r"/>
              <a:r>
                <a:rPr lang="zh-CN" sz="1350" dirty="0">
                  <a:solidFill>
                    <a:srgbClr val="14865F"/>
                  </a:solidFill>
                  <a:latin typeface="Segoe UI"/>
                  <a:ea typeface="Microsoft YaHei UI"/>
                  <a:cs typeface="Segoe UI"/>
                </a:rPr>
                <a:t>已实现</a:t>
              </a:r>
            </a:p>
          </p:txBody>
        </p:sp>
      </p:grpSp>
      <p:grpSp>
        <p:nvGrpSpPr>
          <p:cNvPr id="33" name="Group 33"/>
          <p:cNvGrpSpPr/>
          <p:nvPr/>
        </p:nvGrpSpPr>
        <p:grpSpPr>
          <a:xfrm>
            <a:off x="533400" y="3143250"/>
            <a:ext cx="11125200" cy="1066800"/>
            <a:chOff x="533400" y="3143250"/>
            <a:chExt cx="11125200" cy="1066800"/>
          </a:xfrm>
        </p:grpSpPr>
        <p:sp>
          <p:nvSpPr>
            <p:cNvPr id="21" name="Rectangle 21"/>
            <p:cNvSpPr/>
            <p:nvPr/>
          </p:nvSpPr>
          <p:spPr>
            <a:xfrm>
              <a:off x="533400" y="3143250"/>
              <a:ext cx="11125200" cy="1066800"/>
            </a:xfrm>
            <a:prstGeom prst="rect">
              <a:avLst/>
            </a:prstGeom>
            <a:solidFill>
              <a:srgbClr val="EEF3F0"/>
            </a:solidFill>
            <a:ln w="9525">
              <a:solidFill>
                <a:srgbClr val="CDD8D2"/>
              </a:solidFill>
            </a:ln>
          </p:spPr>
        </p:sp>
        <p:sp>
          <p:nvSpPr>
            <p:cNvPr id="22" name="Rectangle 22"/>
            <p:cNvSpPr/>
            <p:nvPr/>
          </p:nvSpPr>
          <p:spPr>
            <a:xfrm>
              <a:off x="533400" y="3143250"/>
              <a:ext cx="685800" cy="1066800"/>
            </a:xfrm>
            <a:prstGeom prst="rect">
              <a:avLst/>
            </a:prstGeom>
            <a:solidFill>
              <a:srgbClr val="1C2A24"/>
            </a:solidFill>
            <a:ln>
              <a:noFill/>
            </a:ln>
          </p:spPr>
        </p:sp>
        <p:sp>
          <p:nvSpPr>
            <p:cNvPr id="23" name="TextBox 23"/>
            <p:cNvSpPr txBox="1"/>
            <p:nvPr/>
          </p:nvSpPr>
          <p:spPr>
            <a:xfrm>
              <a:off x="702372" y="3583305"/>
              <a:ext cx="347857" cy="410718"/>
            </a:xfrm>
            <a:prstGeom prst="rect">
              <a:avLst/>
            </a:prstGeom>
            <a:noFill/>
            <a:ln>
              <a:noFill/>
            </a:ln>
          </p:spPr>
          <p:txBody>
            <a:bodyPr wrap="none" lIns="0" tIns="0" rIns="0" bIns="0" anchor="t" anchorCtr="0">
              <a:spAutoFit/>
            </a:bodyPr>
            <a:lstStyle/>
            <a:p>
              <a:pPr algn="ctr"/>
              <a:r>
                <a:rPr lang="en-US" sz="2100" b="1" dirty="0">
                  <a:solidFill>
                    <a:srgbClr val="FFFFFF"/>
                  </a:solidFill>
                  <a:latin typeface="Consolas"/>
                  <a:ea typeface="Consolas"/>
                  <a:cs typeface="Consolas"/>
                </a:rPr>
                <a:t>02</a:t>
              </a:r>
            </a:p>
          </p:txBody>
        </p:sp>
        <p:grpSp>
          <p:nvGrpSpPr>
            <p:cNvPr id="26" name="Group 26"/>
            <p:cNvGrpSpPr/>
            <p:nvPr/>
          </p:nvGrpSpPr>
          <p:grpSpPr>
            <a:xfrm>
              <a:off x="1466850" y="3409950"/>
              <a:ext cx="457200" cy="457200"/>
              <a:chOff x="1466850" y="3409950"/>
              <a:chExt cx="457200" cy="457200"/>
            </a:xfrm>
          </p:grpSpPr>
          <p:sp>
            <p:nvSpPr>
              <p:cNvPr id="24" name="Freeform 24"/>
              <p:cNvSpPr/>
              <p:nvPr/>
            </p:nvSpPr>
            <p:spPr>
              <a:xfrm>
                <a:off x="1466850" y="3409950"/>
                <a:ext cx="400050" cy="257175"/>
              </a:xfrm>
              <a:custGeom>
                <a:avLst/>
                <a:gdLst/>
                <a:ahLst/>
                <a:cxnLst/>
                <a:rect l="l" t="t" r="r" b="b"/>
                <a:pathLst>
                  <a:path w="400050" h="257175">
                    <a:moveTo>
                      <a:pt x="285750" y="228600"/>
                    </a:moveTo>
                    <a:lnTo>
                      <a:pt x="257175" y="228600"/>
                    </a:lnTo>
                    <a:lnTo>
                      <a:pt x="257175" y="137726"/>
                    </a:lnTo>
                    <a:lnTo>
                      <a:pt x="147369" y="115765"/>
                    </a:lnTo>
                    <a:cubicBezTo>
                      <a:pt x="142499" y="114791"/>
                      <a:pt x="137544" y="114300"/>
                      <a:pt x="132577" y="114300"/>
                    </a:cubicBezTo>
                    <a:cubicBezTo>
                      <a:pt x="90920" y="114300"/>
                      <a:pt x="57150" y="148070"/>
                      <a:pt x="57150" y="189727"/>
                    </a:cubicBezTo>
                    <a:lnTo>
                      <a:pt x="57150" y="257175"/>
                    </a:lnTo>
                    <a:lnTo>
                      <a:pt x="0" y="257175"/>
                    </a:lnTo>
                    <a:lnTo>
                      <a:pt x="0" y="189727"/>
                    </a:lnTo>
                    <a:cubicBezTo>
                      <a:pt x="0" y="116507"/>
                      <a:pt x="59357" y="57150"/>
                      <a:pt x="132577" y="57150"/>
                    </a:cubicBezTo>
                    <a:cubicBezTo>
                      <a:pt x="141307" y="57150"/>
                      <a:pt x="150016" y="58012"/>
                      <a:pt x="158577" y="59725"/>
                    </a:cubicBezTo>
                    <a:lnTo>
                      <a:pt x="257175" y="79444"/>
                    </a:lnTo>
                    <a:lnTo>
                      <a:pt x="257175" y="0"/>
                    </a:lnTo>
                    <a:lnTo>
                      <a:pt x="285750" y="0"/>
                    </a:lnTo>
                    <a:lnTo>
                      <a:pt x="400050" y="114300"/>
                    </a:lnTo>
                    <a:lnTo>
                      <a:pt x="285750" y="228600"/>
                    </a:lnTo>
                    <a:close/>
                  </a:path>
                </a:pathLst>
              </a:custGeom>
              <a:solidFill>
                <a:srgbClr val="1C2A24"/>
              </a:solidFill>
              <a:ln>
                <a:noFill/>
              </a:ln>
            </p:spPr>
          </p:sp>
          <p:sp>
            <p:nvSpPr>
              <p:cNvPr id="25" name="Freeform 25"/>
              <p:cNvSpPr/>
              <p:nvPr/>
            </p:nvSpPr>
            <p:spPr>
              <a:xfrm>
                <a:off x="1524000" y="3609975"/>
                <a:ext cx="400050" cy="257175"/>
              </a:xfrm>
              <a:custGeom>
                <a:avLst/>
                <a:gdLst/>
                <a:ahLst/>
                <a:cxnLst/>
                <a:rect l="l" t="t" r="r" b="b"/>
                <a:pathLst>
                  <a:path w="400050" h="257175">
                    <a:moveTo>
                      <a:pt x="400050" y="0"/>
                    </a:moveTo>
                    <a:lnTo>
                      <a:pt x="400050" y="67448"/>
                    </a:lnTo>
                    <a:cubicBezTo>
                      <a:pt x="400050" y="140669"/>
                      <a:pt x="340694" y="200025"/>
                      <a:pt x="267473" y="200025"/>
                    </a:cubicBezTo>
                    <a:cubicBezTo>
                      <a:pt x="258744" y="200025"/>
                      <a:pt x="250034" y="199162"/>
                      <a:pt x="241473" y="197450"/>
                    </a:cubicBezTo>
                    <a:lnTo>
                      <a:pt x="142875" y="177731"/>
                    </a:lnTo>
                    <a:lnTo>
                      <a:pt x="142875" y="257175"/>
                    </a:lnTo>
                    <a:lnTo>
                      <a:pt x="114300" y="257175"/>
                    </a:lnTo>
                    <a:lnTo>
                      <a:pt x="0" y="142875"/>
                    </a:lnTo>
                    <a:lnTo>
                      <a:pt x="114300" y="28575"/>
                    </a:lnTo>
                    <a:lnTo>
                      <a:pt x="142875" y="28575"/>
                    </a:lnTo>
                    <a:lnTo>
                      <a:pt x="142875" y="119449"/>
                    </a:lnTo>
                    <a:lnTo>
                      <a:pt x="252680" y="141409"/>
                    </a:lnTo>
                    <a:cubicBezTo>
                      <a:pt x="257552" y="142384"/>
                      <a:pt x="262507" y="142875"/>
                      <a:pt x="267473" y="142875"/>
                    </a:cubicBezTo>
                    <a:cubicBezTo>
                      <a:pt x="309130" y="142875"/>
                      <a:pt x="342900" y="109105"/>
                      <a:pt x="342900" y="67448"/>
                    </a:cubicBezTo>
                    <a:lnTo>
                      <a:pt x="342900" y="0"/>
                    </a:lnTo>
                    <a:lnTo>
                      <a:pt x="400050" y="0"/>
                    </a:lnTo>
                    <a:close/>
                  </a:path>
                </a:pathLst>
              </a:custGeom>
              <a:solidFill>
                <a:srgbClr val="1C2A24"/>
              </a:solidFill>
              <a:ln>
                <a:noFill/>
              </a:ln>
            </p:spPr>
          </p:sp>
        </p:grpSp>
        <p:sp>
          <p:nvSpPr>
            <p:cNvPr id="27" name="TextBox 27"/>
            <p:cNvSpPr txBox="1"/>
            <p:nvPr/>
          </p:nvSpPr>
          <p:spPr>
            <a:xfrm>
              <a:off x="2105406" y="3310890"/>
              <a:ext cx="2689050" cy="352044"/>
            </a:xfrm>
            <a:prstGeom prst="rect">
              <a:avLst/>
            </a:prstGeom>
            <a:noFill/>
            <a:ln>
              <a:noFill/>
            </a:ln>
          </p:spPr>
          <p:txBody>
            <a:bodyPr wrap="none" lIns="0" tIns="0" rIns="0" bIns="0" anchor="t" anchorCtr="0">
              <a:spAutoFit/>
            </a:bodyPr>
            <a:lstStyle/>
            <a:p>
              <a:pPr algn="l"/>
              <a:r>
                <a:rPr lang="en-US" sz="1800" b="1" dirty="0">
                  <a:solidFill>
                    <a:srgbClr val="202824"/>
                  </a:solidFill>
                  <a:latin typeface="Segoe UI"/>
                  <a:ea typeface="Segoe UI"/>
                  <a:cs typeface="Segoe UI"/>
                </a:rPr>
                <a:t>API · REST + Task SSE</a:t>
              </a:r>
            </a:p>
          </p:txBody>
        </p:sp>
        <p:sp>
          <p:nvSpPr>
            <p:cNvPr id="28" name="TextBox 28"/>
            <p:cNvSpPr txBox="1"/>
            <p:nvPr/>
          </p:nvSpPr>
          <p:spPr>
            <a:xfrm>
              <a:off x="2105406" y="3691890"/>
              <a:ext cx="7354262" cy="352044"/>
            </a:xfrm>
            <a:prstGeom prst="rect">
              <a:avLst/>
            </a:prstGeom>
            <a:noFill/>
            <a:ln>
              <a:noFill/>
            </a:ln>
          </p:spPr>
          <p:txBody>
            <a:bodyPr wrap="none" lIns="0" tIns="0" rIns="0" bIns="0" anchor="t" anchorCtr="0">
              <a:spAutoFit/>
            </a:bodyPr>
            <a:lstStyle/>
            <a:p>
              <a:pPr algn="l"/>
              <a:r>
                <a:rPr lang="zh-CN" sz="1800" dirty="0">
                  <a:solidFill>
                    <a:srgbClr val="52605A"/>
                  </a:solidFill>
                  <a:latin typeface="Segoe UI"/>
                  <a:ea typeface="Microsoft YaHei UI"/>
                  <a:cs typeface="Segoe UI"/>
                </a:rPr>
                <a:t>POST 创建 · GET 列表/详情 · EventSource `after` · heartbeat</a:t>
              </a:r>
            </a:p>
          </p:txBody>
        </p:sp>
        <p:sp>
          <p:nvSpPr>
            <p:cNvPr id="29" name="Line 29"/>
            <p:cNvSpPr/>
            <p:nvPr/>
          </p:nvSpPr>
          <p:spPr>
            <a:xfrm>
              <a:off x="8420100" y="3314700"/>
              <a:ext cx="9525" cy="723900"/>
            </a:xfrm>
            <a:custGeom>
              <a:avLst/>
              <a:gdLst/>
              <a:ahLst/>
              <a:cxnLst/>
              <a:rect l="l" t="t" r="r" b="b"/>
              <a:pathLst>
                <a:path w="9525" h="723900">
                  <a:moveTo>
                    <a:pt x="0" y="0"/>
                  </a:moveTo>
                  <a:lnTo>
                    <a:pt x="0" y="723900"/>
                  </a:lnTo>
                </a:path>
              </a:pathLst>
            </a:custGeom>
            <a:noFill/>
            <a:ln w="9525">
              <a:solidFill>
                <a:srgbClr val="CDD8D2"/>
              </a:solidFill>
            </a:ln>
          </p:spPr>
        </p:sp>
        <p:sp>
          <p:nvSpPr>
            <p:cNvPr id="30" name="TextBox 30"/>
            <p:cNvSpPr txBox="1"/>
            <p:nvPr/>
          </p:nvSpPr>
          <p:spPr>
            <a:xfrm>
              <a:off x="8679942" y="3397568"/>
              <a:ext cx="890786" cy="264033"/>
            </a:xfrm>
            <a:prstGeom prst="rect">
              <a:avLst/>
            </a:prstGeom>
            <a:noFill/>
            <a:ln>
              <a:noFill/>
            </a:ln>
          </p:spPr>
          <p:txBody>
            <a:bodyPr wrap="none" lIns="0" tIns="0" rIns="0" bIns="0" anchor="t" anchorCtr="0">
              <a:spAutoFit/>
            </a:bodyPr>
            <a:lstStyle/>
            <a:p>
              <a:pPr algn="l"/>
              <a:r>
                <a:rPr lang="en-US" sz="1350" b="1" dirty="0">
                  <a:solidFill>
                    <a:srgbClr val="1C2A24"/>
                  </a:solidFill>
                  <a:latin typeface="Consolas"/>
                  <a:ea typeface="Consolas"/>
                  <a:cs typeface="Consolas"/>
                </a:rPr>
                <a:t>DISCOVER</a:t>
              </a:r>
            </a:p>
          </p:txBody>
        </p:sp>
        <p:sp>
          <p:nvSpPr>
            <p:cNvPr id="31" name="TextBox 31"/>
            <p:cNvSpPr txBox="1"/>
            <p:nvPr/>
          </p:nvSpPr>
          <p:spPr>
            <a:xfrm>
              <a:off x="8679942" y="3683318"/>
              <a:ext cx="1780337"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SSE 后重新 GET 对账</a:t>
              </a:r>
            </a:p>
          </p:txBody>
        </p:sp>
        <p:sp>
          <p:nvSpPr>
            <p:cNvPr id="32" name="TextBox 32"/>
            <p:cNvSpPr txBox="1"/>
            <p:nvPr/>
          </p:nvSpPr>
          <p:spPr>
            <a:xfrm>
              <a:off x="10763631" y="3683318"/>
              <a:ext cx="558927" cy="264033"/>
            </a:xfrm>
            <a:prstGeom prst="rect">
              <a:avLst/>
            </a:prstGeom>
            <a:noFill/>
            <a:ln>
              <a:noFill/>
            </a:ln>
          </p:spPr>
          <p:txBody>
            <a:bodyPr wrap="none" lIns="0" tIns="0" rIns="0" bIns="0" anchor="t" anchorCtr="0">
              <a:spAutoFit/>
            </a:bodyPr>
            <a:lstStyle/>
            <a:p>
              <a:pPr algn="r"/>
              <a:r>
                <a:rPr lang="zh-CN" sz="1350" dirty="0">
                  <a:solidFill>
                    <a:srgbClr val="14865F"/>
                  </a:solidFill>
                  <a:latin typeface="Segoe UI"/>
                  <a:ea typeface="Microsoft YaHei UI"/>
                  <a:cs typeface="Segoe UI"/>
                </a:rPr>
                <a:t>已实现</a:t>
              </a:r>
            </a:p>
          </p:txBody>
        </p:sp>
      </p:grpSp>
      <p:grpSp>
        <p:nvGrpSpPr>
          <p:cNvPr id="48" name="Group 48"/>
          <p:cNvGrpSpPr/>
          <p:nvPr/>
        </p:nvGrpSpPr>
        <p:grpSpPr>
          <a:xfrm>
            <a:off x="533400" y="4400550"/>
            <a:ext cx="11125200" cy="1200150"/>
            <a:chOff x="533400" y="4400550"/>
            <a:chExt cx="11125200" cy="1200150"/>
          </a:xfrm>
        </p:grpSpPr>
        <p:sp>
          <p:nvSpPr>
            <p:cNvPr id="34" name="Rectangle 34"/>
            <p:cNvSpPr/>
            <p:nvPr/>
          </p:nvSpPr>
          <p:spPr>
            <a:xfrm>
              <a:off x="533400" y="4400550"/>
              <a:ext cx="11125200" cy="1200150"/>
            </a:xfrm>
            <a:prstGeom prst="rect">
              <a:avLst/>
            </a:prstGeom>
            <a:solidFill>
              <a:srgbClr val="FFFFFF"/>
            </a:solidFill>
            <a:ln w="9525">
              <a:solidFill>
                <a:srgbClr val="CDD8D2"/>
              </a:solidFill>
            </a:ln>
          </p:spPr>
        </p:sp>
        <p:sp>
          <p:nvSpPr>
            <p:cNvPr id="35" name="Rectangle 35"/>
            <p:cNvSpPr/>
            <p:nvPr/>
          </p:nvSpPr>
          <p:spPr>
            <a:xfrm>
              <a:off x="533400" y="4400550"/>
              <a:ext cx="685800" cy="1200150"/>
            </a:xfrm>
            <a:prstGeom prst="rect">
              <a:avLst/>
            </a:prstGeom>
            <a:solidFill>
              <a:srgbClr val="C58B2B"/>
            </a:solidFill>
            <a:ln>
              <a:noFill/>
            </a:ln>
          </p:spPr>
        </p:sp>
        <p:sp>
          <p:nvSpPr>
            <p:cNvPr id="36" name="TextBox 36"/>
            <p:cNvSpPr txBox="1"/>
            <p:nvPr/>
          </p:nvSpPr>
          <p:spPr>
            <a:xfrm>
              <a:off x="702372" y="4916805"/>
              <a:ext cx="347857" cy="410718"/>
            </a:xfrm>
            <a:prstGeom prst="rect">
              <a:avLst/>
            </a:prstGeom>
            <a:noFill/>
            <a:ln>
              <a:noFill/>
            </a:ln>
          </p:spPr>
          <p:txBody>
            <a:bodyPr wrap="none" lIns="0" tIns="0" rIns="0" bIns="0" anchor="t" anchorCtr="0">
              <a:spAutoFit/>
            </a:bodyPr>
            <a:lstStyle/>
            <a:p>
              <a:pPr algn="ctr"/>
              <a:r>
                <a:rPr lang="en-US" sz="2100" b="1" dirty="0">
                  <a:solidFill>
                    <a:srgbClr val="FFFFFF"/>
                  </a:solidFill>
                  <a:latin typeface="Consolas"/>
                  <a:ea typeface="Consolas"/>
                  <a:cs typeface="Consolas"/>
                </a:rPr>
                <a:t>03</a:t>
              </a:r>
            </a:p>
          </p:txBody>
        </p:sp>
        <p:grpSp>
          <p:nvGrpSpPr>
            <p:cNvPr id="40" name="Group 40"/>
            <p:cNvGrpSpPr/>
            <p:nvPr/>
          </p:nvGrpSpPr>
          <p:grpSpPr>
            <a:xfrm>
              <a:off x="1524000" y="4743450"/>
              <a:ext cx="342900" cy="457200"/>
              <a:chOff x="1524000" y="4743450"/>
              <a:chExt cx="342900" cy="457200"/>
            </a:xfrm>
          </p:grpSpPr>
          <p:sp>
            <p:nvSpPr>
              <p:cNvPr id="37" name="Freeform 37"/>
              <p:cNvSpPr/>
              <p:nvPr/>
            </p:nvSpPr>
            <p:spPr>
              <a:xfrm>
                <a:off x="1524000" y="4926330"/>
                <a:ext cx="342900" cy="131445"/>
              </a:xfrm>
              <a:custGeom>
                <a:avLst/>
                <a:gdLst/>
                <a:ahLst/>
                <a:cxnLst/>
                <a:rect l="l" t="t" r="r" b="b"/>
                <a:pathLst>
                  <a:path w="342900" h="131445">
                    <a:moveTo>
                      <a:pt x="318243" y="14578"/>
                    </a:moveTo>
                    <a:cubicBezTo>
                      <a:pt x="326281" y="10558"/>
                      <a:pt x="334679" y="5709"/>
                      <a:pt x="342900" y="0"/>
                    </a:cubicBezTo>
                    <a:lnTo>
                      <a:pt x="342900" y="45720"/>
                    </a:lnTo>
                    <a:cubicBezTo>
                      <a:pt x="342900" y="93064"/>
                      <a:pt x="266139" y="131445"/>
                      <a:pt x="171450" y="131445"/>
                    </a:cubicBezTo>
                    <a:cubicBezTo>
                      <a:pt x="76761" y="131445"/>
                      <a:pt x="0" y="93064"/>
                      <a:pt x="0" y="45720"/>
                    </a:cubicBezTo>
                    <a:lnTo>
                      <a:pt x="0" y="0"/>
                    </a:lnTo>
                    <a:cubicBezTo>
                      <a:pt x="8222" y="5709"/>
                      <a:pt x="16619" y="10558"/>
                      <a:pt x="24658" y="14578"/>
                    </a:cubicBezTo>
                    <a:cubicBezTo>
                      <a:pt x="65178" y="34838"/>
                      <a:pt x="117157" y="45720"/>
                      <a:pt x="171450" y="45720"/>
                    </a:cubicBezTo>
                    <a:cubicBezTo>
                      <a:pt x="225743" y="45720"/>
                      <a:pt x="277720" y="34838"/>
                      <a:pt x="318243" y="14578"/>
                    </a:cubicBezTo>
                    <a:close/>
                  </a:path>
                </a:pathLst>
              </a:custGeom>
              <a:solidFill>
                <a:srgbClr val="C58B2B"/>
              </a:solidFill>
              <a:ln>
                <a:noFill/>
              </a:ln>
            </p:spPr>
          </p:sp>
          <p:sp>
            <p:nvSpPr>
              <p:cNvPr id="38" name="Freeform 38"/>
              <p:cNvSpPr/>
              <p:nvPr/>
            </p:nvSpPr>
            <p:spPr>
              <a:xfrm>
                <a:off x="1524000" y="5069205"/>
                <a:ext cx="342900" cy="131445"/>
              </a:xfrm>
              <a:custGeom>
                <a:avLst/>
                <a:gdLst/>
                <a:ahLst/>
                <a:cxnLst/>
                <a:rect l="l" t="t" r="r" b="b"/>
                <a:pathLst>
                  <a:path w="342900" h="131445">
                    <a:moveTo>
                      <a:pt x="0" y="0"/>
                    </a:moveTo>
                    <a:lnTo>
                      <a:pt x="0" y="45720"/>
                    </a:lnTo>
                    <a:cubicBezTo>
                      <a:pt x="0" y="93066"/>
                      <a:pt x="76761" y="131445"/>
                      <a:pt x="171450" y="131445"/>
                    </a:cubicBezTo>
                    <a:cubicBezTo>
                      <a:pt x="266139" y="131445"/>
                      <a:pt x="342900" y="93066"/>
                      <a:pt x="342900" y="45720"/>
                    </a:cubicBezTo>
                    <a:lnTo>
                      <a:pt x="342900" y="0"/>
                    </a:lnTo>
                    <a:cubicBezTo>
                      <a:pt x="334679" y="5709"/>
                      <a:pt x="326281" y="10558"/>
                      <a:pt x="318243" y="14579"/>
                    </a:cubicBezTo>
                    <a:cubicBezTo>
                      <a:pt x="277720" y="34839"/>
                      <a:pt x="225743" y="45720"/>
                      <a:pt x="171450" y="45720"/>
                    </a:cubicBezTo>
                    <a:cubicBezTo>
                      <a:pt x="117157" y="45720"/>
                      <a:pt x="65178" y="34839"/>
                      <a:pt x="24658" y="14579"/>
                    </a:cubicBezTo>
                    <a:cubicBezTo>
                      <a:pt x="16619" y="10558"/>
                      <a:pt x="8222" y="5709"/>
                      <a:pt x="0" y="0"/>
                    </a:cubicBezTo>
                    <a:close/>
                  </a:path>
                </a:pathLst>
              </a:custGeom>
              <a:solidFill>
                <a:srgbClr val="C58B2B"/>
              </a:solidFill>
              <a:ln>
                <a:noFill/>
              </a:ln>
            </p:spPr>
          </p:sp>
          <p:sp>
            <p:nvSpPr>
              <p:cNvPr id="39" name="Freeform 39"/>
              <p:cNvSpPr/>
              <p:nvPr/>
            </p:nvSpPr>
            <p:spPr>
              <a:xfrm>
                <a:off x="1524000" y="4743450"/>
                <a:ext cx="342900" cy="171450"/>
              </a:xfrm>
              <a:custGeom>
                <a:avLst/>
                <a:gdLst/>
                <a:ahLst/>
                <a:cxnLst/>
                <a:rect l="l" t="t" r="r" b="b"/>
                <a:pathLst>
                  <a:path w="342900" h="171450">
                    <a:moveTo>
                      <a:pt x="171450" y="0"/>
                    </a:moveTo>
                    <a:cubicBezTo>
                      <a:pt x="266139" y="0"/>
                      <a:pt x="342900" y="38381"/>
                      <a:pt x="342900" y="85725"/>
                    </a:cubicBezTo>
                    <a:cubicBezTo>
                      <a:pt x="342900" y="133069"/>
                      <a:pt x="266139" y="171450"/>
                      <a:pt x="171450" y="171450"/>
                    </a:cubicBezTo>
                    <a:cubicBezTo>
                      <a:pt x="76761" y="171450"/>
                      <a:pt x="0" y="133069"/>
                      <a:pt x="0" y="85725"/>
                    </a:cubicBezTo>
                    <a:cubicBezTo>
                      <a:pt x="0" y="38381"/>
                      <a:pt x="76761" y="0"/>
                      <a:pt x="171450" y="0"/>
                    </a:cubicBezTo>
                    <a:close/>
                  </a:path>
                </a:pathLst>
              </a:custGeom>
              <a:solidFill>
                <a:srgbClr val="C58B2B"/>
              </a:solidFill>
              <a:ln>
                <a:noFill/>
              </a:ln>
            </p:spPr>
          </p:sp>
        </p:grpSp>
        <p:sp>
          <p:nvSpPr>
            <p:cNvPr id="41" name="TextBox 41"/>
            <p:cNvSpPr txBox="1"/>
            <p:nvPr/>
          </p:nvSpPr>
          <p:spPr>
            <a:xfrm>
              <a:off x="2105406" y="4587240"/>
              <a:ext cx="5432841" cy="352044"/>
            </a:xfrm>
            <a:prstGeom prst="rect">
              <a:avLst/>
            </a:prstGeom>
            <a:noFill/>
            <a:ln>
              <a:noFill/>
            </a:ln>
          </p:spPr>
          <p:txBody>
            <a:bodyPr wrap="none" lIns="0" tIns="0" rIns="0" bIns="0" anchor="t" anchorCtr="0">
              <a:spAutoFit/>
            </a:bodyPr>
            <a:lstStyle/>
            <a:p>
              <a:pPr algn="l"/>
              <a:r>
                <a:rPr lang="en-US" sz="1800" b="1" dirty="0">
                  <a:solidFill>
                    <a:srgbClr val="202824"/>
                  </a:solidFill>
                  <a:latin typeface="Segoe UI"/>
                  <a:ea typeface="Segoe UI"/>
                  <a:cs typeface="Segoe UI"/>
                </a:rPr>
                <a:t>Store · Snapshot + Event + ArtifactVersion</a:t>
              </a:r>
            </a:p>
          </p:txBody>
        </p:sp>
        <p:sp>
          <p:nvSpPr>
            <p:cNvPr id="42" name="TextBox 42"/>
            <p:cNvSpPr txBox="1"/>
            <p:nvPr/>
          </p:nvSpPr>
          <p:spPr>
            <a:xfrm>
              <a:off x="2106549" y="4954429"/>
              <a:ext cx="5592713" cy="308039"/>
            </a:xfrm>
            <a:prstGeom prst="rect">
              <a:avLst/>
            </a:prstGeom>
            <a:noFill/>
            <a:ln>
              <a:noFill/>
            </a:ln>
          </p:spPr>
          <p:txBody>
            <a:bodyPr wrap="none" lIns="0" tIns="0" rIns="0" bIns="0" anchor="t" anchorCtr="0">
              <a:spAutoFit/>
            </a:bodyPr>
            <a:lstStyle/>
            <a:p>
              <a:pPr algn="l"/>
              <a:r>
                <a:rPr lang="zh-CN" sz="1580" dirty="0">
                  <a:solidFill>
                    <a:srgbClr val="52605A"/>
                  </a:solidFill>
                  <a:latin typeface="Segoe UI"/>
                  <a:ea typeface="Microsoft YaHei UI"/>
                  <a:cs typeface="Segoe UI"/>
                </a:rPr>
                <a:t>Owner scope · 创建幂等 · TASK_CREATED(sequence=1)</a:t>
              </a:r>
            </a:p>
          </p:txBody>
        </p:sp>
        <p:sp>
          <p:nvSpPr>
            <p:cNvPr id="43" name="TextBox 43"/>
            <p:cNvSpPr txBox="1"/>
            <p:nvPr/>
          </p:nvSpPr>
          <p:spPr>
            <a:xfrm>
              <a:off x="2107692" y="5283518"/>
              <a:ext cx="4130961" cy="264033"/>
            </a:xfrm>
            <a:prstGeom prst="rect">
              <a:avLst/>
            </a:prstGeom>
            <a:noFill/>
            <a:ln>
              <a:noFill/>
            </a:ln>
          </p:spPr>
          <p:txBody>
            <a:bodyPr wrap="none" lIns="0" tIns="0" rIns="0" bIns="0" anchor="t" anchorCtr="0">
              <a:spAutoFit/>
            </a:bodyPr>
            <a:lstStyle/>
            <a:p>
              <a:pPr algn="l"/>
              <a:r>
                <a:rPr lang="zh-CN" sz="1350" dirty="0">
                  <a:solidFill>
                    <a:srgbClr val="74817B"/>
                  </a:solidFill>
                  <a:latin typeface="Segoe UI"/>
                  <a:ea typeface="Microsoft YaHei UI"/>
                  <a:cs typeface="Segoe UI"/>
                </a:rPr>
                <a:t>三个初始 Branch · InMemoryTaskStore verified</a:t>
              </a:r>
            </a:p>
          </p:txBody>
        </p:sp>
        <p:sp>
          <p:nvSpPr>
            <p:cNvPr id="44" name="Line 44"/>
            <p:cNvSpPr/>
            <p:nvPr/>
          </p:nvSpPr>
          <p:spPr>
            <a:xfrm>
              <a:off x="8420100" y="4572000"/>
              <a:ext cx="9525" cy="857250"/>
            </a:xfrm>
            <a:custGeom>
              <a:avLst/>
              <a:gdLst/>
              <a:ahLst/>
              <a:cxnLst/>
              <a:rect l="l" t="t" r="r" b="b"/>
              <a:pathLst>
                <a:path w="9525" h="857250">
                  <a:moveTo>
                    <a:pt x="0" y="0"/>
                  </a:moveTo>
                  <a:lnTo>
                    <a:pt x="0" y="857250"/>
                  </a:lnTo>
                </a:path>
              </a:pathLst>
            </a:custGeom>
            <a:noFill/>
            <a:ln w="9525">
              <a:solidFill>
                <a:srgbClr val="DFE7E3"/>
              </a:solidFill>
            </a:ln>
          </p:spPr>
        </p:sp>
        <p:sp>
          <p:nvSpPr>
            <p:cNvPr id="45" name="TextBox 45"/>
            <p:cNvSpPr txBox="1"/>
            <p:nvPr/>
          </p:nvSpPr>
          <p:spPr>
            <a:xfrm>
              <a:off x="8679942" y="4673918"/>
              <a:ext cx="739567" cy="264033"/>
            </a:xfrm>
            <a:prstGeom prst="rect">
              <a:avLst/>
            </a:prstGeom>
            <a:noFill/>
            <a:ln>
              <a:noFill/>
            </a:ln>
          </p:spPr>
          <p:txBody>
            <a:bodyPr wrap="none" lIns="0" tIns="0" rIns="0" bIns="0" anchor="t" anchorCtr="0">
              <a:spAutoFit/>
            </a:bodyPr>
            <a:lstStyle/>
            <a:p>
              <a:pPr algn="l"/>
              <a:r>
                <a:rPr lang="en-US" sz="1350" b="1" dirty="0">
                  <a:solidFill>
                    <a:srgbClr val="C58B2B"/>
                  </a:solidFill>
                  <a:latin typeface="Consolas"/>
                  <a:ea typeface="Consolas"/>
                  <a:cs typeface="Consolas"/>
                </a:rPr>
                <a:t>PERSIST</a:t>
              </a:r>
            </a:p>
          </p:txBody>
        </p:sp>
        <p:sp>
          <p:nvSpPr>
            <p:cNvPr id="46" name="TextBox 46"/>
            <p:cNvSpPr txBox="1"/>
            <p:nvPr/>
          </p:nvSpPr>
          <p:spPr>
            <a:xfrm>
              <a:off x="8680323" y="4967764"/>
              <a:ext cx="1729359" cy="249364"/>
            </a:xfrm>
            <a:prstGeom prst="rect">
              <a:avLst/>
            </a:prstGeom>
            <a:noFill/>
            <a:ln>
              <a:noFill/>
            </a:ln>
          </p:spPr>
          <p:txBody>
            <a:bodyPr wrap="none" lIns="0" tIns="0" rIns="0" bIns="0" anchor="t" anchorCtr="0">
              <a:spAutoFit/>
            </a:bodyPr>
            <a:lstStyle/>
            <a:p>
              <a:pPr algn="l"/>
              <a:r>
                <a:rPr lang="zh-CN" sz="1280" dirty="0">
                  <a:solidFill>
                    <a:srgbClr val="52605A"/>
                  </a:solidFill>
                  <a:latin typeface="Segoe UI"/>
                  <a:ea typeface="Microsoft YaHei UI"/>
                  <a:cs typeface="Segoe UI"/>
                </a:rPr>
                <a:t>内存路径有自动化证据</a:t>
              </a:r>
            </a:p>
          </p:txBody>
        </p:sp>
        <p:sp>
          <p:nvSpPr>
            <p:cNvPr id="47" name="TextBox 47"/>
            <p:cNvSpPr txBox="1"/>
            <p:nvPr/>
          </p:nvSpPr>
          <p:spPr>
            <a:xfrm>
              <a:off x="8680323" y="5253514"/>
              <a:ext cx="2040287" cy="249364"/>
            </a:xfrm>
            <a:prstGeom prst="rect">
              <a:avLst/>
            </a:prstGeom>
            <a:noFill/>
            <a:ln>
              <a:noFill/>
            </a:ln>
          </p:spPr>
          <p:txBody>
            <a:bodyPr wrap="none" lIns="0" tIns="0" rIns="0" bIns="0" anchor="t" anchorCtr="0">
              <a:spAutoFit/>
            </a:bodyPr>
            <a:lstStyle/>
            <a:p>
              <a:pPr algn="l"/>
              <a:r>
                <a:rPr lang="zh-CN" sz="1280" dirty="0">
                  <a:solidFill>
                    <a:srgbClr val="C58B2B"/>
                  </a:solidFill>
                  <a:latin typeface="Segoe UI"/>
                  <a:ea typeface="Microsoft YaHei UI"/>
                  <a:cs typeface="Segoe UI"/>
                </a:rPr>
                <a:t>PostgreSQL 未实跑/重启</a:t>
              </a:r>
            </a:p>
          </p:txBody>
        </p:sp>
      </p:grpSp>
      <p:grpSp>
        <p:nvGrpSpPr>
          <p:cNvPr id="53" name="Group 53"/>
          <p:cNvGrpSpPr/>
          <p:nvPr/>
        </p:nvGrpSpPr>
        <p:grpSpPr>
          <a:xfrm>
            <a:off x="533400" y="5829300"/>
            <a:ext cx="11125200" cy="476250"/>
            <a:chOff x="533400" y="5829300"/>
            <a:chExt cx="11125200" cy="476250"/>
          </a:xfrm>
        </p:grpSpPr>
        <p:sp>
          <p:nvSpPr>
            <p:cNvPr id="49" name="Rectangle 49"/>
            <p:cNvSpPr/>
            <p:nvPr/>
          </p:nvSpPr>
          <p:spPr>
            <a:xfrm>
              <a:off x="533400" y="5829300"/>
              <a:ext cx="11125200" cy="476250"/>
            </a:xfrm>
            <a:prstGeom prst="rect">
              <a:avLst/>
            </a:prstGeom>
            <a:solidFill>
              <a:srgbClr val="1C2A24"/>
            </a:solidFill>
            <a:ln>
              <a:noFill/>
            </a:ln>
          </p:spPr>
        </p:sp>
        <p:sp>
          <p:nvSpPr>
            <p:cNvPr id="50" name="Freeform 50"/>
            <p:cNvSpPr/>
            <p:nvPr/>
          </p:nvSpPr>
          <p:spPr>
            <a:xfrm>
              <a:off x="723900" y="5915025"/>
              <a:ext cx="304800" cy="304800"/>
            </a:xfrm>
            <a:custGeom>
              <a:avLst/>
              <a:gdLst/>
              <a:ahLst/>
              <a:cxnLst/>
              <a:rect l="l" t="t" r="r" b="b"/>
              <a:pathLst>
                <a:path w="304800" h="304800">
                  <a:moveTo>
                    <a:pt x="152400" y="304800"/>
                  </a:moveTo>
                  <a:cubicBezTo>
                    <a:pt x="236569" y="304800"/>
                    <a:pt x="304800" y="236569"/>
                    <a:pt x="304800" y="152400"/>
                  </a:cubicBezTo>
                  <a:cubicBezTo>
                    <a:pt x="304800" y="68232"/>
                    <a:pt x="236569" y="0"/>
                    <a:pt x="152400" y="0"/>
                  </a:cubicBezTo>
                  <a:cubicBezTo>
                    <a:pt x="68232" y="0"/>
                    <a:pt x="0" y="68232"/>
                    <a:pt x="0" y="152400"/>
                  </a:cubicBezTo>
                  <a:cubicBezTo>
                    <a:pt x="0" y="236569"/>
                    <a:pt x="68232" y="304800"/>
                    <a:pt x="152400" y="304800"/>
                  </a:cubicBezTo>
                  <a:close/>
                  <a:moveTo>
                    <a:pt x="242070" y="108720"/>
                  </a:moveTo>
                  <a:lnTo>
                    <a:pt x="215130" y="81780"/>
                  </a:lnTo>
                  <a:lnTo>
                    <a:pt x="123825" y="173084"/>
                  </a:lnTo>
                  <a:lnTo>
                    <a:pt x="89670" y="138930"/>
                  </a:lnTo>
                  <a:lnTo>
                    <a:pt x="62730" y="165870"/>
                  </a:lnTo>
                  <a:lnTo>
                    <a:pt x="123825" y="226966"/>
                  </a:lnTo>
                  <a:lnTo>
                    <a:pt x="242070" y="108720"/>
                  </a:lnTo>
                  <a:close/>
                </a:path>
              </a:pathLst>
            </a:custGeom>
            <a:solidFill>
              <a:srgbClr val="FFFFFF"/>
            </a:solidFill>
            <a:ln>
              <a:noFill/>
            </a:ln>
          </p:spPr>
        </p:sp>
        <p:sp>
          <p:nvSpPr>
            <p:cNvPr id="51" name="TextBox 51"/>
            <p:cNvSpPr txBox="1"/>
            <p:nvPr/>
          </p:nvSpPr>
          <p:spPr>
            <a:xfrm>
              <a:off x="1171956" y="5949315"/>
              <a:ext cx="491874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Segoe UI"/>
                  <a:ea typeface="Microsoft YaHei UI"/>
                  <a:cs typeface="Segoe UI"/>
                </a:rPr>
                <a:t>针对性 7 passed · 全量 Python 44 passed</a:t>
              </a:r>
            </a:p>
          </p:txBody>
        </p:sp>
        <p:sp>
          <p:nvSpPr>
            <p:cNvPr id="52" name="TextBox 52"/>
            <p:cNvSpPr txBox="1"/>
            <p:nvPr/>
          </p:nvSpPr>
          <p:spPr>
            <a:xfrm>
              <a:off x="7592263" y="5969318"/>
              <a:ext cx="3844595" cy="264033"/>
            </a:xfrm>
            <a:prstGeom prst="rect">
              <a:avLst/>
            </a:prstGeom>
            <a:noFill/>
            <a:ln>
              <a:noFill/>
            </a:ln>
          </p:spPr>
          <p:txBody>
            <a:bodyPr wrap="none" lIns="0" tIns="0" rIns="0" bIns="0" anchor="t" anchorCtr="0">
              <a:spAutoFit/>
            </a:bodyPr>
            <a:lstStyle/>
            <a:p>
              <a:pPr algn="r"/>
              <a:r>
                <a:rPr lang="zh-CN" sz="1350" dirty="0">
                  <a:solidFill>
                    <a:srgbClr val="CDD8D2"/>
                  </a:solidFill>
                  <a:latin typeface="Segoe UI"/>
                  <a:ea typeface="Microsoft YaHei UI"/>
                  <a:cs typeface="Segoe UI"/>
                </a:rPr>
                <a:t>未验证：API 重启 · 多实例通知 · 浏览器 E2E</a:t>
              </a:r>
            </a:p>
          </p:txBody>
        </p:sp>
      </p:grpSp>
      <p:grpSp>
        <p:nvGrpSpPr>
          <p:cNvPr id="56" name="Group 56"/>
          <p:cNvGrpSpPr/>
          <p:nvPr/>
        </p:nvGrpSpPr>
        <p:grpSpPr>
          <a:xfrm>
            <a:off x="528066" y="6439852"/>
            <a:ext cx="11135868" cy="205359"/>
            <a:chOff x="528066" y="6439852"/>
            <a:chExt cx="11135868" cy="205359"/>
          </a:xfrm>
        </p:grpSpPr>
        <p:sp>
          <p:nvSpPr>
            <p:cNvPr id="54" name="TextBox 54"/>
            <p:cNvSpPr txBox="1"/>
            <p:nvPr/>
          </p:nvSpPr>
          <p:spPr>
            <a:xfrm>
              <a:off x="528066" y="6439852"/>
              <a:ext cx="5727238" cy="205359"/>
            </a:xfrm>
            <a:prstGeom prst="rect">
              <a:avLst/>
            </a:prstGeom>
            <a:noFill/>
            <a:ln>
              <a:noFill/>
            </a:ln>
          </p:spPr>
          <p:txBody>
            <a:bodyPr wrap="none" lIns="0" tIns="0" rIns="0" bIns="0" anchor="t" anchorCtr="0">
              <a:spAutoFit/>
            </a:bodyPr>
            <a:lstStyle/>
            <a:p>
              <a:pPr algn="l"/>
              <a:r>
                <a:rPr lang="en-US" sz="1050" dirty="0">
                  <a:solidFill>
                    <a:srgbClr val="74817B"/>
                  </a:solidFill>
                  <a:latin typeface="Segoe UI"/>
                  <a:ea typeface="Segoe UI"/>
                  <a:cs typeface="Segoe UI"/>
                </a:rPr>
                <a:t>Source: DR-0002 §4/§6 · UI_SERVER_FACT_MATRIX §5 · REPORT_STATUS_SNAPSHOT</a:t>
              </a:r>
            </a:p>
          </p:txBody>
        </p:sp>
        <p:sp>
          <p:nvSpPr>
            <p:cNvPr id="55" name="TextBox 55"/>
            <p:cNvSpPr txBox="1"/>
            <p:nvPr/>
          </p:nvSpPr>
          <p:spPr>
            <a:xfrm>
              <a:off x="11179740" y="6439852"/>
              <a:ext cx="484194" cy="205359"/>
            </a:xfrm>
            <a:prstGeom prst="rect">
              <a:avLst/>
            </a:prstGeom>
            <a:noFill/>
            <a:ln>
              <a:noFill/>
            </a:ln>
          </p:spPr>
          <p:txBody>
            <a:bodyPr wrap="none" lIns="0" tIns="0" rIns="0" bIns="0" anchor="t" anchorCtr="0">
              <a:spAutoFit/>
            </a:bodyPr>
            <a:lstStyle/>
            <a:p>
              <a:pPr algn="r"/>
              <a:r>
                <a:rPr lang="en-US" sz="1050" dirty="0">
                  <a:solidFill>
                    <a:srgbClr val="14865F"/>
                  </a:solidFill>
                  <a:latin typeface="Consolas"/>
                  <a:ea typeface="Consolas"/>
                  <a:cs typeface="Consolas"/>
                </a:rPr>
                <a:t>05 / 11</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8"/>
          </a:solidFill>
          <a:ln>
            <a:noFill/>
          </a:ln>
        </p:spPr>
      </p:sp>
      <p:grpSp>
        <p:nvGrpSpPr>
          <p:cNvPr id="6" name="Group 6"/>
          <p:cNvGrpSpPr/>
          <p:nvPr/>
        </p:nvGrpSpPr>
        <p:grpSpPr>
          <a:xfrm>
            <a:off x="533400" y="400050"/>
            <a:ext cx="11130534" cy="670179"/>
            <a:chOff x="533400" y="400050"/>
            <a:chExt cx="11130534" cy="670179"/>
          </a:xfrm>
        </p:grpSpPr>
        <p:sp>
          <p:nvSpPr>
            <p:cNvPr id="3" name="Rectangle 3"/>
            <p:cNvSpPr/>
            <p:nvPr/>
          </p:nvSpPr>
          <p:spPr>
            <a:xfrm>
              <a:off x="533400" y="400050"/>
              <a:ext cx="57150" cy="495300"/>
            </a:xfrm>
            <a:prstGeom prst="rect">
              <a:avLst/>
            </a:prstGeom>
            <a:solidFill>
              <a:srgbClr val="14865F"/>
            </a:solidFill>
            <a:ln>
              <a:noFill/>
            </a:ln>
          </p:spPr>
        </p:sp>
        <p:sp>
          <p:nvSpPr>
            <p:cNvPr id="4" name="TextBox 4"/>
            <p:cNvSpPr txBox="1"/>
            <p:nvPr/>
          </p:nvSpPr>
          <p:spPr>
            <a:xfrm>
              <a:off x="745236" y="424815"/>
              <a:ext cx="9822716" cy="645414"/>
            </a:xfrm>
            <a:prstGeom prst="rect">
              <a:avLst/>
            </a:prstGeom>
            <a:noFill/>
            <a:ln>
              <a:noFill/>
            </a:ln>
          </p:spPr>
          <p:txBody>
            <a:bodyPr wrap="none" lIns="0" tIns="0" rIns="0" bIns="0" anchor="t" anchorCtr="0">
              <a:spAutoFit/>
            </a:bodyPr>
            <a:lstStyle/>
            <a:p>
              <a:pPr algn="l"/>
              <a:r>
                <a:rPr lang="zh-CN" sz="3300" b="1" dirty="0">
                  <a:solidFill>
                    <a:srgbClr val="1C2A24"/>
                  </a:solidFill>
                  <a:latin typeface="Segoe UI"/>
                  <a:ea typeface="Microsoft YaHei UI"/>
                  <a:cs typeface="Segoe UI"/>
                </a:rPr>
                <a:t>PR #6：冲突、控制与 Commit 都有服务端事实</a:t>
              </a:r>
            </a:p>
          </p:txBody>
        </p:sp>
        <p:sp>
          <p:nvSpPr>
            <p:cNvPr id="5" name="TextBox 5"/>
            <p:cNvSpPr txBox="1"/>
            <p:nvPr/>
          </p:nvSpPr>
          <p:spPr>
            <a:xfrm>
              <a:off x="9920783" y="629602"/>
              <a:ext cx="1743151" cy="205359"/>
            </a:xfrm>
            <a:prstGeom prst="rect">
              <a:avLst/>
            </a:prstGeom>
            <a:noFill/>
            <a:ln>
              <a:noFill/>
            </a:ln>
          </p:spPr>
          <p:txBody>
            <a:bodyPr wrap="none" lIns="0" tIns="0" rIns="0" bIns="0" anchor="t" anchorCtr="0">
              <a:spAutoFit/>
            </a:bodyPr>
            <a:lstStyle/>
            <a:p>
              <a:pPr algn="r"/>
              <a:r>
                <a:rPr lang="en-US" sz="1050" dirty="0">
                  <a:solidFill>
                    <a:srgbClr val="74817B"/>
                  </a:solidFill>
                  <a:latin typeface="Consolas"/>
                  <a:ea typeface="Consolas"/>
                  <a:cs typeface="Consolas"/>
                </a:rPr>
                <a:t>CONTROLLED LOOP · P06</a:t>
              </a:r>
            </a:p>
          </p:txBody>
        </p:sp>
      </p:grpSp>
      <p:grpSp>
        <p:nvGrpSpPr>
          <p:cNvPr id="9" name="Group 9"/>
          <p:cNvGrpSpPr/>
          <p:nvPr/>
        </p:nvGrpSpPr>
        <p:grpSpPr>
          <a:xfrm>
            <a:off x="522732" y="1068705"/>
            <a:ext cx="11707197" cy="521970"/>
            <a:chOff x="522732" y="1068705"/>
            <a:chExt cx="11707197" cy="521970"/>
          </a:xfrm>
        </p:grpSpPr>
        <p:sp>
          <p:nvSpPr>
            <p:cNvPr id="7" name="TextBox 7"/>
            <p:cNvSpPr txBox="1"/>
            <p:nvPr/>
          </p:nvSpPr>
          <p:spPr>
            <a:xfrm>
              <a:off x="522732" y="1068705"/>
              <a:ext cx="11707197" cy="410718"/>
            </a:xfrm>
            <a:prstGeom prst="rect">
              <a:avLst/>
            </a:prstGeom>
            <a:noFill/>
            <a:ln>
              <a:noFill/>
            </a:ln>
          </p:spPr>
          <p:txBody>
            <a:bodyPr wrap="none" lIns="0" tIns="0" rIns="0" bIns="0" anchor="t" anchorCtr="0">
              <a:spAutoFit/>
            </a:bodyPr>
            <a:lstStyle/>
            <a:p>
              <a:pPr algn="l"/>
              <a:r>
                <a:rPr lang="zh-CN" sz="2100" b="1" dirty="0">
                  <a:solidFill>
                    <a:srgbClr val="202824"/>
                  </a:solidFill>
                  <a:latin typeface="Segoe UI"/>
                  <a:ea typeface="Microsoft YaHei UI"/>
                  <a:cs typeface="Segoe UI"/>
                </a:rPr>
                <a:t>固定 Fixture 已能原子地产生有序 Trace、工件版本、验证、局部冲突与最终 Commit。</a:t>
              </a:r>
            </a:p>
          </p:txBody>
        </p:sp>
        <p:sp>
          <p:nvSpPr>
            <p:cNvPr id="8" name="Line 8"/>
            <p:cNvSpPr/>
            <p:nvPr/>
          </p:nvSpPr>
          <p:spPr>
            <a:xfrm>
              <a:off x="533400" y="1581150"/>
              <a:ext cx="11125200" cy="9525"/>
            </a:xfrm>
            <a:custGeom>
              <a:avLst/>
              <a:gdLst/>
              <a:ahLst/>
              <a:cxnLst/>
              <a:rect l="l" t="t" r="r" b="b"/>
              <a:pathLst>
                <a:path w="11125200" h="9525">
                  <a:moveTo>
                    <a:pt x="0" y="0"/>
                  </a:moveTo>
                  <a:lnTo>
                    <a:pt x="11125200" y="0"/>
                  </a:lnTo>
                </a:path>
              </a:pathLst>
            </a:custGeom>
            <a:noFill/>
            <a:ln w="9525">
              <a:solidFill>
                <a:srgbClr val="CDD8D2"/>
              </a:solidFill>
            </a:ln>
          </p:spPr>
        </p:sp>
      </p:grpSp>
      <p:grpSp>
        <p:nvGrpSpPr>
          <p:cNvPr id="39" name="Group 39"/>
          <p:cNvGrpSpPr/>
          <p:nvPr/>
        </p:nvGrpSpPr>
        <p:grpSpPr>
          <a:xfrm>
            <a:off x="533400" y="2000250"/>
            <a:ext cx="11249254" cy="1143000"/>
            <a:chOff x="533400" y="2000250"/>
            <a:chExt cx="11249254" cy="1143000"/>
          </a:xfrm>
        </p:grpSpPr>
        <p:grpSp>
          <p:nvGrpSpPr>
            <p:cNvPr id="14" name="Group 14"/>
            <p:cNvGrpSpPr/>
            <p:nvPr/>
          </p:nvGrpSpPr>
          <p:grpSpPr>
            <a:xfrm>
              <a:off x="533400" y="2000250"/>
              <a:ext cx="2066065" cy="1143000"/>
              <a:chOff x="533400" y="2000250"/>
              <a:chExt cx="2066065" cy="1143000"/>
            </a:xfrm>
          </p:grpSpPr>
          <p:sp>
            <p:nvSpPr>
              <p:cNvPr id="10" name="Rectangle 10"/>
              <p:cNvSpPr/>
              <p:nvPr/>
            </p:nvSpPr>
            <p:spPr>
              <a:xfrm>
                <a:off x="533400" y="2000250"/>
                <a:ext cx="1752600" cy="1143000"/>
              </a:xfrm>
              <a:prstGeom prst="rect">
                <a:avLst/>
              </a:prstGeom>
              <a:solidFill>
                <a:srgbClr val="FFFFFF"/>
              </a:solidFill>
              <a:ln w="9525">
                <a:solidFill>
                  <a:srgbClr val="CDD8D2"/>
                </a:solidFill>
              </a:ln>
            </p:spPr>
          </p:sp>
          <p:sp>
            <p:nvSpPr>
              <p:cNvPr id="11" name="TextBox 11"/>
              <p:cNvSpPr txBox="1"/>
              <p:nvPr/>
            </p:nvSpPr>
            <p:spPr>
              <a:xfrm>
                <a:off x="717042" y="2159318"/>
                <a:ext cx="223622" cy="264033"/>
              </a:xfrm>
              <a:prstGeom prst="rect">
                <a:avLst/>
              </a:prstGeom>
              <a:noFill/>
              <a:ln>
                <a:noFill/>
              </a:ln>
            </p:spPr>
            <p:txBody>
              <a:bodyPr wrap="none" lIns="0" tIns="0" rIns="0" bIns="0" anchor="t" anchorCtr="0">
                <a:spAutoFit/>
              </a:bodyPr>
              <a:lstStyle/>
              <a:p>
                <a:pPr algn="l"/>
                <a:r>
                  <a:rPr lang="en-US" sz="1350" b="1" dirty="0">
                    <a:solidFill>
                      <a:srgbClr val="14865F"/>
                    </a:solidFill>
                    <a:latin typeface="Consolas"/>
                    <a:ea typeface="Consolas"/>
                    <a:cs typeface="Consolas"/>
                  </a:rPr>
                  <a:t>01</a:t>
                </a:r>
              </a:p>
            </p:txBody>
          </p:sp>
          <p:sp>
            <p:nvSpPr>
              <p:cNvPr id="12" name="TextBox 12"/>
              <p:cNvSpPr txBox="1"/>
              <p:nvPr/>
            </p:nvSpPr>
            <p:spPr>
              <a:xfrm>
                <a:off x="714756" y="2491740"/>
                <a:ext cx="1057069" cy="352044"/>
              </a:xfrm>
              <a:prstGeom prst="rect">
                <a:avLst/>
              </a:prstGeom>
              <a:noFill/>
              <a:ln>
                <a:noFill/>
              </a:ln>
            </p:spPr>
            <p:txBody>
              <a:bodyPr wrap="none" lIns="0" tIns="0" rIns="0" bIns="0" anchor="t" anchorCtr="0">
                <a:spAutoFit/>
              </a:bodyPr>
              <a:lstStyle/>
              <a:p>
                <a:pPr algn="l"/>
                <a:r>
                  <a:rPr lang="en-US" sz="1800" b="1" dirty="0">
                    <a:solidFill>
                      <a:srgbClr val="202824"/>
                    </a:solidFill>
                    <a:latin typeface="Segoe UI"/>
                    <a:ea typeface="Segoe UI"/>
                    <a:cs typeface="Segoe UI"/>
                  </a:rPr>
                  <a:t>Observe</a:t>
                </a:r>
              </a:p>
            </p:txBody>
          </p:sp>
          <p:sp>
            <p:nvSpPr>
              <p:cNvPr id="13" name="TextBox 13"/>
              <p:cNvSpPr txBox="1"/>
              <p:nvPr/>
            </p:nvSpPr>
            <p:spPr>
              <a:xfrm>
                <a:off x="717042" y="2845118"/>
                <a:ext cx="1882423"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读取四个 Fixture 引用</a:t>
                </a:r>
              </a:p>
            </p:txBody>
          </p:sp>
        </p:grpSp>
        <p:sp>
          <p:nvSpPr>
            <p:cNvPr id="15" name="Polygon 15"/>
            <p:cNvSpPr/>
            <p:nvPr/>
          </p:nvSpPr>
          <p:spPr>
            <a:xfrm>
              <a:off x="2362200" y="2362200"/>
              <a:ext cx="438150" cy="419100"/>
            </a:xfrm>
            <a:custGeom>
              <a:avLst/>
              <a:gdLst/>
              <a:ahLst/>
              <a:cxnLst/>
              <a:rect l="l" t="t" r="r" b="b"/>
              <a:pathLst>
                <a:path w="438150" h="419100">
                  <a:moveTo>
                    <a:pt x="0" y="114300"/>
                  </a:moveTo>
                  <a:lnTo>
                    <a:pt x="228600" y="114300"/>
                  </a:lnTo>
                  <a:lnTo>
                    <a:pt x="228600" y="0"/>
                  </a:lnTo>
                  <a:lnTo>
                    <a:pt x="438150" y="209550"/>
                  </a:lnTo>
                  <a:lnTo>
                    <a:pt x="228600" y="419100"/>
                  </a:lnTo>
                  <a:lnTo>
                    <a:pt x="228600" y="304800"/>
                  </a:lnTo>
                  <a:lnTo>
                    <a:pt x="0" y="304800"/>
                  </a:lnTo>
                  <a:close/>
                </a:path>
              </a:pathLst>
            </a:custGeom>
            <a:solidFill>
              <a:srgbClr val="14865F"/>
            </a:solidFill>
            <a:ln>
              <a:noFill/>
            </a:ln>
          </p:spPr>
        </p:sp>
        <p:grpSp>
          <p:nvGrpSpPr>
            <p:cNvPr id="20" name="Group 20"/>
            <p:cNvGrpSpPr/>
            <p:nvPr/>
          </p:nvGrpSpPr>
          <p:grpSpPr>
            <a:xfrm>
              <a:off x="2876550" y="2000250"/>
              <a:ext cx="1752600" cy="1143000"/>
              <a:chOff x="2876550" y="2000250"/>
              <a:chExt cx="1752600" cy="1143000"/>
            </a:xfrm>
          </p:grpSpPr>
          <p:sp>
            <p:nvSpPr>
              <p:cNvPr id="16" name="Rectangle 16"/>
              <p:cNvSpPr/>
              <p:nvPr/>
            </p:nvSpPr>
            <p:spPr>
              <a:xfrm>
                <a:off x="2876550" y="2000250"/>
                <a:ext cx="1752600" cy="1143000"/>
              </a:xfrm>
              <a:prstGeom prst="rect">
                <a:avLst/>
              </a:prstGeom>
              <a:solidFill>
                <a:srgbClr val="EEF3F0"/>
              </a:solidFill>
              <a:ln w="9525">
                <a:solidFill>
                  <a:srgbClr val="CDD8D2"/>
                </a:solidFill>
              </a:ln>
            </p:spPr>
          </p:sp>
          <p:sp>
            <p:nvSpPr>
              <p:cNvPr id="17" name="TextBox 17"/>
              <p:cNvSpPr txBox="1"/>
              <p:nvPr/>
            </p:nvSpPr>
            <p:spPr>
              <a:xfrm>
                <a:off x="3060192" y="2159318"/>
                <a:ext cx="223622" cy="264033"/>
              </a:xfrm>
              <a:prstGeom prst="rect">
                <a:avLst/>
              </a:prstGeom>
              <a:noFill/>
              <a:ln>
                <a:noFill/>
              </a:ln>
            </p:spPr>
            <p:txBody>
              <a:bodyPr wrap="none" lIns="0" tIns="0" rIns="0" bIns="0" anchor="t" anchorCtr="0">
                <a:spAutoFit/>
              </a:bodyPr>
              <a:lstStyle/>
              <a:p>
                <a:pPr algn="l"/>
                <a:r>
                  <a:rPr lang="en-US" sz="1350" b="1" dirty="0">
                    <a:solidFill>
                      <a:srgbClr val="14865F"/>
                    </a:solidFill>
                    <a:latin typeface="Consolas"/>
                    <a:ea typeface="Consolas"/>
                    <a:cs typeface="Consolas"/>
                  </a:rPr>
                  <a:t>02</a:t>
                </a:r>
              </a:p>
            </p:txBody>
          </p:sp>
          <p:sp>
            <p:nvSpPr>
              <p:cNvPr id="18" name="TextBox 18"/>
              <p:cNvSpPr txBox="1"/>
              <p:nvPr/>
            </p:nvSpPr>
            <p:spPr>
              <a:xfrm>
                <a:off x="3057906" y="2491740"/>
                <a:ext cx="521451" cy="352044"/>
              </a:xfrm>
              <a:prstGeom prst="rect">
                <a:avLst/>
              </a:prstGeom>
              <a:noFill/>
              <a:ln>
                <a:noFill/>
              </a:ln>
            </p:spPr>
            <p:txBody>
              <a:bodyPr wrap="none" lIns="0" tIns="0" rIns="0" bIns="0" anchor="t" anchorCtr="0">
                <a:spAutoFit/>
              </a:bodyPr>
              <a:lstStyle/>
              <a:p>
                <a:pPr algn="l"/>
                <a:r>
                  <a:rPr lang="en-US" sz="1800" b="1" dirty="0">
                    <a:solidFill>
                      <a:srgbClr val="202824"/>
                    </a:solidFill>
                    <a:latin typeface="Segoe UI"/>
                    <a:ea typeface="Segoe UI"/>
                    <a:cs typeface="Segoe UI"/>
                  </a:rPr>
                  <a:t>Plan</a:t>
                </a:r>
              </a:p>
            </p:txBody>
          </p:sp>
          <p:sp>
            <p:nvSpPr>
              <p:cNvPr id="19" name="TextBox 19"/>
              <p:cNvSpPr txBox="1"/>
              <p:nvPr/>
            </p:nvSpPr>
            <p:spPr>
              <a:xfrm>
                <a:off x="3060192" y="2845118"/>
                <a:ext cx="1467612"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三分支与预算检查</a:t>
                </a:r>
              </a:p>
            </p:txBody>
          </p:sp>
        </p:grpSp>
        <p:sp>
          <p:nvSpPr>
            <p:cNvPr id="21" name="Polygon 21"/>
            <p:cNvSpPr/>
            <p:nvPr/>
          </p:nvSpPr>
          <p:spPr>
            <a:xfrm>
              <a:off x="4705350" y="2362200"/>
              <a:ext cx="438150" cy="419100"/>
            </a:xfrm>
            <a:custGeom>
              <a:avLst/>
              <a:gdLst/>
              <a:ahLst/>
              <a:cxnLst/>
              <a:rect l="l" t="t" r="r" b="b"/>
              <a:pathLst>
                <a:path w="438150" h="419100">
                  <a:moveTo>
                    <a:pt x="0" y="114300"/>
                  </a:moveTo>
                  <a:lnTo>
                    <a:pt x="228600" y="114300"/>
                  </a:lnTo>
                  <a:lnTo>
                    <a:pt x="228600" y="0"/>
                  </a:lnTo>
                  <a:lnTo>
                    <a:pt x="438150" y="209550"/>
                  </a:lnTo>
                  <a:lnTo>
                    <a:pt x="228600" y="419100"/>
                  </a:lnTo>
                  <a:lnTo>
                    <a:pt x="228600" y="304800"/>
                  </a:lnTo>
                  <a:lnTo>
                    <a:pt x="0" y="304800"/>
                  </a:lnTo>
                  <a:close/>
                </a:path>
              </a:pathLst>
            </a:custGeom>
            <a:solidFill>
              <a:srgbClr val="14865F"/>
            </a:solidFill>
            <a:ln>
              <a:noFill/>
            </a:ln>
          </p:spPr>
        </p:sp>
        <p:grpSp>
          <p:nvGrpSpPr>
            <p:cNvPr id="26" name="Group 26"/>
            <p:cNvGrpSpPr/>
            <p:nvPr/>
          </p:nvGrpSpPr>
          <p:grpSpPr>
            <a:xfrm>
              <a:off x="5219700" y="2000250"/>
              <a:ext cx="2037599" cy="1143000"/>
              <a:chOff x="5219700" y="2000250"/>
              <a:chExt cx="2037599" cy="1143000"/>
            </a:xfrm>
          </p:grpSpPr>
          <p:sp>
            <p:nvSpPr>
              <p:cNvPr id="22" name="Rectangle 22"/>
              <p:cNvSpPr/>
              <p:nvPr/>
            </p:nvSpPr>
            <p:spPr>
              <a:xfrm>
                <a:off x="5219700" y="2000250"/>
                <a:ext cx="1752600" cy="1143000"/>
              </a:xfrm>
              <a:prstGeom prst="rect">
                <a:avLst/>
              </a:prstGeom>
              <a:solidFill>
                <a:srgbClr val="FFFFFF"/>
              </a:solidFill>
              <a:ln w="9525">
                <a:solidFill>
                  <a:srgbClr val="CDD8D2"/>
                </a:solidFill>
              </a:ln>
            </p:spPr>
          </p:sp>
          <p:sp>
            <p:nvSpPr>
              <p:cNvPr id="23" name="TextBox 23"/>
              <p:cNvSpPr txBox="1"/>
              <p:nvPr/>
            </p:nvSpPr>
            <p:spPr>
              <a:xfrm>
                <a:off x="5403342" y="2159318"/>
                <a:ext cx="223622" cy="264033"/>
              </a:xfrm>
              <a:prstGeom prst="rect">
                <a:avLst/>
              </a:prstGeom>
              <a:noFill/>
              <a:ln>
                <a:noFill/>
              </a:ln>
            </p:spPr>
            <p:txBody>
              <a:bodyPr wrap="none" lIns="0" tIns="0" rIns="0" bIns="0" anchor="t" anchorCtr="0">
                <a:spAutoFit/>
              </a:bodyPr>
              <a:lstStyle/>
              <a:p>
                <a:pPr algn="l"/>
                <a:r>
                  <a:rPr lang="en-US" sz="1350" b="1" dirty="0">
                    <a:solidFill>
                      <a:srgbClr val="14865F"/>
                    </a:solidFill>
                    <a:latin typeface="Consolas"/>
                    <a:ea typeface="Consolas"/>
                    <a:cs typeface="Consolas"/>
                  </a:rPr>
                  <a:t>03</a:t>
                </a:r>
              </a:p>
            </p:txBody>
          </p:sp>
          <p:sp>
            <p:nvSpPr>
              <p:cNvPr id="24" name="TextBox 24"/>
              <p:cNvSpPr txBox="1"/>
              <p:nvPr/>
            </p:nvSpPr>
            <p:spPr>
              <a:xfrm>
                <a:off x="5401056" y="2491740"/>
                <a:ext cx="446021" cy="352044"/>
              </a:xfrm>
              <a:prstGeom prst="rect">
                <a:avLst/>
              </a:prstGeom>
              <a:noFill/>
              <a:ln>
                <a:noFill/>
              </a:ln>
            </p:spPr>
            <p:txBody>
              <a:bodyPr wrap="none" lIns="0" tIns="0" rIns="0" bIns="0" anchor="t" anchorCtr="0">
                <a:spAutoFit/>
              </a:bodyPr>
              <a:lstStyle/>
              <a:p>
                <a:pPr algn="l"/>
                <a:r>
                  <a:rPr lang="en-US" sz="1800" b="1" dirty="0">
                    <a:solidFill>
                      <a:srgbClr val="202824"/>
                    </a:solidFill>
                    <a:latin typeface="Segoe UI"/>
                    <a:ea typeface="Segoe UI"/>
                    <a:cs typeface="Segoe UI"/>
                  </a:rPr>
                  <a:t>Act</a:t>
                </a:r>
              </a:p>
            </p:txBody>
          </p:sp>
          <p:sp>
            <p:nvSpPr>
              <p:cNvPr id="25" name="TextBox 25"/>
              <p:cNvSpPr txBox="1"/>
              <p:nvPr/>
            </p:nvSpPr>
            <p:spPr>
              <a:xfrm>
                <a:off x="5403342" y="2845118"/>
                <a:ext cx="1853957"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追加 ArtifactVersion</a:t>
                </a:r>
              </a:p>
            </p:txBody>
          </p:sp>
        </p:grpSp>
        <p:sp>
          <p:nvSpPr>
            <p:cNvPr id="27" name="Polygon 27"/>
            <p:cNvSpPr/>
            <p:nvPr/>
          </p:nvSpPr>
          <p:spPr>
            <a:xfrm>
              <a:off x="7048500" y="2362200"/>
              <a:ext cx="438150" cy="419100"/>
            </a:xfrm>
            <a:custGeom>
              <a:avLst/>
              <a:gdLst/>
              <a:ahLst/>
              <a:cxnLst/>
              <a:rect l="l" t="t" r="r" b="b"/>
              <a:pathLst>
                <a:path w="438150" h="419100">
                  <a:moveTo>
                    <a:pt x="0" y="114300"/>
                  </a:moveTo>
                  <a:lnTo>
                    <a:pt x="228600" y="114300"/>
                  </a:lnTo>
                  <a:lnTo>
                    <a:pt x="228600" y="0"/>
                  </a:lnTo>
                  <a:lnTo>
                    <a:pt x="438150" y="209550"/>
                  </a:lnTo>
                  <a:lnTo>
                    <a:pt x="228600" y="419100"/>
                  </a:lnTo>
                  <a:lnTo>
                    <a:pt x="228600" y="304800"/>
                  </a:lnTo>
                  <a:lnTo>
                    <a:pt x="0" y="304800"/>
                  </a:lnTo>
                  <a:close/>
                </a:path>
              </a:pathLst>
            </a:custGeom>
            <a:solidFill>
              <a:srgbClr val="C58B2B"/>
            </a:solidFill>
            <a:ln>
              <a:noFill/>
            </a:ln>
          </p:spPr>
        </p:sp>
        <p:grpSp>
          <p:nvGrpSpPr>
            <p:cNvPr id="32" name="Group 32"/>
            <p:cNvGrpSpPr/>
            <p:nvPr/>
          </p:nvGrpSpPr>
          <p:grpSpPr>
            <a:xfrm>
              <a:off x="7562850" y="2000250"/>
              <a:ext cx="1752600" cy="1143000"/>
              <a:chOff x="7562850" y="2000250"/>
              <a:chExt cx="1752600" cy="1143000"/>
            </a:xfrm>
          </p:grpSpPr>
          <p:sp>
            <p:nvSpPr>
              <p:cNvPr id="28" name="Rectangle 28"/>
              <p:cNvSpPr/>
              <p:nvPr/>
            </p:nvSpPr>
            <p:spPr>
              <a:xfrm>
                <a:off x="7562850" y="2000250"/>
                <a:ext cx="1752600" cy="1143000"/>
              </a:xfrm>
              <a:prstGeom prst="rect">
                <a:avLst/>
              </a:prstGeom>
              <a:solidFill>
                <a:srgbClr val="EEF3F0"/>
              </a:solidFill>
              <a:ln w="19050">
                <a:solidFill>
                  <a:srgbClr val="C58B2B"/>
                </a:solidFill>
              </a:ln>
            </p:spPr>
          </p:sp>
          <p:sp>
            <p:nvSpPr>
              <p:cNvPr id="29" name="TextBox 29"/>
              <p:cNvSpPr txBox="1"/>
              <p:nvPr/>
            </p:nvSpPr>
            <p:spPr>
              <a:xfrm>
                <a:off x="7746492" y="2159318"/>
                <a:ext cx="223622" cy="264033"/>
              </a:xfrm>
              <a:prstGeom prst="rect">
                <a:avLst/>
              </a:prstGeom>
              <a:noFill/>
              <a:ln>
                <a:noFill/>
              </a:ln>
            </p:spPr>
            <p:txBody>
              <a:bodyPr wrap="none" lIns="0" tIns="0" rIns="0" bIns="0" anchor="t" anchorCtr="0">
                <a:spAutoFit/>
              </a:bodyPr>
              <a:lstStyle/>
              <a:p>
                <a:pPr algn="l"/>
                <a:r>
                  <a:rPr lang="en-US" sz="1350" b="1" dirty="0">
                    <a:solidFill>
                      <a:srgbClr val="C58B2B"/>
                    </a:solidFill>
                    <a:latin typeface="Consolas"/>
                    <a:ea typeface="Consolas"/>
                    <a:cs typeface="Consolas"/>
                  </a:rPr>
                  <a:t>04</a:t>
                </a:r>
              </a:p>
            </p:txBody>
          </p:sp>
          <p:sp>
            <p:nvSpPr>
              <p:cNvPr id="30" name="TextBox 30"/>
              <p:cNvSpPr txBox="1"/>
              <p:nvPr/>
            </p:nvSpPr>
            <p:spPr>
              <a:xfrm>
                <a:off x="7744206" y="2491740"/>
                <a:ext cx="801626" cy="352044"/>
              </a:xfrm>
              <a:prstGeom prst="rect">
                <a:avLst/>
              </a:prstGeom>
              <a:noFill/>
              <a:ln>
                <a:noFill/>
              </a:ln>
            </p:spPr>
            <p:txBody>
              <a:bodyPr wrap="none" lIns="0" tIns="0" rIns="0" bIns="0" anchor="t" anchorCtr="0">
                <a:spAutoFit/>
              </a:bodyPr>
              <a:lstStyle/>
              <a:p>
                <a:pPr algn="l"/>
                <a:r>
                  <a:rPr lang="en-US" sz="1800" b="1" dirty="0">
                    <a:solidFill>
                      <a:srgbClr val="202824"/>
                    </a:solidFill>
                    <a:latin typeface="Segoe UI"/>
                    <a:ea typeface="Segoe UI"/>
                    <a:cs typeface="Segoe UI"/>
                  </a:rPr>
                  <a:t>Verify</a:t>
                </a:r>
              </a:p>
            </p:txBody>
          </p:sp>
          <p:sp>
            <p:nvSpPr>
              <p:cNvPr id="31" name="TextBox 31"/>
              <p:cNvSpPr txBox="1"/>
              <p:nvPr/>
            </p:nvSpPr>
            <p:spPr>
              <a:xfrm>
                <a:off x="7746492" y="2845118"/>
                <a:ext cx="1494873"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验证报告 + 冲突门</a:t>
                </a:r>
              </a:p>
            </p:txBody>
          </p:sp>
        </p:grpSp>
        <p:sp>
          <p:nvSpPr>
            <p:cNvPr id="33" name="Polygon 33"/>
            <p:cNvSpPr/>
            <p:nvPr/>
          </p:nvSpPr>
          <p:spPr>
            <a:xfrm>
              <a:off x="9391650" y="2362200"/>
              <a:ext cx="438150" cy="419100"/>
            </a:xfrm>
            <a:custGeom>
              <a:avLst/>
              <a:gdLst/>
              <a:ahLst/>
              <a:cxnLst/>
              <a:rect l="l" t="t" r="r" b="b"/>
              <a:pathLst>
                <a:path w="438150" h="419100">
                  <a:moveTo>
                    <a:pt x="0" y="114300"/>
                  </a:moveTo>
                  <a:lnTo>
                    <a:pt x="228600" y="114300"/>
                  </a:lnTo>
                  <a:lnTo>
                    <a:pt x="228600" y="0"/>
                  </a:lnTo>
                  <a:lnTo>
                    <a:pt x="438150" y="209550"/>
                  </a:lnTo>
                  <a:lnTo>
                    <a:pt x="228600" y="419100"/>
                  </a:lnTo>
                  <a:lnTo>
                    <a:pt x="228600" y="304800"/>
                  </a:lnTo>
                  <a:lnTo>
                    <a:pt x="0" y="304800"/>
                  </a:lnTo>
                  <a:close/>
                </a:path>
              </a:pathLst>
            </a:custGeom>
            <a:solidFill>
              <a:srgbClr val="14865F"/>
            </a:solidFill>
            <a:ln>
              <a:noFill/>
            </a:ln>
          </p:spPr>
        </p:sp>
        <p:grpSp>
          <p:nvGrpSpPr>
            <p:cNvPr id="38" name="Group 38"/>
            <p:cNvGrpSpPr/>
            <p:nvPr/>
          </p:nvGrpSpPr>
          <p:grpSpPr>
            <a:xfrm>
              <a:off x="9906000" y="2000250"/>
              <a:ext cx="1876654" cy="1143000"/>
              <a:chOff x="9906000" y="2000250"/>
              <a:chExt cx="1876654" cy="1143000"/>
            </a:xfrm>
          </p:grpSpPr>
          <p:sp>
            <p:nvSpPr>
              <p:cNvPr id="34" name="Rectangle 34"/>
              <p:cNvSpPr/>
              <p:nvPr/>
            </p:nvSpPr>
            <p:spPr>
              <a:xfrm>
                <a:off x="9906000" y="2000250"/>
                <a:ext cx="1752600" cy="1143000"/>
              </a:xfrm>
              <a:prstGeom prst="rect">
                <a:avLst/>
              </a:prstGeom>
              <a:solidFill>
                <a:srgbClr val="14865F"/>
              </a:solidFill>
              <a:ln w="9525">
                <a:solidFill>
                  <a:srgbClr val="14865F"/>
                </a:solidFill>
              </a:ln>
            </p:spPr>
          </p:sp>
          <p:sp>
            <p:nvSpPr>
              <p:cNvPr id="35" name="TextBox 35"/>
              <p:cNvSpPr txBox="1"/>
              <p:nvPr/>
            </p:nvSpPr>
            <p:spPr>
              <a:xfrm>
                <a:off x="10089642" y="2159318"/>
                <a:ext cx="223622"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Consolas"/>
                    <a:ea typeface="Consolas"/>
                    <a:cs typeface="Consolas"/>
                  </a:rPr>
                  <a:t>05</a:t>
                </a:r>
              </a:p>
            </p:txBody>
          </p:sp>
          <p:sp>
            <p:nvSpPr>
              <p:cNvPr id="36" name="TextBox 36"/>
              <p:cNvSpPr txBox="1"/>
              <p:nvPr/>
            </p:nvSpPr>
            <p:spPr>
              <a:xfrm>
                <a:off x="10087356" y="2491740"/>
                <a:ext cx="904359"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Segoe UI"/>
                    <a:ea typeface="Segoe UI"/>
                    <a:cs typeface="Segoe UI"/>
                  </a:rPr>
                  <a:t>Commit</a:t>
                </a:r>
              </a:p>
            </p:txBody>
          </p:sp>
          <p:sp>
            <p:nvSpPr>
              <p:cNvPr id="37" name="TextBox 37"/>
              <p:cNvSpPr txBox="1"/>
              <p:nvPr/>
            </p:nvSpPr>
            <p:spPr>
              <a:xfrm>
                <a:off x="10090404" y="2861310"/>
                <a:ext cx="1692250"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Segoe UI"/>
                    <a:ea typeface="Microsoft YaHei UI"/>
                    <a:cs typeface="Segoe UI"/>
                  </a:rPr>
                  <a:t>引用完整 · state hash</a:t>
                </a:r>
              </a:p>
            </p:txBody>
          </p:sp>
        </p:grpSp>
      </p:grpSp>
      <p:grpSp>
        <p:nvGrpSpPr>
          <p:cNvPr id="50" name="Group 50"/>
          <p:cNvGrpSpPr/>
          <p:nvPr/>
        </p:nvGrpSpPr>
        <p:grpSpPr>
          <a:xfrm>
            <a:off x="4057650" y="3143250"/>
            <a:ext cx="7600950" cy="1657350"/>
            <a:chOff x="4057650" y="3143250"/>
            <a:chExt cx="7600950" cy="1657350"/>
          </a:xfrm>
        </p:grpSpPr>
        <p:sp>
          <p:nvSpPr>
            <p:cNvPr id="40" name="Line 40"/>
            <p:cNvSpPr/>
            <p:nvPr/>
          </p:nvSpPr>
          <p:spPr>
            <a:xfrm>
              <a:off x="8439150" y="3143250"/>
              <a:ext cx="9525" cy="419100"/>
            </a:xfrm>
            <a:custGeom>
              <a:avLst/>
              <a:gdLst/>
              <a:ahLst/>
              <a:cxnLst/>
              <a:rect l="l" t="t" r="r" b="b"/>
              <a:pathLst>
                <a:path w="9525" h="419100">
                  <a:moveTo>
                    <a:pt x="0" y="0"/>
                  </a:moveTo>
                  <a:lnTo>
                    <a:pt x="0" y="419100"/>
                  </a:lnTo>
                </a:path>
              </a:pathLst>
            </a:custGeom>
            <a:noFill/>
            <a:ln w="28575">
              <a:solidFill>
                <a:srgbClr val="C58B2B"/>
              </a:solidFill>
            </a:ln>
          </p:spPr>
        </p:sp>
        <p:sp>
          <p:nvSpPr>
            <p:cNvPr id="41" name="Polygon 41"/>
            <p:cNvSpPr/>
            <p:nvPr/>
          </p:nvSpPr>
          <p:spPr>
            <a:xfrm>
              <a:off x="8343900" y="3562350"/>
              <a:ext cx="190500" cy="152400"/>
            </a:xfrm>
            <a:custGeom>
              <a:avLst/>
              <a:gdLst/>
              <a:ahLst/>
              <a:cxnLst/>
              <a:rect l="l" t="t" r="r" b="b"/>
              <a:pathLst>
                <a:path w="190500" h="152400">
                  <a:moveTo>
                    <a:pt x="0" y="0"/>
                  </a:moveTo>
                  <a:lnTo>
                    <a:pt x="190500" y="0"/>
                  </a:lnTo>
                  <a:lnTo>
                    <a:pt x="95250" y="152400"/>
                  </a:lnTo>
                  <a:close/>
                </a:path>
              </a:pathLst>
            </a:custGeom>
            <a:solidFill>
              <a:srgbClr val="C58B2B"/>
            </a:solidFill>
            <a:ln>
              <a:noFill/>
            </a:ln>
          </p:spPr>
        </p:sp>
        <p:sp>
          <p:nvSpPr>
            <p:cNvPr id="42" name="Rectangle 42"/>
            <p:cNvSpPr/>
            <p:nvPr/>
          </p:nvSpPr>
          <p:spPr>
            <a:xfrm>
              <a:off x="4057650" y="3752850"/>
              <a:ext cx="7600950" cy="1047750"/>
            </a:xfrm>
            <a:prstGeom prst="rect">
              <a:avLst/>
            </a:prstGeom>
            <a:solidFill>
              <a:srgbClr val="FFFFFF"/>
            </a:solidFill>
            <a:ln w="19050">
              <a:solidFill>
                <a:srgbClr val="C58B2B"/>
              </a:solidFill>
            </a:ln>
          </p:spPr>
        </p:sp>
        <p:sp>
          <p:nvSpPr>
            <p:cNvPr id="43" name="Rectangle 43"/>
            <p:cNvSpPr/>
            <p:nvPr/>
          </p:nvSpPr>
          <p:spPr>
            <a:xfrm>
              <a:off x="4057650" y="3752850"/>
              <a:ext cx="95250" cy="1047750"/>
            </a:xfrm>
            <a:prstGeom prst="rect">
              <a:avLst/>
            </a:prstGeom>
            <a:solidFill>
              <a:srgbClr val="C58B2B"/>
            </a:solidFill>
            <a:ln>
              <a:noFill/>
            </a:ln>
          </p:spPr>
        </p:sp>
        <p:sp>
          <p:nvSpPr>
            <p:cNvPr id="44" name="Freeform 44"/>
            <p:cNvSpPr/>
            <p:nvPr/>
          </p:nvSpPr>
          <p:spPr>
            <a:xfrm>
              <a:off x="4362450" y="4057650"/>
              <a:ext cx="419100" cy="392906"/>
            </a:xfrm>
            <a:custGeom>
              <a:avLst/>
              <a:gdLst/>
              <a:ahLst/>
              <a:cxnLst/>
              <a:rect l="l" t="t" r="r" b="b"/>
              <a:pathLst>
                <a:path w="419100" h="392906">
                  <a:moveTo>
                    <a:pt x="419100" y="392906"/>
                  </a:moveTo>
                  <a:lnTo>
                    <a:pt x="0" y="392906"/>
                  </a:lnTo>
                  <a:lnTo>
                    <a:pt x="0" y="314325"/>
                  </a:lnTo>
                  <a:lnTo>
                    <a:pt x="183356" y="0"/>
                  </a:lnTo>
                  <a:lnTo>
                    <a:pt x="235744" y="0"/>
                  </a:lnTo>
                  <a:lnTo>
                    <a:pt x="419100" y="314325"/>
                  </a:lnTo>
                  <a:lnTo>
                    <a:pt x="419100" y="392906"/>
                  </a:lnTo>
                  <a:close/>
                  <a:moveTo>
                    <a:pt x="183356" y="104775"/>
                  </a:moveTo>
                  <a:lnTo>
                    <a:pt x="235744" y="104775"/>
                  </a:lnTo>
                  <a:lnTo>
                    <a:pt x="235744" y="235744"/>
                  </a:lnTo>
                  <a:lnTo>
                    <a:pt x="183356" y="235744"/>
                  </a:lnTo>
                  <a:lnTo>
                    <a:pt x="183356" y="104775"/>
                  </a:lnTo>
                  <a:close/>
                  <a:moveTo>
                    <a:pt x="183356" y="288131"/>
                  </a:moveTo>
                  <a:lnTo>
                    <a:pt x="235744" y="288131"/>
                  </a:lnTo>
                  <a:lnTo>
                    <a:pt x="235744" y="340519"/>
                  </a:lnTo>
                  <a:lnTo>
                    <a:pt x="183356" y="340519"/>
                  </a:lnTo>
                  <a:lnTo>
                    <a:pt x="183356" y="288131"/>
                  </a:lnTo>
                  <a:close/>
                </a:path>
              </a:pathLst>
            </a:custGeom>
            <a:solidFill>
              <a:srgbClr val="C58B2B"/>
            </a:solidFill>
            <a:ln>
              <a:noFill/>
            </a:ln>
          </p:spPr>
        </p:sp>
        <p:sp>
          <p:nvSpPr>
            <p:cNvPr id="45" name="TextBox 45"/>
            <p:cNvSpPr txBox="1"/>
            <p:nvPr/>
          </p:nvSpPr>
          <p:spPr>
            <a:xfrm>
              <a:off x="4981956" y="3901440"/>
              <a:ext cx="2817038"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经营分析：收入事实冲突</a:t>
              </a:r>
            </a:p>
          </p:txBody>
        </p:sp>
        <p:sp>
          <p:nvSpPr>
            <p:cNvPr id="46" name="TextBox 46"/>
            <p:cNvSpPr txBox="1"/>
            <p:nvPr/>
          </p:nvSpPr>
          <p:spPr>
            <a:xfrm>
              <a:off x="4981956" y="4301490"/>
              <a:ext cx="3999877"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Consolas"/>
                  <a:ea typeface="Microsoft YaHei"/>
                  <a:cs typeface="Consolas"/>
                </a:rPr>
                <a:t>CRM 2,400 万 ↔ Forecast 2,680 万</a:t>
              </a:r>
            </a:p>
          </p:txBody>
        </p:sp>
        <p:sp>
          <p:nvSpPr>
            <p:cNvPr id="47" name="TextBox 47"/>
            <p:cNvSpPr txBox="1"/>
            <p:nvPr/>
          </p:nvSpPr>
          <p:spPr>
            <a:xfrm>
              <a:off x="10150983" y="4007168"/>
              <a:ext cx="1285875" cy="264033"/>
            </a:xfrm>
            <a:prstGeom prst="rect">
              <a:avLst/>
            </a:prstGeom>
            <a:noFill/>
            <a:ln>
              <a:noFill/>
            </a:ln>
          </p:spPr>
          <p:txBody>
            <a:bodyPr wrap="none" lIns="0" tIns="0" rIns="0" bIns="0" anchor="t" anchorCtr="0">
              <a:spAutoFit/>
            </a:bodyPr>
            <a:lstStyle/>
            <a:p>
              <a:pPr algn="r"/>
              <a:r>
                <a:rPr lang="zh-CN" sz="1350" dirty="0">
                  <a:solidFill>
                    <a:srgbClr val="52605A"/>
                  </a:solidFill>
                  <a:latin typeface="Segoe UI"/>
                  <a:ea typeface="Microsoft YaHei UI"/>
                  <a:cs typeface="Segoe UI"/>
                </a:rPr>
                <a:t>只阻塞目标分支</a:t>
              </a:r>
            </a:p>
          </p:txBody>
        </p:sp>
        <p:sp>
          <p:nvSpPr>
            <p:cNvPr id="48" name="TextBox 48"/>
            <p:cNvSpPr txBox="1"/>
            <p:nvPr/>
          </p:nvSpPr>
          <p:spPr>
            <a:xfrm>
              <a:off x="9181719" y="4328160"/>
              <a:ext cx="2254377" cy="234696"/>
            </a:xfrm>
            <a:prstGeom prst="rect">
              <a:avLst/>
            </a:prstGeom>
            <a:noFill/>
            <a:ln>
              <a:noFill/>
            </a:ln>
          </p:spPr>
          <p:txBody>
            <a:bodyPr wrap="none" lIns="0" tIns="0" rIns="0" bIns="0" anchor="t" anchorCtr="0">
              <a:spAutoFit/>
            </a:bodyPr>
            <a:lstStyle/>
            <a:p>
              <a:pPr algn="r"/>
              <a:r>
                <a:rPr lang="zh-CN" sz="1200" dirty="0">
                  <a:solidFill>
                    <a:srgbClr val="C58B2B"/>
                  </a:solidFill>
                  <a:latin typeface="Segoe UI"/>
                  <a:ea typeface="Microsoft YaHei UI"/>
                  <a:cs typeface="Segoe UI"/>
                </a:rPr>
                <a:t>最后一个冲突关闭后才 Commit</a:t>
              </a:r>
            </a:p>
          </p:txBody>
        </p:sp>
        <p:sp>
          <p:nvSpPr>
            <p:cNvPr id="49" name="Line 49"/>
            <p:cNvSpPr/>
            <p:nvPr/>
          </p:nvSpPr>
          <p:spPr>
            <a:xfrm>
              <a:off x="9277350" y="4267200"/>
              <a:ext cx="323850" cy="9525"/>
            </a:xfrm>
            <a:custGeom>
              <a:avLst/>
              <a:gdLst/>
              <a:ahLst/>
              <a:cxnLst/>
              <a:rect l="l" t="t" r="r" b="b"/>
              <a:pathLst>
                <a:path w="323850" h="9525">
                  <a:moveTo>
                    <a:pt x="0" y="0"/>
                  </a:moveTo>
                  <a:lnTo>
                    <a:pt x="323850" y="0"/>
                  </a:lnTo>
                </a:path>
              </a:pathLst>
            </a:custGeom>
            <a:noFill/>
            <a:ln w="19050">
              <a:solidFill>
                <a:srgbClr val="C58B2B"/>
              </a:solidFill>
            </a:ln>
          </p:spPr>
        </p:sp>
      </p:grpSp>
      <p:grpSp>
        <p:nvGrpSpPr>
          <p:cNvPr id="56" name="Group 56"/>
          <p:cNvGrpSpPr/>
          <p:nvPr/>
        </p:nvGrpSpPr>
        <p:grpSpPr>
          <a:xfrm>
            <a:off x="533400" y="3752850"/>
            <a:ext cx="3257550" cy="1047750"/>
            <a:chOff x="533400" y="3752850"/>
            <a:chExt cx="3257550" cy="1047750"/>
          </a:xfrm>
        </p:grpSpPr>
        <p:sp>
          <p:nvSpPr>
            <p:cNvPr id="51" name="Rectangle 51"/>
            <p:cNvSpPr/>
            <p:nvPr/>
          </p:nvSpPr>
          <p:spPr>
            <a:xfrm>
              <a:off x="533400" y="3752850"/>
              <a:ext cx="3257550" cy="1047750"/>
            </a:xfrm>
            <a:prstGeom prst="rect">
              <a:avLst/>
            </a:prstGeom>
            <a:solidFill>
              <a:srgbClr val="EEF3F0"/>
            </a:solidFill>
            <a:ln w="9525">
              <a:solidFill>
                <a:srgbClr val="CDD8D2"/>
              </a:solidFill>
            </a:ln>
          </p:spPr>
        </p:sp>
        <p:sp>
          <p:nvSpPr>
            <p:cNvPr id="52" name="Freeform 52"/>
            <p:cNvSpPr/>
            <p:nvPr/>
          </p:nvSpPr>
          <p:spPr>
            <a:xfrm>
              <a:off x="762000" y="4057650"/>
              <a:ext cx="381000" cy="381000"/>
            </a:xfrm>
            <a:custGeom>
              <a:avLst/>
              <a:gdLst/>
              <a:ahLst/>
              <a:cxnLst/>
              <a:rect l="l" t="t" r="r" b="b"/>
              <a:pathLst>
                <a:path w="381000" h="381000">
                  <a:moveTo>
                    <a:pt x="190500" y="381000"/>
                  </a:moveTo>
                  <a:cubicBezTo>
                    <a:pt x="295711" y="381000"/>
                    <a:pt x="381000" y="295711"/>
                    <a:pt x="381000" y="190500"/>
                  </a:cubicBezTo>
                  <a:cubicBezTo>
                    <a:pt x="381000" y="85290"/>
                    <a:pt x="295711" y="0"/>
                    <a:pt x="190500" y="0"/>
                  </a:cubicBezTo>
                  <a:cubicBezTo>
                    <a:pt x="85290" y="0"/>
                    <a:pt x="0" y="85290"/>
                    <a:pt x="0" y="190500"/>
                  </a:cubicBezTo>
                  <a:cubicBezTo>
                    <a:pt x="0" y="295711"/>
                    <a:pt x="85290" y="381000"/>
                    <a:pt x="190500" y="381000"/>
                  </a:cubicBezTo>
                  <a:close/>
                  <a:moveTo>
                    <a:pt x="302588" y="135901"/>
                  </a:moveTo>
                  <a:lnTo>
                    <a:pt x="268912" y="102224"/>
                  </a:lnTo>
                  <a:lnTo>
                    <a:pt x="154781" y="216355"/>
                  </a:lnTo>
                  <a:lnTo>
                    <a:pt x="112088" y="173662"/>
                  </a:lnTo>
                  <a:lnTo>
                    <a:pt x="78412" y="207338"/>
                  </a:lnTo>
                  <a:lnTo>
                    <a:pt x="154781" y="283707"/>
                  </a:lnTo>
                  <a:lnTo>
                    <a:pt x="302588" y="135901"/>
                  </a:lnTo>
                  <a:close/>
                </a:path>
              </a:pathLst>
            </a:custGeom>
            <a:solidFill>
              <a:srgbClr val="14865F"/>
            </a:solidFill>
            <a:ln>
              <a:noFill/>
            </a:ln>
          </p:spPr>
        </p:sp>
        <p:sp>
          <p:nvSpPr>
            <p:cNvPr id="53" name="TextBox 53"/>
            <p:cNvSpPr txBox="1"/>
            <p:nvPr/>
          </p:nvSpPr>
          <p:spPr>
            <a:xfrm>
              <a:off x="1324356" y="3920490"/>
              <a:ext cx="2053742"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其他分支保持独立</a:t>
              </a:r>
            </a:p>
          </p:txBody>
        </p:sp>
        <p:sp>
          <p:nvSpPr>
            <p:cNvPr id="54" name="TextBox 54"/>
            <p:cNvSpPr txBox="1"/>
            <p:nvPr/>
          </p:nvSpPr>
          <p:spPr>
            <a:xfrm>
              <a:off x="1327404" y="4309110"/>
              <a:ext cx="1328776" cy="234696"/>
            </a:xfrm>
            <a:prstGeom prst="rect">
              <a:avLst/>
            </a:prstGeom>
            <a:noFill/>
            <a:ln>
              <a:noFill/>
            </a:ln>
          </p:spPr>
          <p:txBody>
            <a:bodyPr wrap="none" lIns="0" tIns="0" rIns="0" bIns="0" anchor="t" anchorCtr="0">
              <a:spAutoFit/>
            </a:bodyPr>
            <a:lstStyle/>
            <a:p>
              <a:pPr algn="l"/>
              <a:r>
                <a:rPr lang="zh-CN" sz="1200" dirty="0">
                  <a:solidFill>
                    <a:srgbClr val="52605A"/>
                  </a:solidFill>
                  <a:latin typeface="Segoe UI"/>
                  <a:ea typeface="Microsoft YaHei UI"/>
                  <a:cs typeface="Segoe UI"/>
                </a:rPr>
                <a:t>风险页 / 客户回复</a:t>
              </a:r>
            </a:p>
          </p:txBody>
        </p:sp>
        <p:sp>
          <p:nvSpPr>
            <p:cNvPr id="55" name="TextBox 55"/>
            <p:cNvSpPr txBox="1"/>
            <p:nvPr/>
          </p:nvSpPr>
          <p:spPr>
            <a:xfrm>
              <a:off x="1327404" y="4537710"/>
              <a:ext cx="1304544" cy="234696"/>
            </a:xfrm>
            <a:prstGeom prst="rect">
              <a:avLst/>
            </a:prstGeom>
            <a:noFill/>
            <a:ln>
              <a:noFill/>
            </a:ln>
          </p:spPr>
          <p:txBody>
            <a:bodyPr wrap="none" lIns="0" tIns="0" rIns="0" bIns="0" anchor="t" anchorCtr="0">
              <a:spAutoFit/>
            </a:bodyPr>
            <a:lstStyle/>
            <a:p>
              <a:pPr algn="l"/>
              <a:r>
                <a:rPr lang="zh-CN" sz="1200" dirty="0">
                  <a:solidFill>
                    <a:srgbClr val="52605A"/>
                  </a:solidFill>
                  <a:latin typeface="Segoe UI"/>
                  <a:ea typeface="Microsoft YaHei UI"/>
                  <a:cs typeface="Segoe UI"/>
                </a:rPr>
                <a:t>可形成已验证工件</a:t>
              </a:r>
            </a:p>
          </p:txBody>
        </p:sp>
      </p:grpSp>
      <p:grpSp>
        <p:nvGrpSpPr>
          <p:cNvPr id="63" name="Group 63"/>
          <p:cNvGrpSpPr/>
          <p:nvPr/>
        </p:nvGrpSpPr>
        <p:grpSpPr>
          <a:xfrm>
            <a:off x="533400" y="5143500"/>
            <a:ext cx="11134344" cy="918401"/>
            <a:chOff x="533400" y="5143500"/>
            <a:chExt cx="11134344" cy="918401"/>
          </a:xfrm>
        </p:grpSpPr>
        <p:sp>
          <p:nvSpPr>
            <p:cNvPr id="57" name="Line 57"/>
            <p:cNvSpPr/>
            <p:nvPr/>
          </p:nvSpPr>
          <p:spPr>
            <a:xfrm>
              <a:off x="533400" y="5143500"/>
              <a:ext cx="11125200" cy="9525"/>
            </a:xfrm>
            <a:custGeom>
              <a:avLst/>
              <a:gdLst/>
              <a:ahLst/>
              <a:cxnLst/>
              <a:rect l="l" t="t" r="r" b="b"/>
              <a:pathLst>
                <a:path w="11125200" h="9525">
                  <a:moveTo>
                    <a:pt x="0" y="0"/>
                  </a:moveTo>
                  <a:lnTo>
                    <a:pt x="11125200" y="0"/>
                  </a:lnTo>
                </a:path>
              </a:pathLst>
            </a:custGeom>
            <a:noFill/>
            <a:ln w="9525">
              <a:solidFill>
                <a:srgbClr val="CDD8D2"/>
              </a:solidFill>
            </a:ln>
          </p:spPr>
        </p:sp>
        <p:sp>
          <p:nvSpPr>
            <p:cNvPr id="58" name="Freeform 58"/>
            <p:cNvSpPr/>
            <p:nvPr/>
          </p:nvSpPr>
          <p:spPr>
            <a:xfrm>
              <a:off x="569119" y="5391150"/>
              <a:ext cx="309562" cy="381000"/>
            </a:xfrm>
            <a:custGeom>
              <a:avLst/>
              <a:gdLst/>
              <a:ahLst/>
              <a:cxnLst/>
              <a:rect l="l" t="t" r="r" b="b"/>
              <a:pathLst>
                <a:path w="309562" h="381000">
                  <a:moveTo>
                    <a:pt x="83344" y="114109"/>
                  </a:moveTo>
                  <a:cubicBezTo>
                    <a:pt x="104369" y="104923"/>
                    <a:pt x="119062" y="83943"/>
                    <a:pt x="119062" y="59531"/>
                  </a:cubicBezTo>
                  <a:cubicBezTo>
                    <a:pt x="119062" y="26653"/>
                    <a:pt x="92409" y="0"/>
                    <a:pt x="59531" y="0"/>
                  </a:cubicBezTo>
                  <a:cubicBezTo>
                    <a:pt x="26653" y="0"/>
                    <a:pt x="0" y="26653"/>
                    <a:pt x="0" y="59531"/>
                  </a:cubicBezTo>
                  <a:cubicBezTo>
                    <a:pt x="0" y="83943"/>
                    <a:pt x="14694" y="104923"/>
                    <a:pt x="35719" y="114109"/>
                  </a:cubicBezTo>
                  <a:lnTo>
                    <a:pt x="35719" y="266890"/>
                  </a:lnTo>
                  <a:cubicBezTo>
                    <a:pt x="14694" y="276077"/>
                    <a:pt x="0" y="297056"/>
                    <a:pt x="0" y="321469"/>
                  </a:cubicBezTo>
                  <a:cubicBezTo>
                    <a:pt x="0" y="354347"/>
                    <a:pt x="26653" y="381000"/>
                    <a:pt x="59531" y="381000"/>
                  </a:cubicBezTo>
                  <a:cubicBezTo>
                    <a:pt x="92409" y="381000"/>
                    <a:pt x="119062" y="354347"/>
                    <a:pt x="119062" y="321469"/>
                  </a:cubicBezTo>
                  <a:cubicBezTo>
                    <a:pt x="119062" y="297056"/>
                    <a:pt x="104369" y="276077"/>
                    <a:pt x="83344" y="266890"/>
                  </a:cubicBezTo>
                  <a:lnTo>
                    <a:pt x="83344" y="214312"/>
                  </a:lnTo>
                  <a:lnTo>
                    <a:pt x="273844" y="214312"/>
                  </a:lnTo>
                  <a:lnTo>
                    <a:pt x="273844" y="114109"/>
                  </a:lnTo>
                  <a:cubicBezTo>
                    <a:pt x="294870" y="104923"/>
                    <a:pt x="309562" y="83943"/>
                    <a:pt x="309562" y="59531"/>
                  </a:cubicBezTo>
                  <a:cubicBezTo>
                    <a:pt x="309562" y="26653"/>
                    <a:pt x="282909" y="0"/>
                    <a:pt x="250031" y="0"/>
                  </a:cubicBezTo>
                  <a:cubicBezTo>
                    <a:pt x="217153" y="0"/>
                    <a:pt x="190500" y="26653"/>
                    <a:pt x="190500" y="59531"/>
                  </a:cubicBezTo>
                  <a:cubicBezTo>
                    <a:pt x="190500" y="83943"/>
                    <a:pt x="205192" y="104923"/>
                    <a:pt x="226219" y="114109"/>
                  </a:cubicBezTo>
                  <a:lnTo>
                    <a:pt x="226219" y="166688"/>
                  </a:lnTo>
                  <a:lnTo>
                    <a:pt x="83344" y="166688"/>
                  </a:lnTo>
                  <a:lnTo>
                    <a:pt x="83344" y="114109"/>
                  </a:lnTo>
                  <a:close/>
                </a:path>
              </a:pathLst>
            </a:custGeom>
            <a:solidFill>
              <a:srgbClr val="1C2A24"/>
            </a:solidFill>
            <a:ln>
              <a:noFill/>
            </a:ln>
          </p:spPr>
        </p:sp>
        <p:sp>
          <p:nvSpPr>
            <p:cNvPr id="59" name="TextBox 59"/>
            <p:cNvSpPr txBox="1"/>
            <p:nvPr/>
          </p:nvSpPr>
          <p:spPr>
            <a:xfrm>
              <a:off x="1095756" y="5444490"/>
              <a:ext cx="7167161"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Pause / Resume / Take over / Return control 已有状态事实</a:t>
              </a:r>
            </a:p>
          </p:txBody>
        </p:sp>
        <p:sp>
          <p:nvSpPr>
            <p:cNvPr id="60" name="TextBox 60"/>
            <p:cNvSpPr txBox="1"/>
            <p:nvPr/>
          </p:nvSpPr>
          <p:spPr>
            <a:xfrm>
              <a:off x="1098042" y="5797868"/>
              <a:ext cx="3478240" cy="264033"/>
            </a:xfrm>
            <a:prstGeom prst="rect">
              <a:avLst/>
            </a:prstGeom>
            <a:noFill/>
            <a:ln>
              <a:noFill/>
            </a:ln>
          </p:spPr>
          <p:txBody>
            <a:bodyPr wrap="none" lIns="0" tIns="0" rIns="0" bIns="0" anchor="t" anchorCtr="0">
              <a:spAutoFit/>
            </a:bodyPr>
            <a:lstStyle/>
            <a:p>
              <a:pPr algn="l"/>
              <a:r>
                <a:rPr lang="zh-CN" sz="1350" dirty="0">
                  <a:solidFill>
                    <a:srgbClr val="C58B2B"/>
                  </a:solidFill>
                  <a:latin typeface="Segoe UI"/>
                  <a:ea typeface="Microsoft YaHei UI"/>
                  <a:cs typeface="Segoe UI"/>
                </a:rPr>
                <a:t>Steer：只说“已记录，等待后续循环应用”</a:t>
              </a:r>
            </a:p>
          </p:txBody>
        </p:sp>
        <p:sp>
          <p:nvSpPr>
            <p:cNvPr id="61" name="TextBox 61"/>
            <p:cNvSpPr txBox="1"/>
            <p:nvPr/>
          </p:nvSpPr>
          <p:spPr>
            <a:xfrm>
              <a:off x="8165541" y="5444490"/>
              <a:ext cx="3502203" cy="352044"/>
            </a:xfrm>
            <a:prstGeom prst="rect">
              <a:avLst/>
            </a:prstGeom>
            <a:noFill/>
            <a:ln>
              <a:noFill/>
            </a:ln>
          </p:spPr>
          <p:txBody>
            <a:bodyPr wrap="none" lIns="0" tIns="0" rIns="0" bIns="0" anchor="t" anchorCtr="0">
              <a:spAutoFit/>
            </a:bodyPr>
            <a:lstStyle/>
            <a:p>
              <a:pPr algn="r"/>
              <a:r>
                <a:rPr lang="en-US" sz="1800" b="1" dirty="0">
                  <a:solidFill>
                    <a:srgbClr val="14865F"/>
                  </a:solidFill>
                  <a:latin typeface="Segoe UI"/>
                  <a:ea typeface="Segoe UI"/>
                  <a:cs typeface="Segoe UI"/>
                </a:rPr>
                <a:t>15 targeted · 56 full Python</a:t>
              </a:r>
            </a:p>
          </p:txBody>
        </p:sp>
        <p:sp>
          <p:nvSpPr>
            <p:cNvPr id="62" name="TextBox 62"/>
            <p:cNvSpPr txBox="1"/>
            <p:nvPr/>
          </p:nvSpPr>
          <p:spPr>
            <a:xfrm>
              <a:off x="8444084" y="5797868"/>
              <a:ext cx="3221374" cy="264033"/>
            </a:xfrm>
            <a:prstGeom prst="rect">
              <a:avLst/>
            </a:prstGeom>
            <a:noFill/>
            <a:ln>
              <a:noFill/>
            </a:ln>
          </p:spPr>
          <p:txBody>
            <a:bodyPr wrap="none" lIns="0" tIns="0" rIns="0" bIns="0" anchor="t" anchorCtr="0">
              <a:spAutoFit/>
            </a:bodyPr>
            <a:lstStyle/>
            <a:p>
              <a:pPr algn="r"/>
              <a:r>
                <a:rPr lang="zh-CN" sz="1350" dirty="0">
                  <a:solidFill>
                    <a:srgbClr val="C58B2B"/>
                  </a:solidFill>
                  <a:latin typeface="Segoe UI"/>
                  <a:ea typeface="Microsoft YaHei UI"/>
                  <a:cs typeface="Segoe UI"/>
                </a:rPr>
                <a:t>一次原子 mutation，不是后台持续调度</a:t>
              </a:r>
            </a:p>
          </p:txBody>
        </p:sp>
      </p:grpSp>
      <p:grpSp>
        <p:nvGrpSpPr>
          <p:cNvPr id="66" name="Group 66"/>
          <p:cNvGrpSpPr/>
          <p:nvPr/>
        </p:nvGrpSpPr>
        <p:grpSpPr>
          <a:xfrm>
            <a:off x="528066" y="6439852"/>
            <a:ext cx="11135868" cy="205359"/>
            <a:chOff x="528066" y="6439852"/>
            <a:chExt cx="11135868" cy="205359"/>
          </a:xfrm>
        </p:grpSpPr>
        <p:sp>
          <p:nvSpPr>
            <p:cNvPr id="64" name="TextBox 64"/>
            <p:cNvSpPr txBox="1"/>
            <p:nvPr/>
          </p:nvSpPr>
          <p:spPr>
            <a:xfrm>
              <a:off x="528066" y="6439852"/>
              <a:ext cx="4886744" cy="205359"/>
            </a:xfrm>
            <a:prstGeom prst="rect">
              <a:avLst/>
            </a:prstGeom>
            <a:noFill/>
            <a:ln>
              <a:noFill/>
            </a:ln>
          </p:spPr>
          <p:txBody>
            <a:bodyPr wrap="none" lIns="0" tIns="0" rIns="0" bIns="0" anchor="t" anchorCtr="0">
              <a:spAutoFit/>
            </a:bodyPr>
            <a:lstStyle/>
            <a:p>
              <a:pPr algn="l"/>
              <a:r>
                <a:rPr lang="en-US" sz="1050" dirty="0">
                  <a:solidFill>
                    <a:srgbClr val="74817B"/>
                  </a:solidFill>
                  <a:latin typeface="Segoe UI"/>
                  <a:ea typeface="Segoe UI"/>
                  <a:cs typeface="Segoe UI"/>
                </a:rPr>
                <a:t>Source: DEMO1-PR3-RUNTIME-EVIDENCE §1/§3-5 · SCENARIO-001 §4-5</a:t>
              </a:r>
            </a:p>
          </p:txBody>
        </p:sp>
        <p:sp>
          <p:nvSpPr>
            <p:cNvPr id="65" name="TextBox 65"/>
            <p:cNvSpPr txBox="1"/>
            <p:nvPr/>
          </p:nvSpPr>
          <p:spPr>
            <a:xfrm>
              <a:off x="11179740" y="6439852"/>
              <a:ext cx="484194" cy="205359"/>
            </a:xfrm>
            <a:prstGeom prst="rect">
              <a:avLst/>
            </a:prstGeom>
            <a:noFill/>
            <a:ln>
              <a:noFill/>
            </a:ln>
          </p:spPr>
          <p:txBody>
            <a:bodyPr wrap="none" lIns="0" tIns="0" rIns="0" bIns="0" anchor="t" anchorCtr="0">
              <a:spAutoFit/>
            </a:bodyPr>
            <a:lstStyle/>
            <a:p>
              <a:pPr algn="r"/>
              <a:r>
                <a:rPr lang="en-US" sz="1050" dirty="0">
                  <a:solidFill>
                    <a:srgbClr val="14865F"/>
                  </a:solidFill>
                  <a:latin typeface="Consolas"/>
                  <a:ea typeface="Consolas"/>
                  <a:cs typeface="Consolas"/>
                </a:rPr>
                <a:t>06 / 11</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8"/>
          </a:solidFill>
          <a:ln>
            <a:noFill/>
          </a:ln>
        </p:spPr>
      </p:sp>
      <p:grpSp>
        <p:nvGrpSpPr>
          <p:cNvPr id="6" name="Group 6"/>
          <p:cNvGrpSpPr/>
          <p:nvPr/>
        </p:nvGrpSpPr>
        <p:grpSpPr>
          <a:xfrm>
            <a:off x="533400" y="400050"/>
            <a:ext cx="11130534" cy="670179"/>
            <a:chOff x="533400" y="400050"/>
            <a:chExt cx="11130534" cy="670179"/>
          </a:xfrm>
        </p:grpSpPr>
        <p:sp>
          <p:nvSpPr>
            <p:cNvPr id="3" name="Rectangle 3"/>
            <p:cNvSpPr/>
            <p:nvPr/>
          </p:nvSpPr>
          <p:spPr>
            <a:xfrm>
              <a:off x="533400" y="400050"/>
              <a:ext cx="57150" cy="495300"/>
            </a:xfrm>
            <a:prstGeom prst="rect">
              <a:avLst/>
            </a:prstGeom>
            <a:solidFill>
              <a:srgbClr val="14865F"/>
            </a:solidFill>
            <a:ln>
              <a:noFill/>
            </a:ln>
          </p:spPr>
        </p:sp>
        <p:sp>
          <p:nvSpPr>
            <p:cNvPr id="4" name="TextBox 4"/>
            <p:cNvSpPr txBox="1"/>
            <p:nvPr/>
          </p:nvSpPr>
          <p:spPr>
            <a:xfrm>
              <a:off x="745236" y="424815"/>
              <a:ext cx="8658606" cy="645414"/>
            </a:xfrm>
            <a:prstGeom prst="rect">
              <a:avLst/>
            </a:prstGeom>
            <a:noFill/>
            <a:ln>
              <a:noFill/>
            </a:ln>
          </p:spPr>
          <p:txBody>
            <a:bodyPr wrap="none" lIns="0" tIns="0" rIns="0" bIns="0" anchor="t" anchorCtr="0">
              <a:spAutoFit/>
            </a:bodyPr>
            <a:lstStyle/>
            <a:p>
              <a:pPr algn="l"/>
              <a:r>
                <a:rPr lang="zh-CN" sz="3300" b="1" dirty="0">
                  <a:solidFill>
                    <a:srgbClr val="1C2A24"/>
                  </a:solidFill>
                  <a:latin typeface="Segoe UI"/>
                  <a:ea typeface="Microsoft YaHei UI"/>
                  <a:cs typeface="Segoe UI"/>
                </a:rPr>
                <a:t>PR #7：后台状态终于落到可操作的前台</a:t>
              </a:r>
            </a:p>
          </p:txBody>
        </p:sp>
        <p:sp>
          <p:nvSpPr>
            <p:cNvPr id="5" name="TextBox 5"/>
            <p:cNvSpPr txBox="1"/>
            <p:nvPr/>
          </p:nvSpPr>
          <p:spPr>
            <a:xfrm>
              <a:off x="9771431" y="629602"/>
              <a:ext cx="1892503" cy="205359"/>
            </a:xfrm>
            <a:prstGeom prst="rect">
              <a:avLst/>
            </a:prstGeom>
            <a:noFill/>
            <a:ln>
              <a:noFill/>
            </a:ln>
          </p:spPr>
          <p:txBody>
            <a:bodyPr wrap="none" lIns="0" tIns="0" rIns="0" bIns="0" anchor="t" anchorCtr="0">
              <a:spAutoFit/>
            </a:bodyPr>
            <a:lstStyle/>
            <a:p>
              <a:pPr algn="r"/>
              <a:r>
                <a:rPr lang="en-US" sz="1050" dirty="0">
                  <a:solidFill>
                    <a:srgbClr val="74817B"/>
                  </a:solidFill>
                  <a:latin typeface="Consolas"/>
                  <a:ea typeface="Consolas"/>
                  <a:cs typeface="Consolas"/>
                </a:rPr>
                <a:t>ARTIFACT WORKSPACE · P07</a:t>
              </a:r>
            </a:p>
          </p:txBody>
        </p:sp>
      </p:grpSp>
      <p:grpSp>
        <p:nvGrpSpPr>
          <p:cNvPr id="9" name="Group 9"/>
          <p:cNvGrpSpPr/>
          <p:nvPr/>
        </p:nvGrpSpPr>
        <p:grpSpPr>
          <a:xfrm>
            <a:off x="522732" y="1068705"/>
            <a:ext cx="12736092" cy="521970"/>
            <a:chOff x="522732" y="1068705"/>
            <a:chExt cx="12736092" cy="521970"/>
          </a:xfrm>
        </p:grpSpPr>
        <p:sp>
          <p:nvSpPr>
            <p:cNvPr id="7" name="TextBox 7"/>
            <p:cNvSpPr txBox="1"/>
            <p:nvPr/>
          </p:nvSpPr>
          <p:spPr>
            <a:xfrm>
              <a:off x="522732" y="1068705"/>
              <a:ext cx="12736092" cy="410718"/>
            </a:xfrm>
            <a:prstGeom prst="rect">
              <a:avLst/>
            </a:prstGeom>
            <a:noFill/>
            <a:ln>
              <a:noFill/>
            </a:ln>
          </p:spPr>
          <p:txBody>
            <a:bodyPr wrap="none" lIns="0" tIns="0" rIns="0" bIns="0" anchor="t" anchorCtr="0">
              <a:spAutoFit/>
            </a:bodyPr>
            <a:lstStyle/>
            <a:p>
              <a:pPr algn="l"/>
              <a:r>
                <a:rPr lang="zh-CN" sz="2100" b="1" dirty="0">
                  <a:solidFill>
                    <a:srgbClr val="202824"/>
                  </a:solidFill>
                  <a:latin typeface="Segoe UI"/>
                  <a:ea typeface="Microsoft YaHei UI"/>
                  <a:cs typeface="Segoe UI"/>
                </a:rPr>
                <a:t>Task Runtime 与 Artifact Workspace 共享同一 Snapshot，前端不创建虚假工件或完成状态。</a:t>
              </a:r>
            </a:p>
          </p:txBody>
        </p:sp>
        <p:sp>
          <p:nvSpPr>
            <p:cNvPr id="8" name="Line 8"/>
            <p:cNvSpPr/>
            <p:nvPr/>
          </p:nvSpPr>
          <p:spPr>
            <a:xfrm>
              <a:off x="533400" y="1581150"/>
              <a:ext cx="11125200" cy="9525"/>
            </a:xfrm>
            <a:custGeom>
              <a:avLst/>
              <a:gdLst/>
              <a:ahLst/>
              <a:cxnLst/>
              <a:rect l="l" t="t" r="r" b="b"/>
              <a:pathLst>
                <a:path w="11125200" h="9525">
                  <a:moveTo>
                    <a:pt x="0" y="0"/>
                  </a:moveTo>
                  <a:lnTo>
                    <a:pt x="11125200" y="0"/>
                  </a:lnTo>
                </a:path>
              </a:pathLst>
            </a:custGeom>
            <a:noFill/>
            <a:ln w="9525">
              <a:solidFill>
                <a:srgbClr val="CDD8D2"/>
              </a:solidFill>
            </a:ln>
          </p:spPr>
        </p:sp>
      </p:grpSp>
      <p:grpSp>
        <p:nvGrpSpPr>
          <p:cNvPr id="15" name="Group 15"/>
          <p:cNvGrpSpPr/>
          <p:nvPr/>
        </p:nvGrpSpPr>
        <p:grpSpPr>
          <a:xfrm>
            <a:off x="526542" y="1885950"/>
            <a:ext cx="6203442" cy="4252151"/>
            <a:chOff x="526542" y="1885950"/>
            <a:chExt cx="6203442" cy="4252151"/>
          </a:xfrm>
        </p:grpSpPr>
        <p:sp>
          <p:nvSpPr>
            <p:cNvPr id="10" name="Rectangle 10"/>
            <p:cNvSpPr/>
            <p:nvPr/>
          </p:nvSpPr>
          <p:spPr>
            <a:xfrm>
              <a:off x="533400" y="1885950"/>
              <a:ext cx="6191250" cy="3867150"/>
            </a:xfrm>
            <a:prstGeom prst="rect">
              <a:avLst/>
            </a:prstGeom>
            <a:solidFill>
              <a:srgbClr val="FFFFFF"/>
            </a:solidFill>
            <a:ln w="19050">
              <a:solidFill>
                <a:srgbClr val="14865F"/>
              </a:solidFill>
            </a:ln>
          </p:spPr>
        </p:sp>
        <p:pic>
          <p:nvPicPr>
            <p:cNvPr id="11" name="Image 11"/>
            <p:cNvPicPr>
              <a:picLocks noChangeAspect="1"/>
            </p:cNvPicPr>
            <p:nvPr/>
          </p:nvPicPr>
          <p:blipFill>
            <a:blip r:embed="rId2"/>
            <a:stretch>
              <a:fillRect/>
            </a:stretch>
          </p:blipFill>
          <p:spPr>
            <a:xfrm>
              <a:off x="533400" y="1885950"/>
              <a:ext cx="6191250" cy="3867150"/>
            </a:xfrm>
            <a:prstGeom prst="rect">
              <a:avLst/>
            </a:prstGeom>
          </p:spPr>
        </p:pic>
        <p:sp>
          <p:nvSpPr>
            <p:cNvPr id="12" name="Rectangle 12"/>
            <p:cNvSpPr/>
            <p:nvPr/>
          </p:nvSpPr>
          <p:spPr>
            <a:xfrm>
              <a:off x="533400" y="1885950"/>
              <a:ext cx="6191250" cy="76200"/>
            </a:xfrm>
            <a:prstGeom prst="rect">
              <a:avLst/>
            </a:prstGeom>
            <a:solidFill>
              <a:srgbClr val="14865F"/>
            </a:solidFill>
            <a:ln>
              <a:noFill/>
            </a:ln>
          </p:spPr>
        </p:sp>
        <p:sp>
          <p:nvSpPr>
            <p:cNvPr id="13" name="TextBox 13"/>
            <p:cNvSpPr txBox="1"/>
            <p:nvPr/>
          </p:nvSpPr>
          <p:spPr>
            <a:xfrm>
              <a:off x="526542" y="5874068"/>
              <a:ext cx="5137336" cy="264033"/>
            </a:xfrm>
            <a:prstGeom prst="rect">
              <a:avLst/>
            </a:prstGeom>
            <a:noFill/>
            <a:ln>
              <a:noFill/>
            </a:ln>
          </p:spPr>
          <p:txBody>
            <a:bodyPr wrap="none" lIns="0" tIns="0" rIns="0" bIns="0" anchor="t" anchorCtr="0">
              <a:spAutoFit/>
            </a:bodyPr>
            <a:lstStyle/>
            <a:p>
              <a:pPr algn="l"/>
              <a:r>
                <a:rPr lang="zh-CN" sz="1350" b="1" dirty="0">
                  <a:solidFill>
                    <a:srgbClr val="202824"/>
                  </a:solidFill>
                  <a:latin typeface="Segoe UI"/>
                  <a:ea typeface="Microsoft YaHei UI"/>
                  <a:cs typeface="Segoe UI"/>
                </a:rPr>
                <a:t>冲突态 · 经营分析 v1 · candidate / source / verification</a:t>
              </a:r>
            </a:p>
          </p:txBody>
        </p:sp>
        <p:sp>
          <p:nvSpPr>
            <p:cNvPr id="14" name="TextBox 14"/>
            <p:cNvSpPr txBox="1"/>
            <p:nvPr/>
          </p:nvSpPr>
          <p:spPr>
            <a:xfrm>
              <a:off x="5341144" y="5906452"/>
              <a:ext cx="1388840" cy="205359"/>
            </a:xfrm>
            <a:prstGeom prst="rect">
              <a:avLst/>
            </a:prstGeom>
            <a:noFill/>
            <a:ln>
              <a:noFill/>
            </a:ln>
          </p:spPr>
          <p:txBody>
            <a:bodyPr wrap="none" lIns="0" tIns="0" rIns="0" bIns="0" anchor="t" anchorCtr="0">
              <a:spAutoFit/>
            </a:bodyPr>
            <a:lstStyle/>
            <a:p>
              <a:pPr algn="r"/>
              <a:r>
                <a:rPr lang="en-US" sz="1050" dirty="0">
                  <a:solidFill>
                    <a:srgbClr val="74817B"/>
                  </a:solidFill>
                  <a:latin typeface="Consolas"/>
                  <a:ea typeface="Consolas"/>
                  <a:cs typeface="Consolas"/>
                </a:rPr>
                <a:t>1440 × 900 · no crop</a:t>
              </a:r>
            </a:p>
          </p:txBody>
        </p:sp>
      </p:grpSp>
      <p:grpSp>
        <p:nvGrpSpPr>
          <p:cNvPr id="20" name="Group 20"/>
          <p:cNvGrpSpPr/>
          <p:nvPr/>
        </p:nvGrpSpPr>
        <p:grpSpPr>
          <a:xfrm>
            <a:off x="7136892" y="1885950"/>
            <a:ext cx="3435858" cy="2509075"/>
            <a:chOff x="7136892" y="1885950"/>
            <a:chExt cx="3435858" cy="2509075"/>
          </a:xfrm>
        </p:grpSpPr>
        <p:sp>
          <p:nvSpPr>
            <p:cNvPr id="16" name="Rectangle 16"/>
            <p:cNvSpPr/>
            <p:nvPr/>
          </p:nvSpPr>
          <p:spPr>
            <a:xfrm>
              <a:off x="7143750" y="1885950"/>
              <a:ext cx="3429000" cy="2143125"/>
            </a:xfrm>
            <a:prstGeom prst="rect">
              <a:avLst/>
            </a:prstGeom>
            <a:solidFill>
              <a:srgbClr val="FFFFFF"/>
            </a:solidFill>
            <a:ln w="19050">
              <a:solidFill>
                <a:srgbClr val="CDD8D2"/>
              </a:solidFill>
            </a:ln>
          </p:spPr>
        </p:sp>
        <p:pic>
          <p:nvPicPr>
            <p:cNvPr id="17" name="Image 17"/>
            <p:cNvPicPr>
              <a:picLocks noChangeAspect="1"/>
            </p:cNvPicPr>
            <p:nvPr/>
          </p:nvPicPr>
          <p:blipFill>
            <a:blip r:embed="rId3"/>
            <a:stretch>
              <a:fillRect/>
            </a:stretch>
          </p:blipFill>
          <p:spPr>
            <a:xfrm>
              <a:off x="7143750" y="1885950"/>
              <a:ext cx="3429000" cy="2143125"/>
            </a:xfrm>
            <a:prstGeom prst="rect">
              <a:avLst/>
            </a:prstGeom>
          </p:spPr>
        </p:pic>
        <p:sp>
          <p:nvSpPr>
            <p:cNvPr id="18" name="Rectangle 18"/>
            <p:cNvSpPr/>
            <p:nvPr/>
          </p:nvSpPr>
          <p:spPr>
            <a:xfrm>
              <a:off x="7143750" y="1885950"/>
              <a:ext cx="3429000" cy="57150"/>
            </a:xfrm>
            <a:prstGeom prst="rect">
              <a:avLst/>
            </a:prstGeom>
            <a:solidFill>
              <a:srgbClr val="14865F"/>
            </a:solidFill>
            <a:ln>
              <a:noFill/>
            </a:ln>
          </p:spPr>
        </p:sp>
        <p:sp>
          <p:nvSpPr>
            <p:cNvPr id="19" name="TextBox 19"/>
            <p:cNvSpPr txBox="1"/>
            <p:nvPr/>
          </p:nvSpPr>
          <p:spPr>
            <a:xfrm>
              <a:off x="7136892" y="4130992"/>
              <a:ext cx="3175940"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提交态 · reply v3 · 2,400 万 · 仅草稿</a:t>
              </a:r>
            </a:p>
          </p:txBody>
        </p:sp>
      </p:grpSp>
      <p:grpSp>
        <p:nvGrpSpPr>
          <p:cNvPr id="25" name="Group 25"/>
          <p:cNvGrpSpPr/>
          <p:nvPr/>
        </p:nvGrpSpPr>
        <p:grpSpPr>
          <a:xfrm>
            <a:off x="10896600" y="1885950"/>
            <a:ext cx="666750" cy="2482787"/>
            <a:chOff x="10896600" y="1885950"/>
            <a:chExt cx="666750" cy="2482787"/>
          </a:xfrm>
        </p:grpSpPr>
        <p:sp>
          <p:nvSpPr>
            <p:cNvPr id="21" name="Rectangle 21"/>
            <p:cNvSpPr/>
            <p:nvPr/>
          </p:nvSpPr>
          <p:spPr>
            <a:xfrm>
              <a:off x="10896600" y="1885950"/>
              <a:ext cx="666750" cy="2152650"/>
            </a:xfrm>
            <a:prstGeom prst="rect">
              <a:avLst/>
            </a:prstGeom>
            <a:solidFill>
              <a:srgbClr val="FFFFFF"/>
            </a:solidFill>
            <a:ln w="19050">
              <a:solidFill>
                <a:srgbClr val="CDD8D2"/>
              </a:solidFill>
            </a:ln>
          </p:spPr>
        </p:sp>
        <p:pic>
          <p:nvPicPr>
            <p:cNvPr id="22" name="Image 22"/>
            <p:cNvPicPr>
              <a:picLocks noChangeAspect="1"/>
            </p:cNvPicPr>
            <p:nvPr/>
          </p:nvPicPr>
          <p:blipFill>
            <a:blip r:embed="rId4"/>
            <a:stretch>
              <a:fillRect/>
            </a:stretch>
          </p:blipFill>
          <p:spPr>
            <a:xfrm>
              <a:off x="10896600" y="1885950"/>
              <a:ext cx="666750" cy="2152650"/>
            </a:xfrm>
            <a:prstGeom prst="rect">
              <a:avLst/>
            </a:prstGeom>
          </p:spPr>
        </p:pic>
        <p:sp>
          <p:nvSpPr>
            <p:cNvPr id="23" name="Rectangle 23"/>
            <p:cNvSpPr/>
            <p:nvPr/>
          </p:nvSpPr>
          <p:spPr>
            <a:xfrm>
              <a:off x="10896600" y="1885950"/>
              <a:ext cx="666750" cy="57150"/>
            </a:xfrm>
            <a:prstGeom prst="rect">
              <a:avLst/>
            </a:prstGeom>
            <a:solidFill>
              <a:srgbClr val="C58B2B"/>
            </a:solidFill>
            <a:ln>
              <a:noFill/>
            </a:ln>
          </p:spPr>
        </p:sp>
        <p:sp>
          <p:nvSpPr>
            <p:cNvPr id="24" name="TextBox 24"/>
            <p:cNvSpPr txBox="1"/>
            <p:nvPr/>
          </p:nvSpPr>
          <p:spPr>
            <a:xfrm>
              <a:off x="11030283" y="4163378"/>
              <a:ext cx="399383" cy="205359"/>
            </a:xfrm>
            <a:prstGeom prst="rect">
              <a:avLst/>
            </a:prstGeom>
            <a:noFill/>
            <a:ln>
              <a:noFill/>
            </a:ln>
          </p:spPr>
          <p:txBody>
            <a:bodyPr wrap="none" lIns="0" tIns="0" rIns="0" bIns="0" anchor="t" anchorCtr="0">
              <a:spAutoFit/>
            </a:bodyPr>
            <a:lstStyle/>
            <a:p>
              <a:pPr algn="ctr"/>
              <a:r>
                <a:rPr lang="en-US" sz="1050" dirty="0">
                  <a:solidFill>
                    <a:srgbClr val="74817B"/>
                  </a:solidFill>
                  <a:latin typeface="Consolas"/>
                  <a:ea typeface="Consolas"/>
                  <a:cs typeface="Consolas"/>
                </a:rPr>
                <a:t>390px</a:t>
              </a:r>
            </a:p>
          </p:txBody>
        </p:sp>
      </p:grpSp>
      <p:grpSp>
        <p:nvGrpSpPr>
          <p:cNvPr id="43" name="Group 43"/>
          <p:cNvGrpSpPr/>
          <p:nvPr/>
        </p:nvGrpSpPr>
        <p:grpSpPr>
          <a:xfrm>
            <a:off x="7143750" y="4552950"/>
            <a:ext cx="4526561" cy="1724406"/>
            <a:chOff x="7143750" y="4552950"/>
            <a:chExt cx="4526561" cy="1724406"/>
          </a:xfrm>
        </p:grpSpPr>
        <p:sp>
          <p:nvSpPr>
            <p:cNvPr id="26" name="Line 26"/>
            <p:cNvSpPr/>
            <p:nvPr/>
          </p:nvSpPr>
          <p:spPr>
            <a:xfrm>
              <a:off x="7143750" y="4552950"/>
              <a:ext cx="4419600" cy="9525"/>
            </a:xfrm>
            <a:custGeom>
              <a:avLst/>
              <a:gdLst/>
              <a:ahLst/>
              <a:cxnLst/>
              <a:rect l="l" t="t" r="r" b="b"/>
              <a:pathLst>
                <a:path w="4419600" h="9525">
                  <a:moveTo>
                    <a:pt x="0" y="0"/>
                  </a:moveTo>
                  <a:lnTo>
                    <a:pt x="4419600" y="0"/>
                  </a:lnTo>
                </a:path>
              </a:pathLst>
            </a:custGeom>
            <a:noFill/>
            <a:ln w="9525">
              <a:solidFill>
                <a:srgbClr val="CDD8D2"/>
              </a:solidFill>
            </a:ln>
          </p:spPr>
        </p:sp>
        <p:grpSp>
          <p:nvGrpSpPr>
            <p:cNvPr id="30" name="Group 30"/>
            <p:cNvGrpSpPr/>
            <p:nvPr/>
          </p:nvGrpSpPr>
          <p:grpSpPr>
            <a:xfrm>
              <a:off x="7165181" y="4705350"/>
              <a:ext cx="300038" cy="342900"/>
              <a:chOff x="7165181" y="4705350"/>
              <a:chExt cx="300038" cy="342900"/>
            </a:xfrm>
          </p:grpSpPr>
          <p:sp>
            <p:nvSpPr>
              <p:cNvPr id="27" name="Freeform 27"/>
              <p:cNvSpPr/>
              <p:nvPr/>
            </p:nvSpPr>
            <p:spPr>
              <a:xfrm>
                <a:off x="7165181" y="4705350"/>
                <a:ext cx="300038" cy="171450"/>
              </a:xfrm>
              <a:custGeom>
                <a:avLst/>
                <a:gdLst/>
                <a:ahLst/>
                <a:cxnLst/>
                <a:rect l="l" t="t" r="r" b="b"/>
                <a:pathLst>
                  <a:path w="300038" h="171450">
                    <a:moveTo>
                      <a:pt x="0" y="107156"/>
                    </a:moveTo>
                    <a:lnTo>
                      <a:pt x="0" y="64294"/>
                    </a:lnTo>
                    <a:lnTo>
                      <a:pt x="150019" y="0"/>
                    </a:lnTo>
                    <a:lnTo>
                      <a:pt x="300038" y="64294"/>
                    </a:lnTo>
                    <a:lnTo>
                      <a:pt x="300038" y="107156"/>
                    </a:lnTo>
                    <a:lnTo>
                      <a:pt x="150019" y="171450"/>
                    </a:lnTo>
                    <a:lnTo>
                      <a:pt x="0" y="107156"/>
                    </a:lnTo>
                    <a:close/>
                  </a:path>
                </a:pathLst>
              </a:custGeom>
              <a:solidFill>
                <a:srgbClr val="14865F"/>
              </a:solidFill>
              <a:ln>
                <a:noFill/>
              </a:ln>
            </p:spPr>
          </p:sp>
          <p:sp>
            <p:nvSpPr>
              <p:cNvPr id="28" name="Freeform 28"/>
              <p:cNvSpPr/>
              <p:nvPr/>
            </p:nvSpPr>
            <p:spPr>
              <a:xfrm>
                <a:off x="7165181" y="4941094"/>
                <a:ext cx="300038" cy="107156"/>
              </a:xfrm>
              <a:custGeom>
                <a:avLst/>
                <a:gdLst/>
                <a:ahLst/>
                <a:cxnLst/>
                <a:rect l="l" t="t" r="r" b="b"/>
                <a:pathLst>
                  <a:path w="300038" h="107156">
                    <a:moveTo>
                      <a:pt x="150019" y="107156"/>
                    </a:moveTo>
                    <a:lnTo>
                      <a:pt x="0" y="42862"/>
                    </a:lnTo>
                    <a:lnTo>
                      <a:pt x="0" y="0"/>
                    </a:lnTo>
                    <a:lnTo>
                      <a:pt x="150019" y="64294"/>
                    </a:lnTo>
                    <a:lnTo>
                      <a:pt x="300038" y="0"/>
                    </a:lnTo>
                    <a:lnTo>
                      <a:pt x="300038" y="42862"/>
                    </a:lnTo>
                    <a:lnTo>
                      <a:pt x="150019" y="107156"/>
                    </a:lnTo>
                    <a:close/>
                  </a:path>
                </a:pathLst>
              </a:custGeom>
              <a:solidFill>
                <a:srgbClr val="14865F"/>
              </a:solidFill>
              <a:ln>
                <a:noFill/>
              </a:ln>
            </p:spPr>
          </p:sp>
          <p:sp>
            <p:nvSpPr>
              <p:cNvPr id="29" name="Freeform 29"/>
              <p:cNvSpPr/>
              <p:nvPr/>
            </p:nvSpPr>
            <p:spPr>
              <a:xfrm>
                <a:off x="7165181" y="4855369"/>
                <a:ext cx="300038" cy="107156"/>
              </a:xfrm>
              <a:custGeom>
                <a:avLst/>
                <a:gdLst/>
                <a:ahLst/>
                <a:cxnLst/>
                <a:rect l="l" t="t" r="r" b="b"/>
                <a:pathLst>
                  <a:path w="300038" h="107156">
                    <a:moveTo>
                      <a:pt x="0" y="42862"/>
                    </a:moveTo>
                    <a:lnTo>
                      <a:pt x="150019" y="107156"/>
                    </a:lnTo>
                    <a:lnTo>
                      <a:pt x="300038" y="42862"/>
                    </a:lnTo>
                    <a:lnTo>
                      <a:pt x="300038" y="0"/>
                    </a:lnTo>
                    <a:lnTo>
                      <a:pt x="150019" y="64294"/>
                    </a:lnTo>
                    <a:lnTo>
                      <a:pt x="0" y="0"/>
                    </a:lnTo>
                    <a:lnTo>
                      <a:pt x="0" y="42862"/>
                    </a:lnTo>
                    <a:close/>
                  </a:path>
                </a:pathLst>
              </a:custGeom>
              <a:solidFill>
                <a:srgbClr val="14865F"/>
              </a:solidFill>
              <a:ln>
                <a:noFill/>
              </a:ln>
            </p:spPr>
          </p:sp>
        </p:grpSp>
        <p:sp>
          <p:nvSpPr>
            <p:cNvPr id="31" name="TextBox 31"/>
            <p:cNvSpPr txBox="1"/>
            <p:nvPr/>
          </p:nvSpPr>
          <p:spPr>
            <a:xfrm>
              <a:off x="7629906" y="4739640"/>
              <a:ext cx="1735043"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同一 Snapshot</a:t>
              </a:r>
            </a:p>
          </p:txBody>
        </p:sp>
        <p:sp>
          <p:nvSpPr>
            <p:cNvPr id="32" name="TextBox 32"/>
            <p:cNvSpPr txBox="1"/>
            <p:nvPr/>
          </p:nvSpPr>
          <p:spPr>
            <a:xfrm>
              <a:off x="9424416" y="4706302"/>
              <a:ext cx="1586732" cy="205359"/>
            </a:xfrm>
            <a:prstGeom prst="rect">
              <a:avLst/>
            </a:prstGeom>
            <a:noFill/>
            <a:ln>
              <a:noFill/>
            </a:ln>
          </p:spPr>
          <p:txBody>
            <a:bodyPr wrap="none" lIns="0" tIns="0" rIns="0" bIns="0" anchor="t" anchorCtr="0">
              <a:spAutoFit/>
            </a:bodyPr>
            <a:lstStyle/>
            <a:p>
              <a:pPr algn="l"/>
              <a:r>
                <a:rPr lang="en-US" sz="1050" dirty="0">
                  <a:solidFill>
                    <a:srgbClr val="52605A"/>
                  </a:solidFill>
                  <a:latin typeface="Consolas"/>
                  <a:ea typeface="Consolas"/>
                  <a:cs typeface="Consolas"/>
                </a:rPr>
                <a:t>head · version · verify</a:t>
              </a:r>
            </a:p>
          </p:txBody>
        </p:sp>
        <p:sp>
          <p:nvSpPr>
            <p:cNvPr id="33" name="TextBox 33"/>
            <p:cNvSpPr txBox="1"/>
            <p:nvPr/>
          </p:nvSpPr>
          <p:spPr>
            <a:xfrm>
              <a:off x="9424416" y="4934902"/>
              <a:ext cx="1853184" cy="205359"/>
            </a:xfrm>
            <a:prstGeom prst="rect">
              <a:avLst/>
            </a:prstGeom>
            <a:noFill/>
            <a:ln>
              <a:noFill/>
            </a:ln>
          </p:spPr>
          <p:txBody>
            <a:bodyPr wrap="none" lIns="0" tIns="0" rIns="0" bIns="0" anchor="t" anchorCtr="0">
              <a:spAutoFit/>
            </a:bodyPr>
            <a:lstStyle/>
            <a:p>
              <a:pPr algn="l"/>
              <a:r>
                <a:rPr lang="en-US" sz="1050" dirty="0">
                  <a:solidFill>
                    <a:srgbClr val="52605A"/>
                  </a:solidFill>
                  <a:latin typeface="Consolas"/>
                  <a:ea typeface="Consolas"/>
                  <a:cs typeface="Consolas"/>
                </a:rPr>
                <a:t>conflict · lineage · Commit</a:t>
              </a:r>
            </a:p>
          </p:txBody>
        </p:sp>
        <p:sp>
          <p:nvSpPr>
            <p:cNvPr id="34" name="Freeform 34"/>
            <p:cNvSpPr/>
            <p:nvPr/>
          </p:nvSpPr>
          <p:spPr>
            <a:xfrm>
              <a:off x="7165181" y="5162550"/>
              <a:ext cx="300038" cy="342900"/>
            </a:xfrm>
            <a:custGeom>
              <a:avLst/>
              <a:gdLst/>
              <a:ahLst/>
              <a:cxnLst/>
              <a:rect l="l" t="t" r="r" b="b"/>
              <a:pathLst>
                <a:path w="300038" h="342900">
                  <a:moveTo>
                    <a:pt x="150019" y="342900"/>
                  </a:moveTo>
                  <a:lnTo>
                    <a:pt x="71797" y="287027"/>
                  </a:lnTo>
                  <a:cubicBezTo>
                    <a:pt x="26740" y="254843"/>
                    <a:pt x="0" y="202883"/>
                    <a:pt x="0" y="147513"/>
                  </a:cubicBezTo>
                  <a:lnTo>
                    <a:pt x="0" y="64294"/>
                  </a:lnTo>
                  <a:lnTo>
                    <a:pt x="150019" y="0"/>
                  </a:lnTo>
                  <a:lnTo>
                    <a:pt x="300038" y="64294"/>
                  </a:lnTo>
                  <a:lnTo>
                    <a:pt x="300038" y="147513"/>
                  </a:lnTo>
                  <a:cubicBezTo>
                    <a:pt x="300038" y="202883"/>
                    <a:pt x="273298" y="254843"/>
                    <a:pt x="228241" y="287027"/>
                  </a:cubicBezTo>
                  <a:lnTo>
                    <a:pt x="150019" y="342900"/>
                  </a:lnTo>
                  <a:close/>
                  <a:moveTo>
                    <a:pt x="240182" y="122311"/>
                  </a:moveTo>
                  <a:lnTo>
                    <a:pt x="209874" y="92002"/>
                  </a:lnTo>
                  <a:lnTo>
                    <a:pt x="128588" y="173289"/>
                  </a:lnTo>
                  <a:lnTo>
                    <a:pt x="90164" y="134864"/>
                  </a:lnTo>
                  <a:lnTo>
                    <a:pt x="59855" y="165173"/>
                  </a:lnTo>
                  <a:lnTo>
                    <a:pt x="128588" y="233905"/>
                  </a:lnTo>
                  <a:lnTo>
                    <a:pt x="240182" y="122311"/>
                  </a:lnTo>
                  <a:close/>
                </a:path>
              </a:pathLst>
            </a:custGeom>
            <a:solidFill>
              <a:srgbClr val="C58B2B"/>
            </a:solidFill>
            <a:ln>
              <a:noFill/>
            </a:ln>
          </p:spPr>
        </p:sp>
        <p:sp>
          <p:nvSpPr>
            <p:cNvPr id="35" name="TextBox 35"/>
            <p:cNvSpPr txBox="1"/>
            <p:nvPr/>
          </p:nvSpPr>
          <p:spPr>
            <a:xfrm>
              <a:off x="7629906" y="5196840"/>
              <a:ext cx="1036015"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安全投影</a:t>
              </a:r>
            </a:p>
          </p:txBody>
        </p:sp>
        <p:sp>
          <p:nvSpPr>
            <p:cNvPr id="36" name="TextBox 36"/>
            <p:cNvSpPr txBox="1"/>
            <p:nvPr/>
          </p:nvSpPr>
          <p:spPr>
            <a:xfrm>
              <a:off x="9423654" y="5147310"/>
              <a:ext cx="1417625" cy="234696"/>
            </a:xfrm>
            <a:prstGeom prst="rect">
              <a:avLst/>
            </a:prstGeom>
            <a:noFill/>
            <a:ln>
              <a:noFill/>
            </a:ln>
          </p:spPr>
          <p:txBody>
            <a:bodyPr wrap="none" lIns="0" tIns="0" rIns="0" bIns="0" anchor="t" anchorCtr="0">
              <a:spAutoFit/>
            </a:bodyPr>
            <a:lstStyle/>
            <a:p>
              <a:pPr algn="l"/>
              <a:r>
                <a:rPr lang="zh-CN" sz="1200" dirty="0">
                  <a:solidFill>
                    <a:srgbClr val="52605A"/>
                  </a:solidFill>
                  <a:latin typeface="Segoe UI"/>
                  <a:ea typeface="Microsoft YaHei UI"/>
                  <a:cs typeface="Segoe UI"/>
                </a:rPr>
                <a:t>已知 kind allowlist</a:t>
              </a:r>
            </a:p>
          </p:txBody>
        </p:sp>
        <p:sp>
          <p:nvSpPr>
            <p:cNvPr id="37" name="TextBox 37"/>
            <p:cNvSpPr txBox="1"/>
            <p:nvPr/>
          </p:nvSpPr>
          <p:spPr>
            <a:xfrm>
              <a:off x="9423654" y="5375910"/>
              <a:ext cx="1304544" cy="234696"/>
            </a:xfrm>
            <a:prstGeom prst="rect">
              <a:avLst/>
            </a:prstGeom>
            <a:noFill/>
            <a:ln>
              <a:noFill/>
            </a:ln>
          </p:spPr>
          <p:txBody>
            <a:bodyPr wrap="none" lIns="0" tIns="0" rIns="0" bIns="0" anchor="t" anchorCtr="0">
              <a:spAutoFit/>
            </a:bodyPr>
            <a:lstStyle/>
            <a:p>
              <a:pPr algn="l"/>
              <a:r>
                <a:rPr lang="zh-CN" sz="1200" dirty="0">
                  <a:solidFill>
                    <a:srgbClr val="52605A"/>
                  </a:solidFill>
                  <a:latin typeface="Segoe UI"/>
                  <a:ea typeface="Microsoft YaHei UI"/>
                  <a:cs typeface="Segoe UI"/>
                </a:rPr>
                <a:t>未知类型默认隐藏</a:t>
              </a:r>
            </a:p>
          </p:txBody>
        </p:sp>
        <p:sp>
          <p:nvSpPr>
            <p:cNvPr id="38" name="TextBox 38"/>
            <p:cNvSpPr txBox="1"/>
            <p:nvPr/>
          </p:nvSpPr>
          <p:spPr>
            <a:xfrm>
              <a:off x="7632954" y="5585460"/>
              <a:ext cx="2435352" cy="234696"/>
            </a:xfrm>
            <a:prstGeom prst="rect">
              <a:avLst/>
            </a:prstGeom>
            <a:noFill/>
            <a:ln>
              <a:noFill/>
            </a:ln>
          </p:spPr>
          <p:txBody>
            <a:bodyPr wrap="none" lIns="0" tIns="0" rIns="0" bIns="0" anchor="t" anchorCtr="0">
              <a:spAutoFit/>
            </a:bodyPr>
            <a:lstStyle/>
            <a:p>
              <a:pPr algn="l"/>
              <a:r>
                <a:rPr lang="zh-CN" sz="1200" dirty="0">
                  <a:solidFill>
                    <a:srgbClr val="C58B2B"/>
                  </a:solidFill>
                  <a:latin typeface="Segoe UI"/>
                  <a:ea typeface="Microsoft YaHei UI"/>
                  <a:cs typeface="Segoe UI"/>
                </a:rPr>
                <a:t>第二道防线，不是服务端通用脱敏</a:t>
              </a:r>
            </a:p>
          </p:txBody>
        </p:sp>
        <p:sp>
          <p:nvSpPr>
            <p:cNvPr id="39" name="Freeform 39"/>
            <p:cNvSpPr/>
            <p:nvPr/>
          </p:nvSpPr>
          <p:spPr>
            <a:xfrm>
              <a:off x="7143750" y="5810250"/>
              <a:ext cx="342900" cy="342900"/>
            </a:xfrm>
            <a:custGeom>
              <a:avLst/>
              <a:gdLst/>
              <a:ahLst/>
              <a:cxnLst/>
              <a:rect l="l" t="t" r="r" b="b"/>
              <a:pathLst>
                <a:path w="342900" h="342900">
                  <a:moveTo>
                    <a:pt x="171450" y="342900"/>
                  </a:moveTo>
                  <a:cubicBezTo>
                    <a:pt x="266140" y="342900"/>
                    <a:pt x="342900" y="266140"/>
                    <a:pt x="342900" y="171450"/>
                  </a:cubicBezTo>
                  <a:cubicBezTo>
                    <a:pt x="342900" y="76761"/>
                    <a:pt x="266140" y="0"/>
                    <a:pt x="171450" y="0"/>
                  </a:cubicBezTo>
                  <a:cubicBezTo>
                    <a:pt x="76761" y="0"/>
                    <a:pt x="0" y="76761"/>
                    <a:pt x="0" y="171450"/>
                  </a:cubicBezTo>
                  <a:cubicBezTo>
                    <a:pt x="0" y="266140"/>
                    <a:pt x="76761" y="342900"/>
                    <a:pt x="171450" y="342900"/>
                  </a:cubicBezTo>
                  <a:close/>
                  <a:moveTo>
                    <a:pt x="272329" y="122311"/>
                  </a:moveTo>
                  <a:lnTo>
                    <a:pt x="242021" y="92002"/>
                  </a:lnTo>
                  <a:lnTo>
                    <a:pt x="139303" y="194720"/>
                  </a:lnTo>
                  <a:lnTo>
                    <a:pt x="100879" y="156296"/>
                  </a:lnTo>
                  <a:lnTo>
                    <a:pt x="70571" y="186604"/>
                  </a:lnTo>
                  <a:lnTo>
                    <a:pt x="139303" y="255336"/>
                  </a:lnTo>
                  <a:lnTo>
                    <a:pt x="272329" y="122311"/>
                  </a:lnTo>
                  <a:close/>
                </a:path>
              </a:pathLst>
            </a:custGeom>
            <a:solidFill>
              <a:srgbClr val="14865F"/>
            </a:solidFill>
            <a:ln>
              <a:noFill/>
            </a:ln>
          </p:spPr>
        </p:sp>
        <p:sp>
          <p:nvSpPr>
            <p:cNvPr id="40" name="TextBox 40"/>
            <p:cNvSpPr txBox="1"/>
            <p:nvPr/>
          </p:nvSpPr>
          <p:spPr>
            <a:xfrm>
              <a:off x="7629906" y="5863590"/>
              <a:ext cx="1074180" cy="352044"/>
            </a:xfrm>
            <a:prstGeom prst="rect">
              <a:avLst/>
            </a:prstGeom>
            <a:noFill/>
            <a:ln>
              <a:noFill/>
            </a:ln>
          </p:spPr>
          <p:txBody>
            <a:bodyPr wrap="none" lIns="0" tIns="0" rIns="0" bIns="0" anchor="t" anchorCtr="0">
              <a:spAutoFit/>
            </a:bodyPr>
            <a:lstStyle/>
            <a:p>
              <a:pPr algn="l"/>
              <a:r>
                <a:rPr lang="en-US" sz="1800" b="1" dirty="0">
                  <a:solidFill>
                    <a:srgbClr val="202824"/>
                  </a:solidFill>
                  <a:latin typeface="Segoe UI"/>
                  <a:ea typeface="Segoe UI"/>
                  <a:cs typeface="Segoe UI"/>
                </a:rPr>
                <a:t>2 passed</a:t>
              </a:r>
            </a:p>
          </p:txBody>
        </p:sp>
        <p:sp>
          <p:nvSpPr>
            <p:cNvPr id="41" name="TextBox 41"/>
            <p:cNvSpPr txBox="1"/>
            <p:nvPr/>
          </p:nvSpPr>
          <p:spPr>
            <a:xfrm>
              <a:off x="9423654" y="5814060"/>
              <a:ext cx="2246657" cy="234696"/>
            </a:xfrm>
            <a:prstGeom prst="rect">
              <a:avLst/>
            </a:prstGeom>
            <a:noFill/>
            <a:ln>
              <a:noFill/>
            </a:ln>
          </p:spPr>
          <p:txBody>
            <a:bodyPr wrap="none" lIns="0" tIns="0" rIns="0" bIns="0" anchor="t" anchorCtr="0">
              <a:spAutoFit/>
            </a:bodyPr>
            <a:lstStyle/>
            <a:p>
              <a:pPr algn="l"/>
              <a:r>
                <a:rPr lang="en-US" sz="1200" dirty="0">
                  <a:solidFill>
                    <a:srgbClr val="52605A"/>
                  </a:solidFill>
                  <a:latin typeface="Segoe UI"/>
                  <a:ea typeface="Segoe UI"/>
                  <a:cs typeface="Segoe UI"/>
                </a:rPr>
                <a:t>1 Task · 3 committed Branch</a:t>
              </a:r>
            </a:p>
          </p:txBody>
        </p:sp>
        <p:sp>
          <p:nvSpPr>
            <p:cNvPr id="42" name="TextBox 42"/>
            <p:cNvSpPr txBox="1"/>
            <p:nvPr/>
          </p:nvSpPr>
          <p:spPr>
            <a:xfrm>
              <a:off x="9423654" y="6042660"/>
              <a:ext cx="1953050" cy="234696"/>
            </a:xfrm>
            <a:prstGeom prst="rect">
              <a:avLst/>
            </a:prstGeom>
            <a:noFill/>
            <a:ln>
              <a:noFill/>
            </a:ln>
          </p:spPr>
          <p:txBody>
            <a:bodyPr wrap="none" lIns="0" tIns="0" rIns="0" bIns="0" anchor="t" anchorCtr="0">
              <a:spAutoFit/>
            </a:bodyPr>
            <a:lstStyle/>
            <a:p>
              <a:pPr algn="l"/>
              <a:r>
                <a:rPr lang="en-US" sz="1200" dirty="0">
                  <a:solidFill>
                    <a:srgbClr val="52605A"/>
                  </a:solidFill>
                  <a:latin typeface="Segoe UI"/>
                  <a:ea typeface="Segoe UI"/>
                  <a:cs typeface="Segoe UI"/>
                </a:rPr>
                <a:t>7 unique ArtifactVersion</a:t>
              </a:r>
            </a:p>
          </p:txBody>
        </p:sp>
      </p:grpSp>
      <p:grpSp>
        <p:nvGrpSpPr>
          <p:cNvPr id="46" name="Group 46"/>
          <p:cNvGrpSpPr/>
          <p:nvPr/>
        </p:nvGrpSpPr>
        <p:grpSpPr>
          <a:xfrm>
            <a:off x="528066" y="6439852"/>
            <a:ext cx="11135868" cy="205359"/>
            <a:chOff x="528066" y="6439852"/>
            <a:chExt cx="11135868" cy="205359"/>
          </a:xfrm>
        </p:grpSpPr>
        <p:sp>
          <p:nvSpPr>
            <p:cNvPr id="44" name="TextBox 44"/>
            <p:cNvSpPr txBox="1"/>
            <p:nvPr/>
          </p:nvSpPr>
          <p:spPr>
            <a:xfrm>
              <a:off x="528066" y="6439852"/>
              <a:ext cx="5877151" cy="205359"/>
            </a:xfrm>
            <a:prstGeom prst="rect">
              <a:avLst/>
            </a:prstGeom>
            <a:noFill/>
            <a:ln>
              <a:noFill/>
            </a:ln>
          </p:spPr>
          <p:txBody>
            <a:bodyPr wrap="none" lIns="0" tIns="0" rIns="0" bIns="0" anchor="t" anchorCtr="0">
              <a:spAutoFit/>
            </a:bodyPr>
            <a:lstStyle/>
            <a:p>
              <a:pPr algn="l"/>
              <a:r>
                <a:rPr lang="en-US" sz="1050" dirty="0">
                  <a:solidFill>
                    <a:srgbClr val="74817B"/>
                  </a:solidFill>
                  <a:latin typeface="Segoe UI"/>
                  <a:ea typeface="Segoe UI"/>
                  <a:cs typeface="Segoe UI"/>
                </a:rPr>
                <a:t>Source: DEMO1-PR4-FRONTEND-E2E-EVIDENCE §1-5 · UI_SERVER_FACT_MATRIX §1/§5</a:t>
              </a:r>
            </a:p>
          </p:txBody>
        </p:sp>
        <p:sp>
          <p:nvSpPr>
            <p:cNvPr id="45" name="TextBox 45"/>
            <p:cNvSpPr txBox="1"/>
            <p:nvPr/>
          </p:nvSpPr>
          <p:spPr>
            <a:xfrm>
              <a:off x="11179740" y="6439852"/>
              <a:ext cx="484194" cy="205359"/>
            </a:xfrm>
            <a:prstGeom prst="rect">
              <a:avLst/>
            </a:prstGeom>
            <a:noFill/>
            <a:ln>
              <a:noFill/>
            </a:ln>
          </p:spPr>
          <p:txBody>
            <a:bodyPr wrap="none" lIns="0" tIns="0" rIns="0" bIns="0" anchor="t" anchorCtr="0">
              <a:spAutoFit/>
            </a:bodyPr>
            <a:lstStyle/>
            <a:p>
              <a:pPr algn="r"/>
              <a:r>
                <a:rPr lang="en-US" sz="1050" dirty="0">
                  <a:solidFill>
                    <a:srgbClr val="14865F"/>
                  </a:solidFill>
                  <a:latin typeface="Consolas"/>
                  <a:ea typeface="Consolas"/>
                  <a:cs typeface="Consolas"/>
                </a:rPr>
                <a:t>07 / 11</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8"/>
          </a:solidFill>
          <a:ln>
            <a:noFill/>
          </a:ln>
        </p:spPr>
      </p:sp>
      <p:grpSp>
        <p:nvGrpSpPr>
          <p:cNvPr id="6" name="Group 6"/>
          <p:cNvGrpSpPr/>
          <p:nvPr/>
        </p:nvGrpSpPr>
        <p:grpSpPr>
          <a:xfrm>
            <a:off x="533400" y="400050"/>
            <a:ext cx="11130534" cy="670179"/>
            <a:chOff x="533400" y="400050"/>
            <a:chExt cx="11130534" cy="670179"/>
          </a:xfrm>
        </p:grpSpPr>
        <p:sp>
          <p:nvSpPr>
            <p:cNvPr id="3" name="Rectangle 3"/>
            <p:cNvSpPr/>
            <p:nvPr/>
          </p:nvSpPr>
          <p:spPr>
            <a:xfrm>
              <a:off x="533400" y="400050"/>
              <a:ext cx="57150" cy="495300"/>
            </a:xfrm>
            <a:prstGeom prst="rect">
              <a:avLst/>
            </a:prstGeom>
            <a:solidFill>
              <a:srgbClr val="14865F"/>
            </a:solidFill>
            <a:ln>
              <a:noFill/>
            </a:ln>
          </p:spPr>
        </p:sp>
        <p:sp>
          <p:nvSpPr>
            <p:cNvPr id="4" name="TextBox 4"/>
            <p:cNvSpPr txBox="1"/>
            <p:nvPr/>
          </p:nvSpPr>
          <p:spPr>
            <a:xfrm>
              <a:off x="745236" y="424815"/>
              <a:ext cx="8683249" cy="645414"/>
            </a:xfrm>
            <a:prstGeom prst="rect">
              <a:avLst/>
            </a:prstGeom>
            <a:noFill/>
            <a:ln>
              <a:noFill/>
            </a:ln>
          </p:spPr>
          <p:txBody>
            <a:bodyPr wrap="none" lIns="0" tIns="0" rIns="0" bIns="0" anchor="t" anchorCtr="0">
              <a:spAutoFit/>
            </a:bodyPr>
            <a:lstStyle/>
            <a:p>
              <a:pPr algn="l"/>
              <a:r>
                <a:rPr lang="zh-CN" sz="3300" b="1" dirty="0">
                  <a:solidFill>
                    <a:srgbClr val="1C2A24"/>
                  </a:solidFill>
                  <a:latin typeface="Segoe UI"/>
                  <a:ea typeface="Microsoft YaHei UI"/>
                  <a:cs typeface="Segoe UI"/>
                </a:rPr>
                <a:t>每个 UI 状态都必须能回答“依据是什么”</a:t>
              </a:r>
            </a:p>
          </p:txBody>
        </p:sp>
        <p:sp>
          <p:nvSpPr>
            <p:cNvPr id="5" name="TextBox 5"/>
            <p:cNvSpPr txBox="1"/>
            <p:nvPr/>
          </p:nvSpPr>
          <p:spPr>
            <a:xfrm>
              <a:off x="10443515" y="629602"/>
              <a:ext cx="1220419" cy="205359"/>
            </a:xfrm>
            <a:prstGeom prst="rect">
              <a:avLst/>
            </a:prstGeom>
            <a:noFill/>
            <a:ln>
              <a:noFill/>
            </a:ln>
          </p:spPr>
          <p:txBody>
            <a:bodyPr wrap="none" lIns="0" tIns="0" rIns="0" bIns="0" anchor="t" anchorCtr="0">
              <a:spAutoFit/>
            </a:bodyPr>
            <a:lstStyle/>
            <a:p>
              <a:pPr algn="r"/>
              <a:r>
                <a:rPr lang="en-US" sz="1050" dirty="0">
                  <a:solidFill>
                    <a:srgbClr val="74817B"/>
                  </a:solidFill>
                  <a:latin typeface="Consolas"/>
                  <a:ea typeface="Consolas"/>
                  <a:cs typeface="Consolas"/>
                </a:rPr>
                <a:t>UI ↔ SERVER · P08</a:t>
              </a:r>
            </a:p>
          </p:txBody>
        </p:sp>
      </p:grpSp>
      <p:grpSp>
        <p:nvGrpSpPr>
          <p:cNvPr id="9" name="Group 9"/>
          <p:cNvGrpSpPr/>
          <p:nvPr/>
        </p:nvGrpSpPr>
        <p:grpSpPr>
          <a:xfrm>
            <a:off x="522732" y="1068705"/>
            <a:ext cx="11824380" cy="521970"/>
            <a:chOff x="522732" y="1068705"/>
            <a:chExt cx="11824380" cy="521970"/>
          </a:xfrm>
        </p:grpSpPr>
        <p:sp>
          <p:nvSpPr>
            <p:cNvPr id="7" name="TextBox 7"/>
            <p:cNvSpPr txBox="1"/>
            <p:nvPr/>
          </p:nvSpPr>
          <p:spPr>
            <a:xfrm>
              <a:off x="522732" y="1068705"/>
              <a:ext cx="11824380" cy="410718"/>
            </a:xfrm>
            <a:prstGeom prst="rect">
              <a:avLst/>
            </a:prstGeom>
            <a:noFill/>
            <a:ln>
              <a:noFill/>
            </a:ln>
          </p:spPr>
          <p:txBody>
            <a:bodyPr wrap="none" lIns="0" tIns="0" rIns="0" bIns="0" anchor="t" anchorCtr="0">
              <a:spAutoFit/>
            </a:bodyPr>
            <a:lstStyle/>
            <a:p>
              <a:pPr algn="l"/>
              <a:r>
                <a:rPr lang="zh-CN" sz="2100" b="1" dirty="0">
                  <a:solidFill>
                    <a:srgbClr val="202824"/>
                  </a:solidFill>
                  <a:latin typeface="Segoe UI"/>
                  <a:ea typeface="Microsoft YaHei UI"/>
                  <a:cs typeface="Segoe UI"/>
                </a:rPr>
                <a:t>UI 负责翻译事实与提供动作入口；Snapshot、Event 和 RunSnapshot 才决定真实状态。</a:t>
              </a:r>
            </a:p>
          </p:txBody>
        </p:sp>
        <p:sp>
          <p:nvSpPr>
            <p:cNvPr id="8" name="Line 8"/>
            <p:cNvSpPr/>
            <p:nvPr/>
          </p:nvSpPr>
          <p:spPr>
            <a:xfrm>
              <a:off x="533400" y="1581150"/>
              <a:ext cx="11125200" cy="9525"/>
            </a:xfrm>
            <a:custGeom>
              <a:avLst/>
              <a:gdLst/>
              <a:ahLst/>
              <a:cxnLst/>
              <a:rect l="l" t="t" r="r" b="b"/>
              <a:pathLst>
                <a:path w="11125200" h="9525">
                  <a:moveTo>
                    <a:pt x="0" y="0"/>
                  </a:moveTo>
                  <a:lnTo>
                    <a:pt x="11125200" y="0"/>
                  </a:lnTo>
                </a:path>
              </a:pathLst>
            </a:custGeom>
            <a:noFill/>
            <a:ln w="9525">
              <a:solidFill>
                <a:srgbClr val="CDD8D2"/>
              </a:solidFill>
            </a:ln>
          </p:spPr>
        </p:sp>
      </p:grpSp>
      <p:grpSp>
        <p:nvGrpSpPr>
          <p:cNvPr id="18" name="Group 18"/>
          <p:cNvGrpSpPr/>
          <p:nvPr/>
        </p:nvGrpSpPr>
        <p:grpSpPr>
          <a:xfrm>
            <a:off x="533400" y="1790700"/>
            <a:ext cx="9276817" cy="386334"/>
            <a:chOff x="533400" y="1790700"/>
            <a:chExt cx="9276817" cy="386334"/>
          </a:xfrm>
        </p:grpSpPr>
        <p:sp>
          <p:nvSpPr>
            <p:cNvPr id="10" name="Freeform 10"/>
            <p:cNvSpPr/>
            <p:nvPr/>
          </p:nvSpPr>
          <p:spPr>
            <a:xfrm>
              <a:off x="533400" y="1828800"/>
              <a:ext cx="304800" cy="266700"/>
            </a:xfrm>
            <a:custGeom>
              <a:avLst/>
              <a:gdLst/>
              <a:ahLst/>
              <a:cxnLst/>
              <a:rect l="l" t="t" r="r" b="b"/>
              <a:pathLst>
                <a:path w="304800" h="266700">
                  <a:moveTo>
                    <a:pt x="0" y="0"/>
                  </a:moveTo>
                  <a:lnTo>
                    <a:pt x="304800" y="0"/>
                  </a:lnTo>
                  <a:lnTo>
                    <a:pt x="304800" y="190500"/>
                  </a:lnTo>
                  <a:lnTo>
                    <a:pt x="190500" y="190500"/>
                  </a:lnTo>
                  <a:lnTo>
                    <a:pt x="190500" y="209550"/>
                  </a:lnTo>
                  <a:lnTo>
                    <a:pt x="228600" y="247650"/>
                  </a:lnTo>
                  <a:lnTo>
                    <a:pt x="228600" y="266700"/>
                  </a:lnTo>
                  <a:lnTo>
                    <a:pt x="76200" y="266700"/>
                  </a:lnTo>
                  <a:lnTo>
                    <a:pt x="76200" y="247650"/>
                  </a:lnTo>
                  <a:lnTo>
                    <a:pt x="114300" y="209550"/>
                  </a:lnTo>
                  <a:lnTo>
                    <a:pt x="114300" y="190500"/>
                  </a:lnTo>
                  <a:lnTo>
                    <a:pt x="0" y="190500"/>
                  </a:lnTo>
                  <a:lnTo>
                    <a:pt x="0" y="0"/>
                  </a:lnTo>
                  <a:close/>
                  <a:moveTo>
                    <a:pt x="38100" y="38100"/>
                  </a:moveTo>
                  <a:lnTo>
                    <a:pt x="266700" y="38100"/>
                  </a:lnTo>
                  <a:lnTo>
                    <a:pt x="266700" y="152400"/>
                  </a:lnTo>
                  <a:lnTo>
                    <a:pt x="38100" y="152400"/>
                  </a:lnTo>
                  <a:lnTo>
                    <a:pt x="38100" y="38100"/>
                  </a:lnTo>
                  <a:close/>
                </a:path>
              </a:pathLst>
            </a:custGeom>
            <a:solidFill>
              <a:srgbClr val="14865F"/>
            </a:solidFill>
            <a:ln>
              <a:noFill/>
            </a:ln>
          </p:spPr>
        </p:sp>
        <p:sp>
          <p:nvSpPr>
            <p:cNvPr id="11" name="TextBox 11"/>
            <p:cNvSpPr txBox="1"/>
            <p:nvPr/>
          </p:nvSpPr>
          <p:spPr>
            <a:xfrm>
              <a:off x="962406" y="1824990"/>
              <a:ext cx="1036015" cy="352044"/>
            </a:xfrm>
            <a:prstGeom prst="rect">
              <a:avLst/>
            </a:prstGeom>
            <a:noFill/>
            <a:ln>
              <a:noFill/>
            </a:ln>
          </p:spPr>
          <p:txBody>
            <a:bodyPr wrap="none" lIns="0" tIns="0" rIns="0" bIns="0" anchor="t" anchorCtr="0">
              <a:spAutoFit/>
            </a:bodyPr>
            <a:lstStyle/>
            <a:p>
              <a:pPr algn="l"/>
              <a:r>
                <a:rPr lang="zh-CN" sz="1800" b="1" dirty="0">
                  <a:solidFill>
                    <a:srgbClr val="1C2A24"/>
                  </a:solidFill>
                  <a:latin typeface="Segoe UI"/>
                  <a:ea typeface="Microsoft YaHei UI"/>
                  <a:cs typeface="Segoe UI"/>
                </a:rPr>
                <a:t>前台投影</a:t>
              </a:r>
            </a:p>
          </p:txBody>
        </p:sp>
        <p:grpSp>
          <p:nvGrpSpPr>
            <p:cNvPr id="15" name="Group 15"/>
            <p:cNvGrpSpPr/>
            <p:nvPr/>
          </p:nvGrpSpPr>
          <p:grpSpPr>
            <a:xfrm>
              <a:off x="7620000" y="1790700"/>
              <a:ext cx="228600" cy="304800"/>
              <a:chOff x="7620000" y="1790700"/>
              <a:chExt cx="228600" cy="304800"/>
            </a:xfrm>
          </p:grpSpPr>
          <p:sp>
            <p:nvSpPr>
              <p:cNvPr id="12" name="Freeform 12"/>
              <p:cNvSpPr/>
              <p:nvPr/>
            </p:nvSpPr>
            <p:spPr>
              <a:xfrm>
                <a:off x="7620000" y="1912620"/>
                <a:ext cx="228600" cy="87630"/>
              </a:xfrm>
              <a:custGeom>
                <a:avLst/>
                <a:gdLst/>
                <a:ahLst/>
                <a:cxnLst/>
                <a:rect l="l" t="t" r="r" b="b"/>
                <a:pathLst>
                  <a:path w="228600" h="87630">
                    <a:moveTo>
                      <a:pt x="212162" y="9719"/>
                    </a:moveTo>
                    <a:cubicBezTo>
                      <a:pt x="217521" y="7039"/>
                      <a:pt x="223119" y="3806"/>
                      <a:pt x="228600" y="0"/>
                    </a:cubicBezTo>
                    <a:lnTo>
                      <a:pt x="228600" y="30480"/>
                    </a:lnTo>
                    <a:cubicBezTo>
                      <a:pt x="228600" y="62043"/>
                      <a:pt x="177426" y="87630"/>
                      <a:pt x="114300" y="87630"/>
                    </a:cubicBezTo>
                    <a:cubicBezTo>
                      <a:pt x="51174" y="87630"/>
                      <a:pt x="0" y="62043"/>
                      <a:pt x="0" y="30480"/>
                    </a:cubicBezTo>
                    <a:lnTo>
                      <a:pt x="0" y="0"/>
                    </a:lnTo>
                    <a:cubicBezTo>
                      <a:pt x="5481" y="3806"/>
                      <a:pt x="11079" y="7039"/>
                      <a:pt x="16439" y="9719"/>
                    </a:cubicBezTo>
                    <a:cubicBezTo>
                      <a:pt x="43452" y="23225"/>
                      <a:pt x="78105" y="30480"/>
                      <a:pt x="114300" y="30480"/>
                    </a:cubicBezTo>
                    <a:cubicBezTo>
                      <a:pt x="150495" y="30480"/>
                      <a:pt x="185147" y="23225"/>
                      <a:pt x="212162" y="9719"/>
                    </a:cubicBezTo>
                    <a:close/>
                  </a:path>
                </a:pathLst>
              </a:custGeom>
              <a:solidFill>
                <a:srgbClr val="1C2A24"/>
              </a:solidFill>
              <a:ln>
                <a:noFill/>
              </a:ln>
            </p:spPr>
          </p:sp>
          <p:sp>
            <p:nvSpPr>
              <p:cNvPr id="13" name="Freeform 13"/>
              <p:cNvSpPr/>
              <p:nvPr/>
            </p:nvSpPr>
            <p:spPr>
              <a:xfrm>
                <a:off x="7620000" y="2007870"/>
                <a:ext cx="228600" cy="87630"/>
              </a:xfrm>
              <a:custGeom>
                <a:avLst/>
                <a:gdLst/>
                <a:ahLst/>
                <a:cxnLst/>
                <a:rect l="l" t="t" r="r" b="b"/>
                <a:pathLst>
                  <a:path w="228600" h="87630">
                    <a:moveTo>
                      <a:pt x="0" y="0"/>
                    </a:moveTo>
                    <a:lnTo>
                      <a:pt x="0" y="30480"/>
                    </a:lnTo>
                    <a:cubicBezTo>
                      <a:pt x="0" y="62044"/>
                      <a:pt x="51174" y="87630"/>
                      <a:pt x="114300" y="87630"/>
                    </a:cubicBezTo>
                    <a:cubicBezTo>
                      <a:pt x="177426" y="87630"/>
                      <a:pt x="228600" y="62044"/>
                      <a:pt x="228600" y="30480"/>
                    </a:cubicBezTo>
                    <a:lnTo>
                      <a:pt x="228600" y="0"/>
                    </a:lnTo>
                    <a:cubicBezTo>
                      <a:pt x="223119" y="3806"/>
                      <a:pt x="217521" y="7039"/>
                      <a:pt x="212162" y="9719"/>
                    </a:cubicBezTo>
                    <a:cubicBezTo>
                      <a:pt x="185147" y="23226"/>
                      <a:pt x="150495" y="30480"/>
                      <a:pt x="114300" y="30480"/>
                    </a:cubicBezTo>
                    <a:cubicBezTo>
                      <a:pt x="78105" y="30480"/>
                      <a:pt x="43452" y="23226"/>
                      <a:pt x="16439" y="9719"/>
                    </a:cubicBezTo>
                    <a:cubicBezTo>
                      <a:pt x="11079" y="7039"/>
                      <a:pt x="5481" y="3806"/>
                      <a:pt x="0" y="0"/>
                    </a:cubicBezTo>
                    <a:close/>
                  </a:path>
                </a:pathLst>
              </a:custGeom>
              <a:solidFill>
                <a:srgbClr val="1C2A24"/>
              </a:solidFill>
              <a:ln>
                <a:noFill/>
              </a:ln>
            </p:spPr>
          </p:sp>
          <p:sp>
            <p:nvSpPr>
              <p:cNvPr id="14" name="Freeform 14"/>
              <p:cNvSpPr/>
              <p:nvPr/>
            </p:nvSpPr>
            <p:spPr>
              <a:xfrm>
                <a:off x="7620000" y="1790700"/>
                <a:ext cx="228600" cy="114300"/>
              </a:xfrm>
              <a:custGeom>
                <a:avLst/>
                <a:gdLst/>
                <a:ahLst/>
                <a:cxnLst/>
                <a:rect l="l" t="t" r="r" b="b"/>
                <a:pathLst>
                  <a:path w="228600" h="114300">
                    <a:moveTo>
                      <a:pt x="114300" y="0"/>
                    </a:moveTo>
                    <a:cubicBezTo>
                      <a:pt x="177426" y="0"/>
                      <a:pt x="228600" y="25587"/>
                      <a:pt x="228600" y="57150"/>
                    </a:cubicBezTo>
                    <a:cubicBezTo>
                      <a:pt x="228600" y="88713"/>
                      <a:pt x="177426" y="114300"/>
                      <a:pt x="114300" y="114300"/>
                    </a:cubicBezTo>
                    <a:cubicBezTo>
                      <a:pt x="51174" y="114300"/>
                      <a:pt x="0" y="88713"/>
                      <a:pt x="0" y="57150"/>
                    </a:cubicBezTo>
                    <a:cubicBezTo>
                      <a:pt x="0" y="25587"/>
                      <a:pt x="51174" y="0"/>
                      <a:pt x="114300" y="0"/>
                    </a:cubicBezTo>
                    <a:close/>
                  </a:path>
                </a:pathLst>
              </a:custGeom>
              <a:solidFill>
                <a:srgbClr val="1C2A24"/>
              </a:solidFill>
              <a:ln>
                <a:noFill/>
              </a:ln>
            </p:spPr>
          </p:sp>
        </p:grpSp>
        <p:sp>
          <p:nvSpPr>
            <p:cNvPr id="16" name="TextBox 16"/>
            <p:cNvSpPr txBox="1"/>
            <p:nvPr/>
          </p:nvSpPr>
          <p:spPr>
            <a:xfrm>
              <a:off x="8010906" y="1824990"/>
              <a:ext cx="1799311" cy="352044"/>
            </a:xfrm>
            <a:prstGeom prst="rect">
              <a:avLst/>
            </a:prstGeom>
            <a:noFill/>
            <a:ln>
              <a:noFill/>
            </a:ln>
          </p:spPr>
          <p:txBody>
            <a:bodyPr wrap="none" lIns="0" tIns="0" rIns="0" bIns="0" anchor="t" anchorCtr="0">
              <a:spAutoFit/>
            </a:bodyPr>
            <a:lstStyle/>
            <a:p>
              <a:pPr algn="l"/>
              <a:r>
                <a:rPr lang="zh-CN" sz="1800" b="1" dirty="0">
                  <a:solidFill>
                    <a:srgbClr val="1C2A24"/>
                  </a:solidFill>
                  <a:latin typeface="Segoe UI"/>
                  <a:ea typeface="Microsoft YaHei UI"/>
                  <a:cs typeface="Segoe UI"/>
                </a:rPr>
                <a:t>服务端权威事实</a:t>
              </a:r>
            </a:p>
          </p:txBody>
        </p:sp>
        <p:sp>
          <p:nvSpPr>
            <p:cNvPr id="17" name="TextBox 17"/>
            <p:cNvSpPr txBox="1"/>
            <p:nvPr/>
          </p:nvSpPr>
          <p:spPr>
            <a:xfrm>
              <a:off x="5609082" y="1873568"/>
              <a:ext cx="973836" cy="264033"/>
            </a:xfrm>
            <a:prstGeom prst="rect">
              <a:avLst/>
            </a:prstGeom>
            <a:noFill/>
            <a:ln>
              <a:noFill/>
            </a:ln>
          </p:spPr>
          <p:txBody>
            <a:bodyPr wrap="none" lIns="0" tIns="0" rIns="0" bIns="0" anchor="t" anchorCtr="0">
              <a:spAutoFit/>
            </a:bodyPr>
            <a:lstStyle/>
            <a:p>
              <a:pPr algn="ctr"/>
              <a:r>
                <a:rPr lang="en-US" sz="1350" dirty="0">
                  <a:solidFill>
                    <a:srgbClr val="74817B"/>
                  </a:solidFill>
                  <a:latin typeface="Consolas"/>
                  <a:ea typeface="Consolas"/>
                  <a:cs typeface="Consolas"/>
                </a:rPr>
                <a:t>REST / SSE</a:t>
              </a:r>
            </a:p>
          </p:txBody>
        </p:sp>
      </p:grpSp>
      <p:grpSp>
        <p:nvGrpSpPr>
          <p:cNvPr id="30" name="Group 30"/>
          <p:cNvGrpSpPr/>
          <p:nvPr/>
        </p:nvGrpSpPr>
        <p:grpSpPr>
          <a:xfrm>
            <a:off x="533400" y="2228850"/>
            <a:ext cx="11125200" cy="552450"/>
            <a:chOff x="533400" y="2228850"/>
            <a:chExt cx="11125200" cy="552450"/>
          </a:xfrm>
        </p:grpSpPr>
        <p:sp>
          <p:nvSpPr>
            <p:cNvPr id="19" name="Rectangle 19"/>
            <p:cNvSpPr/>
            <p:nvPr/>
          </p:nvSpPr>
          <p:spPr>
            <a:xfrm>
              <a:off x="533400" y="2228850"/>
              <a:ext cx="4076700" cy="552450"/>
            </a:xfrm>
            <a:prstGeom prst="rect">
              <a:avLst/>
            </a:prstGeom>
            <a:solidFill>
              <a:srgbClr val="FFFFFF"/>
            </a:solidFill>
            <a:ln w="9525">
              <a:solidFill>
                <a:srgbClr val="CDD8D2"/>
              </a:solidFill>
            </a:ln>
          </p:spPr>
        </p:sp>
        <p:grpSp>
          <p:nvGrpSpPr>
            <p:cNvPr id="23" name="Group 23"/>
            <p:cNvGrpSpPr/>
            <p:nvPr/>
          </p:nvGrpSpPr>
          <p:grpSpPr>
            <a:xfrm>
              <a:off x="685800" y="2352675"/>
              <a:ext cx="304800" cy="304800"/>
              <a:chOff x="685800" y="2352675"/>
              <a:chExt cx="304800" cy="304800"/>
            </a:xfrm>
          </p:grpSpPr>
          <p:sp>
            <p:nvSpPr>
              <p:cNvPr id="20" name="Freeform 20"/>
              <p:cNvSpPr/>
              <p:nvPr/>
            </p:nvSpPr>
            <p:spPr>
              <a:xfrm>
                <a:off x="685800" y="2352675"/>
                <a:ext cx="304800" cy="304800"/>
              </a:xfrm>
              <a:custGeom>
                <a:avLst/>
                <a:gdLst/>
                <a:ahLst/>
                <a:cxnLst/>
                <a:rect l="l" t="t" r="r" b="b"/>
                <a:pathLst>
                  <a:path w="304800" h="304800">
                    <a:moveTo>
                      <a:pt x="155624" y="38145"/>
                    </a:moveTo>
                    <a:cubicBezTo>
                      <a:pt x="154553" y="38115"/>
                      <a:pt x="153478" y="38100"/>
                      <a:pt x="152400" y="38100"/>
                    </a:cubicBezTo>
                    <a:cubicBezTo>
                      <a:pt x="89274" y="38100"/>
                      <a:pt x="38100" y="89274"/>
                      <a:pt x="38100" y="152400"/>
                    </a:cubicBezTo>
                    <a:cubicBezTo>
                      <a:pt x="38100" y="215526"/>
                      <a:pt x="89274" y="266700"/>
                      <a:pt x="152400" y="266700"/>
                    </a:cubicBezTo>
                    <a:cubicBezTo>
                      <a:pt x="215526" y="266700"/>
                      <a:pt x="266700" y="215526"/>
                      <a:pt x="266700" y="152400"/>
                    </a:cubicBezTo>
                    <a:cubicBezTo>
                      <a:pt x="266700" y="151322"/>
                      <a:pt x="266685" y="150247"/>
                      <a:pt x="266656" y="149176"/>
                    </a:cubicBezTo>
                    <a:lnTo>
                      <a:pt x="300308" y="115523"/>
                    </a:lnTo>
                    <a:cubicBezTo>
                      <a:pt x="303242" y="127332"/>
                      <a:pt x="304800" y="139684"/>
                      <a:pt x="304800" y="152400"/>
                    </a:cubicBezTo>
                    <a:cubicBezTo>
                      <a:pt x="304800" y="236569"/>
                      <a:pt x="236569" y="304800"/>
                      <a:pt x="152400" y="304800"/>
                    </a:cubicBezTo>
                    <a:cubicBezTo>
                      <a:pt x="68232" y="304800"/>
                      <a:pt x="0" y="236569"/>
                      <a:pt x="0" y="152400"/>
                    </a:cubicBezTo>
                    <a:cubicBezTo>
                      <a:pt x="0" y="68232"/>
                      <a:pt x="68232" y="0"/>
                      <a:pt x="152400" y="0"/>
                    </a:cubicBezTo>
                    <a:cubicBezTo>
                      <a:pt x="165116" y="0"/>
                      <a:pt x="177468" y="1557"/>
                      <a:pt x="189277" y="4492"/>
                    </a:cubicBezTo>
                    <a:lnTo>
                      <a:pt x="155624" y="38145"/>
                    </a:lnTo>
                    <a:close/>
                  </a:path>
                </a:pathLst>
              </a:custGeom>
              <a:solidFill>
                <a:srgbClr val="14865F"/>
              </a:solidFill>
              <a:ln>
                <a:noFill/>
              </a:ln>
            </p:spPr>
          </p:sp>
          <p:sp>
            <p:nvSpPr>
              <p:cNvPr id="21" name="Freeform 21"/>
              <p:cNvSpPr/>
              <p:nvPr/>
            </p:nvSpPr>
            <p:spPr>
              <a:xfrm>
                <a:off x="762000" y="2431275"/>
                <a:ext cx="150000" cy="150000"/>
              </a:xfrm>
              <a:custGeom>
                <a:avLst/>
                <a:gdLst/>
                <a:ahLst/>
                <a:cxnLst/>
                <a:rect l="l" t="t" r="r" b="b"/>
                <a:pathLst>
                  <a:path w="150000" h="150000">
                    <a:moveTo>
                      <a:pt x="0" y="73799"/>
                    </a:moveTo>
                    <a:cubicBezTo>
                      <a:pt x="0" y="38293"/>
                      <a:pt x="24284" y="8459"/>
                      <a:pt x="57150" y="0"/>
                    </a:cubicBezTo>
                    <a:lnTo>
                      <a:pt x="57150" y="40796"/>
                    </a:lnTo>
                    <a:cubicBezTo>
                      <a:pt x="45762" y="47384"/>
                      <a:pt x="38100" y="59697"/>
                      <a:pt x="38100" y="73799"/>
                    </a:cubicBezTo>
                    <a:cubicBezTo>
                      <a:pt x="38100" y="94841"/>
                      <a:pt x="55158" y="111899"/>
                      <a:pt x="76200" y="111899"/>
                    </a:cubicBezTo>
                    <a:cubicBezTo>
                      <a:pt x="90302" y="111899"/>
                      <a:pt x="102615" y="104237"/>
                      <a:pt x="109203" y="92849"/>
                    </a:cubicBezTo>
                    <a:lnTo>
                      <a:pt x="150000" y="92849"/>
                    </a:lnTo>
                    <a:cubicBezTo>
                      <a:pt x="141540" y="125715"/>
                      <a:pt x="111706" y="150000"/>
                      <a:pt x="76200" y="150000"/>
                    </a:cubicBezTo>
                    <a:cubicBezTo>
                      <a:pt x="34116" y="150000"/>
                      <a:pt x="0" y="115883"/>
                      <a:pt x="0" y="73799"/>
                    </a:cubicBezTo>
                    <a:close/>
                  </a:path>
                </a:pathLst>
              </a:custGeom>
              <a:solidFill>
                <a:srgbClr val="14865F"/>
              </a:solidFill>
              <a:ln>
                <a:noFill/>
              </a:ln>
            </p:spPr>
          </p:sp>
          <p:sp>
            <p:nvSpPr>
              <p:cNvPr id="22" name="Freeform 22"/>
              <p:cNvSpPr/>
              <p:nvPr/>
            </p:nvSpPr>
            <p:spPr>
              <a:xfrm>
                <a:off x="834255" y="2352675"/>
                <a:ext cx="156345" cy="156345"/>
              </a:xfrm>
              <a:custGeom>
                <a:avLst/>
                <a:gdLst/>
                <a:ahLst/>
                <a:cxnLst/>
                <a:rect l="l" t="t" r="r" b="b"/>
                <a:pathLst>
                  <a:path w="156345" h="156345">
                    <a:moveTo>
                      <a:pt x="118245" y="38100"/>
                    </a:moveTo>
                    <a:lnTo>
                      <a:pt x="99195" y="0"/>
                    </a:lnTo>
                    <a:lnTo>
                      <a:pt x="42045" y="57150"/>
                    </a:lnTo>
                    <a:lnTo>
                      <a:pt x="42045" y="87359"/>
                    </a:lnTo>
                    <a:lnTo>
                      <a:pt x="0" y="129405"/>
                    </a:lnTo>
                    <a:lnTo>
                      <a:pt x="26941" y="156345"/>
                    </a:lnTo>
                    <a:lnTo>
                      <a:pt x="68986" y="114300"/>
                    </a:lnTo>
                    <a:lnTo>
                      <a:pt x="99195" y="114300"/>
                    </a:lnTo>
                    <a:lnTo>
                      <a:pt x="156345" y="57150"/>
                    </a:lnTo>
                    <a:lnTo>
                      <a:pt x="118245" y="38100"/>
                    </a:lnTo>
                    <a:close/>
                  </a:path>
                </a:pathLst>
              </a:custGeom>
              <a:solidFill>
                <a:srgbClr val="14865F"/>
              </a:solidFill>
              <a:ln>
                <a:noFill/>
              </a:ln>
            </p:spPr>
          </p:sp>
        </p:grpSp>
        <p:sp>
          <p:nvSpPr>
            <p:cNvPr id="24" name="TextBox 24"/>
            <p:cNvSpPr txBox="1"/>
            <p:nvPr/>
          </p:nvSpPr>
          <p:spPr>
            <a:xfrm>
              <a:off x="1133856" y="2396490"/>
              <a:ext cx="1951453" cy="352044"/>
            </a:xfrm>
            <a:prstGeom prst="rect">
              <a:avLst/>
            </a:prstGeom>
            <a:noFill/>
            <a:ln>
              <a:noFill/>
            </a:ln>
          </p:spPr>
          <p:txBody>
            <a:bodyPr wrap="none" lIns="0" tIns="0" rIns="0" bIns="0" anchor="t" anchorCtr="0">
              <a:spAutoFit/>
            </a:bodyPr>
            <a:lstStyle/>
            <a:p>
              <a:pPr algn="l"/>
              <a:r>
                <a:rPr lang="en-US" sz="1800" b="1" dirty="0">
                  <a:solidFill>
                    <a:srgbClr val="202824"/>
                  </a:solidFill>
                  <a:latin typeface="Segoe UI"/>
                  <a:ea typeface="Segoe UI"/>
                  <a:cs typeface="Segoe UI"/>
                </a:rPr>
                <a:t>Active Task Bar</a:t>
              </a:r>
            </a:p>
          </p:txBody>
        </p:sp>
        <p:sp>
          <p:nvSpPr>
            <p:cNvPr id="25" name="Line 25"/>
            <p:cNvSpPr/>
            <p:nvPr/>
          </p:nvSpPr>
          <p:spPr>
            <a:xfrm>
              <a:off x="4610100" y="2505075"/>
              <a:ext cx="2819400" cy="9525"/>
            </a:xfrm>
            <a:custGeom>
              <a:avLst/>
              <a:gdLst/>
              <a:ahLst/>
              <a:cxnLst/>
              <a:rect l="l" t="t" r="r" b="b"/>
              <a:pathLst>
                <a:path w="2819400" h="9525">
                  <a:moveTo>
                    <a:pt x="0" y="0"/>
                  </a:moveTo>
                  <a:lnTo>
                    <a:pt x="2819400" y="0"/>
                  </a:lnTo>
                </a:path>
              </a:pathLst>
            </a:custGeom>
            <a:noFill/>
            <a:ln w="19050">
              <a:solidFill>
                <a:srgbClr val="14865F"/>
              </a:solidFill>
            </a:ln>
          </p:spPr>
        </p:sp>
        <p:sp>
          <p:nvSpPr>
            <p:cNvPr id="26" name="Polygon 26"/>
            <p:cNvSpPr/>
            <p:nvPr/>
          </p:nvSpPr>
          <p:spPr>
            <a:xfrm>
              <a:off x="7429500" y="2419350"/>
              <a:ext cx="152400" cy="171450"/>
            </a:xfrm>
            <a:custGeom>
              <a:avLst/>
              <a:gdLst/>
              <a:ahLst/>
              <a:cxnLst/>
              <a:rect l="l" t="t" r="r" b="b"/>
              <a:pathLst>
                <a:path w="152400" h="171450">
                  <a:moveTo>
                    <a:pt x="0" y="0"/>
                  </a:moveTo>
                  <a:lnTo>
                    <a:pt x="152400" y="85725"/>
                  </a:lnTo>
                  <a:lnTo>
                    <a:pt x="0" y="171450"/>
                  </a:lnTo>
                  <a:close/>
                </a:path>
              </a:pathLst>
            </a:custGeom>
            <a:solidFill>
              <a:srgbClr val="14865F"/>
            </a:solidFill>
            <a:ln>
              <a:noFill/>
            </a:ln>
          </p:spPr>
        </p:sp>
        <p:sp>
          <p:nvSpPr>
            <p:cNvPr id="27" name="TextBox 27"/>
            <p:cNvSpPr txBox="1"/>
            <p:nvPr/>
          </p:nvSpPr>
          <p:spPr>
            <a:xfrm>
              <a:off x="5500250" y="2254568"/>
              <a:ext cx="1191500" cy="264033"/>
            </a:xfrm>
            <a:prstGeom prst="rect">
              <a:avLst/>
            </a:prstGeom>
            <a:noFill/>
            <a:ln>
              <a:noFill/>
            </a:ln>
          </p:spPr>
          <p:txBody>
            <a:bodyPr wrap="none" lIns="0" tIns="0" rIns="0" bIns="0" anchor="t" anchorCtr="0">
              <a:spAutoFit/>
            </a:bodyPr>
            <a:lstStyle/>
            <a:p>
              <a:pPr algn="ctr"/>
              <a:r>
                <a:rPr lang="en-US" sz="1350" dirty="0">
                  <a:solidFill>
                    <a:srgbClr val="52605A"/>
                  </a:solidFill>
                  <a:latin typeface="Consolas"/>
                  <a:ea typeface="Consolas"/>
                  <a:cs typeface="Consolas"/>
                </a:rPr>
                <a:t>GET Snapshot</a:t>
              </a:r>
            </a:p>
          </p:txBody>
        </p:sp>
        <p:sp>
          <p:nvSpPr>
            <p:cNvPr id="28" name="Rectangle 28"/>
            <p:cNvSpPr/>
            <p:nvPr/>
          </p:nvSpPr>
          <p:spPr>
            <a:xfrm>
              <a:off x="7581900" y="2228850"/>
              <a:ext cx="4076700" cy="552450"/>
            </a:xfrm>
            <a:prstGeom prst="rect">
              <a:avLst/>
            </a:prstGeom>
            <a:solidFill>
              <a:srgbClr val="EEF3F0"/>
            </a:solidFill>
            <a:ln w="9525">
              <a:solidFill>
                <a:srgbClr val="CDD8D2"/>
              </a:solidFill>
            </a:ln>
          </p:spPr>
        </p:sp>
        <p:sp>
          <p:nvSpPr>
            <p:cNvPr id="29" name="TextBox 29"/>
            <p:cNvSpPr txBox="1"/>
            <p:nvPr/>
          </p:nvSpPr>
          <p:spPr>
            <a:xfrm>
              <a:off x="7765542" y="2426018"/>
              <a:ext cx="3857454" cy="264033"/>
            </a:xfrm>
            <a:prstGeom prst="rect">
              <a:avLst/>
            </a:prstGeom>
            <a:noFill/>
            <a:ln>
              <a:noFill/>
            </a:ln>
          </p:spPr>
          <p:txBody>
            <a:bodyPr wrap="none" lIns="0" tIns="0" rIns="0" bIns="0" anchor="t" anchorCtr="0">
              <a:spAutoFit/>
            </a:bodyPr>
            <a:lstStyle/>
            <a:p>
              <a:pPr algn="l"/>
              <a:r>
                <a:rPr lang="en-US" sz="1350" dirty="0">
                  <a:solidFill>
                    <a:srgbClr val="202824"/>
                  </a:solidFill>
                  <a:latin typeface="Consolas"/>
                  <a:ea typeface="Consolas"/>
                  <a:cs typeface="Consolas"/>
                </a:rPr>
                <a:t>task_id · status · phase · version · budget</a:t>
              </a:r>
            </a:p>
          </p:txBody>
        </p:sp>
      </p:grpSp>
      <p:grpSp>
        <p:nvGrpSpPr>
          <p:cNvPr id="39" name="Group 39"/>
          <p:cNvGrpSpPr/>
          <p:nvPr/>
        </p:nvGrpSpPr>
        <p:grpSpPr>
          <a:xfrm>
            <a:off x="533400" y="2895600"/>
            <a:ext cx="11125200" cy="552450"/>
            <a:chOff x="533400" y="2895600"/>
            <a:chExt cx="11125200" cy="552450"/>
          </a:xfrm>
        </p:grpSpPr>
        <p:sp>
          <p:nvSpPr>
            <p:cNvPr id="31" name="Rectangle 31"/>
            <p:cNvSpPr/>
            <p:nvPr/>
          </p:nvSpPr>
          <p:spPr>
            <a:xfrm>
              <a:off x="533400" y="2895600"/>
              <a:ext cx="4076700" cy="552450"/>
            </a:xfrm>
            <a:prstGeom prst="rect">
              <a:avLst/>
            </a:prstGeom>
            <a:solidFill>
              <a:srgbClr val="EEF3F0"/>
            </a:solidFill>
            <a:ln w="9525">
              <a:solidFill>
                <a:srgbClr val="CDD8D2"/>
              </a:solidFill>
            </a:ln>
          </p:spPr>
        </p:sp>
        <p:sp>
          <p:nvSpPr>
            <p:cNvPr id="32" name="Freeform 32"/>
            <p:cNvSpPr/>
            <p:nvPr/>
          </p:nvSpPr>
          <p:spPr>
            <a:xfrm>
              <a:off x="714375" y="3019425"/>
              <a:ext cx="247650" cy="304800"/>
            </a:xfrm>
            <a:custGeom>
              <a:avLst/>
              <a:gdLst/>
              <a:ahLst/>
              <a:cxnLst/>
              <a:rect l="l" t="t" r="r" b="b"/>
              <a:pathLst>
                <a:path w="247650" h="304800">
                  <a:moveTo>
                    <a:pt x="66675" y="91287"/>
                  </a:moveTo>
                  <a:cubicBezTo>
                    <a:pt x="83495" y="83938"/>
                    <a:pt x="95250" y="67154"/>
                    <a:pt x="95250" y="47625"/>
                  </a:cubicBezTo>
                  <a:cubicBezTo>
                    <a:pt x="95250" y="21322"/>
                    <a:pt x="73928" y="0"/>
                    <a:pt x="47625" y="0"/>
                  </a:cubicBezTo>
                  <a:cubicBezTo>
                    <a:pt x="21322" y="0"/>
                    <a:pt x="0" y="21322"/>
                    <a:pt x="0" y="47625"/>
                  </a:cubicBezTo>
                  <a:cubicBezTo>
                    <a:pt x="0" y="67154"/>
                    <a:pt x="11755" y="83938"/>
                    <a:pt x="28575" y="91287"/>
                  </a:cubicBezTo>
                  <a:lnTo>
                    <a:pt x="28575" y="213512"/>
                  </a:lnTo>
                  <a:cubicBezTo>
                    <a:pt x="11755" y="220862"/>
                    <a:pt x="0" y="237645"/>
                    <a:pt x="0" y="257175"/>
                  </a:cubicBezTo>
                  <a:cubicBezTo>
                    <a:pt x="0" y="283477"/>
                    <a:pt x="21322" y="304800"/>
                    <a:pt x="47625" y="304800"/>
                  </a:cubicBezTo>
                  <a:cubicBezTo>
                    <a:pt x="73928" y="304800"/>
                    <a:pt x="95250" y="283477"/>
                    <a:pt x="95250" y="257175"/>
                  </a:cubicBezTo>
                  <a:cubicBezTo>
                    <a:pt x="95250" y="237645"/>
                    <a:pt x="83495" y="220862"/>
                    <a:pt x="66675" y="213512"/>
                  </a:cubicBezTo>
                  <a:lnTo>
                    <a:pt x="66675" y="171450"/>
                  </a:lnTo>
                  <a:lnTo>
                    <a:pt x="219075" y="171450"/>
                  </a:lnTo>
                  <a:lnTo>
                    <a:pt x="219075" y="91287"/>
                  </a:lnTo>
                  <a:cubicBezTo>
                    <a:pt x="235896" y="83938"/>
                    <a:pt x="247650" y="67154"/>
                    <a:pt x="247650" y="47625"/>
                  </a:cubicBezTo>
                  <a:cubicBezTo>
                    <a:pt x="247650" y="21322"/>
                    <a:pt x="226327" y="0"/>
                    <a:pt x="200025" y="0"/>
                  </a:cubicBezTo>
                  <a:cubicBezTo>
                    <a:pt x="173723" y="0"/>
                    <a:pt x="152400" y="21322"/>
                    <a:pt x="152400" y="47625"/>
                  </a:cubicBezTo>
                  <a:cubicBezTo>
                    <a:pt x="152400" y="67154"/>
                    <a:pt x="164154" y="83938"/>
                    <a:pt x="180975" y="91287"/>
                  </a:cubicBezTo>
                  <a:lnTo>
                    <a:pt x="180975" y="133350"/>
                  </a:lnTo>
                  <a:lnTo>
                    <a:pt x="66675" y="133350"/>
                  </a:lnTo>
                  <a:lnTo>
                    <a:pt x="66675" y="91287"/>
                  </a:lnTo>
                  <a:close/>
                </a:path>
              </a:pathLst>
            </a:custGeom>
            <a:solidFill>
              <a:srgbClr val="1C2A24"/>
            </a:solidFill>
            <a:ln>
              <a:noFill/>
            </a:ln>
          </p:spPr>
        </p:sp>
        <p:sp>
          <p:nvSpPr>
            <p:cNvPr id="33" name="TextBox 33"/>
            <p:cNvSpPr txBox="1"/>
            <p:nvPr/>
          </p:nvSpPr>
          <p:spPr>
            <a:xfrm>
              <a:off x="1133856" y="3063240"/>
              <a:ext cx="2159973" cy="352044"/>
            </a:xfrm>
            <a:prstGeom prst="rect">
              <a:avLst/>
            </a:prstGeom>
            <a:noFill/>
            <a:ln>
              <a:noFill/>
            </a:ln>
          </p:spPr>
          <p:txBody>
            <a:bodyPr wrap="none" lIns="0" tIns="0" rIns="0" bIns="0" anchor="t" anchorCtr="0">
              <a:spAutoFit/>
            </a:bodyPr>
            <a:lstStyle/>
            <a:p>
              <a:pPr algn="l"/>
              <a:r>
                <a:rPr lang="en-US" sz="1800" b="1" dirty="0">
                  <a:solidFill>
                    <a:srgbClr val="202824"/>
                  </a:solidFill>
                  <a:latin typeface="Segoe UI"/>
                  <a:ea typeface="Segoe UI"/>
                  <a:cs typeface="Segoe UI"/>
                </a:rPr>
                <a:t>Branch / Conflict</a:t>
              </a:r>
            </a:p>
          </p:txBody>
        </p:sp>
        <p:sp>
          <p:nvSpPr>
            <p:cNvPr id="34" name="Line 34"/>
            <p:cNvSpPr/>
            <p:nvPr/>
          </p:nvSpPr>
          <p:spPr>
            <a:xfrm>
              <a:off x="4610100" y="3171825"/>
              <a:ext cx="2819400" cy="9525"/>
            </a:xfrm>
            <a:custGeom>
              <a:avLst/>
              <a:gdLst/>
              <a:ahLst/>
              <a:cxnLst/>
              <a:rect l="l" t="t" r="r" b="b"/>
              <a:pathLst>
                <a:path w="2819400" h="9525">
                  <a:moveTo>
                    <a:pt x="0" y="0"/>
                  </a:moveTo>
                  <a:lnTo>
                    <a:pt x="2819400" y="0"/>
                  </a:lnTo>
                </a:path>
              </a:pathLst>
            </a:custGeom>
            <a:noFill/>
            <a:ln w="19050">
              <a:solidFill>
                <a:srgbClr val="1C2A24"/>
              </a:solidFill>
            </a:ln>
          </p:spPr>
        </p:sp>
        <p:sp>
          <p:nvSpPr>
            <p:cNvPr id="35" name="Polygon 35"/>
            <p:cNvSpPr/>
            <p:nvPr/>
          </p:nvSpPr>
          <p:spPr>
            <a:xfrm>
              <a:off x="7429500" y="3086100"/>
              <a:ext cx="152400" cy="171450"/>
            </a:xfrm>
            <a:custGeom>
              <a:avLst/>
              <a:gdLst/>
              <a:ahLst/>
              <a:cxnLst/>
              <a:rect l="l" t="t" r="r" b="b"/>
              <a:pathLst>
                <a:path w="152400" h="171450">
                  <a:moveTo>
                    <a:pt x="0" y="0"/>
                  </a:moveTo>
                  <a:lnTo>
                    <a:pt x="152400" y="85725"/>
                  </a:lnTo>
                  <a:lnTo>
                    <a:pt x="0" y="171450"/>
                  </a:lnTo>
                  <a:close/>
                </a:path>
              </a:pathLst>
            </a:custGeom>
            <a:solidFill>
              <a:srgbClr val="1C2A24"/>
            </a:solidFill>
            <a:ln>
              <a:noFill/>
            </a:ln>
          </p:spPr>
        </p:sp>
        <p:sp>
          <p:nvSpPr>
            <p:cNvPr id="36" name="TextBox 36"/>
            <p:cNvSpPr txBox="1"/>
            <p:nvPr/>
          </p:nvSpPr>
          <p:spPr>
            <a:xfrm>
              <a:off x="5328366" y="2921318"/>
              <a:ext cx="1535269" cy="264033"/>
            </a:xfrm>
            <a:prstGeom prst="rect">
              <a:avLst/>
            </a:prstGeom>
            <a:noFill/>
            <a:ln>
              <a:noFill/>
            </a:ln>
          </p:spPr>
          <p:txBody>
            <a:bodyPr wrap="none" lIns="0" tIns="0" rIns="0" bIns="0" anchor="t" anchorCtr="0">
              <a:spAutoFit/>
            </a:bodyPr>
            <a:lstStyle/>
            <a:p>
              <a:pPr algn="ctr"/>
              <a:r>
                <a:rPr lang="en-US" sz="1350" dirty="0">
                  <a:solidFill>
                    <a:srgbClr val="52605A"/>
                  </a:solidFill>
                  <a:latin typeface="Consolas"/>
                  <a:ea typeface="Consolas"/>
                  <a:cs typeface="Consolas"/>
                </a:rPr>
                <a:t>Snapshot + Event</a:t>
              </a:r>
            </a:p>
          </p:txBody>
        </p:sp>
        <p:sp>
          <p:nvSpPr>
            <p:cNvPr id="37" name="Rectangle 37"/>
            <p:cNvSpPr/>
            <p:nvPr/>
          </p:nvSpPr>
          <p:spPr>
            <a:xfrm>
              <a:off x="7581900" y="2895600"/>
              <a:ext cx="4076700" cy="552450"/>
            </a:xfrm>
            <a:prstGeom prst="rect">
              <a:avLst/>
            </a:prstGeom>
            <a:solidFill>
              <a:srgbClr val="FFFFFF"/>
            </a:solidFill>
            <a:ln w="9525">
              <a:solidFill>
                <a:srgbClr val="CDD8D2"/>
              </a:solidFill>
            </a:ln>
          </p:spPr>
        </p:sp>
        <p:sp>
          <p:nvSpPr>
            <p:cNvPr id="38" name="TextBox 38"/>
            <p:cNvSpPr txBox="1"/>
            <p:nvPr/>
          </p:nvSpPr>
          <p:spPr>
            <a:xfrm>
              <a:off x="7765542" y="3092768"/>
              <a:ext cx="3353984" cy="264033"/>
            </a:xfrm>
            <a:prstGeom prst="rect">
              <a:avLst/>
            </a:prstGeom>
            <a:noFill/>
            <a:ln>
              <a:noFill/>
            </a:ln>
          </p:spPr>
          <p:txBody>
            <a:bodyPr wrap="none" lIns="0" tIns="0" rIns="0" bIns="0" anchor="t" anchorCtr="0">
              <a:spAutoFit/>
            </a:bodyPr>
            <a:lstStyle/>
            <a:p>
              <a:pPr algn="l"/>
              <a:r>
                <a:rPr lang="en-US" sz="1350" dirty="0">
                  <a:solidFill>
                    <a:srgbClr val="202824"/>
                  </a:solidFill>
                  <a:latin typeface="Consolas"/>
                  <a:ea typeface="Consolas"/>
                  <a:cs typeface="Consolas"/>
                </a:rPr>
                <a:t>branches[] · conflicts[] · TaskEvent</a:t>
              </a:r>
            </a:p>
          </p:txBody>
        </p:sp>
      </p:grpSp>
      <p:grpSp>
        <p:nvGrpSpPr>
          <p:cNvPr id="51" name="Group 51"/>
          <p:cNvGrpSpPr/>
          <p:nvPr/>
        </p:nvGrpSpPr>
        <p:grpSpPr>
          <a:xfrm>
            <a:off x="533400" y="3562350"/>
            <a:ext cx="11453070" cy="552450"/>
            <a:chOff x="533400" y="3562350"/>
            <a:chExt cx="11453070" cy="552450"/>
          </a:xfrm>
        </p:grpSpPr>
        <p:sp>
          <p:nvSpPr>
            <p:cNvPr id="40" name="Rectangle 40"/>
            <p:cNvSpPr/>
            <p:nvPr/>
          </p:nvSpPr>
          <p:spPr>
            <a:xfrm>
              <a:off x="533400" y="3562350"/>
              <a:ext cx="4076700" cy="552450"/>
            </a:xfrm>
            <a:prstGeom prst="rect">
              <a:avLst/>
            </a:prstGeom>
            <a:solidFill>
              <a:srgbClr val="FFFFFF"/>
            </a:solidFill>
            <a:ln w="9525">
              <a:solidFill>
                <a:srgbClr val="CDD8D2"/>
              </a:solidFill>
            </a:ln>
          </p:spPr>
        </p:sp>
        <p:grpSp>
          <p:nvGrpSpPr>
            <p:cNvPr id="44" name="Group 44"/>
            <p:cNvGrpSpPr/>
            <p:nvPr/>
          </p:nvGrpSpPr>
          <p:grpSpPr>
            <a:xfrm>
              <a:off x="704850" y="3686175"/>
              <a:ext cx="266700" cy="304800"/>
              <a:chOff x="704850" y="3686175"/>
              <a:chExt cx="266700" cy="304800"/>
            </a:xfrm>
          </p:grpSpPr>
          <p:sp>
            <p:nvSpPr>
              <p:cNvPr id="41" name="Freeform 41"/>
              <p:cNvSpPr/>
              <p:nvPr/>
            </p:nvSpPr>
            <p:spPr>
              <a:xfrm>
                <a:off x="704850" y="3686175"/>
                <a:ext cx="266700" cy="152400"/>
              </a:xfrm>
              <a:custGeom>
                <a:avLst/>
                <a:gdLst/>
                <a:ahLst/>
                <a:cxnLst/>
                <a:rect l="l" t="t" r="r" b="b"/>
                <a:pathLst>
                  <a:path w="266700" h="152400">
                    <a:moveTo>
                      <a:pt x="0" y="95250"/>
                    </a:moveTo>
                    <a:lnTo>
                      <a:pt x="0" y="57150"/>
                    </a:lnTo>
                    <a:lnTo>
                      <a:pt x="133350" y="0"/>
                    </a:lnTo>
                    <a:lnTo>
                      <a:pt x="266700" y="57150"/>
                    </a:lnTo>
                    <a:lnTo>
                      <a:pt x="266700" y="95250"/>
                    </a:lnTo>
                    <a:lnTo>
                      <a:pt x="133350" y="152400"/>
                    </a:lnTo>
                    <a:lnTo>
                      <a:pt x="0" y="95250"/>
                    </a:lnTo>
                    <a:close/>
                  </a:path>
                </a:pathLst>
              </a:custGeom>
              <a:solidFill>
                <a:srgbClr val="14865F"/>
              </a:solidFill>
              <a:ln>
                <a:noFill/>
              </a:ln>
            </p:spPr>
          </p:sp>
          <p:sp>
            <p:nvSpPr>
              <p:cNvPr id="42" name="Freeform 42"/>
              <p:cNvSpPr/>
              <p:nvPr/>
            </p:nvSpPr>
            <p:spPr>
              <a:xfrm>
                <a:off x="704850" y="3895725"/>
                <a:ext cx="266700" cy="95250"/>
              </a:xfrm>
              <a:custGeom>
                <a:avLst/>
                <a:gdLst/>
                <a:ahLst/>
                <a:cxnLst/>
                <a:rect l="l" t="t" r="r" b="b"/>
                <a:pathLst>
                  <a:path w="266700" h="95250">
                    <a:moveTo>
                      <a:pt x="133350" y="95250"/>
                    </a:moveTo>
                    <a:lnTo>
                      <a:pt x="0" y="38100"/>
                    </a:lnTo>
                    <a:lnTo>
                      <a:pt x="0" y="0"/>
                    </a:lnTo>
                    <a:lnTo>
                      <a:pt x="133350" y="57150"/>
                    </a:lnTo>
                    <a:lnTo>
                      <a:pt x="266700" y="0"/>
                    </a:lnTo>
                    <a:lnTo>
                      <a:pt x="266700" y="38100"/>
                    </a:lnTo>
                    <a:lnTo>
                      <a:pt x="133350" y="95250"/>
                    </a:lnTo>
                    <a:close/>
                  </a:path>
                </a:pathLst>
              </a:custGeom>
              <a:solidFill>
                <a:srgbClr val="14865F"/>
              </a:solidFill>
              <a:ln>
                <a:noFill/>
              </a:ln>
            </p:spPr>
          </p:sp>
          <p:sp>
            <p:nvSpPr>
              <p:cNvPr id="43" name="Freeform 43"/>
              <p:cNvSpPr/>
              <p:nvPr/>
            </p:nvSpPr>
            <p:spPr>
              <a:xfrm>
                <a:off x="704850" y="3819525"/>
                <a:ext cx="266700" cy="95250"/>
              </a:xfrm>
              <a:custGeom>
                <a:avLst/>
                <a:gdLst/>
                <a:ahLst/>
                <a:cxnLst/>
                <a:rect l="l" t="t" r="r" b="b"/>
                <a:pathLst>
                  <a:path w="266700" h="95250">
                    <a:moveTo>
                      <a:pt x="0" y="38100"/>
                    </a:moveTo>
                    <a:lnTo>
                      <a:pt x="133350" y="95250"/>
                    </a:lnTo>
                    <a:lnTo>
                      <a:pt x="266700" y="38100"/>
                    </a:lnTo>
                    <a:lnTo>
                      <a:pt x="266700" y="0"/>
                    </a:lnTo>
                    <a:lnTo>
                      <a:pt x="133350" y="57150"/>
                    </a:lnTo>
                    <a:lnTo>
                      <a:pt x="0" y="0"/>
                    </a:lnTo>
                    <a:lnTo>
                      <a:pt x="0" y="38100"/>
                    </a:lnTo>
                    <a:close/>
                  </a:path>
                </a:pathLst>
              </a:custGeom>
              <a:solidFill>
                <a:srgbClr val="14865F"/>
              </a:solidFill>
              <a:ln>
                <a:noFill/>
              </a:ln>
            </p:spPr>
          </p:sp>
        </p:grpSp>
        <p:sp>
          <p:nvSpPr>
            <p:cNvPr id="45" name="TextBox 45"/>
            <p:cNvSpPr txBox="1"/>
            <p:nvPr/>
          </p:nvSpPr>
          <p:spPr>
            <a:xfrm>
              <a:off x="1133856" y="3729990"/>
              <a:ext cx="2477099" cy="352044"/>
            </a:xfrm>
            <a:prstGeom prst="rect">
              <a:avLst/>
            </a:prstGeom>
            <a:noFill/>
            <a:ln>
              <a:noFill/>
            </a:ln>
          </p:spPr>
          <p:txBody>
            <a:bodyPr wrap="none" lIns="0" tIns="0" rIns="0" bIns="0" anchor="t" anchorCtr="0">
              <a:spAutoFit/>
            </a:bodyPr>
            <a:lstStyle/>
            <a:p>
              <a:pPr algn="l"/>
              <a:r>
                <a:rPr lang="en-US" sz="1800" b="1" dirty="0">
                  <a:solidFill>
                    <a:srgbClr val="202824"/>
                  </a:solidFill>
                  <a:latin typeface="Segoe UI"/>
                  <a:ea typeface="Segoe UI"/>
                  <a:cs typeface="Segoe UI"/>
                </a:rPr>
                <a:t>Artifact Workspace</a:t>
              </a:r>
            </a:p>
          </p:txBody>
        </p:sp>
        <p:sp>
          <p:nvSpPr>
            <p:cNvPr id="46" name="Line 46"/>
            <p:cNvSpPr/>
            <p:nvPr/>
          </p:nvSpPr>
          <p:spPr>
            <a:xfrm>
              <a:off x="4610100" y="3838575"/>
              <a:ext cx="2819400" cy="9525"/>
            </a:xfrm>
            <a:custGeom>
              <a:avLst/>
              <a:gdLst/>
              <a:ahLst/>
              <a:cxnLst/>
              <a:rect l="l" t="t" r="r" b="b"/>
              <a:pathLst>
                <a:path w="2819400" h="9525">
                  <a:moveTo>
                    <a:pt x="0" y="0"/>
                  </a:moveTo>
                  <a:lnTo>
                    <a:pt x="2819400" y="0"/>
                  </a:lnTo>
                </a:path>
              </a:pathLst>
            </a:custGeom>
            <a:noFill/>
            <a:ln w="19050">
              <a:solidFill>
                <a:srgbClr val="14865F"/>
              </a:solidFill>
            </a:ln>
          </p:spPr>
        </p:sp>
        <p:sp>
          <p:nvSpPr>
            <p:cNvPr id="47" name="Polygon 47"/>
            <p:cNvSpPr/>
            <p:nvPr/>
          </p:nvSpPr>
          <p:spPr>
            <a:xfrm>
              <a:off x="7429500" y="3752850"/>
              <a:ext cx="152400" cy="171450"/>
            </a:xfrm>
            <a:custGeom>
              <a:avLst/>
              <a:gdLst/>
              <a:ahLst/>
              <a:cxnLst/>
              <a:rect l="l" t="t" r="r" b="b"/>
              <a:pathLst>
                <a:path w="152400" h="171450">
                  <a:moveTo>
                    <a:pt x="0" y="0"/>
                  </a:moveTo>
                  <a:lnTo>
                    <a:pt x="152400" y="85725"/>
                  </a:lnTo>
                  <a:lnTo>
                    <a:pt x="0" y="171450"/>
                  </a:lnTo>
                  <a:close/>
                </a:path>
              </a:pathLst>
            </a:custGeom>
            <a:solidFill>
              <a:srgbClr val="14865F"/>
            </a:solidFill>
            <a:ln>
              <a:noFill/>
            </a:ln>
          </p:spPr>
        </p:sp>
        <p:sp>
          <p:nvSpPr>
            <p:cNvPr id="48" name="TextBox 48"/>
            <p:cNvSpPr txBox="1"/>
            <p:nvPr/>
          </p:nvSpPr>
          <p:spPr>
            <a:xfrm>
              <a:off x="5500250" y="3588068"/>
              <a:ext cx="1191500" cy="264033"/>
            </a:xfrm>
            <a:prstGeom prst="rect">
              <a:avLst/>
            </a:prstGeom>
            <a:noFill/>
            <a:ln>
              <a:noFill/>
            </a:ln>
          </p:spPr>
          <p:txBody>
            <a:bodyPr wrap="none" lIns="0" tIns="0" rIns="0" bIns="0" anchor="t" anchorCtr="0">
              <a:spAutoFit/>
            </a:bodyPr>
            <a:lstStyle/>
            <a:p>
              <a:pPr algn="ctr"/>
              <a:r>
                <a:rPr lang="en-US" sz="1350" dirty="0">
                  <a:solidFill>
                    <a:srgbClr val="52605A"/>
                  </a:solidFill>
                  <a:latin typeface="Consolas"/>
                  <a:ea typeface="Consolas"/>
                  <a:cs typeface="Consolas"/>
                </a:rPr>
                <a:t>GET Snapshot</a:t>
              </a:r>
            </a:p>
          </p:txBody>
        </p:sp>
        <p:sp>
          <p:nvSpPr>
            <p:cNvPr id="49" name="Rectangle 49"/>
            <p:cNvSpPr/>
            <p:nvPr/>
          </p:nvSpPr>
          <p:spPr>
            <a:xfrm>
              <a:off x="7581900" y="3562350"/>
              <a:ext cx="4076700" cy="552450"/>
            </a:xfrm>
            <a:prstGeom prst="rect">
              <a:avLst/>
            </a:prstGeom>
            <a:solidFill>
              <a:srgbClr val="EEF3F0"/>
            </a:solidFill>
            <a:ln w="9525">
              <a:solidFill>
                <a:srgbClr val="CDD8D2"/>
              </a:solidFill>
            </a:ln>
          </p:spPr>
        </p:sp>
        <p:sp>
          <p:nvSpPr>
            <p:cNvPr id="50" name="TextBox 50"/>
            <p:cNvSpPr txBox="1"/>
            <p:nvPr/>
          </p:nvSpPr>
          <p:spPr>
            <a:xfrm>
              <a:off x="7765542" y="3759518"/>
              <a:ext cx="4220928" cy="264033"/>
            </a:xfrm>
            <a:prstGeom prst="rect">
              <a:avLst/>
            </a:prstGeom>
            <a:noFill/>
            <a:ln>
              <a:noFill/>
            </a:ln>
          </p:spPr>
          <p:txBody>
            <a:bodyPr wrap="none" lIns="0" tIns="0" rIns="0" bIns="0" anchor="t" anchorCtr="0">
              <a:spAutoFit/>
            </a:bodyPr>
            <a:lstStyle/>
            <a:p>
              <a:pPr algn="l"/>
              <a:r>
                <a:rPr lang="en-US" sz="1350" dirty="0">
                  <a:solidFill>
                    <a:srgbClr val="202824"/>
                  </a:solidFill>
                  <a:latin typeface="Consolas"/>
                  <a:ea typeface="Consolas"/>
                  <a:cs typeface="Consolas"/>
                </a:rPr>
                <a:t>artifact_versions[] · reports[] · last_commit</a:t>
              </a:r>
            </a:p>
          </p:txBody>
        </p:sp>
      </p:grpSp>
      <p:grpSp>
        <p:nvGrpSpPr>
          <p:cNvPr id="62" name="Group 62"/>
          <p:cNvGrpSpPr/>
          <p:nvPr/>
        </p:nvGrpSpPr>
        <p:grpSpPr>
          <a:xfrm>
            <a:off x="533400" y="4229100"/>
            <a:ext cx="11471243" cy="552450"/>
            <a:chOff x="533400" y="4229100"/>
            <a:chExt cx="11471243" cy="552450"/>
          </a:xfrm>
        </p:grpSpPr>
        <p:sp>
          <p:nvSpPr>
            <p:cNvPr id="52" name="Rectangle 52"/>
            <p:cNvSpPr/>
            <p:nvPr/>
          </p:nvSpPr>
          <p:spPr>
            <a:xfrm>
              <a:off x="533400" y="4229100"/>
              <a:ext cx="4076700" cy="552450"/>
            </a:xfrm>
            <a:prstGeom prst="rect">
              <a:avLst/>
            </a:prstGeom>
            <a:solidFill>
              <a:srgbClr val="EEF3F0"/>
            </a:solidFill>
            <a:ln w="9525">
              <a:solidFill>
                <a:srgbClr val="CDD8D2"/>
              </a:solidFill>
            </a:ln>
          </p:spPr>
        </p:sp>
        <p:grpSp>
          <p:nvGrpSpPr>
            <p:cNvPr id="55" name="Group 55"/>
            <p:cNvGrpSpPr/>
            <p:nvPr/>
          </p:nvGrpSpPr>
          <p:grpSpPr>
            <a:xfrm>
              <a:off x="685800" y="4352925"/>
              <a:ext cx="304800" cy="304800"/>
              <a:chOff x="685800" y="4352925"/>
              <a:chExt cx="304800" cy="304800"/>
            </a:xfrm>
          </p:grpSpPr>
          <p:sp>
            <p:nvSpPr>
              <p:cNvPr id="53" name="Freeform 53"/>
              <p:cNvSpPr/>
              <p:nvPr/>
            </p:nvSpPr>
            <p:spPr>
              <a:xfrm>
                <a:off x="685800" y="4352925"/>
                <a:ext cx="266700" cy="171450"/>
              </a:xfrm>
              <a:custGeom>
                <a:avLst/>
                <a:gdLst/>
                <a:ahLst/>
                <a:cxnLst/>
                <a:rect l="l" t="t" r="r" b="b"/>
                <a:pathLst>
                  <a:path w="266700" h="171450">
                    <a:moveTo>
                      <a:pt x="190500" y="152400"/>
                    </a:moveTo>
                    <a:lnTo>
                      <a:pt x="171450" y="152400"/>
                    </a:lnTo>
                    <a:lnTo>
                      <a:pt x="171450" y="91817"/>
                    </a:lnTo>
                    <a:lnTo>
                      <a:pt x="98246" y="77177"/>
                    </a:lnTo>
                    <a:cubicBezTo>
                      <a:pt x="94999" y="76527"/>
                      <a:pt x="91696" y="76200"/>
                      <a:pt x="88385" y="76200"/>
                    </a:cubicBezTo>
                    <a:cubicBezTo>
                      <a:pt x="60613" y="76200"/>
                      <a:pt x="38100" y="98713"/>
                      <a:pt x="38100" y="126485"/>
                    </a:cubicBezTo>
                    <a:lnTo>
                      <a:pt x="38100" y="171450"/>
                    </a:lnTo>
                    <a:lnTo>
                      <a:pt x="0" y="171450"/>
                    </a:lnTo>
                    <a:lnTo>
                      <a:pt x="0" y="126485"/>
                    </a:lnTo>
                    <a:cubicBezTo>
                      <a:pt x="0" y="77671"/>
                      <a:pt x="39571" y="38100"/>
                      <a:pt x="88385" y="38100"/>
                    </a:cubicBezTo>
                    <a:cubicBezTo>
                      <a:pt x="94205" y="38100"/>
                      <a:pt x="100011" y="38675"/>
                      <a:pt x="105718" y="39816"/>
                    </a:cubicBezTo>
                    <a:lnTo>
                      <a:pt x="171450" y="52963"/>
                    </a:lnTo>
                    <a:lnTo>
                      <a:pt x="171450" y="0"/>
                    </a:lnTo>
                    <a:lnTo>
                      <a:pt x="190500" y="0"/>
                    </a:lnTo>
                    <a:lnTo>
                      <a:pt x="266700" y="76200"/>
                    </a:lnTo>
                    <a:lnTo>
                      <a:pt x="190500" y="152400"/>
                    </a:lnTo>
                    <a:close/>
                  </a:path>
                </a:pathLst>
              </a:custGeom>
              <a:solidFill>
                <a:srgbClr val="C58B2B"/>
              </a:solidFill>
              <a:ln>
                <a:noFill/>
              </a:ln>
            </p:spPr>
          </p:sp>
          <p:sp>
            <p:nvSpPr>
              <p:cNvPr id="54" name="Freeform 54"/>
              <p:cNvSpPr/>
              <p:nvPr/>
            </p:nvSpPr>
            <p:spPr>
              <a:xfrm>
                <a:off x="723900" y="4486275"/>
                <a:ext cx="266700" cy="171450"/>
              </a:xfrm>
              <a:custGeom>
                <a:avLst/>
                <a:gdLst/>
                <a:ahLst/>
                <a:cxnLst/>
                <a:rect l="l" t="t" r="r" b="b"/>
                <a:pathLst>
                  <a:path w="266700" h="171450">
                    <a:moveTo>
                      <a:pt x="266700" y="0"/>
                    </a:moveTo>
                    <a:lnTo>
                      <a:pt x="266700" y="44965"/>
                    </a:lnTo>
                    <a:cubicBezTo>
                      <a:pt x="266700" y="93779"/>
                      <a:pt x="227129" y="133350"/>
                      <a:pt x="178316" y="133350"/>
                    </a:cubicBezTo>
                    <a:cubicBezTo>
                      <a:pt x="172496" y="133350"/>
                      <a:pt x="166689" y="132775"/>
                      <a:pt x="160982" y="131634"/>
                    </a:cubicBezTo>
                    <a:lnTo>
                      <a:pt x="95250" y="118487"/>
                    </a:lnTo>
                    <a:lnTo>
                      <a:pt x="95250" y="171450"/>
                    </a:lnTo>
                    <a:lnTo>
                      <a:pt x="76200" y="171450"/>
                    </a:lnTo>
                    <a:lnTo>
                      <a:pt x="0" y="95250"/>
                    </a:lnTo>
                    <a:lnTo>
                      <a:pt x="76200" y="19050"/>
                    </a:lnTo>
                    <a:lnTo>
                      <a:pt x="95250" y="19050"/>
                    </a:lnTo>
                    <a:lnTo>
                      <a:pt x="95250" y="79633"/>
                    </a:lnTo>
                    <a:lnTo>
                      <a:pt x="168453" y="94273"/>
                    </a:lnTo>
                    <a:cubicBezTo>
                      <a:pt x="171701" y="94922"/>
                      <a:pt x="175005" y="95250"/>
                      <a:pt x="178316" y="95250"/>
                    </a:cubicBezTo>
                    <a:cubicBezTo>
                      <a:pt x="206087" y="95250"/>
                      <a:pt x="228600" y="72737"/>
                      <a:pt x="228600" y="44965"/>
                    </a:cubicBezTo>
                    <a:lnTo>
                      <a:pt x="228600" y="0"/>
                    </a:lnTo>
                    <a:lnTo>
                      <a:pt x="266700" y="0"/>
                    </a:lnTo>
                    <a:close/>
                  </a:path>
                </a:pathLst>
              </a:custGeom>
              <a:solidFill>
                <a:srgbClr val="C58B2B"/>
              </a:solidFill>
              <a:ln>
                <a:noFill/>
              </a:ln>
            </p:spPr>
          </p:sp>
        </p:grpSp>
        <p:sp>
          <p:nvSpPr>
            <p:cNvPr id="56" name="TextBox 56"/>
            <p:cNvSpPr txBox="1"/>
            <p:nvPr/>
          </p:nvSpPr>
          <p:spPr>
            <a:xfrm>
              <a:off x="1133856" y="4396740"/>
              <a:ext cx="1586295" cy="352044"/>
            </a:xfrm>
            <a:prstGeom prst="rect">
              <a:avLst/>
            </a:prstGeom>
            <a:noFill/>
            <a:ln>
              <a:noFill/>
            </a:ln>
          </p:spPr>
          <p:txBody>
            <a:bodyPr wrap="none" lIns="0" tIns="0" rIns="0" bIns="0" anchor="t" anchorCtr="0">
              <a:spAutoFit/>
            </a:bodyPr>
            <a:lstStyle/>
            <a:p>
              <a:pPr algn="l"/>
              <a:r>
                <a:rPr lang="en-US" sz="1800" b="1" dirty="0">
                  <a:solidFill>
                    <a:srgbClr val="202824"/>
                  </a:solidFill>
                  <a:latin typeface="Segoe UI"/>
                  <a:ea typeface="Segoe UI"/>
                  <a:cs typeface="Segoe UI"/>
                </a:rPr>
                <a:t>Task Control</a:t>
              </a:r>
            </a:p>
          </p:txBody>
        </p:sp>
        <p:sp>
          <p:nvSpPr>
            <p:cNvPr id="57" name="Line 57"/>
            <p:cNvSpPr/>
            <p:nvPr/>
          </p:nvSpPr>
          <p:spPr>
            <a:xfrm>
              <a:off x="4610100" y="4505325"/>
              <a:ext cx="2819400" cy="9525"/>
            </a:xfrm>
            <a:custGeom>
              <a:avLst/>
              <a:gdLst/>
              <a:ahLst/>
              <a:cxnLst/>
              <a:rect l="l" t="t" r="r" b="b"/>
              <a:pathLst>
                <a:path w="2819400" h="9525">
                  <a:moveTo>
                    <a:pt x="0" y="0"/>
                  </a:moveTo>
                  <a:lnTo>
                    <a:pt x="2819400" y="0"/>
                  </a:lnTo>
                </a:path>
              </a:pathLst>
            </a:custGeom>
            <a:noFill/>
            <a:ln w="19050">
              <a:solidFill>
                <a:srgbClr val="C58B2B"/>
              </a:solidFill>
            </a:ln>
          </p:spPr>
        </p:sp>
        <p:sp>
          <p:nvSpPr>
            <p:cNvPr id="58" name="Polygon 58"/>
            <p:cNvSpPr/>
            <p:nvPr/>
          </p:nvSpPr>
          <p:spPr>
            <a:xfrm>
              <a:off x="7429500" y="4419600"/>
              <a:ext cx="152400" cy="171450"/>
            </a:xfrm>
            <a:custGeom>
              <a:avLst/>
              <a:gdLst/>
              <a:ahLst/>
              <a:cxnLst/>
              <a:rect l="l" t="t" r="r" b="b"/>
              <a:pathLst>
                <a:path w="152400" h="171450">
                  <a:moveTo>
                    <a:pt x="0" y="0"/>
                  </a:moveTo>
                  <a:lnTo>
                    <a:pt x="152400" y="85725"/>
                  </a:lnTo>
                  <a:lnTo>
                    <a:pt x="0" y="171450"/>
                  </a:lnTo>
                  <a:close/>
                </a:path>
              </a:pathLst>
            </a:custGeom>
            <a:solidFill>
              <a:srgbClr val="C58B2B"/>
            </a:solidFill>
            <a:ln>
              <a:noFill/>
            </a:ln>
          </p:spPr>
        </p:sp>
        <p:sp>
          <p:nvSpPr>
            <p:cNvPr id="59" name="TextBox 59"/>
            <p:cNvSpPr txBox="1"/>
            <p:nvPr/>
          </p:nvSpPr>
          <p:spPr>
            <a:xfrm>
              <a:off x="4990915" y="4254818"/>
              <a:ext cx="2210171" cy="264033"/>
            </a:xfrm>
            <a:prstGeom prst="rect">
              <a:avLst/>
            </a:prstGeom>
            <a:noFill/>
            <a:ln>
              <a:noFill/>
            </a:ln>
          </p:spPr>
          <p:txBody>
            <a:bodyPr wrap="none" lIns="0" tIns="0" rIns="0" bIns="0" anchor="t" anchorCtr="0">
              <a:spAutoFit/>
            </a:bodyPr>
            <a:lstStyle/>
            <a:p>
              <a:pPr algn="ctr"/>
              <a:r>
                <a:rPr lang="en-US" sz="1350" dirty="0">
                  <a:solidFill>
                    <a:srgbClr val="52605A"/>
                  </a:solidFill>
                  <a:latin typeface="Consolas"/>
                  <a:ea typeface="Consolas"/>
                  <a:cs typeface="Consolas"/>
                </a:rPr>
                <a:t>mutation + new Snapshot</a:t>
              </a:r>
            </a:p>
          </p:txBody>
        </p:sp>
        <p:sp>
          <p:nvSpPr>
            <p:cNvPr id="60" name="Rectangle 60"/>
            <p:cNvSpPr/>
            <p:nvPr/>
          </p:nvSpPr>
          <p:spPr>
            <a:xfrm>
              <a:off x="7581900" y="4229100"/>
              <a:ext cx="4076700" cy="552450"/>
            </a:xfrm>
            <a:prstGeom prst="rect">
              <a:avLst/>
            </a:prstGeom>
            <a:solidFill>
              <a:srgbClr val="FFFFFF"/>
            </a:solidFill>
            <a:ln w="9525">
              <a:solidFill>
                <a:srgbClr val="CDD8D2"/>
              </a:solidFill>
            </a:ln>
          </p:spPr>
        </p:sp>
        <p:sp>
          <p:nvSpPr>
            <p:cNvPr id="61" name="TextBox 61"/>
            <p:cNvSpPr txBox="1"/>
            <p:nvPr/>
          </p:nvSpPr>
          <p:spPr>
            <a:xfrm>
              <a:off x="7765542" y="4426268"/>
              <a:ext cx="4239101" cy="264033"/>
            </a:xfrm>
            <a:prstGeom prst="rect">
              <a:avLst/>
            </a:prstGeom>
            <a:noFill/>
            <a:ln>
              <a:noFill/>
            </a:ln>
          </p:spPr>
          <p:txBody>
            <a:bodyPr wrap="none" lIns="0" tIns="0" rIns="0" bIns="0" anchor="t" anchorCtr="0">
              <a:spAutoFit/>
            </a:bodyPr>
            <a:lstStyle/>
            <a:p>
              <a:pPr algn="l"/>
              <a:r>
                <a:rPr lang="en-US" sz="1350" dirty="0">
                  <a:solidFill>
                    <a:srgbClr val="202824"/>
                  </a:solidFill>
                  <a:latin typeface="Consolas"/>
                  <a:ea typeface="Consolas"/>
                  <a:cs typeface="Consolas"/>
                </a:rPr>
                <a:t>controls[] · branch.status · expected_version</a:t>
              </a:r>
            </a:p>
          </p:txBody>
        </p:sp>
      </p:grpSp>
      <p:grpSp>
        <p:nvGrpSpPr>
          <p:cNvPr id="71" name="Group 71"/>
          <p:cNvGrpSpPr/>
          <p:nvPr/>
        </p:nvGrpSpPr>
        <p:grpSpPr>
          <a:xfrm>
            <a:off x="533400" y="4895850"/>
            <a:ext cx="11125200" cy="552450"/>
            <a:chOff x="533400" y="4895850"/>
            <a:chExt cx="11125200" cy="552450"/>
          </a:xfrm>
        </p:grpSpPr>
        <p:sp>
          <p:nvSpPr>
            <p:cNvPr id="63" name="Rectangle 63"/>
            <p:cNvSpPr/>
            <p:nvPr/>
          </p:nvSpPr>
          <p:spPr>
            <a:xfrm>
              <a:off x="533400" y="4895850"/>
              <a:ext cx="4076700" cy="552450"/>
            </a:xfrm>
            <a:prstGeom prst="rect">
              <a:avLst/>
            </a:prstGeom>
            <a:solidFill>
              <a:srgbClr val="FFFFFF"/>
            </a:solidFill>
            <a:ln w="9525">
              <a:solidFill>
                <a:srgbClr val="CDD8D2"/>
              </a:solidFill>
            </a:ln>
          </p:spPr>
        </p:sp>
        <p:sp>
          <p:nvSpPr>
            <p:cNvPr id="64" name="Freeform 64"/>
            <p:cNvSpPr/>
            <p:nvPr/>
          </p:nvSpPr>
          <p:spPr>
            <a:xfrm>
              <a:off x="704850" y="5019675"/>
              <a:ext cx="266700" cy="304800"/>
            </a:xfrm>
            <a:custGeom>
              <a:avLst/>
              <a:gdLst/>
              <a:ahLst/>
              <a:cxnLst/>
              <a:rect l="l" t="t" r="r" b="b"/>
              <a:pathLst>
                <a:path w="266700" h="304800">
                  <a:moveTo>
                    <a:pt x="133350" y="304800"/>
                  </a:moveTo>
                  <a:lnTo>
                    <a:pt x="63819" y="255135"/>
                  </a:lnTo>
                  <a:cubicBezTo>
                    <a:pt x="23769" y="226527"/>
                    <a:pt x="0" y="180340"/>
                    <a:pt x="0" y="131122"/>
                  </a:cubicBezTo>
                  <a:lnTo>
                    <a:pt x="0" y="57150"/>
                  </a:lnTo>
                  <a:lnTo>
                    <a:pt x="133350" y="0"/>
                  </a:lnTo>
                  <a:lnTo>
                    <a:pt x="266700" y="57150"/>
                  </a:lnTo>
                  <a:lnTo>
                    <a:pt x="266700" y="131122"/>
                  </a:lnTo>
                  <a:cubicBezTo>
                    <a:pt x="266700" y="180340"/>
                    <a:pt x="242931" y="226527"/>
                    <a:pt x="202881" y="255135"/>
                  </a:cubicBezTo>
                  <a:lnTo>
                    <a:pt x="133350" y="304800"/>
                  </a:lnTo>
                  <a:close/>
                  <a:moveTo>
                    <a:pt x="213495" y="108720"/>
                  </a:moveTo>
                  <a:lnTo>
                    <a:pt x="186555" y="81780"/>
                  </a:lnTo>
                  <a:lnTo>
                    <a:pt x="114300" y="154034"/>
                  </a:lnTo>
                  <a:lnTo>
                    <a:pt x="80145" y="119880"/>
                  </a:lnTo>
                  <a:lnTo>
                    <a:pt x="53205" y="146820"/>
                  </a:lnTo>
                  <a:lnTo>
                    <a:pt x="114300" y="207916"/>
                  </a:lnTo>
                  <a:lnTo>
                    <a:pt x="213495" y="108720"/>
                  </a:lnTo>
                  <a:close/>
                </a:path>
              </a:pathLst>
            </a:custGeom>
            <a:solidFill>
              <a:srgbClr val="1C2A24"/>
            </a:solidFill>
            <a:ln>
              <a:noFill/>
            </a:ln>
          </p:spPr>
        </p:sp>
        <p:sp>
          <p:nvSpPr>
            <p:cNvPr id="65" name="TextBox 65"/>
            <p:cNvSpPr txBox="1"/>
            <p:nvPr/>
          </p:nvSpPr>
          <p:spPr>
            <a:xfrm>
              <a:off x="1133856" y="5063490"/>
              <a:ext cx="1446370" cy="352044"/>
            </a:xfrm>
            <a:prstGeom prst="rect">
              <a:avLst/>
            </a:prstGeom>
            <a:noFill/>
            <a:ln>
              <a:noFill/>
            </a:ln>
          </p:spPr>
          <p:txBody>
            <a:bodyPr wrap="none" lIns="0" tIns="0" rIns="0" bIns="0" anchor="t" anchorCtr="0">
              <a:spAutoFit/>
            </a:bodyPr>
            <a:lstStyle/>
            <a:p>
              <a:pPr algn="l"/>
              <a:r>
                <a:rPr lang="en-US" sz="1800" b="1" dirty="0">
                  <a:solidFill>
                    <a:srgbClr val="202824"/>
                  </a:solidFill>
                  <a:latin typeface="Segoe UI"/>
                  <a:ea typeface="Segoe UI"/>
                  <a:cs typeface="Segoe UI"/>
                </a:rPr>
                <a:t>Action Gate</a:t>
              </a:r>
            </a:p>
          </p:txBody>
        </p:sp>
        <p:sp>
          <p:nvSpPr>
            <p:cNvPr id="66" name="Line 66"/>
            <p:cNvSpPr/>
            <p:nvPr/>
          </p:nvSpPr>
          <p:spPr>
            <a:xfrm>
              <a:off x="4610100" y="5172075"/>
              <a:ext cx="2819400" cy="9525"/>
            </a:xfrm>
            <a:custGeom>
              <a:avLst/>
              <a:gdLst/>
              <a:ahLst/>
              <a:cxnLst/>
              <a:rect l="l" t="t" r="r" b="b"/>
              <a:pathLst>
                <a:path w="2819400" h="9525">
                  <a:moveTo>
                    <a:pt x="0" y="0"/>
                  </a:moveTo>
                  <a:lnTo>
                    <a:pt x="2819400" y="0"/>
                  </a:lnTo>
                </a:path>
              </a:pathLst>
            </a:custGeom>
            <a:noFill/>
            <a:ln w="19050">
              <a:solidFill>
                <a:srgbClr val="1C2A24"/>
              </a:solidFill>
            </a:ln>
          </p:spPr>
        </p:sp>
        <p:sp>
          <p:nvSpPr>
            <p:cNvPr id="67" name="Polygon 67"/>
            <p:cNvSpPr/>
            <p:nvPr/>
          </p:nvSpPr>
          <p:spPr>
            <a:xfrm>
              <a:off x="7429500" y="5086350"/>
              <a:ext cx="152400" cy="171450"/>
            </a:xfrm>
            <a:custGeom>
              <a:avLst/>
              <a:gdLst/>
              <a:ahLst/>
              <a:cxnLst/>
              <a:rect l="l" t="t" r="r" b="b"/>
              <a:pathLst>
                <a:path w="152400" h="171450">
                  <a:moveTo>
                    <a:pt x="0" y="0"/>
                  </a:moveTo>
                  <a:lnTo>
                    <a:pt x="152400" y="85725"/>
                  </a:lnTo>
                  <a:lnTo>
                    <a:pt x="0" y="171450"/>
                  </a:lnTo>
                  <a:close/>
                </a:path>
              </a:pathLst>
            </a:custGeom>
            <a:solidFill>
              <a:srgbClr val="1C2A24"/>
            </a:solidFill>
            <a:ln>
              <a:noFill/>
            </a:ln>
          </p:spPr>
        </p:sp>
        <p:sp>
          <p:nvSpPr>
            <p:cNvPr id="68" name="TextBox 68"/>
            <p:cNvSpPr txBox="1"/>
            <p:nvPr/>
          </p:nvSpPr>
          <p:spPr>
            <a:xfrm>
              <a:off x="5218998" y="4921568"/>
              <a:ext cx="1754004" cy="264033"/>
            </a:xfrm>
            <a:prstGeom prst="rect">
              <a:avLst/>
            </a:prstGeom>
            <a:noFill/>
            <a:ln>
              <a:noFill/>
            </a:ln>
          </p:spPr>
          <p:txBody>
            <a:bodyPr wrap="none" lIns="0" tIns="0" rIns="0" bIns="0" anchor="t" anchorCtr="0">
              <a:spAutoFit/>
            </a:bodyPr>
            <a:lstStyle/>
            <a:p>
              <a:pPr algn="ctr"/>
              <a:r>
                <a:rPr lang="en-US" sz="1350" dirty="0">
                  <a:solidFill>
                    <a:srgbClr val="52605A"/>
                  </a:solidFill>
                  <a:latin typeface="Consolas"/>
                  <a:ea typeface="Consolas"/>
                  <a:cs typeface="Consolas"/>
                </a:rPr>
                <a:t>independent Run API</a:t>
              </a:r>
            </a:p>
          </p:txBody>
        </p:sp>
        <p:sp>
          <p:nvSpPr>
            <p:cNvPr id="69" name="Rectangle 69"/>
            <p:cNvSpPr/>
            <p:nvPr/>
          </p:nvSpPr>
          <p:spPr>
            <a:xfrm>
              <a:off x="7581900" y="4895850"/>
              <a:ext cx="4076700" cy="552450"/>
            </a:xfrm>
            <a:prstGeom prst="rect">
              <a:avLst/>
            </a:prstGeom>
            <a:solidFill>
              <a:srgbClr val="EEF3F0"/>
            </a:solidFill>
            <a:ln w="9525">
              <a:solidFill>
                <a:srgbClr val="CDD8D2"/>
              </a:solidFill>
            </a:ln>
          </p:spPr>
        </p:sp>
        <p:sp>
          <p:nvSpPr>
            <p:cNvPr id="70" name="TextBox 70"/>
            <p:cNvSpPr txBox="1"/>
            <p:nvPr/>
          </p:nvSpPr>
          <p:spPr>
            <a:xfrm>
              <a:off x="7765542" y="5093018"/>
              <a:ext cx="3702977" cy="264033"/>
            </a:xfrm>
            <a:prstGeom prst="rect">
              <a:avLst/>
            </a:prstGeom>
            <a:noFill/>
            <a:ln>
              <a:noFill/>
            </a:ln>
          </p:spPr>
          <p:txBody>
            <a:bodyPr wrap="none" lIns="0" tIns="0" rIns="0" bIns="0" anchor="t" anchorCtr="0">
              <a:spAutoFit/>
            </a:bodyPr>
            <a:lstStyle/>
            <a:p>
              <a:pPr algn="l"/>
              <a:r>
                <a:rPr lang="en-US" sz="1350" dirty="0">
                  <a:solidFill>
                    <a:srgbClr val="202824"/>
                  </a:solidFill>
                  <a:latin typeface="Consolas"/>
                  <a:ea typeface="Consolas"/>
                  <a:cs typeface="Consolas"/>
                </a:rPr>
                <a:t>risk · control_plan · permit · tool_result</a:t>
              </a:r>
            </a:p>
          </p:txBody>
        </p:sp>
      </p:grpSp>
      <p:grpSp>
        <p:nvGrpSpPr>
          <p:cNvPr id="79" name="Group 79"/>
          <p:cNvGrpSpPr/>
          <p:nvPr/>
        </p:nvGrpSpPr>
        <p:grpSpPr>
          <a:xfrm>
            <a:off x="533400" y="5657850"/>
            <a:ext cx="11125200" cy="632651"/>
            <a:chOff x="533400" y="5657850"/>
            <a:chExt cx="11125200" cy="632651"/>
          </a:xfrm>
        </p:grpSpPr>
        <p:sp>
          <p:nvSpPr>
            <p:cNvPr id="72" name="Rectangle 72"/>
            <p:cNvSpPr/>
            <p:nvPr/>
          </p:nvSpPr>
          <p:spPr>
            <a:xfrm>
              <a:off x="533400" y="5657850"/>
              <a:ext cx="11125200" cy="628650"/>
            </a:xfrm>
            <a:prstGeom prst="rect">
              <a:avLst/>
            </a:prstGeom>
            <a:solidFill>
              <a:srgbClr val="1C2A24"/>
            </a:solidFill>
            <a:ln>
              <a:noFill/>
            </a:ln>
          </p:spPr>
        </p:sp>
        <p:grpSp>
          <p:nvGrpSpPr>
            <p:cNvPr id="75" name="Group 75"/>
            <p:cNvGrpSpPr/>
            <p:nvPr/>
          </p:nvGrpSpPr>
          <p:grpSpPr>
            <a:xfrm>
              <a:off x="723900" y="5791200"/>
              <a:ext cx="342900" cy="342900"/>
              <a:chOff x="723900" y="5791200"/>
              <a:chExt cx="342900" cy="342900"/>
            </a:xfrm>
          </p:grpSpPr>
          <p:sp>
            <p:nvSpPr>
              <p:cNvPr id="73" name="Freeform 73"/>
              <p:cNvSpPr/>
              <p:nvPr/>
            </p:nvSpPr>
            <p:spPr>
              <a:xfrm>
                <a:off x="723900" y="5791200"/>
                <a:ext cx="300038" cy="192881"/>
              </a:xfrm>
              <a:custGeom>
                <a:avLst/>
                <a:gdLst/>
                <a:ahLst/>
                <a:cxnLst/>
                <a:rect l="l" t="t" r="r" b="b"/>
                <a:pathLst>
                  <a:path w="300038" h="192881">
                    <a:moveTo>
                      <a:pt x="214312" y="171450"/>
                    </a:moveTo>
                    <a:lnTo>
                      <a:pt x="192881" y="171450"/>
                    </a:lnTo>
                    <a:lnTo>
                      <a:pt x="192881" y="103294"/>
                    </a:lnTo>
                    <a:lnTo>
                      <a:pt x="110527" y="86824"/>
                    </a:lnTo>
                    <a:cubicBezTo>
                      <a:pt x="106874" y="86093"/>
                      <a:pt x="103158" y="85725"/>
                      <a:pt x="99433" y="85725"/>
                    </a:cubicBezTo>
                    <a:cubicBezTo>
                      <a:pt x="68190" y="85725"/>
                      <a:pt x="42862" y="111052"/>
                      <a:pt x="42862" y="142295"/>
                    </a:cubicBezTo>
                    <a:lnTo>
                      <a:pt x="42862" y="192881"/>
                    </a:lnTo>
                    <a:lnTo>
                      <a:pt x="0" y="192881"/>
                    </a:lnTo>
                    <a:lnTo>
                      <a:pt x="0" y="142295"/>
                    </a:lnTo>
                    <a:cubicBezTo>
                      <a:pt x="0" y="87380"/>
                      <a:pt x="44517" y="42862"/>
                      <a:pt x="99433" y="42862"/>
                    </a:cubicBezTo>
                    <a:cubicBezTo>
                      <a:pt x="105981" y="42862"/>
                      <a:pt x="112512" y="43509"/>
                      <a:pt x="118933" y="44793"/>
                    </a:cubicBezTo>
                    <a:lnTo>
                      <a:pt x="192881" y="59583"/>
                    </a:lnTo>
                    <a:lnTo>
                      <a:pt x="192881" y="0"/>
                    </a:lnTo>
                    <a:lnTo>
                      <a:pt x="214312" y="0"/>
                    </a:lnTo>
                    <a:lnTo>
                      <a:pt x="300038" y="85725"/>
                    </a:lnTo>
                    <a:lnTo>
                      <a:pt x="214312" y="171450"/>
                    </a:lnTo>
                    <a:close/>
                  </a:path>
                </a:pathLst>
              </a:custGeom>
              <a:solidFill>
                <a:srgbClr val="FFFFFF"/>
              </a:solidFill>
              <a:ln>
                <a:noFill/>
              </a:ln>
            </p:spPr>
          </p:sp>
          <p:sp>
            <p:nvSpPr>
              <p:cNvPr id="74" name="Freeform 74"/>
              <p:cNvSpPr/>
              <p:nvPr/>
            </p:nvSpPr>
            <p:spPr>
              <a:xfrm>
                <a:off x="766762" y="5941219"/>
                <a:ext cx="300038" cy="192881"/>
              </a:xfrm>
              <a:custGeom>
                <a:avLst/>
                <a:gdLst/>
                <a:ahLst/>
                <a:cxnLst/>
                <a:rect l="l" t="t" r="r" b="b"/>
                <a:pathLst>
                  <a:path w="300038" h="192881">
                    <a:moveTo>
                      <a:pt x="300038" y="0"/>
                    </a:moveTo>
                    <a:lnTo>
                      <a:pt x="300038" y="50586"/>
                    </a:lnTo>
                    <a:cubicBezTo>
                      <a:pt x="300038" y="105502"/>
                      <a:pt x="255521" y="150019"/>
                      <a:pt x="200605" y="150019"/>
                    </a:cubicBezTo>
                    <a:cubicBezTo>
                      <a:pt x="194058" y="150019"/>
                      <a:pt x="187526" y="149372"/>
                      <a:pt x="181105" y="148088"/>
                    </a:cubicBezTo>
                    <a:lnTo>
                      <a:pt x="107156" y="133298"/>
                    </a:lnTo>
                    <a:lnTo>
                      <a:pt x="107156" y="192881"/>
                    </a:lnTo>
                    <a:lnTo>
                      <a:pt x="85725" y="192881"/>
                    </a:lnTo>
                    <a:lnTo>
                      <a:pt x="0" y="107156"/>
                    </a:lnTo>
                    <a:lnTo>
                      <a:pt x="85725" y="21431"/>
                    </a:lnTo>
                    <a:lnTo>
                      <a:pt x="107156" y="21431"/>
                    </a:lnTo>
                    <a:lnTo>
                      <a:pt x="107156" y="89587"/>
                    </a:lnTo>
                    <a:lnTo>
                      <a:pt x="189510" y="106057"/>
                    </a:lnTo>
                    <a:cubicBezTo>
                      <a:pt x="193164" y="106788"/>
                      <a:pt x="196880" y="107156"/>
                      <a:pt x="200605" y="107156"/>
                    </a:cubicBezTo>
                    <a:cubicBezTo>
                      <a:pt x="231848" y="107156"/>
                      <a:pt x="257175" y="81829"/>
                      <a:pt x="257175" y="50586"/>
                    </a:cubicBezTo>
                    <a:lnTo>
                      <a:pt x="257175" y="0"/>
                    </a:lnTo>
                    <a:lnTo>
                      <a:pt x="300038" y="0"/>
                    </a:lnTo>
                    <a:close/>
                  </a:path>
                </a:pathLst>
              </a:custGeom>
              <a:solidFill>
                <a:srgbClr val="FFFFFF"/>
              </a:solidFill>
              <a:ln>
                <a:noFill/>
              </a:ln>
            </p:spPr>
          </p:sp>
        </p:grpSp>
        <p:sp>
          <p:nvSpPr>
            <p:cNvPr id="76" name="TextBox 76"/>
            <p:cNvSpPr txBox="1"/>
            <p:nvPr/>
          </p:nvSpPr>
          <p:spPr>
            <a:xfrm>
              <a:off x="1248156" y="5844540"/>
              <a:ext cx="4400636"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Segoe UI"/>
                  <a:ea typeface="Microsoft YaHei UI"/>
                  <a:cs typeface="Segoe UI"/>
                </a:rPr>
                <a:t>SSE 只发现变化 → GET Snapshot 对账</a:t>
              </a:r>
            </a:p>
          </p:txBody>
        </p:sp>
        <p:sp>
          <p:nvSpPr>
            <p:cNvPr id="77" name="TextBox 77"/>
            <p:cNvSpPr txBox="1"/>
            <p:nvPr/>
          </p:nvSpPr>
          <p:spPr>
            <a:xfrm>
              <a:off x="5103238" y="5778818"/>
              <a:ext cx="6333620" cy="264033"/>
            </a:xfrm>
            <a:prstGeom prst="rect">
              <a:avLst/>
            </a:prstGeom>
            <a:noFill/>
            <a:ln>
              <a:noFill/>
            </a:ln>
          </p:spPr>
          <p:txBody>
            <a:bodyPr wrap="none" lIns="0" tIns="0" rIns="0" bIns="0" anchor="t" anchorCtr="0">
              <a:spAutoFit/>
            </a:bodyPr>
            <a:lstStyle/>
            <a:p>
              <a:pPr algn="r"/>
              <a:r>
                <a:rPr lang="zh-CN" sz="1350" dirty="0">
                  <a:solidFill>
                    <a:srgbClr val="CDD8D2"/>
                  </a:solidFill>
                  <a:latin typeface="Segoe UI"/>
                  <a:ea typeface="Microsoft YaHei UI"/>
                  <a:cs typeface="Segoe UI"/>
                </a:rPr>
                <a:t>默认隐藏：Prompt · 思维链 · Worker 对话 · 幂等键 · Permit · 密钥 · 堆栈</a:t>
              </a:r>
            </a:p>
          </p:txBody>
        </p:sp>
        <p:sp>
          <p:nvSpPr>
            <p:cNvPr id="78" name="TextBox 78"/>
            <p:cNvSpPr txBox="1"/>
            <p:nvPr/>
          </p:nvSpPr>
          <p:spPr>
            <a:xfrm>
              <a:off x="7243191" y="6026468"/>
              <a:ext cx="4193667" cy="264033"/>
            </a:xfrm>
            <a:prstGeom prst="rect">
              <a:avLst/>
            </a:prstGeom>
            <a:noFill/>
            <a:ln>
              <a:noFill/>
            </a:ln>
          </p:spPr>
          <p:txBody>
            <a:bodyPr wrap="none" lIns="0" tIns="0" rIns="0" bIns="0" anchor="t" anchorCtr="0">
              <a:spAutoFit/>
            </a:bodyPr>
            <a:lstStyle/>
            <a:p>
              <a:pPr algn="r"/>
              <a:r>
                <a:rPr lang="zh-CN" sz="1350" dirty="0">
                  <a:solidFill>
                    <a:srgbClr val="C58B2B"/>
                  </a:solidFill>
                  <a:latin typeface="Segoe UI"/>
                  <a:ea typeface="Microsoft YaHei UI"/>
                  <a:cs typeface="Segoe UI"/>
                </a:rPr>
                <a:t>连接状态不是任务完成、预算、风险或执行成功事实</a:t>
              </a:r>
            </a:p>
          </p:txBody>
        </p:sp>
      </p:grpSp>
      <p:grpSp>
        <p:nvGrpSpPr>
          <p:cNvPr id="82" name="Group 82"/>
          <p:cNvGrpSpPr/>
          <p:nvPr/>
        </p:nvGrpSpPr>
        <p:grpSpPr>
          <a:xfrm>
            <a:off x="528066" y="6439852"/>
            <a:ext cx="11135868" cy="205359"/>
            <a:chOff x="528066" y="6439852"/>
            <a:chExt cx="11135868" cy="205359"/>
          </a:xfrm>
        </p:grpSpPr>
        <p:sp>
          <p:nvSpPr>
            <p:cNvPr id="80" name="TextBox 80"/>
            <p:cNvSpPr txBox="1"/>
            <p:nvPr/>
          </p:nvSpPr>
          <p:spPr>
            <a:xfrm>
              <a:off x="528066" y="6439852"/>
              <a:ext cx="4009418" cy="205359"/>
            </a:xfrm>
            <a:prstGeom prst="rect">
              <a:avLst/>
            </a:prstGeom>
            <a:noFill/>
            <a:ln>
              <a:noFill/>
            </a:ln>
          </p:spPr>
          <p:txBody>
            <a:bodyPr wrap="none" lIns="0" tIns="0" rIns="0" bIns="0" anchor="t" anchorCtr="0">
              <a:spAutoFit/>
            </a:bodyPr>
            <a:lstStyle/>
            <a:p>
              <a:pPr algn="l"/>
              <a:r>
                <a:rPr lang="en-US" sz="1050" dirty="0">
                  <a:solidFill>
                    <a:srgbClr val="74817B"/>
                  </a:solidFill>
                  <a:latin typeface="Segoe UI"/>
                  <a:ea typeface="Segoe UI"/>
                  <a:cs typeface="Segoe UI"/>
                </a:rPr>
                <a:t>Source: UI_SERVER_FACT_MATRIX §1-4 · SCENARIO-001 §6</a:t>
              </a:r>
            </a:p>
          </p:txBody>
        </p:sp>
        <p:sp>
          <p:nvSpPr>
            <p:cNvPr id="81" name="TextBox 81"/>
            <p:cNvSpPr txBox="1"/>
            <p:nvPr/>
          </p:nvSpPr>
          <p:spPr>
            <a:xfrm>
              <a:off x="11179740" y="6439852"/>
              <a:ext cx="484194" cy="205359"/>
            </a:xfrm>
            <a:prstGeom prst="rect">
              <a:avLst/>
            </a:prstGeom>
            <a:noFill/>
            <a:ln>
              <a:noFill/>
            </a:ln>
          </p:spPr>
          <p:txBody>
            <a:bodyPr wrap="none" lIns="0" tIns="0" rIns="0" bIns="0" anchor="t" anchorCtr="0">
              <a:spAutoFit/>
            </a:bodyPr>
            <a:lstStyle/>
            <a:p>
              <a:pPr algn="r"/>
              <a:r>
                <a:rPr lang="en-US" sz="1050" dirty="0">
                  <a:solidFill>
                    <a:srgbClr val="14865F"/>
                  </a:solidFill>
                  <a:latin typeface="Consolas"/>
                  <a:ea typeface="Consolas"/>
                  <a:cs typeface="Consolas"/>
                </a:rPr>
                <a:t>08 / 11</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8"/>
          </a:solidFill>
          <a:ln>
            <a:noFill/>
          </a:ln>
        </p:spPr>
      </p:sp>
      <p:grpSp>
        <p:nvGrpSpPr>
          <p:cNvPr id="6" name="Group 6"/>
          <p:cNvGrpSpPr/>
          <p:nvPr/>
        </p:nvGrpSpPr>
        <p:grpSpPr>
          <a:xfrm>
            <a:off x="533400" y="400050"/>
            <a:ext cx="11130534" cy="670179"/>
            <a:chOff x="533400" y="400050"/>
            <a:chExt cx="11130534" cy="670179"/>
          </a:xfrm>
        </p:grpSpPr>
        <p:sp>
          <p:nvSpPr>
            <p:cNvPr id="3" name="Rectangle 3"/>
            <p:cNvSpPr/>
            <p:nvPr/>
          </p:nvSpPr>
          <p:spPr>
            <a:xfrm>
              <a:off x="533400" y="400050"/>
              <a:ext cx="57150" cy="495300"/>
            </a:xfrm>
            <a:prstGeom prst="rect">
              <a:avLst/>
            </a:prstGeom>
            <a:solidFill>
              <a:srgbClr val="14865F"/>
            </a:solidFill>
            <a:ln>
              <a:noFill/>
            </a:ln>
          </p:spPr>
        </p:sp>
        <p:sp>
          <p:nvSpPr>
            <p:cNvPr id="4" name="TextBox 4"/>
            <p:cNvSpPr txBox="1"/>
            <p:nvPr/>
          </p:nvSpPr>
          <p:spPr>
            <a:xfrm>
              <a:off x="745236" y="424815"/>
              <a:ext cx="8896236" cy="645414"/>
            </a:xfrm>
            <a:prstGeom prst="rect">
              <a:avLst/>
            </a:prstGeom>
            <a:noFill/>
            <a:ln>
              <a:noFill/>
            </a:ln>
          </p:spPr>
          <p:txBody>
            <a:bodyPr wrap="none" lIns="0" tIns="0" rIns="0" bIns="0" anchor="t" anchorCtr="0">
              <a:spAutoFit/>
            </a:bodyPr>
            <a:lstStyle/>
            <a:p>
              <a:pPr algn="l"/>
              <a:r>
                <a:rPr lang="zh-CN" sz="3300" b="1" dirty="0">
                  <a:solidFill>
                    <a:srgbClr val="1C2A24"/>
                  </a:solidFill>
                  <a:latin typeface="Segoe UI"/>
                  <a:ea typeface="Microsoft YaHei UI"/>
                  <a:cs typeface="Segoe UI"/>
                </a:rPr>
                <a:t>我们用可复核证据汇报，不把不同测试相加</a:t>
              </a:r>
            </a:p>
          </p:txBody>
        </p:sp>
        <p:sp>
          <p:nvSpPr>
            <p:cNvPr id="5" name="TextBox 5"/>
            <p:cNvSpPr txBox="1"/>
            <p:nvPr/>
          </p:nvSpPr>
          <p:spPr>
            <a:xfrm>
              <a:off x="10615270" y="629602"/>
              <a:ext cx="1048664" cy="205359"/>
            </a:xfrm>
            <a:prstGeom prst="rect">
              <a:avLst/>
            </a:prstGeom>
            <a:noFill/>
            <a:ln>
              <a:noFill/>
            </a:ln>
          </p:spPr>
          <p:txBody>
            <a:bodyPr wrap="none" lIns="0" tIns="0" rIns="0" bIns="0" anchor="t" anchorCtr="0">
              <a:spAutoFit/>
            </a:bodyPr>
            <a:lstStyle/>
            <a:p>
              <a:pPr algn="r"/>
              <a:r>
                <a:rPr lang="en-US" sz="1050" dirty="0">
                  <a:solidFill>
                    <a:srgbClr val="74817B"/>
                  </a:solidFill>
                  <a:latin typeface="Consolas"/>
                  <a:ea typeface="Consolas"/>
                  <a:cs typeface="Consolas"/>
                </a:rPr>
                <a:t>EVIDENCE · P09</a:t>
              </a:r>
            </a:p>
          </p:txBody>
        </p:sp>
      </p:grpSp>
      <p:grpSp>
        <p:nvGrpSpPr>
          <p:cNvPr id="9" name="Group 9"/>
          <p:cNvGrpSpPr/>
          <p:nvPr/>
        </p:nvGrpSpPr>
        <p:grpSpPr>
          <a:xfrm>
            <a:off x="522732" y="1068705"/>
            <a:ext cx="12215600" cy="521970"/>
            <a:chOff x="522732" y="1068705"/>
            <a:chExt cx="12215600" cy="521970"/>
          </a:xfrm>
        </p:grpSpPr>
        <p:sp>
          <p:nvSpPr>
            <p:cNvPr id="7" name="TextBox 7"/>
            <p:cNvSpPr txBox="1"/>
            <p:nvPr/>
          </p:nvSpPr>
          <p:spPr>
            <a:xfrm>
              <a:off x="522732" y="1068705"/>
              <a:ext cx="12215600" cy="410718"/>
            </a:xfrm>
            <a:prstGeom prst="rect">
              <a:avLst/>
            </a:prstGeom>
            <a:noFill/>
            <a:ln>
              <a:noFill/>
            </a:ln>
          </p:spPr>
          <p:txBody>
            <a:bodyPr wrap="none" lIns="0" tIns="0" rIns="0" bIns="0" anchor="t" anchorCtr="0">
              <a:spAutoFit/>
            </a:bodyPr>
            <a:lstStyle/>
            <a:p>
              <a:pPr algn="l"/>
              <a:r>
                <a:rPr lang="zh-CN" sz="2100" b="1" dirty="0">
                  <a:solidFill>
                    <a:srgbClr val="202824"/>
                  </a:solidFill>
                  <a:latin typeface="Segoe UI"/>
                  <a:ea typeface="Microsoft YaHei UI"/>
                  <a:cs typeface="Segoe UI"/>
                </a:rPr>
                <a:t>每个数字只支持它明确覆盖的工程范围；PR 快照、Python、浏览器 E2E 与截图分别计数。</a:t>
              </a:r>
            </a:p>
          </p:txBody>
        </p:sp>
        <p:sp>
          <p:nvSpPr>
            <p:cNvPr id="8" name="Line 8"/>
            <p:cNvSpPr/>
            <p:nvPr/>
          </p:nvSpPr>
          <p:spPr>
            <a:xfrm>
              <a:off x="533400" y="1581150"/>
              <a:ext cx="11125200" cy="9525"/>
            </a:xfrm>
            <a:custGeom>
              <a:avLst/>
              <a:gdLst/>
              <a:ahLst/>
              <a:cxnLst/>
              <a:rect l="l" t="t" r="r" b="b"/>
              <a:pathLst>
                <a:path w="11125200" h="9525">
                  <a:moveTo>
                    <a:pt x="0" y="0"/>
                  </a:moveTo>
                  <a:lnTo>
                    <a:pt x="11125200" y="0"/>
                  </a:lnTo>
                </a:path>
              </a:pathLst>
            </a:custGeom>
            <a:noFill/>
            <a:ln w="9525">
              <a:solidFill>
                <a:srgbClr val="CDD8D2"/>
              </a:solidFill>
            </a:ln>
          </p:spPr>
        </p:sp>
      </p:grpSp>
      <p:grpSp>
        <p:nvGrpSpPr>
          <p:cNvPr id="16" name="Group 16"/>
          <p:cNvGrpSpPr/>
          <p:nvPr/>
        </p:nvGrpSpPr>
        <p:grpSpPr>
          <a:xfrm>
            <a:off x="533400" y="1809750"/>
            <a:ext cx="2667000" cy="1352550"/>
            <a:chOff x="533400" y="1809750"/>
            <a:chExt cx="2667000" cy="1352550"/>
          </a:xfrm>
        </p:grpSpPr>
        <p:sp>
          <p:nvSpPr>
            <p:cNvPr id="10" name="Rectangle 10"/>
            <p:cNvSpPr/>
            <p:nvPr/>
          </p:nvSpPr>
          <p:spPr>
            <a:xfrm>
              <a:off x="533400" y="1809750"/>
              <a:ext cx="2667000" cy="1352550"/>
            </a:xfrm>
            <a:prstGeom prst="rect">
              <a:avLst/>
            </a:prstGeom>
            <a:solidFill>
              <a:srgbClr val="FFFFFF"/>
            </a:solidFill>
            <a:ln w="9525">
              <a:solidFill>
                <a:srgbClr val="CDD8D2"/>
              </a:solidFill>
            </a:ln>
          </p:spPr>
        </p:sp>
        <p:sp>
          <p:nvSpPr>
            <p:cNvPr id="11" name="Rectangle 11"/>
            <p:cNvSpPr/>
            <p:nvPr/>
          </p:nvSpPr>
          <p:spPr>
            <a:xfrm>
              <a:off x="533400" y="1809750"/>
              <a:ext cx="2667000" cy="57150"/>
            </a:xfrm>
            <a:prstGeom prst="rect">
              <a:avLst/>
            </a:prstGeom>
            <a:solidFill>
              <a:srgbClr val="14865F"/>
            </a:solidFill>
            <a:ln>
              <a:noFill/>
            </a:ln>
          </p:spPr>
        </p:sp>
        <p:sp>
          <p:nvSpPr>
            <p:cNvPr id="12" name="TextBox 12"/>
            <p:cNvSpPr txBox="1"/>
            <p:nvPr/>
          </p:nvSpPr>
          <p:spPr>
            <a:xfrm>
              <a:off x="704850" y="1927860"/>
              <a:ext cx="364621" cy="819150"/>
            </a:xfrm>
            <a:prstGeom prst="rect">
              <a:avLst/>
            </a:prstGeom>
            <a:noFill/>
            <a:ln>
              <a:noFill/>
            </a:ln>
          </p:spPr>
          <p:txBody>
            <a:bodyPr wrap="none" lIns="0" tIns="0" rIns="0" bIns="0" anchor="t" anchorCtr="0">
              <a:spAutoFit/>
            </a:bodyPr>
            <a:lstStyle/>
            <a:p>
              <a:pPr algn="l"/>
              <a:r>
                <a:rPr lang="en-US" sz="4200" b="1" dirty="0">
                  <a:solidFill>
                    <a:srgbClr val="14865F"/>
                  </a:solidFill>
                  <a:latin typeface="Consolas"/>
                  <a:ea typeface="Consolas"/>
                  <a:cs typeface="Consolas"/>
                </a:rPr>
                <a:t>4</a:t>
              </a:r>
            </a:p>
          </p:txBody>
        </p:sp>
        <p:sp>
          <p:nvSpPr>
            <p:cNvPr id="13" name="TextBox 13"/>
            <p:cNvSpPr txBox="1"/>
            <p:nvPr/>
          </p:nvSpPr>
          <p:spPr>
            <a:xfrm>
              <a:off x="1400556" y="2129790"/>
              <a:ext cx="1201156"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已合并 PR</a:t>
              </a:r>
            </a:p>
          </p:txBody>
        </p:sp>
        <p:sp>
          <p:nvSpPr>
            <p:cNvPr id="14" name="TextBox 14"/>
            <p:cNvSpPr txBox="1"/>
            <p:nvPr/>
          </p:nvSpPr>
          <p:spPr>
            <a:xfrm>
              <a:off x="717042" y="2673668"/>
              <a:ext cx="1440351" cy="264033"/>
            </a:xfrm>
            <a:prstGeom prst="rect">
              <a:avLst/>
            </a:prstGeom>
            <a:noFill/>
            <a:ln>
              <a:noFill/>
            </a:ln>
          </p:spPr>
          <p:txBody>
            <a:bodyPr wrap="none" lIns="0" tIns="0" rIns="0" bIns="0" anchor="t" anchorCtr="0">
              <a:spAutoFit/>
            </a:bodyPr>
            <a:lstStyle/>
            <a:p>
              <a:pPr algn="l"/>
              <a:r>
                <a:rPr lang="en-US" sz="1350" dirty="0">
                  <a:solidFill>
                    <a:srgbClr val="52605A"/>
                  </a:solidFill>
                  <a:latin typeface="Consolas"/>
                  <a:ea typeface="Consolas"/>
                  <a:cs typeface="Consolas"/>
                </a:rPr>
                <a:t>#4 · #5 · #6 · #7</a:t>
              </a:r>
            </a:p>
          </p:txBody>
        </p:sp>
        <p:sp>
          <p:nvSpPr>
            <p:cNvPr id="15" name="TextBox 15"/>
            <p:cNvSpPr txBox="1"/>
            <p:nvPr/>
          </p:nvSpPr>
          <p:spPr>
            <a:xfrm>
              <a:off x="718566" y="2934652"/>
              <a:ext cx="1501921" cy="205359"/>
            </a:xfrm>
            <a:prstGeom prst="rect">
              <a:avLst/>
            </a:prstGeom>
            <a:noFill/>
            <a:ln>
              <a:noFill/>
            </a:ln>
          </p:spPr>
          <p:txBody>
            <a:bodyPr wrap="none" lIns="0" tIns="0" rIns="0" bIns="0" anchor="t" anchorCtr="0">
              <a:spAutoFit/>
            </a:bodyPr>
            <a:lstStyle/>
            <a:p>
              <a:pPr algn="l"/>
              <a:r>
                <a:rPr lang="zh-CN" sz="1050" dirty="0">
                  <a:solidFill>
                    <a:srgbClr val="74817B"/>
                  </a:solidFill>
                  <a:latin typeface="Segoe UI"/>
                  <a:ea typeface="Microsoft YaHei UI"/>
                  <a:cs typeface="Segoe UI"/>
                </a:rPr>
                <a:t>merge commits 已登记</a:t>
              </a:r>
            </a:p>
          </p:txBody>
        </p:sp>
      </p:grpSp>
      <p:grpSp>
        <p:nvGrpSpPr>
          <p:cNvPr id="23" name="Group 23"/>
          <p:cNvGrpSpPr/>
          <p:nvPr/>
        </p:nvGrpSpPr>
        <p:grpSpPr>
          <a:xfrm>
            <a:off x="3352800" y="1809750"/>
            <a:ext cx="2667000" cy="1352550"/>
            <a:chOff x="3352800" y="1809750"/>
            <a:chExt cx="2667000" cy="1352550"/>
          </a:xfrm>
        </p:grpSpPr>
        <p:sp>
          <p:nvSpPr>
            <p:cNvPr id="17" name="Rectangle 17"/>
            <p:cNvSpPr/>
            <p:nvPr/>
          </p:nvSpPr>
          <p:spPr>
            <a:xfrm>
              <a:off x="3352800" y="1809750"/>
              <a:ext cx="2667000" cy="1352550"/>
            </a:xfrm>
            <a:prstGeom prst="rect">
              <a:avLst/>
            </a:prstGeom>
            <a:solidFill>
              <a:srgbClr val="EEF3F0"/>
            </a:solidFill>
            <a:ln w="9525">
              <a:solidFill>
                <a:srgbClr val="CDD8D2"/>
              </a:solidFill>
            </a:ln>
          </p:spPr>
        </p:sp>
        <p:sp>
          <p:nvSpPr>
            <p:cNvPr id="18" name="Rectangle 18"/>
            <p:cNvSpPr/>
            <p:nvPr/>
          </p:nvSpPr>
          <p:spPr>
            <a:xfrm>
              <a:off x="3352800" y="1809750"/>
              <a:ext cx="2667000" cy="57150"/>
            </a:xfrm>
            <a:prstGeom prst="rect">
              <a:avLst/>
            </a:prstGeom>
            <a:solidFill>
              <a:srgbClr val="1C2A24"/>
            </a:solidFill>
            <a:ln>
              <a:noFill/>
            </a:ln>
          </p:spPr>
        </p:sp>
        <p:sp>
          <p:nvSpPr>
            <p:cNvPr id="19" name="TextBox 19"/>
            <p:cNvSpPr txBox="1"/>
            <p:nvPr/>
          </p:nvSpPr>
          <p:spPr>
            <a:xfrm>
              <a:off x="3524250" y="1927860"/>
              <a:ext cx="691142" cy="819150"/>
            </a:xfrm>
            <a:prstGeom prst="rect">
              <a:avLst/>
            </a:prstGeom>
            <a:noFill/>
            <a:ln>
              <a:noFill/>
            </a:ln>
          </p:spPr>
          <p:txBody>
            <a:bodyPr wrap="none" lIns="0" tIns="0" rIns="0" bIns="0" anchor="t" anchorCtr="0">
              <a:spAutoFit/>
            </a:bodyPr>
            <a:lstStyle/>
            <a:p>
              <a:pPr algn="l"/>
              <a:r>
                <a:rPr lang="en-US" sz="4200" b="1" dirty="0">
                  <a:solidFill>
                    <a:srgbClr val="1C2A24"/>
                  </a:solidFill>
                  <a:latin typeface="Consolas"/>
                  <a:ea typeface="Consolas"/>
                  <a:cs typeface="Consolas"/>
                </a:rPr>
                <a:t>56</a:t>
              </a:r>
            </a:p>
          </p:txBody>
        </p:sp>
        <p:sp>
          <p:nvSpPr>
            <p:cNvPr id="20" name="TextBox 20"/>
            <p:cNvSpPr txBox="1"/>
            <p:nvPr/>
          </p:nvSpPr>
          <p:spPr>
            <a:xfrm>
              <a:off x="4429506" y="2129790"/>
              <a:ext cx="1456548"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全量 Python</a:t>
              </a:r>
            </a:p>
          </p:txBody>
        </p:sp>
        <p:sp>
          <p:nvSpPr>
            <p:cNvPr id="21" name="TextBox 21"/>
            <p:cNvSpPr txBox="1"/>
            <p:nvPr/>
          </p:nvSpPr>
          <p:spPr>
            <a:xfrm>
              <a:off x="3536442" y="2673668"/>
              <a:ext cx="935431"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PR #6 时点</a:t>
              </a:r>
            </a:p>
          </p:txBody>
        </p:sp>
        <p:sp>
          <p:nvSpPr>
            <p:cNvPr id="22" name="TextBox 22"/>
            <p:cNvSpPr txBox="1"/>
            <p:nvPr/>
          </p:nvSpPr>
          <p:spPr>
            <a:xfrm>
              <a:off x="3537966" y="2934652"/>
              <a:ext cx="1134408" cy="205359"/>
            </a:xfrm>
            <a:prstGeom prst="rect">
              <a:avLst/>
            </a:prstGeom>
            <a:noFill/>
            <a:ln>
              <a:noFill/>
            </a:ln>
          </p:spPr>
          <p:txBody>
            <a:bodyPr wrap="none" lIns="0" tIns="0" rIns="0" bIns="0" anchor="t" anchorCtr="0">
              <a:spAutoFit/>
            </a:bodyPr>
            <a:lstStyle/>
            <a:p>
              <a:pPr algn="l"/>
              <a:r>
                <a:rPr lang="zh-CN" sz="1050" dirty="0">
                  <a:solidFill>
                    <a:srgbClr val="74817B"/>
                  </a:solidFill>
                  <a:latin typeface="Segoe UI"/>
                  <a:ea typeface="Microsoft YaHei UI"/>
                  <a:cs typeface="Segoe UI"/>
                </a:rPr>
                <a:t>不与 37 / 44 相加</a:t>
              </a:r>
            </a:p>
          </p:txBody>
        </p:sp>
      </p:grpSp>
      <p:grpSp>
        <p:nvGrpSpPr>
          <p:cNvPr id="30" name="Group 30"/>
          <p:cNvGrpSpPr/>
          <p:nvPr/>
        </p:nvGrpSpPr>
        <p:grpSpPr>
          <a:xfrm>
            <a:off x="6172200" y="1809750"/>
            <a:ext cx="2667000" cy="1352550"/>
            <a:chOff x="6172200" y="1809750"/>
            <a:chExt cx="2667000" cy="1352550"/>
          </a:xfrm>
        </p:grpSpPr>
        <p:sp>
          <p:nvSpPr>
            <p:cNvPr id="24" name="Rectangle 24"/>
            <p:cNvSpPr/>
            <p:nvPr/>
          </p:nvSpPr>
          <p:spPr>
            <a:xfrm>
              <a:off x="6172200" y="1809750"/>
              <a:ext cx="2667000" cy="1352550"/>
            </a:xfrm>
            <a:prstGeom prst="rect">
              <a:avLst/>
            </a:prstGeom>
            <a:solidFill>
              <a:srgbClr val="FFFFFF"/>
            </a:solidFill>
            <a:ln w="9525">
              <a:solidFill>
                <a:srgbClr val="CDD8D2"/>
              </a:solidFill>
            </a:ln>
          </p:spPr>
        </p:sp>
        <p:sp>
          <p:nvSpPr>
            <p:cNvPr id="25" name="Rectangle 25"/>
            <p:cNvSpPr/>
            <p:nvPr/>
          </p:nvSpPr>
          <p:spPr>
            <a:xfrm>
              <a:off x="6172200" y="1809750"/>
              <a:ext cx="2667000" cy="57150"/>
            </a:xfrm>
            <a:prstGeom prst="rect">
              <a:avLst/>
            </a:prstGeom>
            <a:solidFill>
              <a:srgbClr val="14865F"/>
            </a:solidFill>
            <a:ln>
              <a:noFill/>
            </a:ln>
          </p:spPr>
        </p:sp>
        <p:sp>
          <p:nvSpPr>
            <p:cNvPr id="26" name="TextBox 26"/>
            <p:cNvSpPr txBox="1"/>
            <p:nvPr/>
          </p:nvSpPr>
          <p:spPr>
            <a:xfrm>
              <a:off x="6343650" y="1927860"/>
              <a:ext cx="364621" cy="819150"/>
            </a:xfrm>
            <a:prstGeom prst="rect">
              <a:avLst/>
            </a:prstGeom>
            <a:noFill/>
            <a:ln>
              <a:noFill/>
            </a:ln>
          </p:spPr>
          <p:txBody>
            <a:bodyPr wrap="none" lIns="0" tIns="0" rIns="0" bIns="0" anchor="t" anchorCtr="0">
              <a:spAutoFit/>
            </a:bodyPr>
            <a:lstStyle/>
            <a:p>
              <a:pPr algn="l"/>
              <a:r>
                <a:rPr lang="en-US" sz="4200" b="1" dirty="0">
                  <a:solidFill>
                    <a:srgbClr val="14865F"/>
                  </a:solidFill>
                  <a:latin typeface="Consolas"/>
                  <a:ea typeface="Consolas"/>
                  <a:cs typeface="Consolas"/>
                </a:rPr>
                <a:t>2</a:t>
              </a:r>
            </a:p>
          </p:txBody>
        </p:sp>
        <p:sp>
          <p:nvSpPr>
            <p:cNvPr id="27" name="TextBox 27"/>
            <p:cNvSpPr txBox="1"/>
            <p:nvPr/>
          </p:nvSpPr>
          <p:spPr>
            <a:xfrm>
              <a:off x="7039356" y="2129790"/>
              <a:ext cx="1104064" cy="352044"/>
            </a:xfrm>
            <a:prstGeom prst="rect">
              <a:avLst/>
            </a:prstGeom>
            <a:noFill/>
            <a:ln>
              <a:noFill/>
            </a:ln>
          </p:spPr>
          <p:txBody>
            <a:bodyPr wrap="none" lIns="0" tIns="0" rIns="0" bIns="0" anchor="t" anchorCtr="0">
              <a:spAutoFit/>
            </a:bodyPr>
            <a:lstStyle/>
            <a:p>
              <a:pPr algn="l"/>
              <a:r>
                <a:rPr lang="en-US" sz="1800" b="1" dirty="0">
                  <a:solidFill>
                    <a:srgbClr val="202824"/>
                  </a:solidFill>
                  <a:latin typeface="Segoe UI"/>
                  <a:ea typeface="Segoe UI"/>
                  <a:cs typeface="Segoe UI"/>
                </a:rPr>
                <a:t>Edge E2E</a:t>
              </a:r>
            </a:p>
          </p:txBody>
        </p:sp>
        <p:sp>
          <p:nvSpPr>
            <p:cNvPr id="28" name="TextBox 28"/>
            <p:cNvSpPr txBox="1"/>
            <p:nvPr/>
          </p:nvSpPr>
          <p:spPr>
            <a:xfrm>
              <a:off x="6355842" y="2673668"/>
              <a:ext cx="1822171" cy="264033"/>
            </a:xfrm>
            <a:prstGeom prst="rect">
              <a:avLst/>
            </a:prstGeom>
            <a:noFill/>
            <a:ln>
              <a:noFill/>
            </a:ln>
          </p:spPr>
          <p:txBody>
            <a:bodyPr wrap="none" lIns="0" tIns="0" rIns="0" bIns="0" anchor="t" anchorCtr="0">
              <a:spAutoFit/>
            </a:bodyPr>
            <a:lstStyle/>
            <a:p>
              <a:pPr algn="l"/>
              <a:r>
                <a:rPr lang="en-US" sz="1350" dirty="0">
                  <a:solidFill>
                    <a:srgbClr val="52605A"/>
                  </a:solidFill>
                  <a:latin typeface="Consolas"/>
                  <a:ea typeface="Consolas"/>
                  <a:cs typeface="Consolas"/>
                </a:rPr>
                <a:t>18.4s · system Edge</a:t>
              </a:r>
            </a:p>
          </p:txBody>
        </p:sp>
        <p:sp>
          <p:nvSpPr>
            <p:cNvPr id="29" name="TextBox 29"/>
            <p:cNvSpPr txBox="1"/>
            <p:nvPr/>
          </p:nvSpPr>
          <p:spPr>
            <a:xfrm>
              <a:off x="6357366" y="2934652"/>
              <a:ext cx="1137876" cy="205359"/>
            </a:xfrm>
            <a:prstGeom prst="rect">
              <a:avLst/>
            </a:prstGeom>
            <a:noFill/>
            <a:ln>
              <a:noFill/>
            </a:ln>
          </p:spPr>
          <p:txBody>
            <a:bodyPr wrap="none" lIns="0" tIns="0" rIns="0" bIns="0" anchor="t" anchorCtr="0">
              <a:spAutoFit/>
            </a:bodyPr>
            <a:lstStyle/>
            <a:p>
              <a:pPr algn="l"/>
              <a:r>
                <a:rPr lang="zh-CN" sz="1050" dirty="0">
                  <a:solidFill>
                    <a:srgbClr val="74817B"/>
                  </a:solidFill>
                  <a:latin typeface="Segoe UI"/>
                  <a:ea typeface="Microsoft YaHei UI"/>
                  <a:cs typeface="Segoe UI"/>
                </a:rPr>
                <a:t>不是 Python 测试</a:t>
              </a:r>
            </a:p>
          </p:txBody>
        </p:sp>
      </p:grpSp>
      <p:grpSp>
        <p:nvGrpSpPr>
          <p:cNvPr id="37" name="Group 37"/>
          <p:cNvGrpSpPr/>
          <p:nvPr/>
        </p:nvGrpSpPr>
        <p:grpSpPr>
          <a:xfrm>
            <a:off x="8991600" y="1809750"/>
            <a:ext cx="2667000" cy="1352550"/>
            <a:chOff x="8991600" y="1809750"/>
            <a:chExt cx="2667000" cy="1352550"/>
          </a:xfrm>
        </p:grpSpPr>
        <p:sp>
          <p:nvSpPr>
            <p:cNvPr id="31" name="Rectangle 31"/>
            <p:cNvSpPr/>
            <p:nvPr/>
          </p:nvSpPr>
          <p:spPr>
            <a:xfrm>
              <a:off x="8991600" y="1809750"/>
              <a:ext cx="2667000" cy="1352550"/>
            </a:xfrm>
            <a:prstGeom prst="rect">
              <a:avLst/>
            </a:prstGeom>
            <a:solidFill>
              <a:srgbClr val="EEF3F0"/>
            </a:solidFill>
            <a:ln w="9525">
              <a:solidFill>
                <a:srgbClr val="CDD8D2"/>
              </a:solidFill>
            </a:ln>
          </p:spPr>
        </p:sp>
        <p:sp>
          <p:nvSpPr>
            <p:cNvPr id="32" name="Rectangle 32"/>
            <p:cNvSpPr/>
            <p:nvPr/>
          </p:nvSpPr>
          <p:spPr>
            <a:xfrm>
              <a:off x="8991600" y="1809750"/>
              <a:ext cx="2667000" cy="57150"/>
            </a:xfrm>
            <a:prstGeom prst="rect">
              <a:avLst/>
            </a:prstGeom>
            <a:solidFill>
              <a:srgbClr val="C58B2B"/>
            </a:solidFill>
            <a:ln>
              <a:noFill/>
            </a:ln>
          </p:spPr>
        </p:sp>
        <p:sp>
          <p:nvSpPr>
            <p:cNvPr id="33" name="TextBox 33"/>
            <p:cNvSpPr txBox="1"/>
            <p:nvPr/>
          </p:nvSpPr>
          <p:spPr>
            <a:xfrm>
              <a:off x="9163050" y="1927860"/>
              <a:ext cx="364621" cy="819150"/>
            </a:xfrm>
            <a:prstGeom prst="rect">
              <a:avLst/>
            </a:prstGeom>
            <a:noFill/>
            <a:ln>
              <a:noFill/>
            </a:ln>
          </p:spPr>
          <p:txBody>
            <a:bodyPr wrap="none" lIns="0" tIns="0" rIns="0" bIns="0" anchor="t" anchorCtr="0">
              <a:spAutoFit/>
            </a:bodyPr>
            <a:lstStyle/>
            <a:p>
              <a:pPr algn="l"/>
              <a:r>
                <a:rPr lang="en-US" sz="4200" b="1" dirty="0">
                  <a:solidFill>
                    <a:srgbClr val="C58B2B"/>
                  </a:solidFill>
                  <a:latin typeface="Consolas"/>
                  <a:ea typeface="Consolas"/>
                  <a:cs typeface="Consolas"/>
                </a:rPr>
                <a:t>5</a:t>
              </a:r>
            </a:p>
          </p:txBody>
        </p:sp>
        <p:sp>
          <p:nvSpPr>
            <p:cNvPr id="34" name="TextBox 34"/>
            <p:cNvSpPr txBox="1"/>
            <p:nvPr/>
          </p:nvSpPr>
          <p:spPr>
            <a:xfrm>
              <a:off x="9858756" y="2129790"/>
              <a:ext cx="1036015"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证据截图</a:t>
              </a:r>
            </a:p>
          </p:txBody>
        </p:sp>
        <p:sp>
          <p:nvSpPr>
            <p:cNvPr id="35" name="TextBox 35"/>
            <p:cNvSpPr txBox="1"/>
            <p:nvPr/>
          </p:nvSpPr>
          <p:spPr>
            <a:xfrm>
              <a:off x="9175242" y="2673668"/>
              <a:ext cx="1741932"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实测尺寸 + SHA-256</a:t>
              </a:r>
            </a:p>
          </p:txBody>
        </p:sp>
        <p:sp>
          <p:nvSpPr>
            <p:cNvPr id="36" name="TextBox 36"/>
            <p:cNvSpPr txBox="1"/>
            <p:nvPr/>
          </p:nvSpPr>
          <p:spPr>
            <a:xfrm>
              <a:off x="9176766" y="2934652"/>
              <a:ext cx="1354836" cy="205359"/>
            </a:xfrm>
            <a:prstGeom prst="rect">
              <a:avLst/>
            </a:prstGeom>
            <a:noFill/>
            <a:ln>
              <a:noFill/>
            </a:ln>
          </p:spPr>
          <p:txBody>
            <a:bodyPr wrap="none" lIns="0" tIns="0" rIns="0" bIns="0" anchor="t" anchorCtr="0">
              <a:spAutoFit/>
            </a:bodyPr>
            <a:lstStyle/>
            <a:p>
              <a:pPr algn="l"/>
              <a:r>
                <a:rPr lang="zh-CN" sz="1050" dirty="0">
                  <a:solidFill>
                    <a:srgbClr val="74817B"/>
                  </a:solidFill>
                  <a:latin typeface="Segoe UI"/>
                  <a:ea typeface="Microsoft YaHei UI"/>
                  <a:cs typeface="Segoe UI"/>
                </a:rPr>
                <a:t>截图不替代 API 断言</a:t>
              </a:r>
            </a:p>
          </p:txBody>
        </p:sp>
      </p:grpSp>
      <p:grpSp>
        <p:nvGrpSpPr>
          <p:cNvPr id="41" name="Group 41"/>
          <p:cNvGrpSpPr/>
          <p:nvPr/>
        </p:nvGrpSpPr>
        <p:grpSpPr>
          <a:xfrm>
            <a:off x="526542" y="3378518"/>
            <a:ext cx="4769358" cy="2936557"/>
            <a:chOff x="526542" y="3378518"/>
            <a:chExt cx="4769358" cy="2936557"/>
          </a:xfrm>
        </p:grpSpPr>
        <p:sp>
          <p:nvSpPr>
            <p:cNvPr id="38" name="TextBox 38"/>
            <p:cNvSpPr txBox="1"/>
            <p:nvPr/>
          </p:nvSpPr>
          <p:spPr>
            <a:xfrm>
              <a:off x="526542" y="3378518"/>
              <a:ext cx="2341767" cy="264033"/>
            </a:xfrm>
            <a:prstGeom prst="rect">
              <a:avLst/>
            </a:prstGeom>
            <a:noFill/>
            <a:ln>
              <a:noFill/>
            </a:ln>
          </p:spPr>
          <p:txBody>
            <a:bodyPr wrap="none" lIns="0" tIns="0" rIns="0" bIns="0" anchor="t" anchorCtr="0">
              <a:spAutoFit/>
            </a:bodyPr>
            <a:lstStyle/>
            <a:p>
              <a:pPr algn="l"/>
              <a:r>
                <a:rPr lang="zh-CN" sz="1350" b="1" dirty="0">
                  <a:solidFill>
                    <a:srgbClr val="C58B2B"/>
                  </a:solidFill>
                  <a:latin typeface="Segoe UI"/>
                  <a:ea typeface="Microsoft YaHei UI"/>
                  <a:cs typeface="Segoe UI"/>
                </a:rPr>
                <a:t>发送前 abort · 结果待确认</a:t>
              </a:r>
            </a:p>
          </p:txBody>
        </p:sp>
        <p:sp>
          <p:nvSpPr>
            <p:cNvPr id="39" name="Rectangle 39"/>
            <p:cNvSpPr/>
            <p:nvPr/>
          </p:nvSpPr>
          <p:spPr>
            <a:xfrm>
              <a:off x="533400" y="3638550"/>
              <a:ext cx="4762500" cy="2676525"/>
            </a:xfrm>
            <a:prstGeom prst="rect">
              <a:avLst/>
            </a:prstGeom>
            <a:solidFill>
              <a:srgbClr val="FFFFFF"/>
            </a:solidFill>
            <a:ln w="19050">
              <a:solidFill>
                <a:srgbClr val="C58B2B"/>
              </a:solidFill>
            </a:ln>
          </p:spPr>
        </p:sp>
        <p:pic>
          <p:nvPicPr>
            <p:cNvPr id="40" name="Image 40"/>
            <p:cNvPicPr>
              <a:picLocks noChangeAspect="1"/>
            </p:cNvPicPr>
            <p:nvPr/>
          </p:nvPicPr>
          <p:blipFill>
            <a:blip r:embed="rId2"/>
            <a:stretch>
              <a:fillRect/>
            </a:stretch>
          </p:blipFill>
          <p:spPr>
            <a:xfrm>
              <a:off x="533400" y="3638550"/>
              <a:ext cx="4762500" cy="2676525"/>
            </a:xfrm>
            <a:prstGeom prst="rect">
              <a:avLst/>
            </a:prstGeom>
          </p:spPr>
        </p:pic>
      </p:grpSp>
      <p:grpSp>
        <p:nvGrpSpPr>
          <p:cNvPr id="48" name="Group 48"/>
          <p:cNvGrpSpPr/>
          <p:nvPr/>
        </p:nvGrpSpPr>
        <p:grpSpPr>
          <a:xfrm>
            <a:off x="5525262" y="4514850"/>
            <a:ext cx="1141476" cy="1444561"/>
            <a:chOff x="5525262" y="4514850"/>
            <a:chExt cx="1141476" cy="1444561"/>
          </a:xfrm>
        </p:grpSpPr>
        <p:grpSp>
          <p:nvGrpSpPr>
            <p:cNvPr id="44" name="Group 44"/>
            <p:cNvGrpSpPr/>
            <p:nvPr/>
          </p:nvGrpSpPr>
          <p:grpSpPr>
            <a:xfrm>
              <a:off x="5829300" y="4514850"/>
              <a:ext cx="533400" cy="533400"/>
              <a:chOff x="5829300" y="4514850"/>
              <a:chExt cx="533400" cy="533400"/>
            </a:xfrm>
          </p:grpSpPr>
          <p:sp>
            <p:nvSpPr>
              <p:cNvPr id="42" name="Freeform 42"/>
              <p:cNvSpPr/>
              <p:nvPr/>
            </p:nvSpPr>
            <p:spPr>
              <a:xfrm>
                <a:off x="5829300" y="4514850"/>
                <a:ext cx="466725" cy="300038"/>
              </a:xfrm>
              <a:custGeom>
                <a:avLst/>
                <a:gdLst/>
                <a:ahLst/>
                <a:cxnLst/>
                <a:rect l="l" t="t" r="r" b="b"/>
                <a:pathLst>
                  <a:path w="466725" h="300038">
                    <a:moveTo>
                      <a:pt x="333375" y="266700"/>
                    </a:moveTo>
                    <a:lnTo>
                      <a:pt x="300038" y="266700"/>
                    </a:lnTo>
                    <a:lnTo>
                      <a:pt x="300038" y="160680"/>
                    </a:lnTo>
                    <a:lnTo>
                      <a:pt x="171931" y="135059"/>
                    </a:lnTo>
                    <a:cubicBezTo>
                      <a:pt x="166248" y="133922"/>
                      <a:pt x="160468" y="133350"/>
                      <a:pt x="154673" y="133350"/>
                    </a:cubicBezTo>
                    <a:cubicBezTo>
                      <a:pt x="106073" y="133350"/>
                      <a:pt x="66675" y="172748"/>
                      <a:pt x="66675" y="221348"/>
                    </a:cubicBezTo>
                    <a:lnTo>
                      <a:pt x="66675" y="300038"/>
                    </a:lnTo>
                    <a:lnTo>
                      <a:pt x="0" y="300038"/>
                    </a:lnTo>
                    <a:lnTo>
                      <a:pt x="0" y="221348"/>
                    </a:lnTo>
                    <a:cubicBezTo>
                      <a:pt x="0" y="135924"/>
                      <a:pt x="69249" y="66675"/>
                      <a:pt x="154673" y="66675"/>
                    </a:cubicBezTo>
                    <a:cubicBezTo>
                      <a:pt x="164859" y="66675"/>
                      <a:pt x="175019" y="67681"/>
                      <a:pt x="185007" y="69679"/>
                    </a:cubicBezTo>
                    <a:lnTo>
                      <a:pt x="300038" y="92685"/>
                    </a:lnTo>
                    <a:lnTo>
                      <a:pt x="300038" y="0"/>
                    </a:lnTo>
                    <a:lnTo>
                      <a:pt x="333375" y="0"/>
                    </a:lnTo>
                    <a:lnTo>
                      <a:pt x="466725" y="133350"/>
                    </a:lnTo>
                    <a:lnTo>
                      <a:pt x="333375" y="266700"/>
                    </a:lnTo>
                    <a:close/>
                  </a:path>
                </a:pathLst>
              </a:custGeom>
              <a:solidFill>
                <a:srgbClr val="14865F"/>
              </a:solidFill>
              <a:ln>
                <a:noFill/>
              </a:ln>
            </p:spPr>
          </p:sp>
          <p:sp>
            <p:nvSpPr>
              <p:cNvPr id="43" name="Freeform 43"/>
              <p:cNvSpPr/>
              <p:nvPr/>
            </p:nvSpPr>
            <p:spPr>
              <a:xfrm>
                <a:off x="5895975" y="4748212"/>
                <a:ext cx="466725" cy="300038"/>
              </a:xfrm>
              <a:custGeom>
                <a:avLst/>
                <a:gdLst/>
                <a:ahLst/>
                <a:cxnLst/>
                <a:rect l="l" t="t" r="r" b="b"/>
                <a:pathLst>
                  <a:path w="466725" h="300038">
                    <a:moveTo>
                      <a:pt x="466725" y="0"/>
                    </a:moveTo>
                    <a:lnTo>
                      <a:pt x="466725" y="78690"/>
                    </a:lnTo>
                    <a:cubicBezTo>
                      <a:pt x="466725" y="164114"/>
                      <a:pt x="397476" y="233362"/>
                      <a:pt x="312052" y="233362"/>
                    </a:cubicBezTo>
                    <a:cubicBezTo>
                      <a:pt x="301868" y="233362"/>
                      <a:pt x="291706" y="232356"/>
                      <a:pt x="281719" y="230359"/>
                    </a:cubicBezTo>
                    <a:lnTo>
                      <a:pt x="166688" y="207353"/>
                    </a:lnTo>
                    <a:lnTo>
                      <a:pt x="166688" y="300038"/>
                    </a:lnTo>
                    <a:lnTo>
                      <a:pt x="133350" y="300038"/>
                    </a:lnTo>
                    <a:lnTo>
                      <a:pt x="0" y="166688"/>
                    </a:lnTo>
                    <a:lnTo>
                      <a:pt x="133350" y="33338"/>
                    </a:lnTo>
                    <a:lnTo>
                      <a:pt x="166688" y="33338"/>
                    </a:lnTo>
                    <a:lnTo>
                      <a:pt x="166688" y="139357"/>
                    </a:lnTo>
                    <a:lnTo>
                      <a:pt x="294794" y="164977"/>
                    </a:lnTo>
                    <a:cubicBezTo>
                      <a:pt x="300478" y="166114"/>
                      <a:pt x="306258" y="166688"/>
                      <a:pt x="312052" y="166688"/>
                    </a:cubicBezTo>
                    <a:cubicBezTo>
                      <a:pt x="360652" y="166688"/>
                      <a:pt x="400050" y="127289"/>
                      <a:pt x="400050" y="78690"/>
                    </a:cubicBezTo>
                    <a:lnTo>
                      <a:pt x="400050" y="0"/>
                    </a:lnTo>
                    <a:lnTo>
                      <a:pt x="466725" y="0"/>
                    </a:lnTo>
                    <a:close/>
                  </a:path>
                </a:pathLst>
              </a:custGeom>
              <a:solidFill>
                <a:srgbClr val="14865F"/>
              </a:solidFill>
              <a:ln>
                <a:noFill/>
              </a:ln>
            </p:spPr>
          </p:sp>
        </p:grpSp>
        <p:sp>
          <p:nvSpPr>
            <p:cNvPr id="45" name="TextBox 45"/>
            <p:cNvSpPr txBox="1"/>
            <p:nvPr/>
          </p:nvSpPr>
          <p:spPr>
            <a:xfrm>
              <a:off x="5798136" y="5112068"/>
              <a:ext cx="595729" cy="264033"/>
            </a:xfrm>
            <a:prstGeom prst="rect">
              <a:avLst/>
            </a:prstGeom>
            <a:noFill/>
            <a:ln>
              <a:noFill/>
            </a:ln>
          </p:spPr>
          <p:txBody>
            <a:bodyPr wrap="none" lIns="0" tIns="0" rIns="0" bIns="0" anchor="t" anchorCtr="0">
              <a:spAutoFit/>
            </a:bodyPr>
            <a:lstStyle/>
            <a:p>
              <a:pPr algn="ctr"/>
              <a:r>
                <a:rPr lang="en-US" sz="1350" b="1" dirty="0">
                  <a:solidFill>
                    <a:srgbClr val="14865F"/>
                  </a:solidFill>
                  <a:latin typeface="Consolas"/>
                  <a:ea typeface="Consolas"/>
                  <a:cs typeface="Consolas"/>
                </a:rPr>
                <a:t>reload</a:t>
              </a:r>
            </a:p>
          </p:txBody>
        </p:sp>
        <p:sp>
          <p:nvSpPr>
            <p:cNvPr id="46" name="TextBox 46"/>
            <p:cNvSpPr txBox="1"/>
            <p:nvPr/>
          </p:nvSpPr>
          <p:spPr>
            <a:xfrm>
              <a:off x="5693864" y="5359718"/>
              <a:ext cx="804272" cy="264033"/>
            </a:xfrm>
            <a:prstGeom prst="rect">
              <a:avLst/>
            </a:prstGeom>
            <a:noFill/>
            <a:ln>
              <a:noFill/>
            </a:ln>
          </p:spPr>
          <p:txBody>
            <a:bodyPr wrap="none" lIns="0" tIns="0" rIns="0" bIns="0" anchor="t" anchorCtr="0">
              <a:spAutoFit/>
            </a:bodyPr>
            <a:lstStyle/>
            <a:p>
              <a:pPr algn="ctr"/>
              <a:r>
                <a:rPr lang="en-US" sz="1350" dirty="0">
                  <a:solidFill>
                    <a:srgbClr val="52605A"/>
                  </a:solidFill>
                  <a:latin typeface="Consolas"/>
                  <a:ea typeface="Consolas"/>
                  <a:cs typeface="Consolas"/>
                </a:rPr>
                <a:t>same key</a:t>
              </a:r>
            </a:p>
          </p:txBody>
        </p:sp>
        <p:sp>
          <p:nvSpPr>
            <p:cNvPr id="47" name="TextBox 47"/>
            <p:cNvSpPr txBox="1"/>
            <p:nvPr/>
          </p:nvSpPr>
          <p:spPr>
            <a:xfrm>
              <a:off x="5525262" y="5754052"/>
              <a:ext cx="1141476" cy="205359"/>
            </a:xfrm>
            <a:prstGeom prst="rect">
              <a:avLst/>
            </a:prstGeom>
            <a:noFill/>
            <a:ln>
              <a:noFill/>
            </a:ln>
          </p:spPr>
          <p:txBody>
            <a:bodyPr wrap="none" lIns="0" tIns="0" rIns="0" bIns="0" anchor="t" anchorCtr="0">
              <a:spAutoFit/>
            </a:bodyPr>
            <a:lstStyle/>
            <a:p>
              <a:pPr algn="ctr"/>
              <a:r>
                <a:rPr lang="zh-CN" sz="1050" dirty="0">
                  <a:solidFill>
                    <a:srgbClr val="C58B2B"/>
                  </a:solidFill>
                  <a:latin typeface="Segoe UI"/>
                  <a:ea typeface="Microsoft YaHei UI"/>
                  <a:cs typeface="Segoe UI"/>
                </a:rPr>
                <a:t>仅证明发送前失败</a:t>
              </a:r>
            </a:p>
          </p:txBody>
        </p:sp>
      </p:grpSp>
      <p:grpSp>
        <p:nvGrpSpPr>
          <p:cNvPr id="52" name="Group 52"/>
          <p:cNvGrpSpPr/>
          <p:nvPr/>
        </p:nvGrpSpPr>
        <p:grpSpPr>
          <a:xfrm>
            <a:off x="6889242" y="3378518"/>
            <a:ext cx="4769358" cy="2936557"/>
            <a:chOff x="6889242" y="3378518"/>
            <a:chExt cx="4769358" cy="2936557"/>
          </a:xfrm>
        </p:grpSpPr>
        <p:sp>
          <p:nvSpPr>
            <p:cNvPr id="49" name="TextBox 49"/>
            <p:cNvSpPr txBox="1"/>
            <p:nvPr/>
          </p:nvSpPr>
          <p:spPr>
            <a:xfrm>
              <a:off x="6889242" y="3378518"/>
              <a:ext cx="3527755" cy="264033"/>
            </a:xfrm>
            <a:prstGeom prst="rect">
              <a:avLst/>
            </a:prstGeom>
            <a:noFill/>
            <a:ln>
              <a:noFill/>
            </a:ln>
          </p:spPr>
          <p:txBody>
            <a:bodyPr wrap="none" lIns="0" tIns="0" rIns="0" bIns="0" anchor="t" anchorCtr="0">
              <a:spAutoFit/>
            </a:bodyPr>
            <a:lstStyle/>
            <a:p>
              <a:pPr algn="l"/>
              <a:r>
                <a:rPr lang="zh-CN" sz="1350" b="1" dirty="0">
                  <a:solidFill>
                    <a:srgbClr val="14865F"/>
                  </a:solidFill>
                  <a:latin typeface="Segoe UI"/>
                  <a:ea typeface="Microsoft YaHei UI"/>
                  <a:cs typeface="Segoe UI"/>
                </a:rPr>
                <a:t>同 key 对账 · 5 个唯一 ArtifactVersion</a:t>
              </a:r>
            </a:p>
          </p:txBody>
        </p:sp>
        <p:sp>
          <p:nvSpPr>
            <p:cNvPr id="50" name="Rectangle 50"/>
            <p:cNvSpPr/>
            <p:nvPr/>
          </p:nvSpPr>
          <p:spPr>
            <a:xfrm>
              <a:off x="6896100" y="3638550"/>
              <a:ext cx="4762500" cy="2676525"/>
            </a:xfrm>
            <a:prstGeom prst="rect">
              <a:avLst/>
            </a:prstGeom>
            <a:solidFill>
              <a:srgbClr val="FFFFFF"/>
            </a:solidFill>
            <a:ln w="19050">
              <a:solidFill>
                <a:srgbClr val="14865F"/>
              </a:solidFill>
            </a:ln>
          </p:spPr>
        </p:sp>
        <p:pic>
          <p:nvPicPr>
            <p:cNvPr id="51" name="Image 51"/>
            <p:cNvPicPr>
              <a:picLocks noChangeAspect="1"/>
            </p:cNvPicPr>
            <p:nvPr/>
          </p:nvPicPr>
          <p:blipFill>
            <a:blip r:embed="rId3"/>
            <a:stretch>
              <a:fillRect/>
            </a:stretch>
          </p:blipFill>
          <p:spPr>
            <a:xfrm>
              <a:off x="6896100" y="3638550"/>
              <a:ext cx="4762500" cy="2676525"/>
            </a:xfrm>
            <a:prstGeom prst="rect">
              <a:avLst/>
            </a:prstGeom>
          </p:spPr>
        </p:pic>
      </p:grpSp>
      <p:grpSp>
        <p:nvGrpSpPr>
          <p:cNvPr id="55" name="Group 55"/>
          <p:cNvGrpSpPr/>
          <p:nvPr/>
        </p:nvGrpSpPr>
        <p:grpSpPr>
          <a:xfrm>
            <a:off x="528066" y="6439852"/>
            <a:ext cx="11135868" cy="205359"/>
            <a:chOff x="528066" y="6439852"/>
            <a:chExt cx="11135868" cy="205359"/>
          </a:xfrm>
        </p:grpSpPr>
        <p:sp>
          <p:nvSpPr>
            <p:cNvPr id="53" name="TextBox 53"/>
            <p:cNvSpPr txBox="1"/>
            <p:nvPr/>
          </p:nvSpPr>
          <p:spPr>
            <a:xfrm>
              <a:off x="528066" y="6439852"/>
              <a:ext cx="4986107" cy="205359"/>
            </a:xfrm>
            <a:prstGeom prst="rect">
              <a:avLst/>
            </a:prstGeom>
            <a:noFill/>
            <a:ln>
              <a:noFill/>
            </a:ln>
          </p:spPr>
          <p:txBody>
            <a:bodyPr wrap="none" lIns="0" tIns="0" rIns="0" bIns="0" anchor="t" anchorCtr="0">
              <a:spAutoFit/>
            </a:bodyPr>
            <a:lstStyle/>
            <a:p>
              <a:pPr algn="l"/>
              <a:r>
                <a:rPr lang="en-US" sz="1050" dirty="0">
                  <a:solidFill>
                    <a:srgbClr val="74817B"/>
                  </a:solidFill>
                  <a:latin typeface="Segoe UI"/>
                  <a:ea typeface="Segoe UI"/>
                  <a:cs typeface="Segoe UI"/>
                </a:rPr>
                <a:t>Source: REPORT_STATUS_SNAPSHOT · DEMO1-PR3 §3 · DEMO1-PR4 §2-3</a:t>
              </a:r>
            </a:p>
          </p:txBody>
        </p:sp>
        <p:sp>
          <p:nvSpPr>
            <p:cNvPr id="54" name="TextBox 54"/>
            <p:cNvSpPr txBox="1"/>
            <p:nvPr/>
          </p:nvSpPr>
          <p:spPr>
            <a:xfrm>
              <a:off x="11179740" y="6439852"/>
              <a:ext cx="484194" cy="205359"/>
            </a:xfrm>
            <a:prstGeom prst="rect">
              <a:avLst/>
            </a:prstGeom>
            <a:noFill/>
            <a:ln>
              <a:noFill/>
            </a:ln>
          </p:spPr>
          <p:txBody>
            <a:bodyPr wrap="none" lIns="0" tIns="0" rIns="0" bIns="0" anchor="t" anchorCtr="0">
              <a:spAutoFit/>
            </a:bodyPr>
            <a:lstStyle/>
            <a:p>
              <a:pPr algn="r"/>
              <a:r>
                <a:rPr lang="en-US" sz="1050" dirty="0">
                  <a:solidFill>
                    <a:srgbClr val="14865F"/>
                  </a:solidFill>
                  <a:latin typeface="Consolas"/>
                  <a:ea typeface="Consolas"/>
                  <a:cs typeface="Consolas"/>
                </a:rPr>
                <a:t>09 / 11</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8"/>
          </a:solidFill>
          <a:ln>
            <a:noFill/>
          </a:ln>
        </p:spPr>
      </p:sp>
      <p:grpSp>
        <p:nvGrpSpPr>
          <p:cNvPr id="6" name="Group 6"/>
          <p:cNvGrpSpPr/>
          <p:nvPr/>
        </p:nvGrpSpPr>
        <p:grpSpPr>
          <a:xfrm>
            <a:off x="533400" y="400050"/>
            <a:ext cx="11130534" cy="670179"/>
            <a:chOff x="533400" y="400050"/>
            <a:chExt cx="11130534" cy="670179"/>
          </a:xfrm>
        </p:grpSpPr>
        <p:sp>
          <p:nvSpPr>
            <p:cNvPr id="3" name="Rectangle 3"/>
            <p:cNvSpPr/>
            <p:nvPr/>
          </p:nvSpPr>
          <p:spPr>
            <a:xfrm>
              <a:off x="533400" y="400050"/>
              <a:ext cx="57150" cy="495300"/>
            </a:xfrm>
            <a:prstGeom prst="rect">
              <a:avLst/>
            </a:prstGeom>
            <a:solidFill>
              <a:srgbClr val="14865F"/>
            </a:solidFill>
            <a:ln>
              <a:noFill/>
            </a:ln>
          </p:spPr>
        </p:sp>
        <p:sp>
          <p:nvSpPr>
            <p:cNvPr id="4" name="TextBox 4"/>
            <p:cNvSpPr txBox="1"/>
            <p:nvPr/>
          </p:nvSpPr>
          <p:spPr>
            <a:xfrm>
              <a:off x="745236" y="424815"/>
              <a:ext cx="7496861" cy="645414"/>
            </a:xfrm>
            <a:prstGeom prst="rect">
              <a:avLst/>
            </a:prstGeom>
            <a:noFill/>
            <a:ln>
              <a:noFill/>
            </a:ln>
          </p:spPr>
          <p:txBody>
            <a:bodyPr wrap="none" lIns="0" tIns="0" rIns="0" bIns="0" anchor="t" anchorCtr="0">
              <a:spAutoFit/>
            </a:bodyPr>
            <a:lstStyle/>
            <a:p>
              <a:pPr algn="l"/>
              <a:r>
                <a:rPr lang="zh-CN" sz="3300" b="1" dirty="0">
                  <a:solidFill>
                    <a:srgbClr val="1C2A24"/>
                  </a:solidFill>
                  <a:latin typeface="Segoe UI"/>
                  <a:ea typeface="Microsoft YaHei UI"/>
                  <a:cs typeface="Segoe UI"/>
                </a:rPr>
                <a:t>工程闭环成立，不等于生产能力成立</a:t>
              </a:r>
            </a:p>
          </p:txBody>
        </p:sp>
        <p:sp>
          <p:nvSpPr>
            <p:cNvPr id="5" name="TextBox 5"/>
            <p:cNvSpPr txBox="1"/>
            <p:nvPr/>
          </p:nvSpPr>
          <p:spPr>
            <a:xfrm>
              <a:off x="10100005" y="629602"/>
              <a:ext cx="1563929" cy="205359"/>
            </a:xfrm>
            <a:prstGeom prst="rect">
              <a:avLst/>
            </a:prstGeom>
            <a:noFill/>
            <a:ln>
              <a:noFill/>
            </a:ln>
          </p:spPr>
          <p:txBody>
            <a:bodyPr wrap="none" lIns="0" tIns="0" rIns="0" bIns="0" anchor="t" anchorCtr="0">
              <a:spAutoFit/>
            </a:bodyPr>
            <a:lstStyle/>
            <a:p>
              <a:pPr algn="r"/>
              <a:r>
                <a:rPr lang="en-US" sz="1050" dirty="0">
                  <a:solidFill>
                    <a:srgbClr val="74817B"/>
                  </a:solidFill>
                  <a:latin typeface="Consolas"/>
                  <a:ea typeface="Consolas"/>
                  <a:cs typeface="Consolas"/>
                </a:rPr>
                <a:t>CLAIM BOUNDARY · P10</a:t>
              </a:r>
            </a:p>
          </p:txBody>
        </p:sp>
      </p:grpSp>
      <p:grpSp>
        <p:nvGrpSpPr>
          <p:cNvPr id="9" name="Group 9"/>
          <p:cNvGrpSpPr/>
          <p:nvPr/>
        </p:nvGrpSpPr>
        <p:grpSpPr>
          <a:xfrm>
            <a:off x="522732" y="1068705"/>
            <a:ext cx="11135868" cy="807720"/>
            <a:chOff x="522732" y="1068705"/>
            <a:chExt cx="11135868" cy="807720"/>
          </a:xfrm>
        </p:grpSpPr>
        <p:sp>
          <p:nvSpPr>
            <p:cNvPr id="7" name="TextBox 7"/>
            <p:cNvSpPr txBox="1"/>
            <p:nvPr/>
          </p:nvSpPr>
          <p:spPr>
            <a:xfrm>
              <a:off x="522732" y="1068705"/>
              <a:ext cx="8422386" cy="772668"/>
            </a:xfrm>
            <a:prstGeom prst="rect">
              <a:avLst/>
            </a:prstGeom>
            <a:noFill/>
            <a:ln>
              <a:noFill/>
            </a:ln>
          </p:spPr>
          <p:txBody>
            <a:bodyPr wrap="square" lIns="0" tIns="0" rIns="0" bIns="0" anchor="t" anchorCtr="0"/>
            <a:lstStyle/>
            <a:p>
              <a:pPr algn="l">
                <a:lnSpc>
                  <a:spcPts val="2850"/>
                </a:lnSpc>
              </a:pPr>
              <a:r>
                <a:rPr lang="zh-CN" sz="2100" b="1" dirty="0">
                  <a:solidFill>
                    <a:srgbClr val="202824"/>
                  </a:solidFill>
                  <a:latin typeface="Segoe UI"/>
                  <a:ea typeface="Microsoft YaHei UI"/>
                  <a:cs typeface="Segoe UI"/>
                </a:rPr>
                <a:t>当前证据足以支持固定 Fixture 的受控前后端纵切，</a:t>
              </a:r>
              <a:r>
                <a:rPr lang="zh-CN" sz="2100" b="1" dirty="0">
                  <a:solidFill>
                    <a:srgbClr val="202824"/>
                  </a:solidFill>
                  <a:latin typeface="Segoe UI"/>
                  <a:ea typeface="Microsoft YaHei UI"/>
                  <a:cs typeface="Segoe UI"/>
                </a:rPr>
                <a:t>不足以支持真实持久恢复、真实连接器、通用安全或用户价值结论。</a:t>
              </a:r>
            </a:p>
          </p:txBody>
        </p:sp>
        <p:sp>
          <p:nvSpPr>
            <p:cNvPr id="8" name="Line 8"/>
            <p:cNvSpPr/>
            <p:nvPr/>
          </p:nvSpPr>
          <p:spPr>
            <a:xfrm>
              <a:off x="533400" y="1866900"/>
              <a:ext cx="11125200" cy="9525"/>
            </a:xfrm>
            <a:custGeom>
              <a:avLst/>
              <a:gdLst/>
              <a:ahLst/>
              <a:cxnLst/>
              <a:rect l="l" t="t" r="r" b="b"/>
              <a:pathLst>
                <a:path w="11125200" h="9525">
                  <a:moveTo>
                    <a:pt x="0" y="0"/>
                  </a:moveTo>
                  <a:lnTo>
                    <a:pt x="11125200" y="0"/>
                  </a:lnTo>
                </a:path>
              </a:pathLst>
            </a:custGeom>
            <a:noFill/>
            <a:ln w="9525">
              <a:solidFill>
                <a:srgbClr val="CDD8D2"/>
              </a:solidFill>
            </a:ln>
          </p:spPr>
        </p:sp>
      </p:grpSp>
      <p:grpSp>
        <p:nvGrpSpPr>
          <p:cNvPr id="21" name="Group 21"/>
          <p:cNvGrpSpPr/>
          <p:nvPr/>
        </p:nvGrpSpPr>
        <p:grpSpPr>
          <a:xfrm>
            <a:off x="533400" y="2133600"/>
            <a:ext cx="5765536" cy="2900934"/>
            <a:chOff x="533400" y="2133600"/>
            <a:chExt cx="5765536" cy="2900934"/>
          </a:xfrm>
        </p:grpSpPr>
        <p:sp>
          <p:nvSpPr>
            <p:cNvPr id="10" name="Freeform 10"/>
            <p:cNvSpPr/>
            <p:nvPr/>
          </p:nvSpPr>
          <p:spPr>
            <a:xfrm>
              <a:off x="533400" y="2133600"/>
              <a:ext cx="533400" cy="533400"/>
            </a:xfrm>
            <a:custGeom>
              <a:avLst/>
              <a:gdLst/>
              <a:ahLst/>
              <a:cxnLst/>
              <a:rect l="l" t="t" r="r" b="b"/>
              <a:pathLst>
                <a:path w="533400" h="533400">
                  <a:moveTo>
                    <a:pt x="266700" y="533400"/>
                  </a:moveTo>
                  <a:cubicBezTo>
                    <a:pt x="413995" y="533400"/>
                    <a:pt x="533400" y="413995"/>
                    <a:pt x="533400" y="266700"/>
                  </a:cubicBezTo>
                  <a:cubicBezTo>
                    <a:pt x="533400" y="119406"/>
                    <a:pt x="413995" y="0"/>
                    <a:pt x="266700" y="0"/>
                  </a:cubicBezTo>
                  <a:cubicBezTo>
                    <a:pt x="119406" y="0"/>
                    <a:pt x="0" y="119406"/>
                    <a:pt x="0" y="266700"/>
                  </a:cubicBezTo>
                  <a:cubicBezTo>
                    <a:pt x="0" y="413995"/>
                    <a:pt x="119406" y="533400"/>
                    <a:pt x="266700" y="533400"/>
                  </a:cubicBezTo>
                  <a:close/>
                  <a:moveTo>
                    <a:pt x="423623" y="190261"/>
                  </a:moveTo>
                  <a:lnTo>
                    <a:pt x="376477" y="143114"/>
                  </a:lnTo>
                  <a:lnTo>
                    <a:pt x="216694" y="302898"/>
                  </a:lnTo>
                  <a:lnTo>
                    <a:pt x="156923" y="243127"/>
                  </a:lnTo>
                  <a:lnTo>
                    <a:pt x="109777" y="290273"/>
                  </a:lnTo>
                  <a:lnTo>
                    <a:pt x="216694" y="397190"/>
                  </a:lnTo>
                  <a:lnTo>
                    <a:pt x="423623" y="190261"/>
                  </a:lnTo>
                  <a:close/>
                </a:path>
              </a:pathLst>
            </a:custGeom>
            <a:solidFill>
              <a:srgbClr val="14865F"/>
            </a:solidFill>
            <a:ln>
              <a:noFill/>
            </a:ln>
          </p:spPr>
        </p:sp>
        <p:sp>
          <p:nvSpPr>
            <p:cNvPr id="11" name="TextBox 11"/>
            <p:cNvSpPr txBox="1"/>
            <p:nvPr/>
          </p:nvSpPr>
          <p:spPr>
            <a:xfrm>
              <a:off x="1240536" y="2158365"/>
              <a:ext cx="1432903" cy="645414"/>
            </a:xfrm>
            <a:prstGeom prst="rect">
              <a:avLst/>
            </a:prstGeom>
            <a:noFill/>
            <a:ln>
              <a:noFill/>
            </a:ln>
          </p:spPr>
          <p:txBody>
            <a:bodyPr wrap="none" lIns="0" tIns="0" rIns="0" bIns="0" anchor="t" anchorCtr="0">
              <a:spAutoFit/>
            </a:bodyPr>
            <a:lstStyle/>
            <a:p>
              <a:pPr algn="l"/>
              <a:r>
                <a:rPr lang="zh-CN" sz="3300" b="1" dirty="0">
                  <a:solidFill>
                    <a:srgbClr val="14865F"/>
                  </a:solidFill>
                  <a:latin typeface="Segoe UI"/>
                  <a:ea typeface="Microsoft YaHei UI"/>
                  <a:cs typeface="Segoe UI"/>
                </a:rPr>
                <a:t>已证明</a:t>
              </a:r>
            </a:p>
          </p:txBody>
        </p:sp>
        <p:sp>
          <p:nvSpPr>
            <p:cNvPr id="12" name="Line 12"/>
            <p:cNvSpPr/>
            <p:nvPr/>
          </p:nvSpPr>
          <p:spPr>
            <a:xfrm>
              <a:off x="533400" y="2781300"/>
              <a:ext cx="5105400" cy="9525"/>
            </a:xfrm>
            <a:custGeom>
              <a:avLst/>
              <a:gdLst/>
              <a:ahLst/>
              <a:cxnLst/>
              <a:rect l="l" t="t" r="r" b="b"/>
              <a:pathLst>
                <a:path w="5105400" h="9525">
                  <a:moveTo>
                    <a:pt x="0" y="0"/>
                  </a:moveTo>
                  <a:lnTo>
                    <a:pt x="5105400" y="0"/>
                  </a:lnTo>
                </a:path>
              </a:pathLst>
            </a:custGeom>
            <a:noFill/>
            <a:ln w="38100">
              <a:solidFill>
                <a:srgbClr val="14865F"/>
              </a:solidFill>
            </a:ln>
          </p:spPr>
        </p:sp>
        <p:sp>
          <p:nvSpPr>
            <p:cNvPr id="13" name="Ellipse 13"/>
            <p:cNvSpPr/>
            <p:nvPr/>
          </p:nvSpPr>
          <p:spPr>
            <a:xfrm>
              <a:off x="628650" y="3143250"/>
              <a:ext cx="114300" cy="114300"/>
            </a:xfrm>
            <a:prstGeom prst="ellipse">
              <a:avLst/>
            </a:prstGeom>
            <a:solidFill>
              <a:srgbClr val="14865F"/>
            </a:solidFill>
            <a:ln>
              <a:noFill/>
            </a:ln>
          </p:spPr>
        </p:sp>
        <p:sp>
          <p:nvSpPr>
            <p:cNvPr id="14" name="TextBox 14"/>
            <p:cNvSpPr txBox="1"/>
            <p:nvPr/>
          </p:nvSpPr>
          <p:spPr>
            <a:xfrm>
              <a:off x="905256" y="3082290"/>
              <a:ext cx="3410712"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协议、来源台账与汇报治理门槛</a:t>
              </a:r>
            </a:p>
          </p:txBody>
        </p:sp>
        <p:sp>
          <p:nvSpPr>
            <p:cNvPr id="15" name="Ellipse 15"/>
            <p:cNvSpPr/>
            <p:nvPr/>
          </p:nvSpPr>
          <p:spPr>
            <a:xfrm>
              <a:off x="628650" y="3676650"/>
              <a:ext cx="114300" cy="114300"/>
            </a:xfrm>
            <a:prstGeom prst="ellipse">
              <a:avLst/>
            </a:prstGeom>
            <a:solidFill>
              <a:srgbClr val="14865F"/>
            </a:solidFill>
            <a:ln>
              <a:noFill/>
            </a:ln>
          </p:spPr>
        </p:sp>
        <p:sp>
          <p:nvSpPr>
            <p:cNvPr id="16" name="TextBox 16"/>
            <p:cNvSpPr txBox="1"/>
            <p:nvPr/>
          </p:nvSpPr>
          <p:spPr>
            <a:xfrm>
              <a:off x="905256" y="3615690"/>
              <a:ext cx="4515124"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内存 Store 下的固定状态转换与局部冲突</a:t>
              </a:r>
            </a:p>
          </p:txBody>
        </p:sp>
        <p:sp>
          <p:nvSpPr>
            <p:cNvPr id="17" name="Ellipse 17"/>
            <p:cNvSpPr/>
            <p:nvPr/>
          </p:nvSpPr>
          <p:spPr>
            <a:xfrm>
              <a:off x="628650" y="4210050"/>
              <a:ext cx="114300" cy="114300"/>
            </a:xfrm>
            <a:prstGeom prst="ellipse">
              <a:avLst/>
            </a:prstGeom>
            <a:solidFill>
              <a:srgbClr val="14865F"/>
            </a:solidFill>
            <a:ln>
              <a:noFill/>
            </a:ln>
          </p:spPr>
        </p:sp>
        <p:sp>
          <p:nvSpPr>
            <p:cNvPr id="18" name="TextBox 18"/>
            <p:cNvSpPr txBox="1"/>
            <p:nvPr/>
          </p:nvSpPr>
          <p:spPr>
            <a:xfrm>
              <a:off x="905256" y="4149090"/>
              <a:ext cx="5393680"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Artifact lineage、验证、Commit 与 state hash</a:t>
              </a:r>
            </a:p>
          </p:txBody>
        </p:sp>
        <p:sp>
          <p:nvSpPr>
            <p:cNvPr id="19" name="Ellipse 19"/>
            <p:cNvSpPr/>
            <p:nvPr/>
          </p:nvSpPr>
          <p:spPr>
            <a:xfrm>
              <a:off x="628650" y="4743450"/>
              <a:ext cx="114300" cy="114300"/>
            </a:xfrm>
            <a:prstGeom prst="ellipse">
              <a:avLst/>
            </a:prstGeom>
            <a:solidFill>
              <a:srgbClr val="14865F"/>
            </a:solidFill>
            <a:ln>
              <a:noFill/>
            </a:ln>
          </p:spPr>
        </p:sp>
        <p:sp>
          <p:nvSpPr>
            <p:cNvPr id="20" name="TextBox 20"/>
            <p:cNvSpPr txBox="1"/>
            <p:nvPr/>
          </p:nvSpPr>
          <p:spPr>
            <a:xfrm>
              <a:off x="905256" y="4682490"/>
              <a:ext cx="4222471"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指定浏览器主路径与发送前 abort 恢复</a:t>
              </a:r>
            </a:p>
          </p:txBody>
        </p:sp>
      </p:grpSp>
      <p:grpSp>
        <p:nvGrpSpPr>
          <p:cNvPr id="24" name="Group 24"/>
          <p:cNvGrpSpPr/>
          <p:nvPr/>
        </p:nvGrpSpPr>
        <p:grpSpPr>
          <a:xfrm>
            <a:off x="5206517" y="2133600"/>
            <a:ext cx="1751533" cy="3086100"/>
            <a:chOff x="5206517" y="2133600"/>
            <a:chExt cx="1751533" cy="3086100"/>
          </a:xfrm>
        </p:grpSpPr>
        <p:sp>
          <p:nvSpPr>
            <p:cNvPr id="22" name="Line 22"/>
            <p:cNvSpPr/>
            <p:nvPr/>
          </p:nvSpPr>
          <p:spPr>
            <a:xfrm>
              <a:off x="6096000" y="2133600"/>
              <a:ext cx="9525" cy="3086100"/>
            </a:xfrm>
            <a:custGeom>
              <a:avLst/>
              <a:gdLst/>
              <a:ahLst/>
              <a:cxnLst/>
              <a:rect l="l" t="t" r="r" b="b"/>
              <a:pathLst>
                <a:path w="9525" h="3086100">
                  <a:moveTo>
                    <a:pt x="0" y="0"/>
                  </a:moveTo>
                  <a:lnTo>
                    <a:pt x="0" y="3086100"/>
                  </a:lnTo>
                </a:path>
              </a:pathLst>
            </a:custGeom>
            <a:noFill/>
            <a:ln w="9525">
              <a:solidFill>
                <a:srgbClr val="CDD8D2"/>
              </a:solidFill>
            </a:ln>
          </p:spPr>
        </p:sp>
        <p:sp>
          <p:nvSpPr>
            <p:cNvPr id="23" name="TextBox 23"/>
            <p:cNvSpPr txBox="1"/>
            <p:nvPr/>
          </p:nvSpPr>
          <p:spPr>
            <a:xfrm rot="-5400000">
              <a:off x="5206517" y="3544634"/>
              <a:ext cx="1751533" cy="264033"/>
            </a:xfrm>
            <a:prstGeom prst="rect">
              <a:avLst/>
            </a:prstGeom>
            <a:noFill/>
            <a:ln>
              <a:noFill/>
            </a:ln>
          </p:spPr>
          <p:txBody>
            <a:bodyPr wrap="none" lIns="0" tIns="0" rIns="0" bIns="0" anchor="t" anchorCtr="0">
              <a:spAutoFit/>
            </a:bodyPr>
            <a:lstStyle/>
            <a:p>
              <a:pPr algn="ctr"/>
              <a:r>
                <a:rPr lang="en-US" sz="1350" dirty="0">
                  <a:solidFill>
                    <a:srgbClr val="74817B"/>
                  </a:solidFill>
                  <a:latin typeface="Consolas"/>
                  <a:ea typeface="Consolas"/>
                  <a:cs typeface="Consolas"/>
                </a:rPr>
                <a:t>EVIDENCE BOUNDARY</a:t>
              </a:r>
            </a:p>
          </p:txBody>
        </p:sp>
      </p:grpSp>
      <p:grpSp>
        <p:nvGrpSpPr>
          <p:cNvPr id="36" name="Group 36"/>
          <p:cNvGrpSpPr/>
          <p:nvPr/>
        </p:nvGrpSpPr>
        <p:grpSpPr>
          <a:xfrm>
            <a:off x="6553200" y="2133600"/>
            <a:ext cx="5105400" cy="2900934"/>
            <a:chOff x="6553200" y="2133600"/>
            <a:chExt cx="5105400" cy="2900934"/>
          </a:xfrm>
        </p:grpSpPr>
        <p:sp>
          <p:nvSpPr>
            <p:cNvPr id="25" name="Freeform 25"/>
            <p:cNvSpPr/>
            <p:nvPr/>
          </p:nvSpPr>
          <p:spPr>
            <a:xfrm>
              <a:off x="6553200" y="2133600"/>
              <a:ext cx="533400" cy="500062"/>
            </a:xfrm>
            <a:custGeom>
              <a:avLst/>
              <a:gdLst/>
              <a:ahLst/>
              <a:cxnLst/>
              <a:rect l="l" t="t" r="r" b="b"/>
              <a:pathLst>
                <a:path w="533400" h="500062">
                  <a:moveTo>
                    <a:pt x="533400" y="500062"/>
                  </a:moveTo>
                  <a:lnTo>
                    <a:pt x="0" y="500062"/>
                  </a:lnTo>
                  <a:lnTo>
                    <a:pt x="0" y="400050"/>
                  </a:lnTo>
                  <a:lnTo>
                    <a:pt x="233362" y="0"/>
                  </a:lnTo>
                  <a:lnTo>
                    <a:pt x="300038" y="0"/>
                  </a:lnTo>
                  <a:lnTo>
                    <a:pt x="533400" y="400050"/>
                  </a:lnTo>
                  <a:lnTo>
                    <a:pt x="533400" y="500062"/>
                  </a:lnTo>
                  <a:close/>
                  <a:moveTo>
                    <a:pt x="233362" y="133350"/>
                  </a:moveTo>
                  <a:lnTo>
                    <a:pt x="300038" y="133350"/>
                  </a:lnTo>
                  <a:lnTo>
                    <a:pt x="300038" y="300038"/>
                  </a:lnTo>
                  <a:lnTo>
                    <a:pt x="233362" y="300038"/>
                  </a:lnTo>
                  <a:lnTo>
                    <a:pt x="233362" y="133350"/>
                  </a:lnTo>
                  <a:close/>
                  <a:moveTo>
                    <a:pt x="233362" y="366712"/>
                  </a:moveTo>
                  <a:lnTo>
                    <a:pt x="300038" y="366712"/>
                  </a:lnTo>
                  <a:lnTo>
                    <a:pt x="300038" y="433388"/>
                  </a:lnTo>
                  <a:lnTo>
                    <a:pt x="233362" y="433388"/>
                  </a:lnTo>
                  <a:lnTo>
                    <a:pt x="233362" y="366712"/>
                  </a:lnTo>
                  <a:close/>
                </a:path>
              </a:pathLst>
            </a:custGeom>
            <a:solidFill>
              <a:srgbClr val="C58B2B"/>
            </a:solidFill>
            <a:ln>
              <a:noFill/>
            </a:ln>
          </p:spPr>
        </p:sp>
        <p:sp>
          <p:nvSpPr>
            <p:cNvPr id="26" name="TextBox 26"/>
            <p:cNvSpPr txBox="1"/>
            <p:nvPr/>
          </p:nvSpPr>
          <p:spPr>
            <a:xfrm>
              <a:off x="7260336" y="2158365"/>
              <a:ext cx="1432903" cy="645414"/>
            </a:xfrm>
            <a:prstGeom prst="rect">
              <a:avLst/>
            </a:prstGeom>
            <a:noFill/>
            <a:ln>
              <a:noFill/>
            </a:ln>
          </p:spPr>
          <p:txBody>
            <a:bodyPr wrap="none" lIns="0" tIns="0" rIns="0" bIns="0" anchor="t" anchorCtr="0">
              <a:spAutoFit/>
            </a:bodyPr>
            <a:lstStyle/>
            <a:p>
              <a:pPr algn="l"/>
              <a:r>
                <a:rPr lang="zh-CN" sz="3300" b="1" dirty="0">
                  <a:solidFill>
                    <a:srgbClr val="C58B2B"/>
                  </a:solidFill>
                  <a:latin typeface="Segoe UI"/>
                  <a:ea typeface="Microsoft YaHei UI"/>
                  <a:cs typeface="Segoe UI"/>
                </a:rPr>
                <a:t>未证明</a:t>
              </a:r>
            </a:p>
          </p:txBody>
        </p:sp>
        <p:sp>
          <p:nvSpPr>
            <p:cNvPr id="27" name="Line 27"/>
            <p:cNvSpPr/>
            <p:nvPr/>
          </p:nvSpPr>
          <p:spPr>
            <a:xfrm>
              <a:off x="6553200" y="2781300"/>
              <a:ext cx="5105400" cy="9525"/>
            </a:xfrm>
            <a:custGeom>
              <a:avLst/>
              <a:gdLst/>
              <a:ahLst/>
              <a:cxnLst/>
              <a:rect l="l" t="t" r="r" b="b"/>
              <a:pathLst>
                <a:path w="5105400" h="9525">
                  <a:moveTo>
                    <a:pt x="0" y="0"/>
                  </a:moveTo>
                  <a:lnTo>
                    <a:pt x="5105400" y="0"/>
                  </a:lnTo>
                </a:path>
              </a:pathLst>
            </a:custGeom>
            <a:noFill/>
            <a:ln w="38100">
              <a:solidFill>
                <a:srgbClr val="C58B2B"/>
              </a:solidFill>
            </a:ln>
          </p:spPr>
        </p:sp>
        <p:sp>
          <p:nvSpPr>
            <p:cNvPr id="28" name="Ellipse 28"/>
            <p:cNvSpPr/>
            <p:nvPr/>
          </p:nvSpPr>
          <p:spPr>
            <a:xfrm>
              <a:off x="6648450" y="3143250"/>
              <a:ext cx="114300" cy="114300"/>
            </a:xfrm>
            <a:prstGeom prst="ellipse">
              <a:avLst/>
            </a:prstGeom>
            <a:solidFill>
              <a:srgbClr val="C58B2B"/>
            </a:solidFill>
            <a:ln>
              <a:noFill/>
            </a:ln>
          </p:spPr>
        </p:sp>
        <p:sp>
          <p:nvSpPr>
            <p:cNvPr id="29" name="TextBox 29"/>
            <p:cNvSpPr txBox="1"/>
            <p:nvPr/>
          </p:nvSpPr>
          <p:spPr>
            <a:xfrm>
              <a:off x="6925056" y="3082290"/>
              <a:ext cx="4400550"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PostgreSQL / API 重启、多实例一致性</a:t>
              </a:r>
            </a:p>
          </p:txBody>
        </p:sp>
        <p:sp>
          <p:nvSpPr>
            <p:cNvPr id="30" name="Ellipse 30"/>
            <p:cNvSpPr/>
            <p:nvPr/>
          </p:nvSpPr>
          <p:spPr>
            <a:xfrm>
              <a:off x="6648450" y="3676650"/>
              <a:ext cx="114300" cy="114300"/>
            </a:xfrm>
            <a:prstGeom prst="ellipse">
              <a:avLst/>
            </a:prstGeom>
            <a:solidFill>
              <a:srgbClr val="C58B2B"/>
            </a:solidFill>
            <a:ln>
              <a:noFill/>
            </a:ln>
          </p:spPr>
        </p:sp>
        <p:sp>
          <p:nvSpPr>
            <p:cNvPr id="31" name="TextBox 31"/>
            <p:cNvSpPr txBox="1"/>
            <p:nvPr/>
          </p:nvSpPr>
          <p:spPr>
            <a:xfrm>
              <a:off x="6925056" y="3615690"/>
              <a:ext cx="4242816"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SSE 断线/缺口、提交后响应丢失恢复</a:t>
              </a:r>
            </a:p>
          </p:txBody>
        </p:sp>
        <p:sp>
          <p:nvSpPr>
            <p:cNvPr id="32" name="Ellipse 32"/>
            <p:cNvSpPr/>
            <p:nvPr/>
          </p:nvSpPr>
          <p:spPr>
            <a:xfrm>
              <a:off x="6648450" y="4210050"/>
              <a:ext cx="114300" cy="114300"/>
            </a:xfrm>
            <a:prstGeom prst="ellipse">
              <a:avLst/>
            </a:prstGeom>
            <a:solidFill>
              <a:srgbClr val="C58B2B"/>
            </a:solidFill>
            <a:ln>
              <a:noFill/>
            </a:ln>
          </p:spPr>
        </p:sp>
        <p:sp>
          <p:nvSpPr>
            <p:cNvPr id="33" name="TextBox 33"/>
            <p:cNvSpPr txBox="1"/>
            <p:nvPr/>
          </p:nvSpPr>
          <p:spPr>
            <a:xfrm>
              <a:off x="6925056" y="4149090"/>
              <a:ext cx="4540796"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真实 LLM/Connector、通用脱敏与 RBAC</a:t>
              </a:r>
            </a:p>
          </p:txBody>
        </p:sp>
        <p:sp>
          <p:nvSpPr>
            <p:cNvPr id="34" name="Ellipse 34"/>
            <p:cNvSpPr/>
            <p:nvPr/>
          </p:nvSpPr>
          <p:spPr>
            <a:xfrm>
              <a:off x="6648450" y="4743450"/>
              <a:ext cx="114300" cy="114300"/>
            </a:xfrm>
            <a:prstGeom prst="ellipse">
              <a:avLst/>
            </a:prstGeom>
            <a:solidFill>
              <a:srgbClr val="C58B2B"/>
            </a:solidFill>
            <a:ln>
              <a:noFill/>
            </a:ln>
          </p:spPr>
        </p:sp>
        <p:sp>
          <p:nvSpPr>
            <p:cNvPr id="35" name="TextBox 35"/>
            <p:cNvSpPr txBox="1"/>
            <p:nvPr/>
          </p:nvSpPr>
          <p:spPr>
            <a:xfrm>
              <a:off x="6925056" y="4682490"/>
              <a:ext cx="4574025"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Artifact → Action 失效、人工编辑新版本</a:t>
              </a:r>
            </a:p>
          </p:txBody>
        </p:sp>
      </p:grpSp>
      <p:grpSp>
        <p:nvGrpSpPr>
          <p:cNvPr id="46" name="Group 46"/>
          <p:cNvGrpSpPr/>
          <p:nvPr/>
        </p:nvGrpSpPr>
        <p:grpSpPr>
          <a:xfrm>
            <a:off x="533400" y="5467350"/>
            <a:ext cx="11125200" cy="685800"/>
            <a:chOff x="533400" y="5467350"/>
            <a:chExt cx="11125200" cy="685800"/>
          </a:xfrm>
        </p:grpSpPr>
        <p:sp>
          <p:nvSpPr>
            <p:cNvPr id="37" name="Rectangle 37"/>
            <p:cNvSpPr/>
            <p:nvPr/>
          </p:nvSpPr>
          <p:spPr>
            <a:xfrm>
              <a:off x="533400" y="5467350"/>
              <a:ext cx="11125200" cy="685800"/>
            </a:xfrm>
            <a:prstGeom prst="rect">
              <a:avLst/>
            </a:prstGeom>
            <a:solidFill>
              <a:srgbClr val="EEF3F0"/>
            </a:solidFill>
            <a:ln>
              <a:noFill/>
            </a:ln>
          </p:spPr>
        </p:sp>
        <p:sp>
          <p:nvSpPr>
            <p:cNvPr id="38" name="Rectangle 38"/>
            <p:cNvSpPr/>
            <p:nvPr/>
          </p:nvSpPr>
          <p:spPr>
            <a:xfrm>
              <a:off x="533400" y="5467350"/>
              <a:ext cx="76200" cy="685800"/>
            </a:xfrm>
            <a:prstGeom prst="rect">
              <a:avLst/>
            </a:prstGeom>
            <a:solidFill>
              <a:srgbClr val="B34B3E"/>
            </a:solidFill>
            <a:ln>
              <a:noFill/>
            </a:ln>
          </p:spPr>
        </p:sp>
        <p:grpSp>
          <p:nvGrpSpPr>
            <p:cNvPr id="43" name="Group 43"/>
            <p:cNvGrpSpPr/>
            <p:nvPr/>
          </p:nvGrpSpPr>
          <p:grpSpPr>
            <a:xfrm>
              <a:off x="800100" y="5660231"/>
              <a:ext cx="342900" cy="300038"/>
              <a:chOff x="800100" y="5660231"/>
              <a:chExt cx="342900" cy="300038"/>
            </a:xfrm>
          </p:grpSpPr>
          <p:sp>
            <p:nvSpPr>
              <p:cNvPr id="39" name="Freeform 39"/>
              <p:cNvSpPr/>
              <p:nvPr/>
            </p:nvSpPr>
            <p:spPr>
              <a:xfrm>
                <a:off x="864394" y="5660231"/>
                <a:ext cx="107156" cy="107156"/>
              </a:xfrm>
              <a:custGeom>
                <a:avLst/>
                <a:gdLst/>
                <a:ahLst/>
                <a:cxnLst/>
                <a:rect l="l" t="t" r="r" b="b"/>
                <a:pathLst>
                  <a:path w="107156" h="107156">
                    <a:moveTo>
                      <a:pt x="107156" y="53578"/>
                    </a:moveTo>
                    <a:cubicBezTo>
                      <a:pt x="107156" y="83168"/>
                      <a:pt x="83168" y="107156"/>
                      <a:pt x="53578" y="107156"/>
                    </a:cubicBezTo>
                    <a:cubicBezTo>
                      <a:pt x="23988" y="107156"/>
                      <a:pt x="0" y="83168"/>
                      <a:pt x="0" y="53578"/>
                    </a:cubicBezTo>
                    <a:cubicBezTo>
                      <a:pt x="0" y="23988"/>
                      <a:pt x="23988" y="0"/>
                      <a:pt x="53578" y="0"/>
                    </a:cubicBezTo>
                    <a:cubicBezTo>
                      <a:pt x="83168" y="0"/>
                      <a:pt x="107156" y="23988"/>
                      <a:pt x="107156" y="53578"/>
                    </a:cubicBezTo>
                    <a:close/>
                  </a:path>
                </a:pathLst>
              </a:custGeom>
              <a:solidFill>
                <a:srgbClr val="B34B3E"/>
              </a:solidFill>
              <a:ln>
                <a:noFill/>
              </a:ln>
            </p:spPr>
          </p:sp>
          <p:sp>
            <p:nvSpPr>
              <p:cNvPr id="40" name="Freeform 40"/>
              <p:cNvSpPr/>
              <p:nvPr/>
            </p:nvSpPr>
            <p:spPr>
              <a:xfrm>
                <a:off x="800100" y="5810250"/>
                <a:ext cx="171450" cy="150019"/>
              </a:xfrm>
              <a:custGeom>
                <a:avLst/>
                <a:gdLst/>
                <a:ahLst/>
                <a:cxnLst/>
                <a:rect l="l" t="t" r="r" b="b"/>
                <a:pathLst>
                  <a:path w="171450" h="150019">
                    <a:moveTo>
                      <a:pt x="64294" y="0"/>
                    </a:moveTo>
                    <a:cubicBezTo>
                      <a:pt x="28785" y="0"/>
                      <a:pt x="0" y="28785"/>
                      <a:pt x="0" y="64294"/>
                    </a:cubicBezTo>
                    <a:lnTo>
                      <a:pt x="0" y="150019"/>
                    </a:lnTo>
                    <a:lnTo>
                      <a:pt x="171450" y="150019"/>
                    </a:lnTo>
                    <a:lnTo>
                      <a:pt x="171450" y="0"/>
                    </a:lnTo>
                    <a:lnTo>
                      <a:pt x="64294" y="0"/>
                    </a:lnTo>
                    <a:close/>
                  </a:path>
                </a:pathLst>
              </a:custGeom>
              <a:solidFill>
                <a:srgbClr val="B34B3E"/>
              </a:solidFill>
              <a:ln>
                <a:noFill/>
              </a:ln>
            </p:spPr>
          </p:sp>
          <p:sp>
            <p:nvSpPr>
              <p:cNvPr id="41" name="Freeform 41"/>
              <p:cNvSpPr/>
              <p:nvPr/>
            </p:nvSpPr>
            <p:spPr>
              <a:xfrm>
                <a:off x="1014412" y="5810250"/>
                <a:ext cx="128588" cy="150019"/>
              </a:xfrm>
              <a:custGeom>
                <a:avLst/>
                <a:gdLst/>
                <a:ahLst/>
                <a:cxnLst/>
                <a:rect l="l" t="t" r="r" b="b"/>
                <a:pathLst>
                  <a:path w="128588" h="150019">
                    <a:moveTo>
                      <a:pt x="64294" y="0"/>
                    </a:moveTo>
                    <a:lnTo>
                      <a:pt x="0" y="0"/>
                    </a:lnTo>
                    <a:lnTo>
                      <a:pt x="0" y="150019"/>
                    </a:lnTo>
                    <a:lnTo>
                      <a:pt x="128588" y="150019"/>
                    </a:lnTo>
                    <a:lnTo>
                      <a:pt x="128588" y="64294"/>
                    </a:lnTo>
                    <a:cubicBezTo>
                      <a:pt x="128588" y="28785"/>
                      <a:pt x="99803" y="0"/>
                      <a:pt x="64294" y="0"/>
                    </a:cubicBezTo>
                    <a:close/>
                  </a:path>
                </a:pathLst>
              </a:custGeom>
              <a:solidFill>
                <a:srgbClr val="B34B3E"/>
              </a:solidFill>
              <a:ln>
                <a:noFill/>
              </a:ln>
            </p:spPr>
          </p:sp>
          <p:sp>
            <p:nvSpPr>
              <p:cNvPr id="42" name="Freeform 42"/>
              <p:cNvSpPr/>
              <p:nvPr/>
            </p:nvSpPr>
            <p:spPr>
              <a:xfrm>
                <a:off x="1014412" y="5681662"/>
                <a:ext cx="85725" cy="85725"/>
              </a:xfrm>
              <a:custGeom>
                <a:avLst/>
                <a:gdLst/>
                <a:ahLst/>
                <a:cxnLst/>
                <a:rect l="l" t="t" r="r" b="b"/>
                <a:pathLst>
                  <a:path w="85725" h="85725">
                    <a:moveTo>
                      <a:pt x="42862" y="85725"/>
                    </a:moveTo>
                    <a:cubicBezTo>
                      <a:pt x="66535" y="85725"/>
                      <a:pt x="85725" y="66535"/>
                      <a:pt x="85725" y="42862"/>
                    </a:cubicBezTo>
                    <a:cubicBezTo>
                      <a:pt x="85725" y="19190"/>
                      <a:pt x="66535" y="0"/>
                      <a:pt x="42862" y="0"/>
                    </a:cubicBezTo>
                    <a:cubicBezTo>
                      <a:pt x="19190" y="0"/>
                      <a:pt x="0" y="19190"/>
                      <a:pt x="0" y="42862"/>
                    </a:cubicBezTo>
                    <a:cubicBezTo>
                      <a:pt x="0" y="66535"/>
                      <a:pt x="19190" y="85725"/>
                      <a:pt x="42862" y="85725"/>
                    </a:cubicBezTo>
                    <a:close/>
                  </a:path>
                </a:pathLst>
              </a:custGeom>
              <a:solidFill>
                <a:srgbClr val="B34B3E"/>
              </a:solidFill>
              <a:ln>
                <a:noFill/>
              </a:ln>
            </p:spPr>
          </p:sp>
        </p:grpSp>
        <p:sp>
          <p:nvSpPr>
            <p:cNvPr id="44" name="TextBox 44"/>
            <p:cNvSpPr txBox="1"/>
            <p:nvPr/>
          </p:nvSpPr>
          <p:spPr>
            <a:xfrm>
              <a:off x="1324356" y="5634990"/>
              <a:ext cx="4155558" cy="352044"/>
            </a:xfrm>
            <a:prstGeom prst="rect">
              <a:avLst/>
            </a:prstGeom>
            <a:noFill/>
            <a:ln>
              <a:noFill/>
            </a:ln>
          </p:spPr>
          <p:txBody>
            <a:bodyPr wrap="none" lIns="0" tIns="0" rIns="0" bIns="0" anchor="t" anchorCtr="0">
              <a:spAutoFit/>
            </a:bodyPr>
            <a:lstStyle/>
            <a:p>
              <a:pPr algn="l"/>
              <a:r>
                <a:rPr lang="en-US" sz="1800" b="1" dirty="0">
                  <a:solidFill>
                    <a:srgbClr val="B34B3E"/>
                  </a:solidFill>
                  <a:latin typeface="Consolas"/>
                  <a:ea typeface="Consolas"/>
                  <a:cs typeface="Consolas"/>
                </a:rPr>
                <a:t>H-001 → H-004 = Draft hypothesis</a:t>
              </a:r>
            </a:p>
          </p:txBody>
        </p:sp>
        <p:sp>
          <p:nvSpPr>
            <p:cNvPr id="45" name="TextBox 45"/>
            <p:cNvSpPr txBox="1"/>
            <p:nvPr/>
          </p:nvSpPr>
          <p:spPr>
            <a:xfrm>
              <a:off x="6077788" y="5634990"/>
              <a:ext cx="5361356" cy="352044"/>
            </a:xfrm>
            <a:prstGeom prst="rect">
              <a:avLst/>
            </a:prstGeom>
            <a:noFill/>
            <a:ln>
              <a:noFill/>
            </a:ln>
          </p:spPr>
          <p:txBody>
            <a:bodyPr wrap="none" lIns="0" tIns="0" rIns="0" bIns="0" anchor="t" anchorCtr="0">
              <a:spAutoFit/>
            </a:bodyPr>
            <a:lstStyle/>
            <a:p>
              <a:pPr algn="r"/>
              <a:r>
                <a:rPr lang="zh-CN" sz="1800" b="1" dirty="0">
                  <a:solidFill>
                    <a:srgbClr val="202824"/>
                  </a:solidFill>
                  <a:latin typeface="Segoe UI"/>
                  <a:ea typeface="Microsoft YaHei UI"/>
                  <a:cs typeface="Segoe UI"/>
                </a:rPr>
                <a:t>功能正确性不能自动等于理解、等待或接管收益</a:t>
              </a:r>
            </a:p>
          </p:txBody>
        </p:sp>
      </p:grpSp>
      <p:grpSp>
        <p:nvGrpSpPr>
          <p:cNvPr id="49" name="Group 49"/>
          <p:cNvGrpSpPr/>
          <p:nvPr/>
        </p:nvGrpSpPr>
        <p:grpSpPr>
          <a:xfrm>
            <a:off x="528066" y="6439852"/>
            <a:ext cx="11135868" cy="205359"/>
            <a:chOff x="528066" y="6439852"/>
            <a:chExt cx="11135868" cy="205359"/>
          </a:xfrm>
        </p:grpSpPr>
        <p:sp>
          <p:nvSpPr>
            <p:cNvPr id="47" name="TextBox 47"/>
            <p:cNvSpPr txBox="1"/>
            <p:nvPr/>
          </p:nvSpPr>
          <p:spPr>
            <a:xfrm>
              <a:off x="528066" y="6439852"/>
              <a:ext cx="4473559" cy="205359"/>
            </a:xfrm>
            <a:prstGeom prst="rect">
              <a:avLst/>
            </a:prstGeom>
            <a:noFill/>
            <a:ln>
              <a:noFill/>
            </a:ln>
          </p:spPr>
          <p:txBody>
            <a:bodyPr wrap="none" lIns="0" tIns="0" rIns="0" bIns="0" anchor="t" anchorCtr="0">
              <a:spAutoFit/>
            </a:bodyPr>
            <a:lstStyle/>
            <a:p>
              <a:pPr algn="l"/>
              <a:r>
                <a:rPr lang="en-US" sz="1050" dirty="0">
                  <a:solidFill>
                    <a:srgbClr val="74817B"/>
                  </a:solidFill>
                  <a:latin typeface="Segoe UI"/>
                  <a:ea typeface="Segoe UI"/>
                  <a:cs typeface="Segoe UI"/>
                </a:rPr>
                <a:t>Source: DR-0002 §4-6 · DEMO1-PR4 §4-5 · SCENARIO-001 §2/§7</a:t>
              </a:r>
            </a:p>
          </p:txBody>
        </p:sp>
        <p:sp>
          <p:nvSpPr>
            <p:cNvPr id="48" name="TextBox 48"/>
            <p:cNvSpPr txBox="1"/>
            <p:nvPr/>
          </p:nvSpPr>
          <p:spPr>
            <a:xfrm>
              <a:off x="11179740" y="6439852"/>
              <a:ext cx="484194" cy="205359"/>
            </a:xfrm>
            <a:prstGeom prst="rect">
              <a:avLst/>
            </a:prstGeom>
            <a:noFill/>
            <a:ln>
              <a:noFill/>
            </a:ln>
          </p:spPr>
          <p:txBody>
            <a:bodyPr wrap="none" lIns="0" tIns="0" rIns="0" bIns="0" anchor="t" anchorCtr="0">
              <a:spAutoFit/>
            </a:bodyPr>
            <a:lstStyle/>
            <a:p>
              <a:pPr algn="r"/>
              <a:r>
                <a:rPr lang="en-US" sz="1050" dirty="0">
                  <a:solidFill>
                    <a:srgbClr val="14865F"/>
                  </a:solidFill>
                  <a:latin typeface="Consolas"/>
                  <a:ea typeface="Consolas"/>
                  <a:cs typeface="Consolas"/>
                </a:rPr>
                <a:t>10 / 11</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8"/>
          </a:solidFill>
          <a:ln>
            <a:noFill/>
          </a:ln>
        </p:spPr>
      </p:sp>
      <p:grpSp>
        <p:nvGrpSpPr>
          <p:cNvPr id="6" name="Group 6"/>
          <p:cNvGrpSpPr/>
          <p:nvPr/>
        </p:nvGrpSpPr>
        <p:grpSpPr>
          <a:xfrm>
            <a:off x="533400" y="400050"/>
            <a:ext cx="11130534" cy="670179"/>
            <a:chOff x="533400" y="400050"/>
            <a:chExt cx="11130534" cy="670179"/>
          </a:xfrm>
        </p:grpSpPr>
        <p:sp>
          <p:nvSpPr>
            <p:cNvPr id="3" name="Rectangle 3"/>
            <p:cNvSpPr/>
            <p:nvPr/>
          </p:nvSpPr>
          <p:spPr>
            <a:xfrm>
              <a:off x="533400" y="400050"/>
              <a:ext cx="57150" cy="495300"/>
            </a:xfrm>
            <a:prstGeom prst="rect">
              <a:avLst/>
            </a:prstGeom>
            <a:solidFill>
              <a:srgbClr val="14865F"/>
            </a:solidFill>
            <a:ln>
              <a:noFill/>
            </a:ln>
          </p:spPr>
        </p:sp>
        <p:sp>
          <p:nvSpPr>
            <p:cNvPr id="4" name="TextBox 4"/>
            <p:cNvSpPr txBox="1"/>
            <p:nvPr/>
          </p:nvSpPr>
          <p:spPr>
            <a:xfrm>
              <a:off x="745236" y="424815"/>
              <a:ext cx="9595043" cy="645414"/>
            </a:xfrm>
            <a:prstGeom prst="rect">
              <a:avLst/>
            </a:prstGeom>
            <a:noFill/>
            <a:ln>
              <a:noFill/>
            </a:ln>
          </p:spPr>
          <p:txBody>
            <a:bodyPr wrap="none" lIns="0" tIns="0" rIns="0" bIns="0" anchor="t" anchorCtr="0">
              <a:spAutoFit/>
            </a:bodyPr>
            <a:lstStyle/>
            <a:p>
              <a:pPr algn="l"/>
              <a:r>
                <a:rPr lang="zh-CN" sz="3300" b="1" dirty="0">
                  <a:solidFill>
                    <a:srgbClr val="1C2A24"/>
                  </a:solidFill>
                  <a:latin typeface="Segoe UI"/>
                  <a:ea typeface="Microsoft YaHei UI"/>
                  <a:cs typeface="Segoe UI"/>
                </a:rPr>
                <a:t>下一轮：四个连续 PR，把剩余假设变成证据</a:t>
              </a:r>
            </a:p>
          </p:txBody>
        </p:sp>
        <p:sp>
          <p:nvSpPr>
            <p:cNvPr id="5" name="TextBox 5"/>
            <p:cNvSpPr txBox="1"/>
            <p:nvPr/>
          </p:nvSpPr>
          <p:spPr>
            <a:xfrm>
              <a:off x="9838639" y="629602"/>
              <a:ext cx="1825295" cy="205359"/>
            </a:xfrm>
            <a:prstGeom prst="rect">
              <a:avLst/>
            </a:prstGeom>
            <a:noFill/>
            <a:ln>
              <a:noFill/>
            </a:ln>
          </p:spPr>
          <p:txBody>
            <a:bodyPr wrap="none" lIns="0" tIns="0" rIns="0" bIns="0" anchor="t" anchorCtr="0">
              <a:spAutoFit/>
            </a:bodyPr>
            <a:lstStyle/>
            <a:p>
              <a:pPr algn="r"/>
              <a:r>
                <a:rPr lang="en-US" sz="1050" dirty="0">
                  <a:solidFill>
                    <a:srgbClr val="74817B"/>
                  </a:solidFill>
                  <a:latin typeface="Consolas"/>
                  <a:ea typeface="Consolas"/>
                  <a:cs typeface="Consolas"/>
                </a:rPr>
                <a:t>PROPOSED ROADMAP · P11</a:t>
              </a:r>
            </a:p>
          </p:txBody>
        </p:sp>
      </p:grpSp>
      <p:grpSp>
        <p:nvGrpSpPr>
          <p:cNvPr id="9" name="Group 9"/>
          <p:cNvGrpSpPr/>
          <p:nvPr/>
        </p:nvGrpSpPr>
        <p:grpSpPr>
          <a:xfrm>
            <a:off x="522732" y="1068705"/>
            <a:ext cx="12290069" cy="521970"/>
            <a:chOff x="522732" y="1068705"/>
            <a:chExt cx="12290069" cy="521970"/>
          </a:xfrm>
        </p:grpSpPr>
        <p:sp>
          <p:nvSpPr>
            <p:cNvPr id="7" name="TextBox 7"/>
            <p:cNvSpPr txBox="1"/>
            <p:nvPr/>
          </p:nvSpPr>
          <p:spPr>
            <a:xfrm>
              <a:off x="522732" y="1068705"/>
              <a:ext cx="12290069" cy="410718"/>
            </a:xfrm>
            <a:prstGeom prst="rect">
              <a:avLst/>
            </a:prstGeom>
            <a:noFill/>
            <a:ln>
              <a:noFill/>
            </a:ln>
          </p:spPr>
          <p:txBody>
            <a:bodyPr wrap="none" lIns="0" tIns="0" rIns="0" bIns="0" anchor="t" anchorCtr="0">
              <a:spAutoFit/>
            </a:bodyPr>
            <a:lstStyle/>
            <a:p>
              <a:pPr algn="l"/>
              <a:r>
                <a:rPr lang="zh-CN" sz="2100" b="1" dirty="0">
                  <a:solidFill>
                    <a:srgbClr val="202824"/>
                  </a:solidFill>
                  <a:latin typeface="Segoe UI"/>
                  <a:ea typeface="Microsoft YaHei UI"/>
                  <a:cs typeface="Segoe UI"/>
                </a:rPr>
                <a:t>不扩概念面，按恢复风险与用户价值顺序补齐四类证据，再进入真实 Connector 与 Swarm。</a:t>
              </a:r>
            </a:p>
          </p:txBody>
        </p:sp>
        <p:sp>
          <p:nvSpPr>
            <p:cNvPr id="8" name="Line 8"/>
            <p:cNvSpPr/>
            <p:nvPr/>
          </p:nvSpPr>
          <p:spPr>
            <a:xfrm>
              <a:off x="533400" y="1581150"/>
              <a:ext cx="11125200" cy="9525"/>
            </a:xfrm>
            <a:custGeom>
              <a:avLst/>
              <a:gdLst/>
              <a:ahLst/>
              <a:cxnLst/>
              <a:rect l="l" t="t" r="r" b="b"/>
              <a:pathLst>
                <a:path w="11125200" h="9525">
                  <a:moveTo>
                    <a:pt x="0" y="0"/>
                  </a:moveTo>
                  <a:lnTo>
                    <a:pt x="11125200" y="0"/>
                  </a:lnTo>
                </a:path>
              </a:pathLst>
            </a:custGeom>
            <a:noFill/>
            <a:ln w="9525">
              <a:solidFill>
                <a:srgbClr val="CDD8D2"/>
              </a:solidFill>
            </a:ln>
          </p:spPr>
        </p:sp>
      </p:grpSp>
      <p:grpSp>
        <p:nvGrpSpPr>
          <p:cNvPr id="11" name="Group 11"/>
          <p:cNvGrpSpPr/>
          <p:nvPr/>
        </p:nvGrpSpPr>
        <p:grpSpPr>
          <a:xfrm>
            <a:off x="990600" y="2076450"/>
            <a:ext cx="9525" cy="3238500"/>
            <a:chOff x="990600" y="2076450"/>
            <a:chExt cx="9525" cy="3238500"/>
          </a:xfrm>
        </p:grpSpPr>
        <p:sp>
          <p:nvSpPr>
            <p:cNvPr id="10" name="Line 10"/>
            <p:cNvSpPr/>
            <p:nvPr/>
          </p:nvSpPr>
          <p:spPr>
            <a:xfrm>
              <a:off x="990600" y="2076450"/>
              <a:ext cx="9525" cy="3238500"/>
            </a:xfrm>
            <a:custGeom>
              <a:avLst/>
              <a:gdLst/>
              <a:ahLst/>
              <a:cxnLst/>
              <a:rect l="l" t="t" r="r" b="b"/>
              <a:pathLst>
                <a:path w="9525" h="3238500">
                  <a:moveTo>
                    <a:pt x="0" y="0"/>
                  </a:moveTo>
                  <a:lnTo>
                    <a:pt x="0" y="3238500"/>
                  </a:lnTo>
                </a:path>
              </a:pathLst>
            </a:custGeom>
            <a:noFill/>
            <a:ln w="38100">
              <a:solidFill>
                <a:srgbClr val="CDD8D2"/>
              </a:solidFill>
            </a:ln>
          </p:spPr>
        </p:sp>
      </p:grpSp>
      <p:grpSp>
        <p:nvGrpSpPr>
          <p:cNvPr id="20" name="Group 20"/>
          <p:cNvGrpSpPr/>
          <p:nvPr/>
        </p:nvGrpSpPr>
        <p:grpSpPr>
          <a:xfrm>
            <a:off x="762000" y="2038350"/>
            <a:ext cx="6201567" cy="899351"/>
            <a:chOff x="762000" y="2038350"/>
            <a:chExt cx="6201567" cy="899351"/>
          </a:xfrm>
        </p:grpSpPr>
        <p:sp>
          <p:nvSpPr>
            <p:cNvPr id="12" name="Ellipse 12"/>
            <p:cNvSpPr/>
            <p:nvPr/>
          </p:nvSpPr>
          <p:spPr>
            <a:xfrm>
              <a:off x="762000" y="2038350"/>
              <a:ext cx="457200" cy="457200"/>
            </a:xfrm>
            <a:prstGeom prst="ellipse">
              <a:avLst/>
            </a:prstGeom>
            <a:solidFill>
              <a:srgbClr val="14865F"/>
            </a:solidFill>
            <a:ln>
              <a:noFill/>
            </a:ln>
          </p:spPr>
        </p:sp>
        <p:grpSp>
          <p:nvGrpSpPr>
            <p:cNvPr id="16" name="Group 16"/>
            <p:cNvGrpSpPr/>
            <p:nvPr/>
          </p:nvGrpSpPr>
          <p:grpSpPr>
            <a:xfrm>
              <a:off x="876300" y="2114550"/>
              <a:ext cx="228600" cy="304800"/>
              <a:chOff x="876300" y="2114550"/>
              <a:chExt cx="228600" cy="304800"/>
            </a:xfrm>
          </p:grpSpPr>
          <p:sp>
            <p:nvSpPr>
              <p:cNvPr id="13" name="Freeform 13"/>
              <p:cNvSpPr/>
              <p:nvPr/>
            </p:nvSpPr>
            <p:spPr>
              <a:xfrm>
                <a:off x="876300" y="2236470"/>
                <a:ext cx="228600" cy="87630"/>
              </a:xfrm>
              <a:custGeom>
                <a:avLst/>
                <a:gdLst/>
                <a:ahLst/>
                <a:cxnLst/>
                <a:rect l="l" t="t" r="r" b="b"/>
                <a:pathLst>
                  <a:path w="228600" h="87630">
                    <a:moveTo>
                      <a:pt x="212162" y="9719"/>
                    </a:moveTo>
                    <a:cubicBezTo>
                      <a:pt x="217521" y="7039"/>
                      <a:pt x="223119" y="3806"/>
                      <a:pt x="228600" y="0"/>
                    </a:cubicBezTo>
                    <a:lnTo>
                      <a:pt x="228600" y="30480"/>
                    </a:lnTo>
                    <a:cubicBezTo>
                      <a:pt x="228600" y="62043"/>
                      <a:pt x="177426" y="87630"/>
                      <a:pt x="114300" y="87630"/>
                    </a:cubicBezTo>
                    <a:cubicBezTo>
                      <a:pt x="51174" y="87630"/>
                      <a:pt x="0" y="62043"/>
                      <a:pt x="0" y="30480"/>
                    </a:cubicBezTo>
                    <a:lnTo>
                      <a:pt x="0" y="0"/>
                    </a:lnTo>
                    <a:cubicBezTo>
                      <a:pt x="5481" y="3806"/>
                      <a:pt x="11079" y="7039"/>
                      <a:pt x="16439" y="9719"/>
                    </a:cubicBezTo>
                    <a:cubicBezTo>
                      <a:pt x="43452" y="23225"/>
                      <a:pt x="78105" y="30480"/>
                      <a:pt x="114300" y="30480"/>
                    </a:cubicBezTo>
                    <a:cubicBezTo>
                      <a:pt x="150495" y="30480"/>
                      <a:pt x="185147" y="23225"/>
                      <a:pt x="212162" y="9719"/>
                    </a:cubicBezTo>
                    <a:close/>
                  </a:path>
                </a:pathLst>
              </a:custGeom>
              <a:solidFill>
                <a:srgbClr val="FFFFFF"/>
              </a:solidFill>
              <a:ln>
                <a:noFill/>
              </a:ln>
            </p:spPr>
          </p:sp>
          <p:sp>
            <p:nvSpPr>
              <p:cNvPr id="14" name="Freeform 14"/>
              <p:cNvSpPr/>
              <p:nvPr/>
            </p:nvSpPr>
            <p:spPr>
              <a:xfrm>
                <a:off x="876300" y="2331720"/>
                <a:ext cx="228600" cy="87630"/>
              </a:xfrm>
              <a:custGeom>
                <a:avLst/>
                <a:gdLst/>
                <a:ahLst/>
                <a:cxnLst/>
                <a:rect l="l" t="t" r="r" b="b"/>
                <a:pathLst>
                  <a:path w="228600" h="87630">
                    <a:moveTo>
                      <a:pt x="0" y="0"/>
                    </a:moveTo>
                    <a:lnTo>
                      <a:pt x="0" y="30480"/>
                    </a:lnTo>
                    <a:cubicBezTo>
                      <a:pt x="0" y="62044"/>
                      <a:pt x="51174" y="87630"/>
                      <a:pt x="114300" y="87630"/>
                    </a:cubicBezTo>
                    <a:cubicBezTo>
                      <a:pt x="177426" y="87630"/>
                      <a:pt x="228600" y="62044"/>
                      <a:pt x="228600" y="30480"/>
                    </a:cubicBezTo>
                    <a:lnTo>
                      <a:pt x="228600" y="0"/>
                    </a:lnTo>
                    <a:cubicBezTo>
                      <a:pt x="223119" y="3806"/>
                      <a:pt x="217521" y="7039"/>
                      <a:pt x="212162" y="9719"/>
                    </a:cubicBezTo>
                    <a:cubicBezTo>
                      <a:pt x="185147" y="23226"/>
                      <a:pt x="150495" y="30480"/>
                      <a:pt x="114300" y="30480"/>
                    </a:cubicBezTo>
                    <a:cubicBezTo>
                      <a:pt x="78105" y="30480"/>
                      <a:pt x="43452" y="23226"/>
                      <a:pt x="16439" y="9719"/>
                    </a:cubicBezTo>
                    <a:cubicBezTo>
                      <a:pt x="11079" y="7039"/>
                      <a:pt x="5481" y="3806"/>
                      <a:pt x="0" y="0"/>
                    </a:cubicBezTo>
                    <a:close/>
                  </a:path>
                </a:pathLst>
              </a:custGeom>
              <a:solidFill>
                <a:srgbClr val="FFFFFF"/>
              </a:solidFill>
              <a:ln>
                <a:noFill/>
              </a:ln>
            </p:spPr>
          </p:sp>
          <p:sp>
            <p:nvSpPr>
              <p:cNvPr id="15" name="Freeform 15"/>
              <p:cNvSpPr/>
              <p:nvPr/>
            </p:nvSpPr>
            <p:spPr>
              <a:xfrm>
                <a:off x="876300" y="2114550"/>
                <a:ext cx="228600" cy="114300"/>
              </a:xfrm>
              <a:custGeom>
                <a:avLst/>
                <a:gdLst/>
                <a:ahLst/>
                <a:cxnLst/>
                <a:rect l="l" t="t" r="r" b="b"/>
                <a:pathLst>
                  <a:path w="228600" h="114300">
                    <a:moveTo>
                      <a:pt x="114300" y="0"/>
                    </a:moveTo>
                    <a:cubicBezTo>
                      <a:pt x="177426" y="0"/>
                      <a:pt x="228600" y="25587"/>
                      <a:pt x="228600" y="57150"/>
                    </a:cubicBezTo>
                    <a:cubicBezTo>
                      <a:pt x="228600" y="88713"/>
                      <a:pt x="177426" y="114300"/>
                      <a:pt x="114300" y="114300"/>
                    </a:cubicBezTo>
                    <a:cubicBezTo>
                      <a:pt x="51174" y="114300"/>
                      <a:pt x="0" y="88713"/>
                      <a:pt x="0" y="57150"/>
                    </a:cubicBezTo>
                    <a:cubicBezTo>
                      <a:pt x="0" y="25587"/>
                      <a:pt x="51174" y="0"/>
                      <a:pt x="114300" y="0"/>
                    </a:cubicBezTo>
                    <a:close/>
                  </a:path>
                </a:pathLst>
              </a:custGeom>
              <a:solidFill>
                <a:srgbClr val="FFFFFF"/>
              </a:solidFill>
              <a:ln>
                <a:noFill/>
              </a:ln>
            </p:spPr>
          </p:sp>
        </p:grpSp>
        <p:sp>
          <p:nvSpPr>
            <p:cNvPr id="17" name="TextBox 17"/>
            <p:cNvSpPr txBox="1"/>
            <p:nvPr/>
          </p:nvSpPr>
          <p:spPr>
            <a:xfrm>
              <a:off x="1440942" y="2045018"/>
              <a:ext cx="1606555" cy="264033"/>
            </a:xfrm>
            <a:prstGeom prst="rect">
              <a:avLst/>
            </a:prstGeom>
            <a:noFill/>
            <a:ln>
              <a:noFill/>
            </a:ln>
          </p:spPr>
          <p:txBody>
            <a:bodyPr wrap="none" lIns="0" tIns="0" rIns="0" bIns="0" anchor="t" anchorCtr="0">
              <a:spAutoFit/>
            </a:bodyPr>
            <a:lstStyle/>
            <a:p>
              <a:pPr algn="l"/>
              <a:r>
                <a:rPr lang="en-US" sz="1350" b="1" dirty="0">
                  <a:solidFill>
                    <a:srgbClr val="14865F"/>
                  </a:solidFill>
                  <a:latin typeface="Consolas"/>
                  <a:ea typeface="Consolas"/>
                  <a:cs typeface="Consolas"/>
                </a:rPr>
                <a:t>PR A · PROPOSED</a:t>
              </a:r>
            </a:p>
          </p:txBody>
        </p:sp>
        <p:sp>
          <p:nvSpPr>
            <p:cNvPr id="18" name="TextBox 18"/>
            <p:cNvSpPr txBox="1"/>
            <p:nvPr/>
          </p:nvSpPr>
          <p:spPr>
            <a:xfrm>
              <a:off x="1438656" y="2339340"/>
              <a:ext cx="3387386"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PostgreSQL 实跑 + API 重启</a:t>
              </a:r>
            </a:p>
          </p:txBody>
        </p:sp>
        <p:sp>
          <p:nvSpPr>
            <p:cNvPr id="19" name="TextBox 19"/>
            <p:cNvSpPr txBox="1"/>
            <p:nvPr/>
          </p:nvSpPr>
          <p:spPr>
            <a:xfrm>
              <a:off x="1440942" y="2673668"/>
              <a:ext cx="5522625"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对账 Task ID · version · sequence · Artifact head · state hash</a:t>
              </a:r>
            </a:p>
          </p:txBody>
        </p:sp>
      </p:grpSp>
      <p:grpSp>
        <p:nvGrpSpPr>
          <p:cNvPr id="28" name="Group 28"/>
          <p:cNvGrpSpPr/>
          <p:nvPr/>
        </p:nvGrpSpPr>
        <p:grpSpPr>
          <a:xfrm>
            <a:off x="762000" y="2952750"/>
            <a:ext cx="5881367" cy="899351"/>
            <a:chOff x="762000" y="2952750"/>
            <a:chExt cx="5881367" cy="899351"/>
          </a:xfrm>
        </p:grpSpPr>
        <p:sp>
          <p:nvSpPr>
            <p:cNvPr id="21" name="Ellipse 21"/>
            <p:cNvSpPr/>
            <p:nvPr/>
          </p:nvSpPr>
          <p:spPr>
            <a:xfrm>
              <a:off x="762000" y="2952750"/>
              <a:ext cx="457200" cy="457200"/>
            </a:xfrm>
            <a:prstGeom prst="ellipse">
              <a:avLst/>
            </a:prstGeom>
            <a:solidFill>
              <a:srgbClr val="1C2A24"/>
            </a:solidFill>
            <a:ln>
              <a:noFill/>
            </a:ln>
          </p:spPr>
        </p:sp>
        <p:grpSp>
          <p:nvGrpSpPr>
            <p:cNvPr id="24" name="Group 24"/>
            <p:cNvGrpSpPr/>
            <p:nvPr/>
          </p:nvGrpSpPr>
          <p:grpSpPr>
            <a:xfrm>
              <a:off x="838200" y="3028950"/>
              <a:ext cx="304800" cy="304800"/>
              <a:chOff x="838200" y="3028950"/>
              <a:chExt cx="304800" cy="304800"/>
            </a:xfrm>
          </p:grpSpPr>
          <p:sp>
            <p:nvSpPr>
              <p:cNvPr id="22" name="Freeform 22"/>
              <p:cNvSpPr/>
              <p:nvPr/>
            </p:nvSpPr>
            <p:spPr>
              <a:xfrm>
                <a:off x="838200" y="3028950"/>
                <a:ext cx="266700" cy="171450"/>
              </a:xfrm>
              <a:custGeom>
                <a:avLst/>
                <a:gdLst/>
                <a:ahLst/>
                <a:cxnLst/>
                <a:rect l="l" t="t" r="r" b="b"/>
                <a:pathLst>
                  <a:path w="266700" h="171450">
                    <a:moveTo>
                      <a:pt x="190500" y="152400"/>
                    </a:moveTo>
                    <a:lnTo>
                      <a:pt x="171450" y="152400"/>
                    </a:lnTo>
                    <a:lnTo>
                      <a:pt x="171450" y="91817"/>
                    </a:lnTo>
                    <a:lnTo>
                      <a:pt x="98246" y="77177"/>
                    </a:lnTo>
                    <a:cubicBezTo>
                      <a:pt x="94999" y="76527"/>
                      <a:pt x="91696" y="76200"/>
                      <a:pt x="88385" y="76200"/>
                    </a:cubicBezTo>
                    <a:cubicBezTo>
                      <a:pt x="60613" y="76200"/>
                      <a:pt x="38100" y="98713"/>
                      <a:pt x="38100" y="126485"/>
                    </a:cubicBezTo>
                    <a:lnTo>
                      <a:pt x="38100" y="171450"/>
                    </a:lnTo>
                    <a:lnTo>
                      <a:pt x="0" y="171450"/>
                    </a:lnTo>
                    <a:lnTo>
                      <a:pt x="0" y="126485"/>
                    </a:lnTo>
                    <a:cubicBezTo>
                      <a:pt x="0" y="77671"/>
                      <a:pt x="39571" y="38100"/>
                      <a:pt x="88385" y="38100"/>
                    </a:cubicBezTo>
                    <a:cubicBezTo>
                      <a:pt x="94205" y="38100"/>
                      <a:pt x="100011" y="38675"/>
                      <a:pt x="105718" y="39816"/>
                    </a:cubicBezTo>
                    <a:lnTo>
                      <a:pt x="171450" y="52963"/>
                    </a:lnTo>
                    <a:lnTo>
                      <a:pt x="171450" y="0"/>
                    </a:lnTo>
                    <a:lnTo>
                      <a:pt x="190500" y="0"/>
                    </a:lnTo>
                    <a:lnTo>
                      <a:pt x="266700" y="76200"/>
                    </a:lnTo>
                    <a:lnTo>
                      <a:pt x="190500" y="152400"/>
                    </a:lnTo>
                    <a:close/>
                  </a:path>
                </a:pathLst>
              </a:custGeom>
              <a:solidFill>
                <a:srgbClr val="FFFFFF"/>
              </a:solidFill>
              <a:ln>
                <a:noFill/>
              </a:ln>
            </p:spPr>
          </p:sp>
          <p:sp>
            <p:nvSpPr>
              <p:cNvPr id="23" name="Freeform 23"/>
              <p:cNvSpPr/>
              <p:nvPr/>
            </p:nvSpPr>
            <p:spPr>
              <a:xfrm>
                <a:off x="876300" y="3162300"/>
                <a:ext cx="266700" cy="171450"/>
              </a:xfrm>
              <a:custGeom>
                <a:avLst/>
                <a:gdLst/>
                <a:ahLst/>
                <a:cxnLst/>
                <a:rect l="l" t="t" r="r" b="b"/>
                <a:pathLst>
                  <a:path w="266700" h="171450">
                    <a:moveTo>
                      <a:pt x="266700" y="0"/>
                    </a:moveTo>
                    <a:lnTo>
                      <a:pt x="266700" y="44965"/>
                    </a:lnTo>
                    <a:cubicBezTo>
                      <a:pt x="266700" y="93779"/>
                      <a:pt x="227129" y="133350"/>
                      <a:pt x="178316" y="133350"/>
                    </a:cubicBezTo>
                    <a:cubicBezTo>
                      <a:pt x="172496" y="133350"/>
                      <a:pt x="166689" y="132775"/>
                      <a:pt x="160982" y="131634"/>
                    </a:cubicBezTo>
                    <a:lnTo>
                      <a:pt x="95250" y="118487"/>
                    </a:lnTo>
                    <a:lnTo>
                      <a:pt x="95250" y="171450"/>
                    </a:lnTo>
                    <a:lnTo>
                      <a:pt x="76200" y="171450"/>
                    </a:lnTo>
                    <a:lnTo>
                      <a:pt x="0" y="95250"/>
                    </a:lnTo>
                    <a:lnTo>
                      <a:pt x="76200" y="19050"/>
                    </a:lnTo>
                    <a:lnTo>
                      <a:pt x="95250" y="19050"/>
                    </a:lnTo>
                    <a:lnTo>
                      <a:pt x="95250" y="79633"/>
                    </a:lnTo>
                    <a:lnTo>
                      <a:pt x="168453" y="94273"/>
                    </a:lnTo>
                    <a:cubicBezTo>
                      <a:pt x="171701" y="94922"/>
                      <a:pt x="175005" y="95250"/>
                      <a:pt x="178316" y="95250"/>
                    </a:cubicBezTo>
                    <a:cubicBezTo>
                      <a:pt x="206087" y="95250"/>
                      <a:pt x="228600" y="72737"/>
                      <a:pt x="228600" y="44965"/>
                    </a:cubicBezTo>
                    <a:lnTo>
                      <a:pt x="228600" y="0"/>
                    </a:lnTo>
                    <a:lnTo>
                      <a:pt x="266700" y="0"/>
                    </a:lnTo>
                    <a:close/>
                  </a:path>
                </a:pathLst>
              </a:custGeom>
              <a:solidFill>
                <a:srgbClr val="FFFFFF"/>
              </a:solidFill>
              <a:ln>
                <a:noFill/>
              </a:ln>
            </p:spPr>
          </p:sp>
        </p:grpSp>
        <p:sp>
          <p:nvSpPr>
            <p:cNvPr id="25" name="TextBox 25"/>
            <p:cNvSpPr txBox="1"/>
            <p:nvPr/>
          </p:nvSpPr>
          <p:spPr>
            <a:xfrm>
              <a:off x="1440942" y="2959418"/>
              <a:ext cx="1606555" cy="264033"/>
            </a:xfrm>
            <a:prstGeom prst="rect">
              <a:avLst/>
            </a:prstGeom>
            <a:noFill/>
            <a:ln>
              <a:noFill/>
            </a:ln>
          </p:spPr>
          <p:txBody>
            <a:bodyPr wrap="none" lIns="0" tIns="0" rIns="0" bIns="0" anchor="t" anchorCtr="0">
              <a:spAutoFit/>
            </a:bodyPr>
            <a:lstStyle/>
            <a:p>
              <a:pPr algn="l"/>
              <a:r>
                <a:rPr lang="en-US" sz="1350" b="1" dirty="0">
                  <a:solidFill>
                    <a:srgbClr val="1C2A24"/>
                  </a:solidFill>
                  <a:latin typeface="Consolas"/>
                  <a:ea typeface="Consolas"/>
                  <a:cs typeface="Consolas"/>
                </a:rPr>
                <a:t>PR B · PROPOSED</a:t>
              </a:r>
            </a:p>
          </p:txBody>
        </p:sp>
        <p:sp>
          <p:nvSpPr>
            <p:cNvPr id="26" name="TextBox 26"/>
            <p:cNvSpPr txBox="1"/>
            <p:nvPr/>
          </p:nvSpPr>
          <p:spPr>
            <a:xfrm>
              <a:off x="1438656" y="3253740"/>
              <a:ext cx="3853144"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提交后响应丢失 + Task SSE 恢复</a:t>
              </a:r>
            </a:p>
          </p:txBody>
        </p:sp>
        <p:sp>
          <p:nvSpPr>
            <p:cNvPr id="27" name="TextBox 27"/>
            <p:cNvSpPr txBox="1"/>
            <p:nvPr/>
          </p:nvSpPr>
          <p:spPr>
            <a:xfrm>
              <a:off x="1440942" y="3588068"/>
              <a:ext cx="5202425"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原 key 找回首次结果 · after 回放 · 序号缺口 · Snapshot 对账</a:t>
              </a:r>
            </a:p>
          </p:txBody>
        </p:sp>
      </p:grpSp>
      <p:grpSp>
        <p:nvGrpSpPr>
          <p:cNvPr id="37" name="Group 37"/>
          <p:cNvGrpSpPr/>
          <p:nvPr/>
        </p:nvGrpSpPr>
        <p:grpSpPr>
          <a:xfrm>
            <a:off x="762000" y="3867150"/>
            <a:ext cx="5465189" cy="899351"/>
            <a:chOff x="762000" y="3867150"/>
            <a:chExt cx="5465189" cy="899351"/>
          </a:xfrm>
        </p:grpSpPr>
        <p:sp>
          <p:nvSpPr>
            <p:cNvPr id="29" name="Ellipse 29"/>
            <p:cNvSpPr/>
            <p:nvPr/>
          </p:nvSpPr>
          <p:spPr>
            <a:xfrm>
              <a:off x="762000" y="3867150"/>
              <a:ext cx="457200" cy="457200"/>
            </a:xfrm>
            <a:prstGeom prst="ellipse">
              <a:avLst/>
            </a:prstGeom>
            <a:solidFill>
              <a:srgbClr val="C58B2B"/>
            </a:solidFill>
            <a:ln>
              <a:noFill/>
            </a:ln>
          </p:spPr>
        </p:sp>
        <p:grpSp>
          <p:nvGrpSpPr>
            <p:cNvPr id="33" name="Group 33"/>
            <p:cNvGrpSpPr/>
            <p:nvPr/>
          </p:nvGrpSpPr>
          <p:grpSpPr>
            <a:xfrm>
              <a:off x="838200" y="3943350"/>
              <a:ext cx="304800" cy="304800"/>
              <a:chOff x="838200" y="3943350"/>
              <a:chExt cx="304800" cy="304800"/>
            </a:xfrm>
          </p:grpSpPr>
          <p:sp>
            <p:nvSpPr>
              <p:cNvPr id="30" name="Freeform 30"/>
              <p:cNvSpPr/>
              <p:nvPr/>
            </p:nvSpPr>
            <p:spPr>
              <a:xfrm>
                <a:off x="933450" y="3943350"/>
                <a:ext cx="209550" cy="209550"/>
              </a:xfrm>
              <a:custGeom>
                <a:avLst/>
                <a:gdLst/>
                <a:ahLst/>
                <a:cxnLst/>
                <a:rect l="l" t="t" r="r" b="b"/>
                <a:pathLst>
                  <a:path w="209550" h="209550">
                    <a:moveTo>
                      <a:pt x="39057" y="29252"/>
                    </a:moveTo>
                    <a:cubicBezTo>
                      <a:pt x="57787" y="10522"/>
                      <a:pt x="83190" y="0"/>
                      <a:pt x="109678" y="0"/>
                    </a:cubicBezTo>
                    <a:cubicBezTo>
                      <a:pt x="164836" y="0"/>
                      <a:pt x="209550" y="44714"/>
                      <a:pt x="209550" y="99872"/>
                    </a:cubicBezTo>
                    <a:cubicBezTo>
                      <a:pt x="209550" y="126360"/>
                      <a:pt x="199029" y="151763"/>
                      <a:pt x="180299" y="170493"/>
                    </a:cubicBezTo>
                    <a:lnTo>
                      <a:pt x="141241" y="209550"/>
                    </a:lnTo>
                    <a:lnTo>
                      <a:pt x="114300" y="182609"/>
                    </a:lnTo>
                    <a:lnTo>
                      <a:pt x="153358" y="143552"/>
                    </a:lnTo>
                    <a:cubicBezTo>
                      <a:pt x="164943" y="131967"/>
                      <a:pt x="171450" y="116255"/>
                      <a:pt x="171450" y="99872"/>
                    </a:cubicBezTo>
                    <a:cubicBezTo>
                      <a:pt x="171450" y="65756"/>
                      <a:pt x="143793" y="38100"/>
                      <a:pt x="109678" y="38100"/>
                    </a:cubicBezTo>
                    <a:cubicBezTo>
                      <a:pt x="93295" y="38100"/>
                      <a:pt x="77583" y="44608"/>
                      <a:pt x="65998" y="56193"/>
                    </a:cubicBezTo>
                    <a:lnTo>
                      <a:pt x="26941" y="95250"/>
                    </a:lnTo>
                    <a:lnTo>
                      <a:pt x="0" y="68309"/>
                    </a:lnTo>
                    <a:lnTo>
                      <a:pt x="39057" y="29252"/>
                    </a:lnTo>
                    <a:close/>
                  </a:path>
                </a:pathLst>
              </a:custGeom>
              <a:solidFill>
                <a:srgbClr val="FFFFFF"/>
              </a:solidFill>
              <a:ln>
                <a:noFill/>
              </a:ln>
            </p:spPr>
          </p:sp>
          <p:sp>
            <p:nvSpPr>
              <p:cNvPr id="31" name="Freeform 31"/>
              <p:cNvSpPr/>
              <p:nvPr/>
            </p:nvSpPr>
            <p:spPr>
              <a:xfrm>
                <a:off x="838200" y="4038600"/>
                <a:ext cx="209550" cy="209550"/>
              </a:xfrm>
              <a:custGeom>
                <a:avLst/>
                <a:gdLst/>
                <a:ahLst/>
                <a:cxnLst/>
                <a:rect l="l" t="t" r="r" b="b"/>
                <a:pathLst>
                  <a:path w="209550" h="209550">
                    <a:moveTo>
                      <a:pt x="143552" y="153358"/>
                    </a:moveTo>
                    <a:lnTo>
                      <a:pt x="182609" y="114300"/>
                    </a:lnTo>
                    <a:lnTo>
                      <a:pt x="209550" y="141241"/>
                    </a:lnTo>
                    <a:lnTo>
                      <a:pt x="170493" y="180299"/>
                    </a:lnTo>
                    <a:cubicBezTo>
                      <a:pt x="151763" y="199029"/>
                      <a:pt x="126360" y="209550"/>
                      <a:pt x="99872" y="209550"/>
                    </a:cubicBezTo>
                    <a:cubicBezTo>
                      <a:pt x="44714" y="209550"/>
                      <a:pt x="0" y="164836"/>
                      <a:pt x="0" y="109678"/>
                    </a:cubicBezTo>
                    <a:cubicBezTo>
                      <a:pt x="0" y="83190"/>
                      <a:pt x="10522" y="57787"/>
                      <a:pt x="29252" y="39057"/>
                    </a:cubicBezTo>
                    <a:lnTo>
                      <a:pt x="68309" y="0"/>
                    </a:lnTo>
                    <a:lnTo>
                      <a:pt x="95250" y="26941"/>
                    </a:lnTo>
                    <a:lnTo>
                      <a:pt x="56193" y="65998"/>
                    </a:lnTo>
                    <a:cubicBezTo>
                      <a:pt x="44608" y="77583"/>
                      <a:pt x="38100" y="93295"/>
                      <a:pt x="38100" y="109678"/>
                    </a:cubicBezTo>
                    <a:cubicBezTo>
                      <a:pt x="38100" y="143793"/>
                      <a:pt x="65756" y="171450"/>
                      <a:pt x="99872" y="171450"/>
                    </a:cubicBezTo>
                    <a:cubicBezTo>
                      <a:pt x="116255" y="171450"/>
                      <a:pt x="131967" y="164943"/>
                      <a:pt x="143552" y="153358"/>
                    </a:cubicBezTo>
                    <a:close/>
                  </a:path>
                </a:pathLst>
              </a:custGeom>
              <a:solidFill>
                <a:srgbClr val="FFFFFF"/>
              </a:solidFill>
              <a:ln>
                <a:noFill/>
              </a:ln>
            </p:spPr>
          </p:sp>
          <p:sp>
            <p:nvSpPr>
              <p:cNvPr id="32" name="Freeform 32"/>
              <p:cNvSpPr/>
              <p:nvPr/>
            </p:nvSpPr>
            <p:spPr>
              <a:xfrm>
                <a:off x="919980" y="4025130"/>
                <a:ext cx="141241" cy="141241"/>
              </a:xfrm>
              <a:custGeom>
                <a:avLst/>
                <a:gdLst/>
                <a:ahLst/>
                <a:cxnLst/>
                <a:rect l="l" t="t" r="r" b="b"/>
                <a:pathLst>
                  <a:path w="141241" h="141241">
                    <a:moveTo>
                      <a:pt x="26941" y="141241"/>
                    </a:moveTo>
                    <a:lnTo>
                      <a:pt x="141241" y="26941"/>
                    </a:lnTo>
                    <a:lnTo>
                      <a:pt x="114300" y="0"/>
                    </a:lnTo>
                    <a:lnTo>
                      <a:pt x="0" y="114300"/>
                    </a:lnTo>
                    <a:lnTo>
                      <a:pt x="26941" y="141241"/>
                    </a:lnTo>
                    <a:close/>
                  </a:path>
                </a:pathLst>
              </a:custGeom>
              <a:solidFill>
                <a:srgbClr val="FFFFFF"/>
              </a:solidFill>
              <a:ln>
                <a:noFill/>
              </a:ln>
            </p:spPr>
          </p:sp>
        </p:grpSp>
        <p:sp>
          <p:nvSpPr>
            <p:cNvPr id="34" name="TextBox 34"/>
            <p:cNvSpPr txBox="1"/>
            <p:nvPr/>
          </p:nvSpPr>
          <p:spPr>
            <a:xfrm>
              <a:off x="1440942" y="3873818"/>
              <a:ext cx="1606555" cy="264033"/>
            </a:xfrm>
            <a:prstGeom prst="rect">
              <a:avLst/>
            </a:prstGeom>
            <a:noFill/>
            <a:ln>
              <a:noFill/>
            </a:ln>
          </p:spPr>
          <p:txBody>
            <a:bodyPr wrap="none" lIns="0" tIns="0" rIns="0" bIns="0" anchor="t" anchorCtr="0">
              <a:spAutoFit/>
            </a:bodyPr>
            <a:lstStyle/>
            <a:p>
              <a:pPr algn="l"/>
              <a:r>
                <a:rPr lang="en-US" sz="1350" b="1" dirty="0">
                  <a:solidFill>
                    <a:srgbClr val="C58B2B"/>
                  </a:solidFill>
                  <a:latin typeface="Consolas"/>
                  <a:ea typeface="Consolas"/>
                  <a:cs typeface="Consolas"/>
                </a:rPr>
                <a:t>PR C · PROPOSED</a:t>
              </a:r>
            </a:p>
          </p:txBody>
        </p:sp>
        <p:sp>
          <p:nvSpPr>
            <p:cNvPr id="35" name="TextBox 35"/>
            <p:cNvSpPr txBox="1"/>
            <p:nvPr/>
          </p:nvSpPr>
          <p:spPr>
            <a:xfrm>
              <a:off x="1438656" y="4168140"/>
              <a:ext cx="3262876"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Artifact / Action 版本绑定</a:t>
              </a:r>
            </a:p>
          </p:txBody>
        </p:sp>
        <p:sp>
          <p:nvSpPr>
            <p:cNvPr id="36" name="TextBox 36"/>
            <p:cNvSpPr txBox="1"/>
            <p:nvPr/>
          </p:nvSpPr>
          <p:spPr>
            <a:xfrm>
              <a:off x="1440942" y="4502468"/>
              <a:ext cx="4786247"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旧审批与 Permit 失效 · 人工接管创建新 ArtifactVersion</a:t>
              </a:r>
            </a:p>
          </p:txBody>
        </p:sp>
      </p:grpSp>
      <p:grpSp>
        <p:nvGrpSpPr>
          <p:cNvPr id="47" name="Group 47"/>
          <p:cNvGrpSpPr/>
          <p:nvPr/>
        </p:nvGrpSpPr>
        <p:grpSpPr>
          <a:xfrm>
            <a:off x="762000" y="4781550"/>
            <a:ext cx="6072073" cy="899351"/>
            <a:chOff x="762000" y="4781550"/>
            <a:chExt cx="6072073" cy="899351"/>
          </a:xfrm>
        </p:grpSpPr>
        <p:sp>
          <p:nvSpPr>
            <p:cNvPr id="38" name="Ellipse 38"/>
            <p:cNvSpPr/>
            <p:nvPr/>
          </p:nvSpPr>
          <p:spPr>
            <a:xfrm>
              <a:off x="762000" y="4781550"/>
              <a:ext cx="457200" cy="457200"/>
            </a:xfrm>
            <a:prstGeom prst="ellipse">
              <a:avLst/>
            </a:prstGeom>
            <a:solidFill>
              <a:srgbClr val="B34B3E"/>
            </a:solidFill>
            <a:ln>
              <a:noFill/>
            </a:ln>
          </p:spPr>
        </p:sp>
        <p:grpSp>
          <p:nvGrpSpPr>
            <p:cNvPr id="43" name="Group 43"/>
            <p:cNvGrpSpPr/>
            <p:nvPr/>
          </p:nvGrpSpPr>
          <p:grpSpPr>
            <a:xfrm>
              <a:off x="838200" y="4876800"/>
              <a:ext cx="304800" cy="266700"/>
              <a:chOff x="838200" y="4876800"/>
              <a:chExt cx="304800" cy="266700"/>
            </a:xfrm>
          </p:grpSpPr>
          <p:sp>
            <p:nvSpPr>
              <p:cNvPr id="39" name="Freeform 39"/>
              <p:cNvSpPr/>
              <p:nvPr/>
            </p:nvSpPr>
            <p:spPr>
              <a:xfrm>
                <a:off x="895350" y="4876800"/>
                <a:ext cx="95250" cy="95250"/>
              </a:xfrm>
              <a:custGeom>
                <a:avLst/>
                <a:gdLst/>
                <a:ahLst/>
                <a:cxnLst/>
                <a:rect l="l" t="t" r="r" b="b"/>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a:srgbClr val="FFFFFF"/>
              </a:solidFill>
              <a:ln>
                <a:noFill/>
              </a:ln>
            </p:spPr>
          </p:sp>
          <p:sp>
            <p:nvSpPr>
              <p:cNvPr id="40" name="Freeform 40"/>
              <p:cNvSpPr/>
              <p:nvPr/>
            </p:nvSpPr>
            <p:spPr>
              <a:xfrm>
                <a:off x="838200" y="5010150"/>
                <a:ext cx="152400" cy="133350"/>
              </a:xfrm>
              <a:custGeom>
                <a:avLst/>
                <a:gdLst/>
                <a:ahLst/>
                <a:cxnLst/>
                <a:rect l="l" t="t" r="r" b="b"/>
                <a:pathLst>
                  <a:path w="152400" h="133350">
                    <a:moveTo>
                      <a:pt x="57150" y="0"/>
                    </a:moveTo>
                    <a:cubicBezTo>
                      <a:pt x="25587" y="0"/>
                      <a:pt x="0" y="25587"/>
                      <a:pt x="0" y="57150"/>
                    </a:cubicBezTo>
                    <a:lnTo>
                      <a:pt x="0" y="133350"/>
                    </a:lnTo>
                    <a:lnTo>
                      <a:pt x="152400" y="133350"/>
                    </a:lnTo>
                    <a:lnTo>
                      <a:pt x="152400" y="0"/>
                    </a:lnTo>
                    <a:lnTo>
                      <a:pt x="57150" y="0"/>
                    </a:lnTo>
                    <a:close/>
                  </a:path>
                </a:pathLst>
              </a:custGeom>
              <a:solidFill>
                <a:srgbClr val="FFFFFF"/>
              </a:solidFill>
              <a:ln>
                <a:noFill/>
              </a:ln>
            </p:spPr>
          </p:sp>
          <p:sp>
            <p:nvSpPr>
              <p:cNvPr id="41" name="Freeform 41"/>
              <p:cNvSpPr/>
              <p:nvPr/>
            </p:nvSpPr>
            <p:spPr>
              <a:xfrm>
                <a:off x="1028700" y="5010150"/>
                <a:ext cx="114300" cy="133350"/>
              </a:xfrm>
              <a:custGeom>
                <a:avLst/>
                <a:gdLst/>
                <a:ahLst/>
                <a:cxnLst/>
                <a:rect l="l" t="t" r="r" b="b"/>
                <a:pathLst>
                  <a:path w="114300" h="133350">
                    <a:moveTo>
                      <a:pt x="57150" y="0"/>
                    </a:moveTo>
                    <a:lnTo>
                      <a:pt x="0" y="0"/>
                    </a:lnTo>
                    <a:lnTo>
                      <a:pt x="0" y="133350"/>
                    </a:lnTo>
                    <a:lnTo>
                      <a:pt x="114300" y="133350"/>
                    </a:lnTo>
                    <a:lnTo>
                      <a:pt x="114300" y="57150"/>
                    </a:lnTo>
                    <a:cubicBezTo>
                      <a:pt x="114300" y="25587"/>
                      <a:pt x="88714" y="0"/>
                      <a:pt x="57150" y="0"/>
                    </a:cubicBezTo>
                    <a:close/>
                  </a:path>
                </a:pathLst>
              </a:custGeom>
              <a:solidFill>
                <a:srgbClr val="FFFFFF"/>
              </a:solidFill>
              <a:ln>
                <a:noFill/>
              </a:ln>
            </p:spPr>
          </p:sp>
          <p:sp>
            <p:nvSpPr>
              <p:cNvPr id="42" name="Freeform 42"/>
              <p:cNvSpPr/>
              <p:nvPr/>
            </p:nvSpPr>
            <p:spPr>
              <a:xfrm>
                <a:off x="1028700" y="4895850"/>
                <a:ext cx="76200" cy="76200"/>
              </a:xfrm>
              <a:custGeom>
                <a:avLst/>
                <a:gdLst/>
                <a:ahLst/>
                <a:cxnLst/>
                <a:rect l="l" t="t" r="r" b="b"/>
                <a:pathLst>
                  <a:path w="76200" h="76200">
                    <a:moveTo>
                      <a:pt x="38100" y="76200"/>
                    </a:moveTo>
                    <a:cubicBezTo>
                      <a:pt x="59143" y="76200"/>
                      <a:pt x="76200" y="59142"/>
                      <a:pt x="76200" y="38100"/>
                    </a:cubicBezTo>
                    <a:cubicBezTo>
                      <a:pt x="76200" y="17058"/>
                      <a:pt x="59143" y="0"/>
                      <a:pt x="38100" y="0"/>
                    </a:cubicBezTo>
                    <a:cubicBezTo>
                      <a:pt x="17057" y="0"/>
                      <a:pt x="0" y="17058"/>
                      <a:pt x="0" y="38100"/>
                    </a:cubicBezTo>
                    <a:cubicBezTo>
                      <a:pt x="0" y="59142"/>
                      <a:pt x="17057" y="76200"/>
                      <a:pt x="38100" y="76200"/>
                    </a:cubicBezTo>
                    <a:close/>
                  </a:path>
                </a:pathLst>
              </a:custGeom>
              <a:solidFill>
                <a:srgbClr val="FFFFFF"/>
              </a:solidFill>
              <a:ln>
                <a:noFill/>
              </a:ln>
            </p:spPr>
          </p:sp>
        </p:grpSp>
        <p:sp>
          <p:nvSpPr>
            <p:cNvPr id="44" name="TextBox 44"/>
            <p:cNvSpPr txBox="1"/>
            <p:nvPr/>
          </p:nvSpPr>
          <p:spPr>
            <a:xfrm>
              <a:off x="1440942" y="4788218"/>
              <a:ext cx="1606555" cy="264033"/>
            </a:xfrm>
            <a:prstGeom prst="rect">
              <a:avLst/>
            </a:prstGeom>
            <a:noFill/>
            <a:ln>
              <a:noFill/>
            </a:ln>
          </p:spPr>
          <p:txBody>
            <a:bodyPr wrap="none" lIns="0" tIns="0" rIns="0" bIns="0" anchor="t" anchorCtr="0">
              <a:spAutoFit/>
            </a:bodyPr>
            <a:lstStyle/>
            <a:p>
              <a:pPr algn="l"/>
              <a:r>
                <a:rPr lang="en-US" sz="1350" b="1" dirty="0">
                  <a:solidFill>
                    <a:srgbClr val="B34B3E"/>
                  </a:solidFill>
                  <a:latin typeface="Consolas"/>
                  <a:ea typeface="Consolas"/>
                  <a:cs typeface="Consolas"/>
                </a:rPr>
                <a:t>PR D · PROPOSED</a:t>
              </a:r>
            </a:p>
          </p:txBody>
        </p:sp>
        <p:sp>
          <p:nvSpPr>
            <p:cNvPr id="45" name="TextBox 45"/>
            <p:cNvSpPr txBox="1"/>
            <p:nvPr/>
          </p:nvSpPr>
          <p:spPr>
            <a:xfrm>
              <a:off x="1438656" y="5082540"/>
              <a:ext cx="3499683" cy="352044"/>
            </a:xfrm>
            <a:prstGeom prst="rect">
              <a:avLst/>
            </a:prstGeom>
            <a:noFill/>
            <a:ln>
              <a:noFill/>
            </a:ln>
          </p:spPr>
          <p:txBody>
            <a:bodyPr wrap="none" lIns="0" tIns="0" rIns="0" bIns="0" anchor="t" anchorCtr="0">
              <a:spAutoFit/>
            </a:bodyPr>
            <a:lstStyle/>
            <a:p>
              <a:pPr algn="l"/>
              <a:r>
                <a:rPr lang="zh-CN" sz="1800" b="1" dirty="0">
                  <a:solidFill>
                    <a:srgbClr val="202824"/>
                  </a:solidFill>
                  <a:latin typeface="Segoe UI"/>
                  <a:ea typeface="Microsoft YaHei UI"/>
                  <a:cs typeface="Segoe UI"/>
                </a:rPr>
                <a:t>H-001 → H-004 目标用户研究</a:t>
              </a:r>
            </a:p>
          </p:txBody>
        </p:sp>
        <p:sp>
          <p:nvSpPr>
            <p:cNvPr id="46" name="TextBox 46"/>
            <p:cNvSpPr txBox="1"/>
            <p:nvPr/>
          </p:nvSpPr>
          <p:spPr>
            <a:xfrm>
              <a:off x="1440942" y="5416868"/>
              <a:ext cx="5393131"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记录场景 · 样本 · 行为 · 结果 · 局限，不把功能正确性当体验收益</a:t>
              </a:r>
            </a:p>
          </p:txBody>
        </p:sp>
      </p:grpSp>
      <p:grpSp>
        <p:nvGrpSpPr>
          <p:cNvPr id="63" name="Group 63"/>
          <p:cNvGrpSpPr/>
          <p:nvPr/>
        </p:nvGrpSpPr>
        <p:grpSpPr>
          <a:xfrm>
            <a:off x="7239000" y="2038350"/>
            <a:ext cx="4040564" cy="3604451"/>
            <a:chOff x="7239000" y="2038350"/>
            <a:chExt cx="4040564" cy="3604451"/>
          </a:xfrm>
        </p:grpSpPr>
        <p:sp>
          <p:nvSpPr>
            <p:cNvPr id="48" name="Line 48"/>
            <p:cNvSpPr/>
            <p:nvPr/>
          </p:nvSpPr>
          <p:spPr>
            <a:xfrm>
              <a:off x="7239000" y="2038350"/>
              <a:ext cx="9525" cy="3543300"/>
            </a:xfrm>
            <a:custGeom>
              <a:avLst/>
              <a:gdLst/>
              <a:ahLst/>
              <a:cxnLst/>
              <a:rect l="l" t="t" r="r" b="b"/>
              <a:pathLst>
                <a:path w="9525" h="3543300">
                  <a:moveTo>
                    <a:pt x="0" y="0"/>
                  </a:moveTo>
                  <a:lnTo>
                    <a:pt x="0" y="3543300"/>
                  </a:lnTo>
                </a:path>
              </a:pathLst>
            </a:custGeom>
            <a:noFill/>
            <a:ln w="57150">
              <a:solidFill>
                <a:srgbClr val="14865F"/>
              </a:solidFill>
            </a:ln>
          </p:spPr>
        </p:sp>
        <p:sp>
          <p:nvSpPr>
            <p:cNvPr id="49" name="TextBox 49"/>
            <p:cNvSpPr txBox="1"/>
            <p:nvPr/>
          </p:nvSpPr>
          <p:spPr>
            <a:xfrm>
              <a:off x="7647432" y="2154555"/>
              <a:ext cx="3063636" cy="410718"/>
            </a:xfrm>
            <a:prstGeom prst="rect">
              <a:avLst/>
            </a:prstGeom>
            <a:noFill/>
            <a:ln>
              <a:noFill/>
            </a:ln>
          </p:spPr>
          <p:txBody>
            <a:bodyPr wrap="none" lIns="0" tIns="0" rIns="0" bIns="0" anchor="t" anchorCtr="0">
              <a:spAutoFit/>
            </a:bodyPr>
            <a:lstStyle/>
            <a:p>
              <a:pPr algn="l"/>
              <a:r>
                <a:rPr lang="zh-CN" sz="2100" b="1" dirty="0">
                  <a:solidFill>
                    <a:srgbClr val="1C2A24"/>
                  </a:solidFill>
                  <a:latin typeface="Segoe UI"/>
                  <a:ea typeface="Microsoft YaHei UI"/>
                  <a:cs typeface="Segoe UI"/>
                </a:rPr>
                <a:t>每个 PR 的同一完成门</a:t>
              </a:r>
            </a:p>
          </p:txBody>
        </p:sp>
        <p:sp>
          <p:nvSpPr>
            <p:cNvPr id="50" name="Freeform 50"/>
            <p:cNvSpPr/>
            <p:nvPr/>
          </p:nvSpPr>
          <p:spPr>
            <a:xfrm>
              <a:off x="7681912" y="2762250"/>
              <a:ext cx="333375" cy="381000"/>
            </a:xfrm>
            <a:custGeom>
              <a:avLst/>
              <a:gdLst/>
              <a:ahLst/>
              <a:cxnLst/>
              <a:rect l="l" t="t" r="r" b="b"/>
              <a:pathLst>
                <a:path w="333375" h="381000">
                  <a:moveTo>
                    <a:pt x="166688" y="381000"/>
                  </a:moveTo>
                  <a:lnTo>
                    <a:pt x="79774" y="318918"/>
                  </a:lnTo>
                  <a:cubicBezTo>
                    <a:pt x="29712" y="283159"/>
                    <a:pt x="0" y="225425"/>
                    <a:pt x="0" y="163903"/>
                  </a:cubicBezTo>
                  <a:lnTo>
                    <a:pt x="0" y="71438"/>
                  </a:lnTo>
                  <a:lnTo>
                    <a:pt x="166688" y="0"/>
                  </a:lnTo>
                  <a:lnTo>
                    <a:pt x="333375" y="71438"/>
                  </a:lnTo>
                  <a:lnTo>
                    <a:pt x="333375" y="163903"/>
                  </a:lnTo>
                  <a:cubicBezTo>
                    <a:pt x="333375" y="225425"/>
                    <a:pt x="303664" y="283159"/>
                    <a:pt x="253601" y="318918"/>
                  </a:cubicBezTo>
                  <a:lnTo>
                    <a:pt x="166688" y="381000"/>
                  </a:lnTo>
                  <a:close/>
                  <a:moveTo>
                    <a:pt x="266869" y="135901"/>
                  </a:moveTo>
                  <a:lnTo>
                    <a:pt x="233193" y="102224"/>
                  </a:lnTo>
                  <a:lnTo>
                    <a:pt x="142875" y="192543"/>
                  </a:lnTo>
                  <a:lnTo>
                    <a:pt x="100182" y="149849"/>
                  </a:lnTo>
                  <a:lnTo>
                    <a:pt x="66506" y="183526"/>
                  </a:lnTo>
                  <a:lnTo>
                    <a:pt x="142875" y="259894"/>
                  </a:lnTo>
                  <a:lnTo>
                    <a:pt x="266869" y="135901"/>
                  </a:lnTo>
                  <a:close/>
                </a:path>
              </a:pathLst>
            </a:custGeom>
            <a:solidFill>
              <a:srgbClr val="14865F"/>
            </a:solidFill>
            <a:ln>
              <a:noFill/>
            </a:ln>
          </p:spPr>
        </p:sp>
        <p:sp>
          <p:nvSpPr>
            <p:cNvPr id="51" name="TextBox 51"/>
            <p:cNvSpPr txBox="1"/>
            <p:nvPr/>
          </p:nvSpPr>
          <p:spPr>
            <a:xfrm>
              <a:off x="8220456" y="2834640"/>
              <a:ext cx="1956816"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场景与来源已登记</a:t>
              </a:r>
            </a:p>
          </p:txBody>
        </p:sp>
        <p:sp>
          <p:nvSpPr>
            <p:cNvPr id="52" name="TextBox 52"/>
            <p:cNvSpPr txBox="1"/>
            <p:nvPr/>
          </p:nvSpPr>
          <p:spPr>
            <a:xfrm>
              <a:off x="8222742" y="3168968"/>
              <a:ext cx="3037134"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精确引用、支持判断、局限与 Owner</a:t>
              </a:r>
            </a:p>
          </p:txBody>
        </p:sp>
        <p:grpSp>
          <p:nvGrpSpPr>
            <p:cNvPr id="56" name="Group 56"/>
            <p:cNvGrpSpPr/>
            <p:nvPr/>
          </p:nvGrpSpPr>
          <p:grpSpPr>
            <a:xfrm>
              <a:off x="7658100" y="3619500"/>
              <a:ext cx="381000" cy="381000"/>
              <a:chOff x="7658100" y="3619500"/>
              <a:chExt cx="381000" cy="381000"/>
            </a:xfrm>
          </p:grpSpPr>
          <p:sp>
            <p:nvSpPr>
              <p:cNvPr id="53" name="Freeform 53"/>
              <p:cNvSpPr/>
              <p:nvPr/>
            </p:nvSpPr>
            <p:spPr>
              <a:xfrm>
                <a:off x="7777162" y="3619500"/>
                <a:ext cx="261938" cy="261938"/>
              </a:xfrm>
              <a:custGeom>
                <a:avLst/>
                <a:gdLst/>
                <a:ahLst/>
                <a:cxnLst/>
                <a:rect l="l" t="t" r="r" b="b"/>
                <a:pathLst>
                  <a:path w="261938" h="261938">
                    <a:moveTo>
                      <a:pt x="48822" y="36565"/>
                    </a:moveTo>
                    <a:cubicBezTo>
                      <a:pt x="72234" y="13153"/>
                      <a:pt x="103987" y="0"/>
                      <a:pt x="137098" y="0"/>
                    </a:cubicBezTo>
                    <a:cubicBezTo>
                      <a:pt x="206045" y="0"/>
                      <a:pt x="261938" y="55893"/>
                      <a:pt x="261938" y="124840"/>
                    </a:cubicBezTo>
                    <a:cubicBezTo>
                      <a:pt x="261938" y="157950"/>
                      <a:pt x="248786" y="189704"/>
                      <a:pt x="225373" y="213116"/>
                    </a:cubicBezTo>
                    <a:lnTo>
                      <a:pt x="176551" y="261938"/>
                    </a:lnTo>
                    <a:lnTo>
                      <a:pt x="142875" y="228262"/>
                    </a:lnTo>
                    <a:lnTo>
                      <a:pt x="191698" y="179440"/>
                    </a:lnTo>
                    <a:cubicBezTo>
                      <a:pt x="206178" y="164959"/>
                      <a:pt x="214312" y="145319"/>
                      <a:pt x="214312" y="124840"/>
                    </a:cubicBezTo>
                    <a:cubicBezTo>
                      <a:pt x="214312" y="82196"/>
                      <a:pt x="179742" y="47625"/>
                      <a:pt x="137098" y="47625"/>
                    </a:cubicBezTo>
                    <a:cubicBezTo>
                      <a:pt x="116618" y="47625"/>
                      <a:pt x="96978" y="55760"/>
                      <a:pt x="82498" y="70241"/>
                    </a:cubicBezTo>
                    <a:lnTo>
                      <a:pt x="33676" y="119062"/>
                    </a:lnTo>
                    <a:lnTo>
                      <a:pt x="0" y="85387"/>
                    </a:lnTo>
                    <a:lnTo>
                      <a:pt x="48822" y="36565"/>
                    </a:lnTo>
                    <a:close/>
                  </a:path>
                </a:pathLst>
              </a:custGeom>
              <a:solidFill>
                <a:srgbClr val="1C2A24"/>
              </a:solidFill>
              <a:ln>
                <a:noFill/>
              </a:ln>
            </p:spPr>
          </p:sp>
          <p:sp>
            <p:nvSpPr>
              <p:cNvPr id="54" name="Freeform 54"/>
              <p:cNvSpPr/>
              <p:nvPr/>
            </p:nvSpPr>
            <p:spPr>
              <a:xfrm>
                <a:off x="7658100" y="3738562"/>
                <a:ext cx="261938" cy="261938"/>
              </a:xfrm>
              <a:custGeom>
                <a:avLst/>
                <a:gdLst/>
                <a:ahLst/>
                <a:cxnLst/>
                <a:rect l="l" t="t" r="r" b="b"/>
                <a:pathLst>
                  <a:path w="261938" h="261938">
                    <a:moveTo>
                      <a:pt x="179440" y="191698"/>
                    </a:moveTo>
                    <a:lnTo>
                      <a:pt x="228262" y="142875"/>
                    </a:lnTo>
                    <a:lnTo>
                      <a:pt x="261938" y="176551"/>
                    </a:lnTo>
                    <a:lnTo>
                      <a:pt x="213116" y="225373"/>
                    </a:lnTo>
                    <a:cubicBezTo>
                      <a:pt x="189704" y="248786"/>
                      <a:pt x="157950" y="261938"/>
                      <a:pt x="124840" y="261938"/>
                    </a:cubicBezTo>
                    <a:cubicBezTo>
                      <a:pt x="55893" y="261938"/>
                      <a:pt x="0" y="206045"/>
                      <a:pt x="0" y="137098"/>
                    </a:cubicBezTo>
                    <a:cubicBezTo>
                      <a:pt x="0" y="103988"/>
                      <a:pt x="13153" y="72234"/>
                      <a:pt x="36565" y="48822"/>
                    </a:cubicBezTo>
                    <a:lnTo>
                      <a:pt x="85387" y="0"/>
                    </a:lnTo>
                    <a:lnTo>
                      <a:pt x="119062" y="33676"/>
                    </a:lnTo>
                    <a:lnTo>
                      <a:pt x="70241" y="82498"/>
                    </a:lnTo>
                    <a:cubicBezTo>
                      <a:pt x="55760" y="96978"/>
                      <a:pt x="47625" y="116618"/>
                      <a:pt x="47625" y="137098"/>
                    </a:cubicBezTo>
                    <a:cubicBezTo>
                      <a:pt x="47625" y="179742"/>
                      <a:pt x="82196" y="214312"/>
                      <a:pt x="124840" y="214312"/>
                    </a:cubicBezTo>
                    <a:cubicBezTo>
                      <a:pt x="145319" y="214312"/>
                      <a:pt x="164959" y="206178"/>
                      <a:pt x="179440" y="191698"/>
                    </a:cubicBezTo>
                    <a:close/>
                  </a:path>
                </a:pathLst>
              </a:custGeom>
              <a:solidFill>
                <a:srgbClr val="1C2A24"/>
              </a:solidFill>
              <a:ln>
                <a:noFill/>
              </a:ln>
            </p:spPr>
          </p:sp>
          <p:sp>
            <p:nvSpPr>
              <p:cNvPr id="55" name="Freeform 55"/>
              <p:cNvSpPr/>
              <p:nvPr/>
            </p:nvSpPr>
            <p:spPr>
              <a:xfrm>
                <a:off x="7760324" y="3721724"/>
                <a:ext cx="176551" cy="176551"/>
              </a:xfrm>
              <a:custGeom>
                <a:avLst/>
                <a:gdLst/>
                <a:ahLst/>
                <a:cxnLst/>
                <a:rect l="l" t="t" r="r" b="b"/>
                <a:pathLst>
                  <a:path w="176551" h="176551">
                    <a:moveTo>
                      <a:pt x="33676" y="176551"/>
                    </a:moveTo>
                    <a:lnTo>
                      <a:pt x="176551" y="33676"/>
                    </a:lnTo>
                    <a:lnTo>
                      <a:pt x="142875" y="0"/>
                    </a:lnTo>
                    <a:lnTo>
                      <a:pt x="0" y="142875"/>
                    </a:lnTo>
                    <a:lnTo>
                      <a:pt x="33676" y="176551"/>
                    </a:lnTo>
                    <a:close/>
                  </a:path>
                </a:pathLst>
              </a:custGeom>
              <a:solidFill>
                <a:srgbClr val="1C2A24"/>
              </a:solidFill>
              <a:ln>
                <a:noFill/>
              </a:ln>
            </p:spPr>
          </p:sp>
        </p:grpSp>
        <p:sp>
          <p:nvSpPr>
            <p:cNvPr id="57" name="TextBox 57"/>
            <p:cNvSpPr txBox="1"/>
            <p:nvPr/>
          </p:nvSpPr>
          <p:spPr>
            <a:xfrm>
              <a:off x="8220456" y="3691890"/>
              <a:ext cx="2926080"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服务端事实与前台状态成对</a:t>
              </a:r>
            </a:p>
          </p:txBody>
        </p:sp>
        <p:sp>
          <p:nvSpPr>
            <p:cNvPr id="58" name="TextBox 58"/>
            <p:cNvSpPr txBox="1"/>
            <p:nvPr/>
          </p:nvSpPr>
          <p:spPr>
            <a:xfrm>
              <a:off x="8222742" y="4026218"/>
              <a:ext cx="3056822"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Snapshot / Event / 交互 / 默认隐藏</a:t>
              </a:r>
            </a:p>
          </p:txBody>
        </p:sp>
        <p:sp>
          <p:nvSpPr>
            <p:cNvPr id="59" name="Freeform 59"/>
            <p:cNvSpPr/>
            <p:nvPr/>
          </p:nvSpPr>
          <p:spPr>
            <a:xfrm>
              <a:off x="7658100" y="4476750"/>
              <a:ext cx="381000" cy="381000"/>
            </a:xfrm>
            <a:custGeom>
              <a:avLst/>
              <a:gdLst/>
              <a:ahLst/>
              <a:cxnLst/>
              <a:rect l="l" t="t" r="r" b="b"/>
              <a:pathLst>
                <a:path w="381000" h="381000">
                  <a:moveTo>
                    <a:pt x="190500" y="381000"/>
                  </a:moveTo>
                  <a:cubicBezTo>
                    <a:pt x="295711" y="381000"/>
                    <a:pt x="381000" y="295711"/>
                    <a:pt x="381000" y="190500"/>
                  </a:cubicBezTo>
                  <a:cubicBezTo>
                    <a:pt x="381000" y="85290"/>
                    <a:pt x="295711" y="0"/>
                    <a:pt x="190500" y="0"/>
                  </a:cubicBezTo>
                  <a:cubicBezTo>
                    <a:pt x="85290" y="0"/>
                    <a:pt x="0" y="85290"/>
                    <a:pt x="0" y="190500"/>
                  </a:cubicBezTo>
                  <a:cubicBezTo>
                    <a:pt x="0" y="295711"/>
                    <a:pt x="85290" y="381000"/>
                    <a:pt x="190500" y="381000"/>
                  </a:cubicBezTo>
                  <a:close/>
                  <a:moveTo>
                    <a:pt x="302588" y="135901"/>
                  </a:moveTo>
                  <a:lnTo>
                    <a:pt x="268912" y="102224"/>
                  </a:lnTo>
                  <a:lnTo>
                    <a:pt x="154781" y="216355"/>
                  </a:lnTo>
                  <a:lnTo>
                    <a:pt x="112088" y="173662"/>
                  </a:lnTo>
                  <a:lnTo>
                    <a:pt x="78412" y="207338"/>
                  </a:lnTo>
                  <a:lnTo>
                    <a:pt x="154781" y="283707"/>
                  </a:lnTo>
                  <a:lnTo>
                    <a:pt x="302588" y="135901"/>
                  </a:lnTo>
                  <a:close/>
                </a:path>
              </a:pathLst>
            </a:custGeom>
            <a:solidFill>
              <a:srgbClr val="C58B2B"/>
            </a:solidFill>
            <a:ln>
              <a:noFill/>
            </a:ln>
          </p:spPr>
        </p:sp>
        <p:sp>
          <p:nvSpPr>
            <p:cNvPr id="60" name="TextBox 60"/>
            <p:cNvSpPr txBox="1"/>
            <p:nvPr/>
          </p:nvSpPr>
          <p:spPr>
            <a:xfrm>
              <a:off x="8220456" y="4549140"/>
              <a:ext cx="2199132" cy="352044"/>
            </a:xfrm>
            <a:prstGeom prst="rect">
              <a:avLst/>
            </a:prstGeom>
            <a:noFill/>
            <a:ln>
              <a:noFill/>
            </a:ln>
          </p:spPr>
          <p:txBody>
            <a:bodyPr wrap="none" lIns="0" tIns="0" rIns="0" bIns="0" anchor="t" anchorCtr="0">
              <a:spAutoFit/>
            </a:bodyPr>
            <a:lstStyle/>
            <a:p>
              <a:pPr algn="l"/>
              <a:r>
                <a:rPr lang="zh-CN" sz="1800" dirty="0">
                  <a:solidFill>
                    <a:srgbClr val="202824"/>
                  </a:solidFill>
                  <a:latin typeface="Segoe UI"/>
                  <a:ea typeface="Microsoft YaHei UI"/>
                  <a:cs typeface="Segoe UI"/>
                </a:rPr>
                <a:t>运行证据与边界同屏</a:t>
              </a:r>
            </a:p>
          </p:txBody>
        </p:sp>
        <p:sp>
          <p:nvSpPr>
            <p:cNvPr id="61" name="TextBox 61"/>
            <p:cNvSpPr txBox="1"/>
            <p:nvPr/>
          </p:nvSpPr>
          <p:spPr>
            <a:xfrm>
              <a:off x="8222742" y="4883468"/>
              <a:ext cx="2921508" cy="264033"/>
            </a:xfrm>
            <a:prstGeom prst="rect">
              <a:avLst/>
            </a:prstGeom>
            <a:noFill/>
            <a:ln>
              <a:noFill/>
            </a:ln>
          </p:spPr>
          <p:txBody>
            <a:bodyPr wrap="none" lIns="0" tIns="0" rIns="0" bIns="0" anchor="t" anchorCtr="0">
              <a:spAutoFit/>
            </a:bodyPr>
            <a:lstStyle/>
            <a:p>
              <a:pPr algn="l"/>
              <a:r>
                <a:rPr lang="zh-CN" sz="1350" dirty="0">
                  <a:solidFill>
                    <a:srgbClr val="52605A"/>
                  </a:solidFill>
                  <a:latin typeface="Segoe UI"/>
                  <a:ea typeface="Microsoft YaHei UI"/>
                  <a:cs typeface="Segoe UI"/>
                </a:rPr>
                <a:t>通过什么、未测什么、禁止外推什么</a:t>
              </a:r>
            </a:p>
          </p:txBody>
        </p:sp>
        <p:sp>
          <p:nvSpPr>
            <p:cNvPr id="62" name="TextBox 62"/>
            <p:cNvSpPr txBox="1"/>
            <p:nvPr/>
          </p:nvSpPr>
          <p:spPr>
            <a:xfrm>
              <a:off x="7651242" y="5378768"/>
              <a:ext cx="2604600" cy="264033"/>
            </a:xfrm>
            <a:prstGeom prst="rect">
              <a:avLst/>
            </a:prstGeom>
            <a:noFill/>
            <a:ln>
              <a:noFill/>
            </a:ln>
          </p:spPr>
          <p:txBody>
            <a:bodyPr wrap="none" lIns="0" tIns="0" rIns="0" bIns="0" anchor="t" anchorCtr="0">
              <a:spAutoFit/>
            </a:bodyPr>
            <a:lstStyle/>
            <a:p>
              <a:pPr algn="l"/>
              <a:r>
                <a:rPr lang="en-US" sz="1350" b="1" dirty="0">
                  <a:solidFill>
                    <a:srgbClr val="C58B2B"/>
                  </a:solidFill>
                  <a:latin typeface="Consolas"/>
                  <a:ea typeface="Consolas"/>
                  <a:cs typeface="Consolas"/>
                </a:rPr>
                <a:t>STATUS: PROPOSED / DRAFT</a:t>
              </a:r>
            </a:p>
          </p:txBody>
        </p:sp>
      </p:grpSp>
      <p:grpSp>
        <p:nvGrpSpPr>
          <p:cNvPr id="70" name="Group 70"/>
          <p:cNvGrpSpPr/>
          <p:nvPr/>
        </p:nvGrpSpPr>
        <p:grpSpPr>
          <a:xfrm>
            <a:off x="533400" y="5848350"/>
            <a:ext cx="11125200" cy="462534"/>
            <a:chOff x="533400" y="5848350"/>
            <a:chExt cx="11125200" cy="462534"/>
          </a:xfrm>
        </p:grpSpPr>
        <p:sp>
          <p:nvSpPr>
            <p:cNvPr id="64" name="Rectangle 64"/>
            <p:cNvSpPr/>
            <p:nvPr/>
          </p:nvSpPr>
          <p:spPr>
            <a:xfrm>
              <a:off x="533400" y="5848350"/>
              <a:ext cx="11125200" cy="457200"/>
            </a:xfrm>
            <a:prstGeom prst="rect">
              <a:avLst/>
            </a:prstGeom>
            <a:solidFill>
              <a:srgbClr val="1C2A24"/>
            </a:solidFill>
            <a:ln>
              <a:noFill/>
            </a:ln>
          </p:spPr>
        </p:sp>
        <p:grpSp>
          <p:nvGrpSpPr>
            <p:cNvPr id="68" name="Group 68"/>
            <p:cNvGrpSpPr/>
            <p:nvPr/>
          </p:nvGrpSpPr>
          <p:grpSpPr>
            <a:xfrm>
              <a:off x="723900" y="5924550"/>
              <a:ext cx="304800" cy="304800"/>
              <a:chOff x="723900" y="5924550"/>
              <a:chExt cx="304800" cy="304800"/>
            </a:xfrm>
          </p:grpSpPr>
          <p:sp>
            <p:nvSpPr>
              <p:cNvPr id="65" name="Freeform 65"/>
              <p:cNvSpPr/>
              <p:nvPr/>
            </p:nvSpPr>
            <p:spPr>
              <a:xfrm>
                <a:off x="723900" y="5924550"/>
                <a:ext cx="304800" cy="304800"/>
              </a:xfrm>
              <a:custGeom>
                <a:avLst/>
                <a:gdLst/>
                <a:ahLst/>
                <a:cxnLst/>
                <a:rect l="l" t="t" r="r" b="b"/>
                <a:pathLst>
                  <a:path w="304800" h="304800">
                    <a:moveTo>
                      <a:pt x="155624" y="38145"/>
                    </a:moveTo>
                    <a:cubicBezTo>
                      <a:pt x="154553" y="38115"/>
                      <a:pt x="153478" y="38100"/>
                      <a:pt x="152400" y="38100"/>
                    </a:cubicBezTo>
                    <a:cubicBezTo>
                      <a:pt x="89274" y="38100"/>
                      <a:pt x="38100" y="89274"/>
                      <a:pt x="38100" y="152400"/>
                    </a:cubicBezTo>
                    <a:cubicBezTo>
                      <a:pt x="38100" y="215526"/>
                      <a:pt x="89274" y="266700"/>
                      <a:pt x="152400" y="266700"/>
                    </a:cubicBezTo>
                    <a:cubicBezTo>
                      <a:pt x="215526" y="266700"/>
                      <a:pt x="266700" y="215526"/>
                      <a:pt x="266700" y="152400"/>
                    </a:cubicBezTo>
                    <a:cubicBezTo>
                      <a:pt x="266700" y="151322"/>
                      <a:pt x="266685" y="150247"/>
                      <a:pt x="266656" y="149176"/>
                    </a:cubicBezTo>
                    <a:lnTo>
                      <a:pt x="300308" y="115523"/>
                    </a:lnTo>
                    <a:cubicBezTo>
                      <a:pt x="303242" y="127332"/>
                      <a:pt x="304800" y="139684"/>
                      <a:pt x="304800" y="152400"/>
                    </a:cubicBezTo>
                    <a:cubicBezTo>
                      <a:pt x="304800" y="236569"/>
                      <a:pt x="236569" y="304800"/>
                      <a:pt x="152400" y="304800"/>
                    </a:cubicBezTo>
                    <a:cubicBezTo>
                      <a:pt x="68232" y="304800"/>
                      <a:pt x="0" y="236569"/>
                      <a:pt x="0" y="152400"/>
                    </a:cubicBezTo>
                    <a:cubicBezTo>
                      <a:pt x="0" y="68232"/>
                      <a:pt x="68232" y="0"/>
                      <a:pt x="152400" y="0"/>
                    </a:cubicBezTo>
                    <a:cubicBezTo>
                      <a:pt x="165116" y="0"/>
                      <a:pt x="177468" y="1557"/>
                      <a:pt x="189277" y="4492"/>
                    </a:cubicBezTo>
                    <a:lnTo>
                      <a:pt x="155624" y="38145"/>
                    </a:lnTo>
                    <a:close/>
                  </a:path>
                </a:pathLst>
              </a:custGeom>
              <a:solidFill>
                <a:srgbClr val="FFFFFF"/>
              </a:solidFill>
              <a:ln>
                <a:noFill/>
              </a:ln>
            </p:spPr>
          </p:sp>
          <p:sp>
            <p:nvSpPr>
              <p:cNvPr id="66" name="Freeform 66"/>
              <p:cNvSpPr/>
              <p:nvPr/>
            </p:nvSpPr>
            <p:spPr>
              <a:xfrm>
                <a:off x="800100" y="6003150"/>
                <a:ext cx="150000" cy="150000"/>
              </a:xfrm>
              <a:custGeom>
                <a:avLst/>
                <a:gdLst/>
                <a:ahLst/>
                <a:cxnLst/>
                <a:rect l="l" t="t" r="r" b="b"/>
                <a:pathLst>
                  <a:path w="150000" h="150000">
                    <a:moveTo>
                      <a:pt x="0" y="73799"/>
                    </a:moveTo>
                    <a:cubicBezTo>
                      <a:pt x="0" y="38293"/>
                      <a:pt x="24284" y="8459"/>
                      <a:pt x="57150" y="0"/>
                    </a:cubicBezTo>
                    <a:lnTo>
                      <a:pt x="57150" y="40796"/>
                    </a:lnTo>
                    <a:cubicBezTo>
                      <a:pt x="45762" y="47384"/>
                      <a:pt x="38100" y="59697"/>
                      <a:pt x="38100" y="73799"/>
                    </a:cubicBezTo>
                    <a:cubicBezTo>
                      <a:pt x="38100" y="94841"/>
                      <a:pt x="55158" y="111899"/>
                      <a:pt x="76200" y="111899"/>
                    </a:cubicBezTo>
                    <a:cubicBezTo>
                      <a:pt x="90302" y="111899"/>
                      <a:pt x="102615" y="104237"/>
                      <a:pt x="109203" y="92849"/>
                    </a:cubicBezTo>
                    <a:lnTo>
                      <a:pt x="150000" y="92849"/>
                    </a:lnTo>
                    <a:cubicBezTo>
                      <a:pt x="141540" y="125715"/>
                      <a:pt x="111706" y="150000"/>
                      <a:pt x="76200" y="150000"/>
                    </a:cubicBezTo>
                    <a:cubicBezTo>
                      <a:pt x="34116" y="150000"/>
                      <a:pt x="0" y="115883"/>
                      <a:pt x="0" y="73799"/>
                    </a:cubicBezTo>
                    <a:close/>
                  </a:path>
                </a:pathLst>
              </a:custGeom>
              <a:solidFill>
                <a:srgbClr val="FFFFFF"/>
              </a:solidFill>
              <a:ln>
                <a:noFill/>
              </a:ln>
            </p:spPr>
          </p:sp>
          <p:sp>
            <p:nvSpPr>
              <p:cNvPr id="67" name="Freeform 67"/>
              <p:cNvSpPr/>
              <p:nvPr/>
            </p:nvSpPr>
            <p:spPr>
              <a:xfrm>
                <a:off x="872355" y="5924550"/>
                <a:ext cx="156345" cy="156345"/>
              </a:xfrm>
              <a:custGeom>
                <a:avLst/>
                <a:gdLst/>
                <a:ahLst/>
                <a:cxnLst/>
                <a:rect l="l" t="t" r="r" b="b"/>
                <a:pathLst>
                  <a:path w="156345" h="156345">
                    <a:moveTo>
                      <a:pt x="118245" y="38100"/>
                    </a:moveTo>
                    <a:lnTo>
                      <a:pt x="99195" y="0"/>
                    </a:lnTo>
                    <a:lnTo>
                      <a:pt x="42045" y="57150"/>
                    </a:lnTo>
                    <a:lnTo>
                      <a:pt x="42045" y="87359"/>
                    </a:lnTo>
                    <a:lnTo>
                      <a:pt x="0" y="129405"/>
                    </a:lnTo>
                    <a:lnTo>
                      <a:pt x="26941" y="156345"/>
                    </a:lnTo>
                    <a:lnTo>
                      <a:pt x="68986" y="114300"/>
                    </a:lnTo>
                    <a:lnTo>
                      <a:pt x="99195" y="114300"/>
                    </a:lnTo>
                    <a:lnTo>
                      <a:pt x="156345" y="57150"/>
                    </a:lnTo>
                    <a:lnTo>
                      <a:pt x="118245" y="38100"/>
                    </a:lnTo>
                    <a:close/>
                  </a:path>
                </a:pathLst>
              </a:custGeom>
              <a:solidFill>
                <a:srgbClr val="FFFFFF"/>
              </a:solidFill>
              <a:ln>
                <a:noFill/>
              </a:ln>
            </p:spPr>
          </p:sp>
        </p:grpSp>
        <p:sp>
          <p:nvSpPr>
            <p:cNvPr id="69" name="TextBox 69"/>
            <p:cNvSpPr txBox="1"/>
            <p:nvPr/>
          </p:nvSpPr>
          <p:spPr>
            <a:xfrm>
              <a:off x="1171956" y="5958840"/>
              <a:ext cx="9184434"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Segoe UI"/>
                  <a:ea typeface="Microsoft YaHei UI"/>
                  <a:cs typeface="Segoe UI"/>
                </a:rPr>
                <a:t>完成这四类证据后，再推进真实 Connector 与 Adaptive Swarm 的实现与验证。</a:t>
              </a:r>
            </a:p>
          </p:txBody>
        </p:sp>
      </p:grpSp>
      <p:grpSp>
        <p:nvGrpSpPr>
          <p:cNvPr id="73" name="Group 73"/>
          <p:cNvGrpSpPr/>
          <p:nvPr/>
        </p:nvGrpSpPr>
        <p:grpSpPr>
          <a:xfrm>
            <a:off x="528066" y="6439852"/>
            <a:ext cx="11135868" cy="205359"/>
            <a:chOff x="528066" y="6439852"/>
            <a:chExt cx="11135868" cy="205359"/>
          </a:xfrm>
        </p:grpSpPr>
        <p:sp>
          <p:nvSpPr>
            <p:cNvPr id="71" name="TextBox 71"/>
            <p:cNvSpPr txBox="1"/>
            <p:nvPr/>
          </p:nvSpPr>
          <p:spPr>
            <a:xfrm>
              <a:off x="528066" y="6439852"/>
              <a:ext cx="4148985" cy="205359"/>
            </a:xfrm>
            <a:prstGeom prst="rect">
              <a:avLst/>
            </a:prstGeom>
            <a:noFill/>
            <a:ln>
              <a:noFill/>
            </a:ln>
          </p:spPr>
          <p:txBody>
            <a:bodyPr wrap="none" lIns="0" tIns="0" rIns="0" bIns="0" anchor="t" anchorCtr="0">
              <a:spAutoFit/>
            </a:bodyPr>
            <a:lstStyle/>
            <a:p>
              <a:pPr algn="l"/>
              <a:r>
                <a:rPr lang="en-US" sz="1050" dirty="0">
                  <a:solidFill>
                    <a:srgbClr val="74817B"/>
                  </a:solidFill>
                  <a:latin typeface="Segoe UI"/>
                  <a:ea typeface="Segoe UI"/>
                  <a:cs typeface="Segoe UI"/>
                </a:rPr>
                <a:t>Source: DEMO1-PR4 §5 · SCENARIO-001 §5/§7 · DR-0002 §6</a:t>
              </a:r>
            </a:p>
          </p:txBody>
        </p:sp>
        <p:sp>
          <p:nvSpPr>
            <p:cNvPr id="72" name="TextBox 72"/>
            <p:cNvSpPr txBox="1"/>
            <p:nvPr/>
          </p:nvSpPr>
          <p:spPr>
            <a:xfrm>
              <a:off x="11179740" y="6439852"/>
              <a:ext cx="484194" cy="205359"/>
            </a:xfrm>
            <a:prstGeom prst="rect">
              <a:avLst/>
            </a:prstGeom>
            <a:noFill/>
            <a:ln>
              <a:noFill/>
            </a:ln>
          </p:spPr>
          <p:txBody>
            <a:bodyPr wrap="none" lIns="0" tIns="0" rIns="0" bIns="0" anchor="t" anchorCtr="0">
              <a:spAutoFit/>
            </a:bodyPr>
            <a:lstStyle/>
            <a:p>
              <a:pPr algn="r"/>
              <a:r>
                <a:rPr lang="en-US" sz="1050" dirty="0">
                  <a:solidFill>
                    <a:srgbClr val="14865F"/>
                  </a:solidFill>
                  <a:latin typeface="Consolas"/>
                  <a:ea typeface="Consolas"/>
                  <a:cs typeface="Consolas"/>
                </a:rPr>
                <a:t>11 / 11</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2026-08-10T08:18:22Z</dcterms:created>
  <dcterms:modified xsi:type="dcterms:W3CDTF">2026-08-10T08:18:22Z</dcterms:modified>
  <cp:category/>
  <cp:contentStatus/>
</cp:coreProperties>
</file>
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aff2ddd6014b4e" /><Relationship Type="http://schemas.openxmlformats.org/officeDocument/2006/relationships/extended-properties" Target="/docProps/app.xml" Id="Re4a72731161e4148" /><Relationship Type="http://schemas.openxmlformats.org/officeDocument/2006/relationships/officeDocument" Target="/ppt/presentation.xml" Id="Rda7c8871399b4c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cab649df884199"/>
  </p:sldMasterIdLst>
  <p:notesMasterIdLst>
    <p:notesMasterId xmlns:r="http://schemas.openxmlformats.org/officeDocument/2006/relationships" r:id="R02ec6747299c499d"/>
  </p:notesMasterIdLst>
  <p:sldIdLst>
    <p:sldId xmlns:r="http://schemas.openxmlformats.org/officeDocument/2006/relationships" id="256" r:id="R3113424fb73e4c88"/>
    <p:sldId xmlns:r="http://schemas.openxmlformats.org/officeDocument/2006/relationships" id="257" r:id="R433b5e716f5f4c96"/>
    <p:sldId xmlns:r="http://schemas.openxmlformats.org/officeDocument/2006/relationships" id="258" r:id="Rb372873c47854f15"/>
    <p:sldId xmlns:r="http://schemas.openxmlformats.org/officeDocument/2006/relationships" id="259" r:id="Ref026762826a4e54"/>
    <p:sldId xmlns:r="http://schemas.openxmlformats.org/officeDocument/2006/relationships" id="260" r:id="Rc590e2238c0f49e8"/>
    <p:sldId xmlns:r="http://schemas.openxmlformats.org/officeDocument/2006/relationships" id="261" r:id="Ra8e3a932c3c347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3fd40c8234404f" /><Relationship Type="http://schemas.openxmlformats.org/officeDocument/2006/relationships/slideMaster" Target="/ppt/slideMasters/slideMaster1.xml" Id="Rd3cab649df884199" /><Relationship Type="http://schemas.openxmlformats.org/officeDocument/2006/relationships/notesMaster" Target="/ppt/notesMasters/notesMaster1.xml" Id="R02ec6747299c499d" /><Relationship Type="http://schemas.openxmlformats.org/officeDocument/2006/relationships/presProps" Target="/ppt/presProps.xml" Id="Rc9833d8acf90419f" /><Relationship Type="http://schemas.openxmlformats.org/officeDocument/2006/relationships/tableStyles" Target="/ppt/tableStyles.xml" Id="Rce6677682bca4bbd" /><Relationship Type="http://schemas.openxmlformats.org/officeDocument/2006/relationships/slide" Target="/ppt/slides/slide1.xml" Id="R3113424fb73e4c88" /><Relationship Type="http://schemas.openxmlformats.org/officeDocument/2006/relationships/slide" Target="/ppt/slides/slide2.xml" Id="R433b5e716f5f4c96" /><Relationship Type="http://schemas.openxmlformats.org/officeDocument/2006/relationships/slide" Target="/ppt/slides/slide3.xml" Id="Rb372873c47854f15" /><Relationship Type="http://schemas.openxmlformats.org/officeDocument/2006/relationships/slide" Target="/ppt/slides/slide4.xml" Id="Ref026762826a4e54" /><Relationship Type="http://schemas.openxmlformats.org/officeDocument/2006/relationships/slide" Target="/ppt/slides/slide5.xml" Id="Rc590e2238c0f49e8" /><Relationship Type="http://schemas.openxmlformats.org/officeDocument/2006/relationships/slide" Target="/ppt/slides/slide6.xml" Id="Ra8e3a932c3c347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b4549995a344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a6905cd0f84375" /><Relationship Type="http://schemas.openxmlformats.org/officeDocument/2006/relationships/notesMaster" Target="/ppt/notesMasters/notesMaster1.xml" Id="Rc894b56719b447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b31799b00f4328" /><Relationship Type="http://schemas.openxmlformats.org/officeDocument/2006/relationships/notesMaster" Target="/ppt/notesMasters/notesMaster1.xml" Id="Rec7a90f702634c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c59cda2bf94a64" /><Relationship Type="http://schemas.openxmlformats.org/officeDocument/2006/relationships/notesMaster" Target="/ppt/notesMasters/notesMaster1.xml" Id="Rf6d941e255e249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565dcac5d949d2" /><Relationship Type="http://schemas.openxmlformats.org/officeDocument/2006/relationships/notesMaster" Target="/ppt/notesMasters/notesMaster1.xml" Id="R970a3df9821d48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001e01e4e8488b" /><Relationship Type="http://schemas.openxmlformats.org/officeDocument/2006/relationships/notesMaster" Target="/ppt/notesMasters/notesMaster1.xml" Id="R8a5148a7f5cf4a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24c695e5b542d7" /><Relationship Type="http://schemas.openxmlformats.org/officeDocument/2006/relationships/notesMaster" Target="/ppt/notesMasters/notesMaster1.xml" Id="Rab447ea31e2b44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这一轮不是另起一套演示系统，而是保留原来的办公资料库和 Agent 能力页，继续优化同一个任务的界面。第一张是原系统的任务进展页。我们把信息顺序调整成用户先看到现在需要处理什么，再看到已经完成什么、保留了什么成果。完整执行记录按需查看，不要求用户先理解内部术语才能继续工作。Agent Control Loop 和 Adaptive Swarm 都仍然保留，并且使用同一套 Task、Run 和 Snapshot 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截图说明：2026-09-11 原 React 页面受控测试截图，输入是公开 Snapshot 测试数据，不代表一次真实模型调用的成功证明。截图未用 imagegen 重绘或修改。原始文件：docs/reports/demo12-polish-20260911/screenshots/progress-1672.png。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这张展示 Agent Control Loop 中需要人工选择证据位置时的界面。系统先说明为什么需要人参与，以及选择会影响哪一部分。右边展示实际候选原文，而不是让用户猜行号，也不替用户默认选择。选定依据只是解决引用位置，不等于批准业务结论，更不会授予外发权限。恢复时沿用已有成果，只处理相关分支；如果旧 Run 已经结束，需要按合同创建同一任务的子 Run，不能假装旧 Run 又恢复执行。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截图说明：2026-09-11 原系统受控测试，原始文件：docs/reports/demo12-polish-20260911/screenshots/evidence-1672.png。证据选择、决定回执、创建后续 Run 和实际执行是不同事实，不应合并成一个“确认即完成”。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我们这里的蜂群，当前准确地说是受限的主控与只读 Worker 协作。服务端先判断工作包是否可以拆分、依赖关系是否满足，再由用户显式确认派发；每批最多三个进程内 Worker。截图中的三条调用和两条采用是分开记录的：返回了内容，不代表已经进入成果。要经过来源、证据位置和适用校验，才能采用。一个工作包有问题时，只阻塞它和真实下游，其他成果保留。我们希望突出的是来源约束、贡献核验和局部恢复与长期任务历史的整合。目前只能称工程差异候选，没有同配置实测，不能宣称算法创新或比单 Agent 更好、更便宜。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截图说明：2026-09-12 原系统受控测试，原始文件：docs/evidence/screenshots/dr-0063-fixture-swarm-1440.png；图中的调用与采用是 fixture 回执投影，不是真实 Provider 本轮运行。当前不是分布式 Worker Runtime，没有开放式子委派，也没有任意外部动作执行。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调研已经从泛化的交互和信任研究，转向 LLM Agent 自身的机制。我们整理了十六篇相关论文，并按四条线选读。第一，HiL-Bench 和 SAGE-Agent 研究什么时候应该求助，以及如何针对真正缺失的信息提问。第二，SWEET-RL 和 Collaborative Gym 关注人的反馈是否真正进入后续推理、工作状态和成果修正。第三，AgentSpec 与 AgentDojo 提醒我们，执行权限必须由 Runtime 强制约束，资料中的指令不构成授权。第四，Intelligent AI Delegation 与 MAST 用来检查多 Agent 委派、交接、验证和错误传播。由此，Demo3 不只是 Demo1 的暂停按钮，而是回答为什么停、问谁、问什么、回答能改变什么，以及什么情况下仍然不能执行。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阅读边界：十六篇按论文身份去重，包含既有资料重分类，不是十六篇全文精读，也不是算法复现。各篇阅读深度见项目研究文档。以下列出重点八篇的一手链接，机制到本项目的映射是我们的设计推论。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HiL-Bench (Human-in-Loop Benchmark): Do Agents Know When to Ask for Help? https://arxiv.org/abs/2604.09408v4</a:t>
            </a:r>
          </a:p>
          <a:p xmlns:a="http://schemas.openxmlformats.org/drawingml/2006/main">
            <a:r>
              <a:t>- Structured Uncertainty guided Clarification for LLM Agents (SAGE-Agent): https://aclanthology.org/2026.findings-acl.2028/</a:t>
            </a:r>
          </a:p>
          <a:p xmlns:a="http://schemas.openxmlformats.org/drawingml/2006/main">
            <a:r>
              <a:t>- SWEET-RL: Training Multi-Turn LLM Agents on Collaborative Reasoning Tasks: https://arxiv.org/abs/2503.15478v1</a:t>
            </a:r>
          </a:p>
          <a:p xmlns:a="http://schemas.openxmlformats.org/drawingml/2006/main">
            <a:r>
              <a:t>- Collaborative Gym: A Framework for Enabling and Evaluating Human-Agent Collaboration: https://arxiv.org/abs/2412.15701v6</a:t>
            </a:r>
          </a:p>
          <a:p xmlns:a="http://schemas.openxmlformats.org/drawingml/2006/main">
            <a:r>
              <a:t>- AgentSpec: Customizable Runtime Enforcement for Safe and Reliable LLM Agents: https://arxiv.org/abs/2503.18666v3</a:t>
            </a:r>
          </a:p>
          <a:p xmlns:a="http://schemas.openxmlformats.org/drawingml/2006/main">
            <a:r>
              <a:t>- AgentDojo: A Dynamic Environment to Evaluate Prompt Injection Attacks and Defenses for LLM Agents: https://arxiv.org/abs/2406.13352v3</a:t>
            </a:r>
          </a:p>
          <a:p xmlns:a="http://schemas.openxmlformats.org/drawingml/2006/main">
            <a:r>
              <a:t>- Intelligent AI Delegation: https://arxiv.org/abs/2602.11865v1</a:t>
            </a:r>
          </a:p>
          <a:p xmlns:a="http://schemas.openxmlformats.org/drawingml/2006/main">
            <a:r>
              <a:t>- Why Do Multi-Agent LLM Systems Fail? (MAST): https://arxiv.org/abs/2503.13657v3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另八篇相关文献：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Active Task Disambiguation with LLMs: https://arxiv.org/abs/2502.04485</a:t>
            </a:r>
          </a:p>
          <a:p xmlns:a="http://schemas.openxmlformats.org/drawingml/2006/main">
            <a:r>
              <a:t>- Robots That Ask For Help: Uncertainty Alignment for Large Language Model Planners (KnowNo): https://arxiv.org/abs/2307.01928v2</a:t>
            </a:r>
          </a:p>
          <a:p xmlns:a="http://schemas.openxmlformats.org/drawingml/2006/main">
            <a:r>
              <a:t>- When Search Agents Should Ask: DiscoBench for Clarification-Aware Deep Search: https://arxiv.org/abs/2606.27669v2</a:t>
            </a:r>
          </a:p>
          <a:p xmlns:a="http://schemas.openxmlformats.org/drawingml/2006/main">
            <a:r>
              <a:t>- Aligning LLM Agents by Learning Latent Preference from User Edits (PRELUDE / CIPHER): https://proceedings.neurips.cc/paper_files/paper/2024/file/f75744612447126da06767daecce1a84-Paper-Conference.pdf</a:t>
            </a:r>
          </a:p>
          <a:p xmlns:a="http://schemas.openxmlformats.org/drawingml/2006/main">
            <a:r>
              <a:t>- Tau2-Bench: Evaluating Conversational Agents in a Dual-Control Environment: https://arxiv.org/abs/2506.07982v1</a:t>
            </a:r>
          </a:p>
          <a:p xmlns:a="http://schemas.openxmlformats.org/drawingml/2006/main">
            <a:r>
              <a:t>- Magentic-UI: Towards Human-in-the-loop Agentic Systems: https://arxiv.org/abs/2507.22358v1</a:t>
            </a:r>
          </a:p>
          <a:p xmlns:a="http://schemas.openxmlformats.org/drawingml/2006/main">
            <a:r>
              <a:t>- HAS-Bench: Evaluating LLM-Based Human-Agent Systems under Configurable Human Participation: https://arxiv.org/abs/2607.04329v1</a:t>
            </a:r>
          </a:p>
          <a:p xmlns:a="http://schemas.openxmlformats.org/drawingml/2006/main">
            <a:r>
              <a:t>- LLM-Based Human-Agent Collaboration and Interaction Systems: A Survey: https://aclanthology.org/2026.findings-acl.1811/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研究台账：docs/research/DEMO3-AI-AGENT-BOUNDARY-LITERATURE-20260912.md，核验日期 2026-09-12。不转述论文性能百分比；尚未接入 SAGE-Agent、SWEET-RL 训练或 AgentSpec DSL。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我们把研究映射到八个办公案例，这里展示四个。财务摘要只是定位失败时，应由 Agent 在合法范围内重试，不让用户替它修文件。同一句话出现在两个真实位置时，才请人选择引用位置。UX 频率恰好落在百分之三边界时，计算结果可以保留，但规则冲突需要业务负责人确定口径。报告发送客户则是另一类边界：即使内容已经核对，没有外部执行权限也不能发送。这里不把所有情况压成固定 L0 到 L5，而是分别检查后果、证据、权限、版本和执行回执。尤其要区分报告文件检查通过、业务可以上线或签署，以及真实动作已经发生。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实现边界：表格前两行已有恢复或决定合同；UX 规则批准待实现；当前系统不支持真实对外发送。多维判断是产品设计初稿，未实现自动风险评级，也未经用户研究证明优于等级制。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案例出处：docs/research/DEMO3-BOUNDARY-RULES-AND-CASES-20260912.md。相关机制参考 SAGE-Agent（针对性消歧）、AgentSpec（执行前约束）、AgentDojo（材料信任）和 Intelligent AI Delegation（权限与验证）。这些论文并未验证本项目的具体业务规则。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最后，Demo3 的方向是进入同一套办公任务，而不是新增一个让用户找不到入口的演示站。Control Loop 负责连续执行，Swarm 负责受限分工，共驾边界决定什么时候要请人补充信息、选择口径或交回决策权。当前已经把边界说明和调用、采用回执放回原页面；接下来还要补齐长文本覆盖、业务口径澄清，以及人的反馈怎样触发局部成果更新。测试也不能只看按钮能不能点击，还要测该问的是否漏问、不该问的是否打扰、反馈是否真正被使用，以及越权动作是否被拦截。自动测试之后还需要真实办公用户的理解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状态说明：这是整合方向示意，不是已经实现的完整架构或全场景闭环。长文本输入覆盖问题仍开放；业务审批、任意外部动作和通用策略引擎尚未实现。本次 PPT 制作未更改产品源码，也未重跑模型、PostgreSQL 或目标用户实验。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图片来源：使用用户指定的 imagegen 生成概念配图，白底蓝绿科研风格；原系统截图均保持原样。提示词和图片记录位于 images/image_prompts.md 与 images/image_prompts.json。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8eea4917a54b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d54b481acc481b" /><Relationship Type="http://schemas.openxmlformats.org/officeDocument/2006/relationships/slideLayout" Target="/ppt/slideLayouts/slideLayout1.xml" Id="R0b721453af5647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721453af5647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d0413f09841ea" /><Relationship Type="http://schemas.openxmlformats.org/officeDocument/2006/relationships/image" Target="/ppt/media/image.png" Id="R9341cf9bb3a34fb2" /><Relationship Type="http://schemas.openxmlformats.org/officeDocument/2006/relationships/notesSlide" Target="/ppt/notesSlides/notesSlide1.xml" Id="R1d9bd6e6bfa84a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d658bf5554a58" /><Relationship Type="http://schemas.openxmlformats.org/officeDocument/2006/relationships/image" Target="/ppt/media/image2.png" Id="R681d94af842646e2" /><Relationship Type="http://schemas.openxmlformats.org/officeDocument/2006/relationships/notesSlide" Target="/ppt/notesSlides/notesSlide2.xml" Id="Rec59fb45a0bd4a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49fa45f964b4d" /><Relationship Type="http://schemas.openxmlformats.org/officeDocument/2006/relationships/image" Target="/ppt/media/image3.png" Id="R74bd1dca41114f0e" /><Relationship Type="http://schemas.openxmlformats.org/officeDocument/2006/relationships/notesSlide" Target="/ppt/notesSlides/notesSlide3.xml" Id="Reff7b17b209f41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015b56fb447fe" /><Relationship Type="http://schemas.openxmlformats.org/officeDocument/2006/relationships/notesSlide" Target="/ppt/notesSlides/notesSlide4.xml" Id="R7ab868029f7f46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5bbc28cb54533" /><Relationship Type="http://schemas.openxmlformats.org/officeDocument/2006/relationships/notesSlide" Target="/ppt/notesSlides/notesSlide5.xml" Id="R39597713374441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f652bda634c76" /><Relationship Type="http://schemas.openxmlformats.org/officeDocument/2006/relationships/image" Target="/ppt/media/image4.png" Id="Rbbd88e225ac34b6a" /><Relationship Type="http://schemas.openxmlformats.org/officeDocument/2006/relationships/notesSlide" Target="/ppt/notesSlides/notesSlide6.xml" Id="Rd03f9595909a41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原系统重构：任务进展">
            <a:extLst xmlns:a="http://schemas.openxmlformats.org/drawingml/2006/main">
              <a:ext uri="{FF2B5EF4-FFF2-40B4-BE49-F238E27FC236}">
                <a16:creationId xmlns:a16="http://schemas.microsoft.com/office/drawing/2014/main" id="{40731B67-AA8C-4AEF-9EE7-5FD0A8AB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原系统重构：任务进展</a:t>
            </a:r>
          </a:p>
        </p:txBody>
      </p:sp>
      <p:sp>
        <p:nvSpPr>
          <p:cNvPr id="2" name="保留原办公资料库、Control Loop 与 Swarm，继续优化同一系统">
            <a:extLst xmlns:a="http://schemas.openxmlformats.org/drawingml/2006/main">
              <a:ext uri="{FF2B5EF4-FFF2-40B4-BE49-F238E27FC236}">
                <a16:creationId xmlns:a16="http://schemas.microsoft.com/office/drawing/2014/main" id="{5A373CA3-48A5-490A-94B8-C95708FA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42975"/>
            <a:ext cx="11277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保留原办公资料库、Control Loop 与 Swarm，继续优化同一系统</a:t>
            </a:r>
          </a:p>
        </p:txBody>
      </p:sp>
      <p:sp>
        <p:nvSpPr>
          <p:cNvPr id="3" name="原入口保留">
            <a:extLst xmlns:a="http://schemas.openxmlformats.org/drawingml/2006/main">
              <a:ext uri="{FF2B5EF4-FFF2-40B4-BE49-F238E27FC236}">
                <a16:creationId xmlns:a16="http://schemas.microsoft.com/office/drawing/2014/main" id="{A8F0FE4F-BE9A-4EB3-AEA8-E8C670F9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23622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5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57D2"/>
                </a:solidFill>
                <a:latin typeface="Microsoft YaHei"/>
                <a:ea typeface="Microsoft YaHei"/>
                <a:cs typeface="Microsoft YaHei"/>
              </a:rPr>
              <a:t>原入口保留</a:t>
            </a:r>
          </a:p>
        </p:txBody>
      </p:sp>
      <p:sp>
        <p:nvSpPr>
          <p:cNvPr id="4" name="办公资料库与能力页">
            <a:extLst xmlns:a="http://schemas.openxmlformats.org/drawingml/2006/main">
              <a:ext uri="{FF2B5EF4-FFF2-40B4-BE49-F238E27FC236}">
                <a16:creationId xmlns:a16="http://schemas.microsoft.com/office/drawing/2014/main" id="{A4508DF0-FC3F-40DE-91E6-B46C4C3E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23622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办公资料库与能力页</a:t>
            </a:r>
          </a:p>
        </p:txBody>
      </p:sp>
      <p:sp>
        <p:nvSpPr>
          <p:cNvPr id="5" name="共用同一任务状态">
            <a:extLst xmlns:a="http://schemas.openxmlformats.org/drawingml/2006/main">
              <a:ext uri="{FF2B5EF4-FFF2-40B4-BE49-F238E27FC236}">
                <a16:creationId xmlns:a16="http://schemas.microsoft.com/office/drawing/2014/main" id="{66B59ABF-F682-409F-ACD8-38415840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23622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共用同一任务状态</a:t>
            </a:r>
          </a:p>
        </p:txBody>
      </p:sp>
      <p:sp>
        <p:nvSpPr>
          <p:cNvPr id="6" name="当前重点更清楚">
            <a:extLst xmlns:a="http://schemas.openxmlformats.org/drawingml/2006/main">
              <a:ext uri="{FF2B5EF4-FFF2-40B4-BE49-F238E27FC236}">
                <a16:creationId xmlns:a16="http://schemas.microsoft.com/office/drawing/2014/main" id="{8AEC6A76-9D7D-43C1-AC57-D4047D1A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23622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5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57D2"/>
                </a:solidFill>
                <a:latin typeface="Microsoft YaHei"/>
                <a:ea typeface="Microsoft YaHei"/>
                <a:cs typeface="Microsoft YaHei"/>
              </a:rPr>
              <a:t>当前重点更清楚</a:t>
            </a:r>
          </a:p>
        </p:txBody>
      </p:sp>
      <p:sp>
        <p:nvSpPr>
          <p:cNvPr id="7" name="先看待确认事项">
            <a:extLst xmlns:a="http://schemas.openxmlformats.org/drawingml/2006/main">
              <a:ext uri="{FF2B5EF4-FFF2-40B4-BE49-F238E27FC236}">
                <a16:creationId xmlns:a16="http://schemas.microsoft.com/office/drawing/2014/main" id="{40CD3212-8E25-4BB0-B285-933B652C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81450"/>
            <a:ext cx="23622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先看待确认事项</a:t>
            </a:r>
          </a:p>
        </p:txBody>
      </p:sp>
      <p:sp>
        <p:nvSpPr>
          <p:cNvPr id="8" name="再看分支与已有成果">
            <a:extLst xmlns:a="http://schemas.openxmlformats.org/drawingml/2006/main">
              <a:ext uri="{FF2B5EF4-FFF2-40B4-BE49-F238E27FC236}">
                <a16:creationId xmlns:a16="http://schemas.microsoft.com/office/drawing/2014/main" id="{28499ED9-0771-47C3-B140-8F2E965F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23622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再看分支与已有成果</a:t>
            </a:r>
          </a:p>
        </p:txBody>
      </p:sp>
      <p:sp>
        <p:nvSpPr>
          <p:cNvPr id="9" name="无需先读完整日志">
            <a:extLst xmlns:a="http://schemas.openxmlformats.org/drawingml/2006/main">
              <a:ext uri="{FF2B5EF4-FFF2-40B4-BE49-F238E27FC236}">
                <a16:creationId xmlns:a16="http://schemas.microsoft.com/office/drawing/2014/main" id="{0B226584-0897-4F29-9E63-55C6B9A2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0"/>
            <a:ext cx="23622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无需先读完整日志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41cf9bb3a34fb2"/>
          <a:stretch xmlns:a="http://schemas.openxmlformats.org/drawingml/2006/main"/>
        </p:blipFill>
        <p:spPr>
          <a:xfrm xmlns:a="http://schemas.openxmlformats.org/drawingml/2006/main">
            <a:off x="3048000" y="1438288"/>
            <a:ext cx="8686800" cy="4883727"/>
          </a:xfrm>
          <a:prstGeom xmlns:a="http://schemas.openxmlformats.org/drawingml/2006/main" prst="rect">
            <a:avLst/>
          </a:prstGeom>
        </p:spPr>
      </p:pic>
      <p:sp>
        <p:nvSpPr>
          <p:cNvPr id="11" name="原系统 React 页面，受控测试数据，2026-09-11。截图用于展示界面，">
            <a:extLst xmlns:a="http://schemas.openxmlformats.org/drawingml/2006/main">
              <a:ext uri="{FF2B5EF4-FFF2-40B4-BE49-F238E27FC236}">
                <a16:creationId xmlns:a16="http://schemas.microsoft.com/office/drawing/2014/main" id="{ABB4DDE2-6D4A-48DA-8A9D-37462054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28700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原系统 React 页面，受控测试数据，2026-09-11。截图用于展示界面，不代表真实模型任务成功。</a:t>
            </a:r>
          </a:p>
        </p:txBody>
      </p:sp>
      <p:sp>
        <p:nvSpPr>
          <p:cNvPr id="12" name="01">
            <a:extLst xmlns:a="http://schemas.openxmlformats.org/drawingml/2006/main">
              <a:ext uri="{FF2B5EF4-FFF2-40B4-BE49-F238E27FC236}">
                <a16:creationId xmlns:a16="http://schemas.microsoft.com/office/drawing/2014/main" id="{8FEC986F-4A43-4C41-8B44-AD6594FF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77000"/>
            <a:ext cx="32385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384596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gent Control Loop：证据核对">
            <a:extLst xmlns:a="http://schemas.openxmlformats.org/drawingml/2006/main">
              <a:ext uri="{FF2B5EF4-FFF2-40B4-BE49-F238E27FC236}">
                <a16:creationId xmlns:a16="http://schemas.microsoft.com/office/drawing/2014/main" id="{8AB03A06-0585-419D-9045-DBDDB6FA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Agent Control Loop：证据核对</a:t>
            </a:r>
          </a:p>
        </p:txBody>
      </p:sp>
      <p:sp>
        <p:nvSpPr>
          <p:cNvPr id="2" name="为什么需要我、我该选什么、确认后影响哪里">
            <a:extLst xmlns:a="http://schemas.openxmlformats.org/drawingml/2006/main">
              <a:ext uri="{FF2B5EF4-FFF2-40B4-BE49-F238E27FC236}">
                <a16:creationId xmlns:a16="http://schemas.microsoft.com/office/drawing/2014/main" id="{2268A850-3573-4D45-9B8E-73707F4E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42975"/>
            <a:ext cx="11277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为什么需要我、我该选什么、确认后影响哪里</a:t>
            </a:r>
          </a:p>
        </p:txBody>
      </p:sp>
      <p:sp>
        <p:nvSpPr>
          <p:cNvPr id="3" name="只做必要的选择">
            <a:extLst xmlns:a="http://schemas.openxmlformats.org/drawingml/2006/main">
              <a:ext uri="{FF2B5EF4-FFF2-40B4-BE49-F238E27FC236}">
                <a16:creationId xmlns:a16="http://schemas.microsoft.com/office/drawing/2014/main" id="{06757C0D-611D-4391-90F8-B585ADCF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23622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5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57D2"/>
                </a:solidFill>
                <a:latin typeface="Microsoft YaHei"/>
                <a:ea typeface="Microsoft YaHei"/>
                <a:cs typeface="Microsoft YaHei"/>
              </a:rPr>
              <a:t>只做必要的选择</a:t>
            </a:r>
          </a:p>
        </p:txBody>
      </p:sp>
      <p:sp>
        <p:nvSpPr>
          <p:cNvPr id="4" name="对照两处原文">
            <a:extLst xmlns:a="http://schemas.openxmlformats.org/drawingml/2006/main">
              <a:ext uri="{FF2B5EF4-FFF2-40B4-BE49-F238E27FC236}">
                <a16:creationId xmlns:a16="http://schemas.microsoft.com/office/drawing/2014/main" id="{49B9B2BE-5A49-4FF4-B1EB-DB35A4F5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23622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对照两处原文</a:t>
            </a:r>
          </a:p>
        </p:txBody>
      </p:sp>
      <p:sp>
        <p:nvSpPr>
          <p:cNvPr id="5" name="不替用户默认选择">
            <a:extLst xmlns:a="http://schemas.openxmlformats.org/drawingml/2006/main">
              <a:ext uri="{FF2B5EF4-FFF2-40B4-BE49-F238E27FC236}">
                <a16:creationId xmlns:a16="http://schemas.microsoft.com/office/drawing/2014/main" id="{282AF34F-82B1-40D6-AD28-1AAC9C2F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23622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不替用户默认选择</a:t>
            </a:r>
          </a:p>
        </p:txBody>
      </p:sp>
      <p:sp>
        <p:nvSpPr>
          <p:cNvPr id="6" name="恢复范围明确">
            <a:extLst xmlns:a="http://schemas.openxmlformats.org/drawingml/2006/main">
              <a:ext uri="{FF2B5EF4-FFF2-40B4-BE49-F238E27FC236}">
                <a16:creationId xmlns:a16="http://schemas.microsoft.com/office/drawing/2014/main" id="{03BC4851-28EA-4C5D-8EFD-3F060637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23622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8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8A63"/>
                </a:solidFill>
                <a:latin typeface="Microsoft YaHei"/>
                <a:ea typeface="Microsoft YaHei"/>
                <a:cs typeface="Microsoft YaHei"/>
              </a:rPr>
              <a:t>恢复范围明确</a:t>
            </a:r>
          </a:p>
        </p:txBody>
      </p:sp>
      <p:sp>
        <p:nvSpPr>
          <p:cNvPr id="7" name="只处理相关分支">
            <a:extLst xmlns:a="http://schemas.openxmlformats.org/drawingml/2006/main">
              <a:ext uri="{FF2B5EF4-FFF2-40B4-BE49-F238E27FC236}">
                <a16:creationId xmlns:a16="http://schemas.microsoft.com/office/drawing/2014/main" id="{96E7B1B3-8AC2-40B7-8A0F-835A96B1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81450"/>
            <a:ext cx="23622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只处理相关分支</a:t>
            </a:r>
          </a:p>
        </p:txBody>
      </p:sp>
      <p:sp>
        <p:nvSpPr>
          <p:cNvPr id="8" name="其他成果与历史保留">
            <a:extLst xmlns:a="http://schemas.openxmlformats.org/drawingml/2006/main">
              <a:ext uri="{FF2B5EF4-FFF2-40B4-BE49-F238E27FC236}">
                <a16:creationId xmlns:a16="http://schemas.microsoft.com/office/drawing/2014/main" id="{DDED1B30-F441-4DBC-8B65-06289B2C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23622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其他成果与历史保留</a:t>
            </a:r>
          </a:p>
        </p:txBody>
      </p:sp>
      <p:sp>
        <p:nvSpPr>
          <p:cNvPr id="9" name="选依据不授予">
            <a:extLst xmlns:a="http://schemas.openxmlformats.org/drawingml/2006/main">
              <a:ext uri="{FF2B5EF4-FFF2-40B4-BE49-F238E27FC236}">
                <a16:creationId xmlns:a16="http://schemas.microsoft.com/office/drawing/2014/main" id="{0690ABF0-1298-4A27-BCCC-2A273FB8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81600"/>
            <a:ext cx="23622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86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86A00"/>
                </a:solidFill>
                <a:latin typeface="Microsoft YaHei"/>
                <a:ea typeface="Microsoft YaHei"/>
                <a:cs typeface="Microsoft YaHei"/>
              </a:rPr>
              <a:t>选依据不授予</a:t>
            </a:r>
          </a:p>
        </p:txBody>
      </p:sp>
      <p:sp>
        <p:nvSpPr>
          <p:cNvPr id="10" name="业务或外发权限">
            <a:extLst xmlns:a="http://schemas.openxmlformats.org/drawingml/2006/main">
              <a:ext uri="{FF2B5EF4-FFF2-40B4-BE49-F238E27FC236}">
                <a16:creationId xmlns:a16="http://schemas.microsoft.com/office/drawing/2014/main" id="{F89118F3-256E-4831-B9C5-B842BE4F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0"/>
            <a:ext cx="23622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86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86A00"/>
                </a:solidFill>
                <a:latin typeface="Microsoft YaHei"/>
                <a:ea typeface="Microsoft YaHei"/>
                <a:cs typeface="Microsoft YaHei"/>
              </a:rPr>
              <a:t>业务或外发权限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d94af842646e2"/>
          <a:stretch xmlns:a="http://schemas.openxmlformats.org/drawingml/2006/main"/>
        </p:blipFill>
        <p:spPr>
          <a:xfrm xmlns:a="http://schemas.openxmlformats.org/drawingml/2006/main">
            <a:off x="3048000" y="1438288"/>
            <a:ext cx="8686800" cy="4883727"/>
          </a:xfrm>
          <a:prstGeom xmlns:a="http://schemas.openxmlformats.org/drawingml/2006/main" prst="rect">
            <a:avLst/>
          </a:prstGeom>
        </p:spPr>
      </p:pic>
      <p:sp>
        <p:nvSpPr>
          <p:cNvPr id="12" name="原系统受控测试截图，2026-09-11。终态任务记录选择后，仍需显式创建同任务">
            <a:extLst xmlns:a="http://schemas.openxmlformats.org/drawingml/2006/main">
              <a:ext uri="{FF2B5EF4-FFF2-40B4-BE49-F238E27FC236}">
                <a16:creationId xmlns:a16="http://schemas.microsoft.com/office/drawing/2014/main" id="{B58478ED-4879-4BD2-9198-D34877C9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28700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原系统受控测试截图，2026-09-11。终态任务记录选择后，仍需显式创建同任务的新 Run 续办。</a:t>
            </a:r>
          </a:p>
        </p:txBody>
      </p:sp>
      <p:sp>
        <p:nvSpPr>
          <p:cNvPr id="13" name="02">
            <a:extLst xmlns:a="http://schemas.openxmlformats.org/drawingml/2006/main">
              <a:ext uri="{FF2B5EF4-FFF2-40B4-BE49-F238E27FC236}">
                <a16:creationId xmlns:a16="http://schemas.microsoft.com/office/drawing/2014/main" id="{7336A495-4CCF-42A2-A927-E2CCDFE4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77000"/>
            <a:ext cx="32385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35141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daptive Swarm：分工与贡献采用">
            <a:extLst xmlns:a="http://schemas.openxmlformats.org/drawingml/2006/main">
              <a:ext uri="{FF2B5EF4-FFF2-40B4-BE49-F238E27FC236}">
                <a16:creationId xmlns:a16="http://schemas.microsoft.com/office/drawing/2014/main" id="{F0096010-5612-4F8A-A627-EC86FAE8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Adaptive Swarm：分工与贡献采用</a:t>
            </a:r>
          </a:p>
        </p:txBody>
      </p:sp>
      <p:sp>
        <p:nvSpPr>
          <p:cNvPr id="2" name="服务端准入、工作包依赖和贡献回执在原协作页中呈现">
            <a:extLst xmlns:a="http://schemas.openxmlformats.org/drawingml/2006/main">
              <a:ext uri="{FF2B5EF4-FFF2-40B4-BE49-F238E27FC236}">
                <a16:creationId xmlns:a16="http://schemas.microsoft.com/office/drawing/2014/main" id="{B8FBE575-62D5-4815-A81C-DBD25C94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42975"/>
            <a:ext cx="11277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服务端准入、工作包依赖和贡献回执在原协作页中呈现</a:t>
            </a:r>
          </a:p>
        </p:txBody>
      </p:sp>
      <p:sp>
        <p:nvSpPr>
          <p:cNvPr id="3" name="2 条采用">
            <a:extLst xmlns:a="http://schemas.openxmlformats.org/drawingml/2006/main">
              <a:ext uri="{FF2B5EF4-FFF2-40B4-BE49-F238E27FC236}">
                <a16:creationId xmlns:a16="http://schemas.microsoft.com/office/drawing/2014/main" id="{9261A31B-4784-4769-AC2E-50595BEE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048125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55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557D2"/>
                </a:solidFill>
                <a:latin typeface="Microsoft YaHei"/>
                <a:ea typeface="Microsoft YaHei"/>
                <a:cs typeface="Microsoft YaHei"/>
              </a:rPr>
              <a:t>2 条采用</a:t>
            </a:r>
          </a:p>
        </p:txBody>
      </p:sp>
      <p:sp>
        <p:nvSpPr>
          <p:cNvPr id="4" name="3 条已调用，2 条输出获采用。">
            <a:extLst xmlns:a="http://schemas.openxmlformats.org/drawingml/2006/main">
              <a:ext uri="{FF2B5EF4-FFF2-40B4-BE49-F238E27FC236}">
                <a16:creationId xmlns:a16="http://schemas.microsoft.com/office/drawing/2014/main" id="{3F6D4E1E-26D7-4D23-B365-4AFB439E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39433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3 条已调用，2 条输出获采用。</a:t>
            </a:r>
          </a:p>
        </p:txBody>
      </p:sp>
      <p:sp>
        <p:nvSpPr>
          <p:cNvPr id="5" name="待核对项只影响真实依赖。">
            <a:extLst xmlns:a="http://schemas.openxmlformats.org/drawingml/2006/main">
              <a:ext uri="{FF2B5EF4-FFF2-40B4-BE49-F238E27FC236}">
                <a16:creationId xmlns:a16="http://schemas.microsoft.com/office/drawing/2014/main" id="{A4170F7A-474F-435C-BE2E-058078E5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39433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待核对项只影响真实依赖。</a:t>
            </a:r>
          </a:p>
        </p:txBody>
      </p:sp>
      <p:sp>
        <p:nvSpPr>
          <p:cNvPr id="6" name="当前协作边界">
            <a:extLst xmlns:a="http://schemas.openxmlformats.org/drawingml/2006/main">
              <a:ext uri="{FF2B5EF4-FFF2-40B4-BE49-F238E27FC236}">
                <a16:creationId xmlns:a16="http://schemas.microsoft.com/office/drawing/2014/main" id="{E6510A58-4A90-48F7-B6F8-28B09101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40005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8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8A63"/>
                </a:solidFill>
                <a:latin typeface="Microsoft YaHei"/>
                <a:ea typeface="Microsoft YaHei"/>
                <a:cs typeface="Microsoft YaHei"/>
              </a:rPr>
              <a:t>当前协作边界</a:t>
            </a:r>
          </a:p>
        </p:txBody>
      </p:sp>
      <p:sp>
        <p:nvSpPr>
          <p:cNvPr id="7" name="每批最多 3 个进程内只读 Worker">
            <a:extLst xmlns:a="http://schemas.openxmlformats.org/drawingml/2006/main">
              <a:ext uri="{FF2B5EF4-FFF2-40B4-BE49-F238E27FC236}">
                <a16:creationId xmlns:a16="http://schemas.microsoft.com/office/drawing/2014/main" id="{2B49B095-C13A-48ED-BAEA-FA31D90C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19550"/>
            <a:ext cx="39433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每批最多 3 个进程内只读 Worker</a:t>
            </a:r>
          </a:p>
        </p:txBody>
      </p:sp>
      <p:sp>
        <p:nvSpPr>
          <p:cNvPr id="8" name="显式确认后派发，权限不会扩大">
            <a:extLst xmlns:a="http://schemas.openxmlformats.org/drawingml/2006/main">
              <a:ext uri="{FF2B5EF4-FFF2-40B4-BE49-F238E27FC236}">
                <a16:creationId xmlns:a16="http://schemas.microsoft.com/office/drawing/2014/main" id="{4B211788-4CAC-4D80-8A3C-DA7F97A8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39433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显式确认后派发，权限不会扩大</a:t>
            </a:r>
          </a:p>
        </p:txBody>
      </p:sp>
      <p:sp>
        <p:nvSpPr>
          <p:cNvPr id="9" name="工程差异候选">
            <a:extLst xmlns:a="http://schemas.openxmlformats.org/drawingml/2006/main">
              <a:ext uri="{FF2B5EF4-FFF2-40B4-BE49-F238E27FC236}">
                <a16:creationId xmlns:a16="http://schemas.microsoft.com/office/drawing/2014/main" id="{7745C596-73AC-4B8A-B08B-FE959BD7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40005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5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57D2"/>
                </a:solidFill>
                <a:latin typeface="Microsoft YaHei"/>
                <a:ea typeface="Microsoft YaHei"/>
                <a:cs typeface="Microsoft YaHei"/>
              </a:rPr>
              <a:t>工程差异候选</a:t>
            </a:r>
          </a:p>
        </p:txBody>
      </p:sp>
      <p:sp>
        <p:nvSpPr>
          <p:cNvPr id="10" name="来源约束、贡献核验、局部恢复">
            <a:extLst xmlns:a="http://schemas.openxmlformats.org/drawingml/2006/main">
              <a:ext uri="{FF2B5EF4-FFF2-40B4-BE49-F238E27FC236}">
                <a16:creationId xmlns:a16="http://schemas.microsoft.com/office/drawing/2014/main" id="{931565AB-9655-4327-B270-8CCFC08B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39433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来源约束、贡献核验、局部恢复</a:t>
            </a:r>
          </a:p>
        </p:txBody>
      </p:sp>
      <p:sp>
        <p:nvSpPr>
          <p:cNvPr id="11" name="共同保留在长期任务与成果历史中">
            <a:extLst xmlns:a="http://schemas.openxmlformats.org/drawingml/2006/main">
              <a:ext uri="{FF2B5EF4-FFF2-40B4-BE49-F238E27FC236}">
                <a16:creationId xmlns:a16="http://schemas.microsoft.com/office/drawing/2014/main" id="{972E9261-15EF-47A6-82DB-77CCBC35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39433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共同保留在长期任务与成果历史中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bd1dca41114f0e"/>
          <a:stretch xmlns:a="http://schemas.openxmlformats.org/drawingml/2006/main"/>
        </p:blipFill>
        <p:spPr>
          <a:xfrm xmlns:a="http://schemas.openxmlformats.org/drawingml/2006/main">
            <a:off x="4819650" y="1409711"/>
            <a:ext cx="6534150" cy="4991365"/>
          </a:xfrm>
          <a:prstGeom xmlns:a="http://schemas.openxmlformats.org/drawingml/2006/main" prst="rect">
            <a:avLst/>
          </a:prstGeom>
        </p:spPr>
      </p:pic>
      <p:sp>
        <p:nvSpPr>
          <p:cNvPr id="13" name="原系统受控测试截图，2026-09-12。尚无同配置竞品实测，不能报告算法创新、">
            <a:extLst xmlns:a="http://schemas.openxmlformats.org/drawingml/2006/main">
              <a:ext uri="{FF2B5EF4-FFF2-40B4-BE49-F238E27FC236}">
                <a16:creationId xmlns:a16="http://schemas.microsoft.com/office/drawing/2014/main" id="{96EA7572-B47A-4B8D-8455-9C5AB9AF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原系统受控测试截图，2026-09-12。尚无同配置竞品实测，不能报告算法创新、质量提升或成本下降。</a:t>
            </a:r>
          </a:p>
        </p:txBody>
      </p:sp>
      <p:sp>
        <p:nvSpPr>
          <p:cNvPr id="14" name="03">
            <a:extLst xmlns:a="http://schemas.openxmlformats.org/drawingml/2006/main">
              <a:ext uri="{FF2B5EF4-FFF2-40B4-BE49-F238E27FC236}">
                <a16:creationId xmlns:a16="http://schemas.microsoft.com/office/drawing/2014/main" id="{FF33C9C5-0A37-4E4F-B4A1-68189BD5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77000"/>
            <a:ext cx="32385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130143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人机共驾调研：四条 Agent 技术线">
            <a:extLst xmlns:a="http://schemas.openxmlformats.org/drawingml/2006/main">
              <a:ext uri="{FF2B5EF4-FFF2-40B4-BE49-F238E27FC236}">
                <a16:creationId xmlns:a16="http://schemas.microsoft.com/office/drawing/2014/main" id="{E1A4C0B7-7C57-48D0-A53D-4F111ED8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人机共驾调研：四条 Agent 技术线</a:t>
            </a:r>
          </a:p>
        </p:txBody>
      </p:sp>
      <p:sp>
        <p:nvSpPr>
          <p:cNvPr id="2" name="梳理 16 篇相关论文，重点抽读机制，并映射到原系统的办公任务">
            <a:extLst xmlns:a="http://schemas.openxmlformats.org/drawingml/2006/main">
              <a:ext uri="{FF2B5EF4-FFF2-40B4-BE49-F238E27FC236}">
                <a16:creationId xmlns:a16="http://schemas.microsoft.com/office/drawing/2014/main" id="{726F1146-9885-4327-9AFF-A2EA8693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42975"/>
            <a:ext cx="11277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梳理 16 篇相关论文，重点抽读机制，并映射到原系统的办公任务</a:t>
            </a:r>
          </a:p>
        </p:txBody>
      </p:sp>
      <p:sp>
        <p:nvSpPr>
          <p:cNvPr id="3" name="选择性求助">
            <a:extLst xmlns:a="http://schemas.openxmlformats.org/drawingml/2006/main">
              <a:ext uri="{FF2B5EF4-FFF2-40B4-BE49-F238E27FC236}">
                <a16:creationId xmlns:a16="http://schemas.microsoft.com/office/drawing/2014/main" id="{3A320C64-44D7-4BC0-A00B-C2942082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338137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5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57D2"/>
                </a:solidFill>
                <a:latin typeface="Microsoft YaHei"/>
                <a:ea typeface="Microsoft YaHei"/>
                <a:cs typeface="Microsoft YaHei"/>
              </a:rPr>
              <a:t>选择性求助</a:t>
            </a:r>
          </a:p>
        </p:txBody>
      </p:sp>
      <p:sp>
        <p:nvSpPr>
          <p:cNvPr id="4" name="HiL-Bench、SAGE-Agent（2026）">
            <a:extLst xmlns:a="http://schemas.openxmlformats.org/drawingml/2006/main">
              <a:ext uri="{FF2B5EF4-FFF2-40B4-BE49-F238E27FC236}">
                <a16:creationId xmlns:a16="http://schemas.microsoft.com/office/drawing/2014/main" id="{039C62F4-C78F-4E3D-AECE-53E20D09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3381375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HiL-Bench、SAGE-Agent（2026）</a:t>
            </a:r>
          </a:p>
        </p:txBody>
      </p:sp>
      <p:sp>
        <p:nvSpPr>
          <p:cNvPr id="5" name="判断何时继续查资料，何时必须问人。">
            <a:extLst xmlns:a="http://schemas.openxmlformats.org/drawingml/2006/main">
              <a:ext uri="{FF2B5EF4-FFF2-40B4-BE49-F238E27FC236}">
                <a16:creationId xmlns:a16="http://schemas.microsoft.com/office/drawing/2014/main" id="{2CD2E527-BDDC-44B3-984C-B4230615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14500"/>
            <a:ext cx="74104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判断何时继续查资料，何时必须问人。</a:t>
            </a:r>
          </a:p>
        </p:txBody>
      </p:sp>
      <p:sp>
        <p:nvSpPr>
          <p:cNvPr id="6" name="区分执行失败与缺失口径，减少无谓打扰。">
            <a:extLst xmlns:a="http://schemas.openxmlformats.org/drawingml/2006/main">
              <a:ext uri="{FF2B5EF4-FFF2-40B4-BE49-F238E27FC236}">
                <a16:creationId xmlns:a16="http://schemas.microsoft.com/office/drawing/2014/main" id="{11F1CCCD-26C5-45BA-9F5D-0987D1B9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76450"/>
            <a:ext cx="74104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区分执行失败与缺失口径，减少无谓打扰。</a:t>
            </a:r>
          </a:p>
        </p:txBody>
      </p:sp>
      <p:sp>
        <p:nvSpPr>
          <p:cNvPr id="7" name="多轮反馈利用">
            <a:extLst xmlns:a="http://schemas.openxmlformats.org/drawingml/2006/main">
              <a:ext uri="{FF2B5EF4-FFF2-40B4-BE49-F238E27FC236}">
                <a16:creationId xmlns:a16="http://schemas.microsoft.com/office/drawing/2014/main" id="{5DF30015-DA24-492F-B6EE-F9E6C389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338137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5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57D2"/>
                </a:solidFill>
                <a:latin typeface="Microsoft YaHei"/>
                <a:ea typeface="Microsoft YaHei"/>
                <a:cs typeface="Microsoft YaHei"/>
              </a:rPr>
              <a:t>多轮反馈利用</a:t>
            </a:r>
          </a:p>
        </p:txBody>
      </p:sp>
      <p:sp>
        <p:nvSpPr>
          <p:cNvPr id="8" name="SWEET-RL、Collaborative Gym">
            <a:extLst xmlns:a="http://schemas.openxmlformats.org/drawingml/2006/main">
              <a:ext uri="{FF2B5EF4-FFF2-40B4-BE49-F238E27FC236}">
                <a16:creationId xmlns:a16="http://schemas.microsoft.com/office/drawing/2014/main" id="{E9788ABA-548F-4F03-9B22-FEEFCC51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3381375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SWEET-RL、Collaborative Gym</a:t>
            </a:r>
          </a:p>
        </p:txBody>
      </p:sp>
      <p:sp>
        <p:nvSpPr>
          <p:cNvPr id="9" name="把人的回答用于后续计划与成果修正。">
            <a:extLst xmlns:a="http://schemas.openxmlformats.org/drawingml/2006/main">
              <a:ext uri="{FF2B5EF4-FFF2-40B4-BE49-F238E27FC236}">
                <a16:creationId xmlns:a16="http://schemas.microsoft.com/office/drawing/2014/main" id="{C67F9E7D-BAE4-4A05-9DD8-F159184B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57500"/>
            <a:ext cx="74104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把人的回答用于后续计划与成果修正。</a:t>
            </a:r>
          </a:p>
        </p:txBody>
      </p:sp>
      <p:sp>
        <p:nvSpPr>
          <p:cNvPr id="10" name="沿用同一任务，检查反馈是否真正改变结果。">
            <a:extLst xmlns:a="http://schemas.openxmlformats.org/drawingml/2006/main">
              <a:ext uri="{FF2B5EF4-FFF2-40B4-BE49-F238E27FC236}">
                <a16:creationId xmlns:a16="http://schemas.microsoft.com/office/drawing/2014/main" id="{A28E73D9-80E9-48EA-8322-B25BBC20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19450"/>
            <a:ext cx="74104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沿用同一任务，检查反馈是否真正改变结果。</a:t>
            </a:r>
          </a:p>
        </p:txBody>
      </p:sp>
      <p:sp>
        <p:nvSpPr>
          <p:cNvPr id="11" name="执行权限约束">
            <a:extLst xmlns:a="http://schemas.openxmlformats.org/drawingml/2006/main">
              <a:ext uri="{FF2B5EF4-FFF2-40B4-BE49-F238E27FC236}">
                <a16:creationId xmlns:a16="http://schemas.microsoft.com/office/drawing/2014/main" id="{024329B5-FB82-445D-9FFB-E1D679BE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81450"/>
            <a:ext cx="338137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5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57D2"/>
                </a:solidFill>
                <a:latin typeface="Microsoft YaHei"/>
                <a:ea typeface="Microsoft YaHei"/>
                <a:cs typeface="Microsoft YaHei"/>
              </a:rPr>
              <a:t>执行权限约束</a:t>
            </a:r>
          </a:p>
        </p:txBody>
      </p:sp>
      <p:sp>
        <p:nvSpPr>
          <p:cNvPr id="12" name="AgentSpec、AgentDojo">
            <a:extLst xmlns:a="http://schemas.openxmlformats.org/drawingml/2006/main">
              <a:ext uri="{FF2B5EF4-FFF2-40B4-BE49-F238E27FC236}">
                <a16:creationId xmlns:a16="http://schemas.microsoft.com/office/drawing/2014/main" id="{853B4600-9DBB-40E3-BF10-A7FA2982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3381375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AgentSpec、AgentDojo</a:t>
            </a:r>
          </a:p>
        </p:txBody>
      </p:sp>
      <p:sp>
        <p:nvSpPr>
          <p:cNvPr id="13" name="动作发生前，由 Runtime 强制检查约束。">
            <a:extLst xmlns:a="http://schemas.openxmlformats.org/drawingml/2006/main">
              <a:ext uri="{FF2B5EF4-FFF2-40B4-BE49-F238E27FC236}">
                <a16:creationId xmlns:a16="http://schemas.microsoft.com/office/drawing/2014/main" id="{C4380203-B18A-4D78-9C37-BD927E2E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00500"/>
            <a:ext cx="74104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动作发生前，由 Runtime 强制检查约束。</a:t>
            </a:r>
          </a:p>
        </p:txBody>
      </p:sp>
      <p:sp>
        <p:nvSpPr>
          <p:cNvPr id="14" name="材料中的指令不构成授权，确认依据不开放外发。">
            <a:extLst xmlns:a="http://schemas.openxmlformats.org/drawingml/2006/main">
              <a:ext uri="{FF2B5EF4-FFF2-40B4-BE49-F238E27FC236}">
                <a16:creationId xmlns:a16="http://schemas.microsoft.com/office/drawing/2014/main" id="{C7170A97-210B-45F4-8C30-26C13F1A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362450"/>
            <a:ext cx="74104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材料中的指令不构成授权，确认依据不开放外发。</a:t>
            </a:r>
          </a:p>
        </p:txBody>
      </p:sp>
      <p:sp>
        <p:nvSpPr>
          <p:cNvPr id="15" name="多 Agent 委派验证">
            <a:extLst xmlns:a="http://schemas.openxmlformats.org/drawingml/2006/main">
              <a:ext uri="{FF2B5EF4-FFF2-40B4-BE49-F238E27FC236}">
                <a16:creationId xmlns:a16="http://schemas.microsoft.com/office/drawing/2014/main" id="{FD4FABE8-D691-40CF-AB4E-3D38ADF0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24450"/>
            <a:ext cx="338137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5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57D2"/>
                </a:solidFill>
                <a:latin typeface="Microsoft YaHei"/>
                <a:ea typeface="Microsoft YaHei"/>
                <a:cs typeface="Microsoft YaHei"/>
              </a:rPr>
              <a:t>多 Agent 委派验证</a:t>
            </a:r>
          </a:p>
        </p:txBody>
      </p:sp>
      <p:sp>
        <p:nvSpPr>
          <p:cNvPr id="16" name="Intelligent AI Delegation、MAST">
            <a:extLst xmlns:a="http://schemas.openxmlformats.org/drawingml/2006/main">
              <a:ext uri="{FF2B5EF4-FFF2-40B4-BE49-F238E27FC236}">
                <a16:creationId xmlns:a16="http://schemas.microsoft.com/office/drawing/2014/main" id="{60B1A137-7C4A-4F29-8FE7-652C6605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00700"/>
            <a:ext cx="361950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Intelligent AI Delegation、MAST</a:t>
            </a:r>
          </a:p>
        </p:txBody>
      </p:sp>
      <p:sp>
        <p:nvSpPr>
          <p:cNvPr id="17" name="委派时约束权限，返回后验证每份贡献。">
            <a:extLst xmlns:a="http://schemas.openxmlformats.org/drawingml/2006/main">
              <a:ext uri="{FF2B5EF4-FFF2-40B4-BE49-F238E27FC236}">
                <a16:creationId xmlns:a16="http://schemas.microsoft.com/office/drawing/2014/main" id="{45FA48BC-8A04-4E99-A976-85E9478E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143500"/>
            <a:ext cx="74104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委派时约束权限，返回后验证每份贡献。</a:t>
            </a:r>
          </a:p>
        </p:txBody>
      </p:sp>
      <p:sp>
        <p:nvSpPr>
          <p:cNvPr id="18" name="防止错误交接、未核验采用和提前显示完成。">
            <a:extLst xmlns:a="http://schemas.openxmlformats.org/drawingml/2006/main">
              <a:ext uri="{FF2B5EF4-FFF2-40B4-BE49-F238E27FC236}">
                <a16:creationId xmlns:a16="http://schemas.microsoft.com/office/drawing/2014/main" id="{48BAFB17-3617-4238-A686-5CA62428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505450"/>
            <a:ext cx="74104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防止错误交接、未核验采用和提前显示完成。</a:t>
            </a:r>
          </a:p>
        </p:txBody>
      </p:sp>
      <p:sp>
        <p:nvSpPr>
          <p:cNvPr id="19" name="论文机制与项目设计推论分开。定向选读不等于全文精读、算法接入或效果复现。逐篇链接">
            <a:extLst xmlns:a="http://schemas.openxmlformats.org/drawingml/2006/main">
              <a:ext uri="{FF2B5EF4-FFF2-40B4-BE49-F238E27FC236}">
                <a16:creationId xmlns:a16="http://schemas.microsoft.com/office/drawing/2014/main" id="{D46AB751-A3F2-4FBB-83E2-2CFE31EE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论文机制与项目设计推论分开。定向选读不等于全文精读、算法接入或效果复现。逐篇链接见本页备注。</a:t>
            </a:r>
          </a:p>
        </p:txBody>
      </p:sp>
      <p:sp>
        <p:nvSpPr>
          <p:cNvPr id="20" name="04">
            <a:extLst xmlns:a="http://schemas.openxmlformats.org/drawingml/2006/main">
              <a:ext uri="{FF2B5EF4-FFF2-40B4-BE49-F238E27FC236}">
                <a16:creationId xmlns:a16="http://schemas.microsoft.com/office/drawing/2014/main" id="{6C0FD9EB-3D47-41E6-8E39-60249A94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77000"/>
            <a:ext cx="32385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986863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办公任务中的边界与应对">
            <a:extLst xmlns:a="http://schemas.openxmlformats.org/drawingml/2006/main">
              <a:ext uri="{FF2B5EF4-FFF2-40B4-BE49-F238E27FC236}">
                <a16:creationId xmlns:a16="http://schemas.microsoft.com/office/drawing/2014/main" id="{81FF9DE4-D161-4B84-B893-DEDDA6C0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办公任务中的边界与应对</a:t>
            </a:r>
          </a:p>
        </p:txBody>
      </p:sp>
      <p:sp>
        <p:nvSpPr>
          <p:cNvPr id="2" name="后果、证据、权限、版本和回执分别判断，不采用固定 L0-L5">
            <a:extLst xmlns:a="http://schemas.openxmlformats.org/drawingml/2006/main">
              <a:ext uri="{FF2B5EF4-FFF2-40B4-BE49-F238E27FC236}">
                <a16:creationId xmlns:a16="http://schemas.microsoft.com/office/drawing/2014/main" id="{EBE720D3-4889-49FD-A27B-CA50F3EC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42975"/>
            <a:ext cx="11277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后果、证据、权限、版本和回执分别判断，不采用固定 L0-L5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457200" y="1600200"/>
          <a:ext xmlns:a="http://schemas.openxmlformats.org/drawingml/2006/main" cx="11277600" cy="4267200"/>
        </p:xfrm>
        <a:graphic xmlns:a="http://schemas.openxmlformats.org/drawingml/2006/main">
          <a:graphicData uri="http://schemas.openxmlformats.org/drawingml/2006/table">
            <a:tbl>
              <a:tblPr firstRow="0" firstCol="0" lastCol="0" bandRow="0"/>
              <a:tblGrid>
                <a:gridCol w="2190750"/>
                <a:gridCol w="1809750"/>
                <a:gridCol w="4572000"/>
                <a:gridCol w="2705100"/>
              </a:tblGrid>
              <a:tr h="609600">
                <a:tc>
                  <a:txBody>
                    <a:bodyPr wrap="none" lIns="152400" tIns="76200" rIns="152400" bIns="762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情境</a:t>
                      </a:r>
                    </a:p>
                  </a:txBody>
                  <a:tcPr marL="152400" marR="152400" marT="76200" marB="76200" anchor="ctr">
                    <a:solidFill>
                      <a:srgbClr val="F4F6F8"/>
                    </a:solidFill>
                  </a:tcPr>
                </a:tc>
                <a:tc>
                  <a:txBody>
                    <a:bodyPr wrap="none" lIns="152400" tIns="76200" rIns="152400" bIns="762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</a:t>
                      </a:r>
                    </a:p>
                  </a:txBody>
                  <a:tcPr marL="152400" marR="152400" marT="76200" marB="76200" anchor="ctr">
                    <a:solidFill>
                      <a:srgbClr val="F4F6F8"/>
                    </a:solidFill>
                  </a:tcPr>
                </a:tc>
                <a:tc>
                  <a:txBody>
                    <a:bodyPr wrap="none" lIns="152400" tIns="76200" rIns="152400" bIns="762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处理方式</a:t>
                      </a:r>
                    </a:p>
                  </a:txBody>
                  <a:tcPr marL="152400" marR="152400" marT="76200" marB="76200" anchor="ctr">
                    <a:solidFill>
                      <a:srgbClr val="F4F6F8"/>
                    </a:solidFill>
                  </a:tcPr>
                </a:tc>
                <a:tc>
                  <a:txBody>
                    <a:bodyPr wrap="none" lIns="152400" tIns="76200" rIns="152400" bIns="762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当前状态</a:t>
                      </a:r>
                    </a:p>
                  </a:txBody>
                  <a:tcPr marL="152400" marR="152400" marT="76200" marB="76200" anchor="ctr">
                    <a:solidFill>
                      <a:srgbClr val="F4F6F8"/>
                    </a:solidFill>
                  </a:tcPr>
                </a:tc>
              </a:tr>
              <a:tr h="914400">
                <a:tc>
                  <a:txBody>
                    <a:bodyPr wrap="none" lIns="152400" tIns="76200" rIns="15240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财务摘要</a:t>
                      </a:r>
                    </a:p>
                  </a:txBody>
                  <a:tcPr marL="15240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52400" tIns="76200" rIns="15240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定位能力缺口</a:t>
                      </a:r>
                    </a:p>
                  </a:txBody>
                  <a:tcPr marL="15240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52400" tIns="76200" rIns="15240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 先重试定位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已生成文件继续保留</a:t>
                      </a:r>
                    </a:p>
                  </a:txBody>
                  <a:tcPr marL="15240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52400" tIns="76200" rIns="15240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08A6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已有恢复</a:t>
                      </a:r>
                    </a:p>
                  </a:txBody>
                  <a:tcPr marL="152400" marR="152400" marT="76200" marB="76200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none" lIns="152400" tIns="76200" rIns="15240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同句多处出现</a:t>
                      </a:r>
                    </a:p>
                  </a:txBody>
                  <a:tcPr marL="15240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52400" tIns="76200" rIns="15240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证据歧义</a:t>
                      </a:r>
                    </a:p>
                  </a:txBody>
                  <a:tcPr marL="15240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52400" tIns="76200" rIns="15240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人选真实原文位置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来源过期后重新核对</a:t>
                      </a:r>
                    </a:p>
                  </a:txBody>
                  <a:tcPr marL="15240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52400" tIns="76200" rIns="15240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08A6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已有决定合同</a:t>
                      </a:r>
                    </a:p>
                  </a:txBody>
                  <a:tcPr marL="152400" marR="152400" marT="76200" marB="76200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none" lIns="152400" tIns="76200" rIns="15240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UX 频率恰好 3%</a:t>
                      </a:r>
                    </a:p>
                  </a:txBody>
                  <a:tcPr marL="15240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52400" tIns="76200" rIns="15240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规则冲突</a:t>
                      </a:r>
                    </a:p>
                  </a:txBody>
                  <a:tcPr marL="15240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52400" tIns="76200" rIns="15240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保留计算和两种口径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业务负责人确定规则</a:t>
                      </a:r>
                    </a:p>
                  </a:txBody>
                  <a:tcPr marL="15240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52400" tIns="76200" rIns="15240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B86A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规则批准待实现</a:t>
                      </a:r>
                    </a:p>
                  </a:txBody>
                  <a:tcPr marL="152400" marR="152400" marT="76200" marB="76200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none" lIns="152400" tIns="76200" rIns="15240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报告发送客户</a:t>
                      </a:r>
                    </a:p>
                  </a:txBody>
                  <a:tcPr marL="15240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52400" tIns="76200" rIns="15240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对外动作权限</a:t>
                      </a:r>
                    </a:p>
                  </a:txBody>
                  <a:tcPr marL="15240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52400" tIns="76200" rIns="15240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保留内部成果，明确未发送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不因确认依据而开放外发</a:t>
                      </a:r>
                    </a:p>
                  </a:txBody>
                  <a:tcPr marL="15240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52400" tIns="76200" rIns="15240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B86A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外部执行不支持</a:t>
                      </a:r>
                    </a:p>
                  </a:txBody>
                  <a:tcPr marL="152400" marR="1524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报告文件通过检查，仍可能不满足上线或签署条件。">
            <a:extLst xmlns:a="http://schemas.openxmlformats.org/drawingml/2006/main">
              <a:ext uri="{FF2B5EF4-FFF2-40B4-BE49-F238E27FC236}">
                <a16:creationId xmlns:a16="http://schemas.microsoft.com/office/drawing/2014/main" id="{3805698B-AD04-40B7-94C2-BD7ADD26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67425"/>
            <a:ext cx="11277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57D2"/>
                </a:solidFill>
                <a:latin typeface="Microsoft YaHei"/>
                <a:ea typeface="Microsoft YaHei"/>
                <a:cs typeface="Microsoft YaHei"/>
              </a:rPr>
              <a:t>报告文件通过检查，仍可能不满足上线或签署条件。</a:t>
            </a:r>
          </a:p>
        </p:txBody>
      </p:sp>
      <p:sp>
        <p:nvSpPr>
          <p:cNvPr id="5" name="来自八个办公案例的产品设计初稿。后果严重程度仍需评估，当前未实现自动风险评级。">
            <a:extLst xmlns:a="http://schemas.openxmlformats.org/drawingml/2006/main">
              <a:ext uri="{FF2B5EF4-FFF2-40B4-BE49-F238E27FC236}">
                <a16:creationId xmlns:a16="http://schemas.microsoft.com/office/drawing/2014/main" id="{E22F1478-3F22-47FD-A74D-CA9E0B1F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来自八个办公案例的产品设计初稿。后果严重程度仍需评估，当前未实现自动风险评级。</a:t>
            </a:r>
          </a:p>
        </p:txBody>
      </p:sp>
      <p:sp>
        <p:nvSpPr>
          <p:cNvPr id="6" name="05">
            <a:extLst xmlns:a="http://schemas.openxmlformats.org/drawingml/2006/main">
              <a:ext uri="{FF2B5EF4-FFF2-40B4-BE49-F238E27FC236}">
                <a16:creationId xmlns:a16="http://schemas.microsoft.com/office/drawing/2014/main" id="{B58C4A2D-A607-4400-8BD4-759A4124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77000"/>
            <a:ext cx="32385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775327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Demo3 的整合方向">
            <a:extLst xmlns:a="http://schemas.openxmlformats.org/drawingml/2006/main">
              <a:ext uri="{FF2B5EF4-FFF2-40B4-BE49-F238E27FC236}">
                <a16:creationId xmlns:a16="http://schemas.microsoft.com/office/drawing/2014/main" id="{40574947-34C4-4F01-AF18-F5C6AE72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Demo3 的整合方向</a:t>
            </a:r>
          </a:p>
        </p:txBody>
      </p:sp>
      <p:sp>
        <p:nvSpPr>
          <p:cNvPr id="2" name="共驾设计进入同一任务，沿用原 Control Loop 与 Adaptive S">
            <a:extLst xmlns:a="http://schemas.openxmlformats.org/drawingml/2006/main">
              <a:ext uri="{FF2B5EF4-FFF2-40B4-BE49-F238E27FC236}">
                <a16:creationId xmlns:a16="http://schemas.microsoft.com/office/drawing/2014/main" id="{6D625F56-FB73-45B1-A2EF-CCCA1F0F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42975"/>
            <a:ext cx="11277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共驾设计进入同一任务，沿用原 Control Loop 与 Adaptive Swarm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88e225ac34b6a"/>
          <a:stretch xmlns:a="http://schemas.openxmlformats.org/drawingml/2006/main"/>
        </p:blipFill>
        <p:spPr>
          <a:xfrm xmlns:a="http://schemas.openxmlformats.org/drawingml/2006/main">
            <a:off x="457200" y="1571625"/>
            <a:ext cx="7086600" cy="4724400"/>
          </a:xfrm>
          <a:prstGeom xmlns:a="http://schemas.openxmlformats.org/drawingml/2006/main" prst="rect">
            <a:avLst/>
          </a:prstGeom>
        </p:spPr>
      </p:pic>
      <p:sp>
        <p:nvSpPr>
          <p:cNvPr id="4" name="已有整合">
            <a:extLst xmlns:a="http://schemas.openxmlformats.org/drawingml/2006/main">
              <a:ext uri="{FF2B5EF4-FFF2-40B4-BE49-F238E27FC236}">
                <a16:creationId xmlns:a16="http://schemas.microsoft.com/office/drawing/2014/main" id="{0135A9C6-E11F-4867-B78B-2F6D6BCB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14500"/>
            <a:ext cx="37528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8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8A63"/>
                </a:solidFill>
                <a:latin typeface="Microsoft YaHei"/>
                <a:ea typeface="Microsoft YaHei"/>
                <a:cs typeface="Microsoft YaHei"/>
              </a:rPr>
              <a:t>已有整合</a:t>
            </a:r>
          </a:p>
        </p:txBody>
      </p:sp>
      <p:sp>
        <p:nvSpPr>
          <p:cNvPr id="5" name="原页面已呈现边界说明">
            <a:extLst xmlns:a="http://schemas.openxmlformats.org/drawingml/2006/main">
              <a:ext uri="{FF2B5EF4-FFF2-40B4-BE49-F238E27FC236}">
                <a16:creationId xmlns:a16="http://schemas.microsoft.com/office/drawing/2014/main" id="{7E7B8EE1-3B9C-467F-A687-BA47243C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71700"/>
            <a:ext cx="37528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原页面已呈现边界说明</a:t>
            </a:r>
          </a:p>
        </p:txBody>
      </p:sp>
      <p:sp>
        <p:nvSpPr>
          <p:cNvPr id="6" name="与协作调用、采用回执">
            <a:extLst xmlns:a="http://schemas.openxmlformats.org/drawingml/2006/main">
              <a:ext uri="{FF2B5EF4-FFF2-40B4-BE49-F238E27FC236}">
                <a16:creationId xmlns:a16="http://schemas.microsoft.com/office/drawing/2014/main" id="{A96D478D-9BFE-4D39-9FA5-D0B21328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14600"/>
            <a:ext cx="37528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与协作调用、采用回执</a:t>
            </a:r>
          </a:p>
        </p:txBody>
      </p:sp>
      <p:sp>
        <p:nvSpPr>
          <p:cNvPr id="7" name="继续补齐">
            <a:extLst xmlns:a="http://schemas.openxmlformats.org/drawingml/2006/main">
              <a:ext uri="{FF2B5EF4-FFF2-40B4-BE49-F238E27FC236}">
                <a16:creationId xmlns:a16="http://schemas.microsoft.com/office/drawing/2014/main" id="{94FD704F-AE27-4275-8CE1-052A3D62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71850"/>
            <a:ext cx="37528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86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86A00"/>
                </a:solidFill>
                <a:latin typeface="Microsoft YaHei"/>
                <a:ea typeface="Microsoft YaHei"/>
                <a:cs typeface="Microsoft YaHei"/>
              </a:rPr>
              <a:t>继续补齐</a:t>
            </a:r>
          </a:p>
        </p:txBody>
      </p:sp>
      <p:sp>
        <p:nvSpPr>
          <p:cNvPr id="8" name="长文本覆盖与业务口径澄清">
            <a:extLst xmlns:a="http://schemas.openxmlformats.org/drawingml/2006/main">
              <a:ext uri="{FF2B5EF4-FFF2-40B4-BE49-F238E27FC236}">
                <a16:creationId xmlns:a16="http://schemas.microsoft.com/office/drawing/2014/main" id="{CE2523FC-1435-4F97-9061-8E566E80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37528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长文本覆盖与业务口径澄清</a:t>
            </a:r>
          </a:p>
        </p:txBody>
      </p:sp>
      <p:sp>
        <p:nvSpPr>
          <p:cNvPr id="9" name="人的反馈触发局部成果更新">
            <a:extLst xmlns:a="http://schemas.openxmlformats.org/drawingml/2006/main">
              <a:ext uri="{FF2B5EF4-FFF2-40B4-BE49-F238E27FC236}">
                <a16:creationId xmlns:a16="http://schemas.microsoft.com/office/drawing/2014/main" id="{CD269055-D499-4A02-86AB-FD102EDC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71950"/>
            <a:ext cx="37528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人的反馈触发局部成果更新</a:t>
            </a:r>
          </a:p>
        </p:txBody>
      </p:sp>
      <p:sp>
        <p:nvSpPr>
          <p:cNvPr id="10" name="下一步验证">
            <a:extLst xmlns:a="http://schemas.openxmlformats.org/drawingml/2006/main">
              <a:ext uri="{FF2B5EF4-FFF2-40B4-BE49-F238E27FC236}">
                <a16:creationId xmlns:a16="http://schemas.microsoft.com/office/drawing/2014/main" id="{2EF1BCD1-11AA-4837-964F-68A54DAF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991100"/>
            <a:ext cx="37528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5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57D2"/>
                </a:solidFill>
                <a:latin typeface="Microsoft YaHei"/>
                <a:ea typeface="Microsoft YaHei"/>
                <a:cs typeface="Microsoft YaHei"/>
              </a:rPr>
              <a:t>下一步验证</a:t>
            </a:r>
          </a:p>
        </p:txBody>
      </p:sp>
      <p:sp>
        <p:nvSpPr>
          <p:cNvPr id="11" name="漏问、无谓打扰、反馈利用">
            <a:extLst xmlns:a="http://schemas.openxmlformats.org/drawingml/2006/main">
              <a:ext uri="{FF2B5EF4-FFF2-40B4-BE49-F238E27FC236}">
                <a16:creationId xmlns:a16="http://schemas.microsoft.com/office/drawing/2014/main" id="{3170818C-2BA5-4F89-B5F8-26AF001F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448300"/>
            <a:ext cx="37528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漏问、无谓打扰、反馈利用</a:t>
            </a:r>
          </a:p>
        </p:txBody>
      </p:sp>
      <p:sp>
        <p:nvSpPr>
          <p:cNvPr id="12" name="越权拦截与真人理解测试">
            <a:extLst xmlns:a="http://schemas.openxmlformats.org/drawingml/2006/main">
              <a:ext uri="{FF2B5EF4-FFF2-40B4-BE49-F238E27FC236}">
                <a16:creationId xmlns:a16="http://schemas.microsoft.com/office/drawing/2014/main" id="{A8A0D6D9-8063-451B-B899-B4342D0B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791200"/>
            <a:ext cx="37528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越权拦截与真人理解测试</a:t>
            </a:r>
          </a:p>
        </p:txBody>
      </p:sp>
      <p:sp>
        <p:nvSpPr>
          <p:cNvPr id="13" name="图为研究整合示意（imagegen）。Demo3 全场景闭环尚未完成，长文本覆盖">
            <a:extLst xmlns:a="http://schemas.openxmlformats.org/drawingml/2006/main">
              <a:ext uri="{FF2B5EF4-FFF2-40B4-BE49-F238E27FC236}">
                <a16:creationId xmlns:a16="http://schemas.microsoft.com/office/drawing/2014/main" id="{C66E4615-FC42-42E2-8299-B08CC9BD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76325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图为研究整合示意（imagegen）。Demo3 全场景闭环尚未完成，长文本覆盖问题仍开放。</a:t>
            </a:r>
          </a:p>
        </p:txBody>
      </p:sp>
      <p:sp>
        <p:nvSpPr>
          <p:cNvPr id="14" name="06">
            <a:extLst xmlns:a="http://schemas.openxmlformats.org/drawingml/2006/main">
              <a:ext uri="{FF2B5EF4-FFF2-40B4-BE49-F238E27FC236}">
                <a16:creationId xmlns:a16="http://schemas.microsoft.com/office/drawing/2014/main" id="{D46ABCC1-2F96-4EB1-B515-CFD699CC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77000"/>
            <a:ext cx="32385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859216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2026-09-12T13:20:45.3930000Z</dcterms:created>
  <dcterms:modified xsi:type="dcterms:W3CDTF">2026-09-12T13:20:45.3930000Z</dcterms:modified>
</coreProperties>
</file>
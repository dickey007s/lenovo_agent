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这次汇报先不从模型参数或调用次数开始，而是从一个业务问题开始：Agent 做了事情之后，企业还需要知道什么。客户经理要整理客户 A 的经营信息并准备下一步动作，真正困难的不是得到一段摘要，而是不知道它改了什么、依据是什么，以及下一步会不会产生副作用。我们目前有固定场景的运行证据，但“这套方式已经带来用户价值”仍然是 Draft。这里可能首先会被问到“什么是业务后果”，我的回答是，它不是模型说了什么，而是材料、版本、审批和外部动作实际改变了什么；接下来先看主流方案已经解决到哪里。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先把比较的语气放稳：OpenClaw、Codex 和 Claude Code 都在增强执行、并行、权限或恢复能力，我们并不是在这里做性能排名。它们主要让用户看到 session、thread、command 或 diff，而 Office Agent 试图把用户看到的对象换成 Task、Branch、Artifact、冲突和执行回执。这个差异来自官方材料与源码审计，但没有正面对照基准，所以主流差异仍是 Draft，不能说竞品做不到。大家可能会问，为什么不能直接沿用执行框架，答案是企业要追问业务事实，下一页就是这个事实边界。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这张图把主语从“Agent 说了什么”换成“业务事实是什么”：用户工作区提供材料，Runtime 负责任务、上下文、执行和工件，Policy、Evidence、Approval、Permit 与受控工具负责动作边界。自然语言可以提出建议，但身份、来源、版本、风险和结果必须由服务端拥有，前台只投影可读事实，不展示 Prompt、思维链和底层日志。这个分层已经落在当前协议和固定纵切实现里，但把它扩展成完整产品差异仍是 Draft。接下来我们把这套边界拆成八个模块，看看哪些已经有证据、哪些还只是设计目标。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八个模块不是为了把架构画得更复杂，而是把持续运行、上下文、执行、验证、控制和追踪各自放到可检查的位置。固定客户 A 的 Demo 1 和 Demo 2 路径可以标为 Limited Verified，协议与治理已经实现；而跨实例恢复、通用化和生产化仍然明确放在 Draft，不能从固定纵切外推。用户实际看到的不是模块名称，而是每个 Snapshot、Event、Artifact 或 Receipt 对应的业务状态。可能有人会问，模块这么多会不会增加交互负担，所以我们先回到用户真正想完成的一项工作，再看工作区如何承接它。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用户说的是“整理客户 A 经营汇报，给我可确认的下一步”，而不是“请调用几个模型”。现在的代价是往返邮件、CRM、日历和文档，再靠聊天摘要记住来源和版本；目标流程则是读取允许来源、形成草稿、经过冲突与证据门、得到可交付物，最后才进入受控动作。这个工作流和编辑期间不覆盖新输入的交互不变量已经有实现证据，但是否真的降低理解成本或带来效率提升，还没有用户研究，因此价值结论是 Draft。下面用 Demo 1 看一项长任务如何在冲突出现时继续推进。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1 展示的不是一次回答变长，而是同一个 Task 从 v1 合同、v2 运行，到计划、执行、验证、等待决定，最后进入 v7 提交。客户 A 的关账文件和销售预测文件对收入口径不一致，系统不会替用户自动选择，而是只暂停经营分析分支，同时保留已经验证的风险页和未发送的客户回复草稿。这个固定客户 A、项目仿真文件、文件校验和渐进阶段组成的路径是 Verified，但通用的后台持久 Runtime 仍未被证明。下一页把问题再推进一步：这些“处理中”和“等待决定”究竟由什么服务端事实产生。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这里要特别强调，“正在处理”不是动画做出来的，而是 Task 或 WorkCockpit Snapshot、Branch、Worker、ArtifactVersion、Verification 和 Receipt 的协议投影。GET 负责全量对账，SSE 负责有序变化，版本、序列、digest、message_id 和幂等键共同防止重复或晚到事件把界面带偏；缺少事实时，前台只显示状态待核对。当前固定路径属于 Limited Verified，跨进程 SSE、多实例通知和后台队列仍是 Draft。带着这个前提进入 Demo 2，先看用户选择路线之后为什么还不能算任务已经执行。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这里请先停一下：画面中的“已选择，尚未启动”不是等待动画，而是服务端明确记录的状态。只有用户确认本轮路线并发出显式启动，系统才创建受控 Execution Snapshot，冻结来源和预算，然后启动三个初始 Worker；收入冲突出现后才增派核对单元，最终共享包完成核验且没有外部副作用。这个结论是固定客户 A、单 API 进程 memory 和四次 deepseek-v4-pro 输出被采用范围内的 Limited Verified，不代表通用 Swarm 或生产队列。大家可能会问，新增的工作单元为什么出现，下一页沿着有序事件解释这次动态重排。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前八个事件是收入事实、项目风险和客户要求的初始并行处理，真正的转折在 seq 9：两份文件的收入字段口径不一致，服务端记录了动态重排。紧接着 seq 10 增加收入定义核验工作单元，去区分已实现收入和预测收入，seq 11 到 14 让共享工件逐步收敛，seq 15 才形成四个 Worker、五个 Artifact 的完成回执。这个事件序列和截图 manifest 可以复核，但四次模型调用的耗时只是本次观察，不能写成生产 SLA；Worker 内部对话也不进入业务界面。接下来再看这些 Worker 如何通过共享工件交接，而不是靠聊天互相转述。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多 Agent 的交接单位不是一段难以追踪的聊天，而是带来源、版本、digest 和验证状态的 Artifact。父工件是客户 A 的可验证经营汇报包，收入事实、项目风险和客户回复各自保留来源、版本与 passed 状态，冲突只影响依赖分支，已经验证的工作继续保留。固定路径的共享工件证据属于 Limited Verified，通用跨 Worker 一致性和分布式存储仍然是 Draft。用户接下来可以决定是否进入动作治理，而不是被默认带入发送流程。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3 先把动作的具体后果摊开，再让用户决定是否批准：会改变的是由当前已验证工件重建的客户回复发送动作，会重新核对的是证据、风险、权限和绑定版本，已完成的 Task、Artifact 与 Commit 保持不变，真实邮箱、CRM 和 OA 写入不会发生。预演只说明计划发生什么，执行回执才说明实际发生了什么；内容变化、参数不一致、证据不足、拒绝或 Simulator 失败都必须 fail closed，不能回滚已经验证的工作。固定 reply_draft 到 email.send 的 Simulator 动作账本是 Verified，但真实 Connector、生产身份和跨进程 Permit replay 尚未验证。大家可能会问，这些保证如何避免前后端各自解释，下一页直接对照界面字段和服务端事实。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这页是一个很朴素但很硬的约束：前端展示什么，后端就必须能证明什么。任务栏回指 TaskSnapshot，分支和冲突卡回指 Branch 与 ConflictRecord，共享工件回指 ArtifactVersion 和验证报告，待确认动作回指 ControlEvent 与 Approval，结果横幅回指 ExecutionReceipt；版本、digest、expected version 和 idempotency 负责把状态变化锁住。这个协议映射是当前工程不变量，但把它推广到所有业务场景仍是 Draft，所以前端不能自行补造秒完成、旧金额、风险、Permit 或模型调用事实。沿着这套共同语言，下一页把三个 Demo 放回同一个 Runtime 里看。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 Demo 不是三套互不相干的产品：Demo 1 处理时间连续性，Demo 2 处理复杂任务组织，Demo 3 处理业务副作用控制，共同使用 Contract、State、Context、Execution、Capability、Evidence、Policy 和 Trace。用户在不同工作区看到的虽然是阶段与冲突、路线与 Worker、影响预演与回执，但背后都回到来源、版本、事件和用户控制。三个固定纵切分别有对应运行证据，把它们统一成一套完整产品体验仍是 Draft。下一页不再讲结构，而是把已经证明、受限证明和待实验的范围逐项读清楚。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这一页请按三种状态来读。Verified 是 Demo 1 的文件冲突路径和 Demo 3 的 Simulator 动作账本，能陈述固定客户 A 路径可运行，也能明确外部真实写入未发生；Limited Verified 是 Demo 2 的固定客户 A、单 API 进程 memory、四个被采用的模型输出和十五个有序事件；Draft 则包括主流差异、通用 Swarm、真实 Connector、成本质量效率、用户价值以及生产恢复。换句话说，不能把 Verified 说成生产可靠性，不能把 Limited Verified 说成分布式 Worker 或 SLA，也不能把 Draft 说成已经实现或竞品做不到；问题是我们下一步怎样把 Draft 变成证据，答案就是四路由对照实验。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下一步先冻结同一个客户 A 任务、同一组允许来源和同一模型条件，只改变 Tool Call、Single Agent、Fixed Workflow 与 Adaptive Swarm 四种路由策略。我们比较的不是谁的故事更好听，而是工件完整度、冲突恢复正确率、收敛时间、模型调用数、人工确认负担以及失败或未知结果率，并保留负面结果，把模型能力和编排效果分开。现在这张表只是 Draft 的 planned study，没有任何对照结果，也不应提前许诺成本节省或用户收益。这里可能会被问“为什么选这六类指标”，因为它们分别覆盖交付质量、恢复正确性、资源开销、时间和人的控制负担；最后一页请大家决定是否批准这轮证据生产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最后的请求不是扩大 Agent 数量，而是批准下一轮“证据生产”：先固化四路由对照，再补齐失败、预算、局部暂停和跨进程恢复，然后开展至少五人的无引导理解测试，最后只把通过验证的共享工件桥接到 Demo 3。这个路线是 Draft 的 next gate，不是生产承诺；每一步完成后都要重新说明场景、来源、前台状态、服务端事实、验证证据和边界。我想请大家确认的不是一句“看起来不错”，而是是否同意用这四个门把“Agent 做了什么”逐步收敛成“工作实际发生了什么”。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150f9ab723e92e6.jpg"/>
  <Relationship Id="rId3" Type="http://schemas.openxmlformats.org/officeDocument/2006/relationships/image" Target="../media/image_6b6bf4052c286769.jpg"/>
  <Relationship Id="rId4" Type="http://schemas.openxmlformats.org/officeDocument/2006/relationships/image" Target="../media/image_0beefc1f217ae04b.png"/>
  <Relationship Id="rId5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05a01b3cea354e1.png"/>
  <Relationship Id="rId3" Type="http://schemas.openxmlformats.org/officeDocument/2006/relationships/image" Target="../media/image_962f166bb6f8662b.pn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b6bf4052c286769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d0362ce900ce884.jpg"/>
  <Relationship Id="rId3" Type="http://schemas.openxmlformats.org/officeDocument/2006/relationships/image" Target="../media/image_8ad1a4a768036447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614f2d6f4695f03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522e0b34328cd74.jp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aa21a0c58a3b6e8.png"/>
  <Relationship Id="rId3" Type="http://schemas.openxmlformats.org/officeDocument/2006/relationships/image" Target="../media/image_0beefc1f217ae04b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666750" y="87630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9704" y="499110"/>
              <a:ext cx="224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OFFICE AGENT · 阶段性汇报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611612" y="499110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579"/>
                  </a:solidFill>
                  <a:latin typeface="Consolas"/>
                  <a:ea typeface="Consolas"/>
                  <a:cs typeface="Consolas"/>
                </a:rPr>
                <a:t>2026.08.21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1413510"/>
            <a:ext cx="5651794" cy="3230499"/>
            <a:chOff x="666750" y="1413510"/>
            <a:chExt cx="5651794" cy="3230499"/>
          </a:xfrm>
        </p:grpSpPr>
        <p:sp>
          <p:nvSpPr>
            <p:cNvPr id="8" name="TextBox 8"/>
            <p:cNvSpPr txBox="1"/>
            <p:nvPr/>
          </p:nvSpPr>
          <p:spPr>
            <a:xfrm>
              <a:off x="666750" y="1413510"/>
              <a:ext cx="56517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让 Agent 做事之后，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6750" y="2080260"/>
              <a:ext cx="47874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企业还需要什么？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2470" y="2824162"/>
              <a:ext cx="228094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从“调用发生”到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2470" y="3186112"/>
              <a:ext cx="44754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业务结果可被看见、验证、控制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3676650"/>
              <a:ext cx="4000500" cy="3810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4756" y="3939540"/>
              <a:ext cx="32898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主流 Agent 正在让模型多做事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4756" y="429196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我们把工作置于事实、版本与控制之下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53100" y="1219200"/>
            <a:ext cx="5638800" cy="4791456"/>
            <a:chOff x="5753100" y="1219200"/>
            <a:chExt cx="5638800" cy="4791456"/>
          </a:xfrm>
        </p:grpSpPr>
        <p:sp>
          <p:nvSpPr>
            <p:cNvPr id="16" name="Rectangle 16"/>
            <p:cNvSpPr/>
            <p:nvPr/>
          </p:nvSpPr>
          <p:spPr>
            <a:xfrm>
              <a:off x="6724650" y="1219200"/>
              <a:ext cx="4667250" cy="26289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14288">
              <a:solidFill>
                <a:srgbClr val="CAD6E3"/>
              </a:solidFill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02627" y="1314450"/>
              <a:ext cx="3511296" cy="243840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5753100" y="3581400"/>
              <a:ext cx="3181350" cy="1790700"/>
            </a:xfrm>
            <a:prstGeom prst="roundRect">
              <a:avLst>
                <a:gd name="adj" fmla="val 3191"/>
              </a:avLst>
            </a:prstGeom>
            <a:solidFill>
              <a:srgbClr val="FFFFFF"/>
            </a:solidFill>
            <a:ln w="14288">
              <a:solidFill>
                <a:srgbClr val="CAD6E3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8282" y="3657600"/>
              <a:ext cx="2910986" cy="163830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8724900" y="3886200"/>
              <a:ext cx="2667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4288">
              <a:solidFill>
                <a:srgbClr val="CAD6E3"/>
              </a:solidFill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18228" y="3962400"/>
              <a:ext cx="2280344" cy="1352550"/>
            </a:xfrm>
            <a:prstGeom prst="rect">
              <a:avLst/>
            </a:prstGeom>
          </p:spPr>
        </p:pic>
        <p:sp>
          <p:nvSpPr>
            <p:cNvPr id="22" name="Line 22"/>
            <p:cNvSpPr/>
            <p:nvPr/>
          </p:nvSpPr>
          <p:spPr>
            <a:xfrm>
              <a:off x="5943600" y="5619750"/>
              <a:ext cx="5276850" cy="9525"/>
            </a:xfrm>
            <a:custGeom>
              <a:avLst/>
              <a:gdLst/>
              <a:ahLst/>
              <a:cxnLst/>
              <a:rect l="l" t="t" r="r" b="b"/>
              <a:pathLst>
                <a:path w="5276850" h="9525">
                  <a:moveTo>
                    <a:pt x="0" y="0"/>
                  </a:moveTo>
                  <a:lnTo>
                    <a:pt x="5276850" y="0"/>
                  </a:lnTo>
                </a:path>
              </a:pathLst>
            </a:custGeom>
            <a:noFill/>
            <a:ln w="28575">
              <a:solidFill>
                <a:srgbClr val="D71920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876925" y="5553075"/>
              <a:ext cx="133350" cy="13335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505825" y="5553075"/>
              <a:ext cx="133350" cy="1333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153775" y="5553075"/>
              <a:ext cx="133350" cy="13335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75960" y="5775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04860" y="5775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工件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52810" y="5775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控制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9704" y="6248400"/>
            <a:ext cx="10832592" cy="429006"/>
            <a:chOff x="679704" y="6248400"/>
            <a:chExt cx="10832592" cy="429006"/>
          </a:xfrm>
        </p:grpSpPr>
        <p:sp>
          <p:nvSpPr>
            <p:cNvPr id="30" name="Line 30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04" y="6442710"/>
              <a:ext cx="2813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联想 × 华南理工 · Office Agent V0.1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18469" y="64427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57200" y="400050"/>
              <a:ext cx="76200" cy="4762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136" y="386715"/>
              <a:ext cx="963341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主流 Agent 已经很能执行，我们还要补什么？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7042" y="959168"/>
              <a:ext cx="5338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官方能力对照 · 不做性能优劣排名 · 差异落到用户看见的业务对象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" y="1428750"/>
            <a:ext cx="11277600" cy="628650"/>
            <a:chOff x="457200" y="1428750"/>
            <a:chExt cx="11277600" cy="628650"/>
          </a:xfrm>
        </p:grpSpPr>
        <p:sp>
          <p:nvSpPr>
            <p:cNvPr id="7" name="Rectangle 7"/>
            <p:cNvSpPr/>
            <p:nvPr/>
          </p:nvSpPr>
          <p:spPr>
            <a:xfrm>
              <a:off x="457200" y="1428750"/>
              <a:ext cx="1962150" cy="6286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1980" y="16573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对比维度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419350" y="1428750"/>
              <a:ext cx="2171700" cy="6286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591050" y="1428750"/>
              <a:ext cx="2171700" cy="6286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762750" y="1428750"/>
              <a:ext cx="2171700" cy="6286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934450" y="1428750"/>
              <a:ext cx="2800350" cy="6286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58713" y="1641158"/>
              <a:ext cx="10929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7F9FC"/>
                  </a:solidFill>
                  <a:latin typeface="Segoe UI"/>
                  <a:ea typeface="Segoe UI"/>
                  <a:cs typeface="Segoe UI"/>
                </a:rPr>
                <a:t>OpenClaw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44197" y="1641158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7F9FC"/>
                  </a:solidFill>
                  <a:latin typeface="Segoe UI"/>
                  <a:ea typeface="Segoe UI"/>
                  <a:cs typeface="Segoe UI"/>
                </a:rPr>
                <a:t>Codex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85680" y="1641158"/>
              <a:ext cx="1325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7F9FC"/>
                  </a:solidFill>
                  <a:latin typeface="Segoe UI"/>
                  <a:ea typeface="Segoe UI"/>
                  <a:cs typeface="Segoe UI"/>
                </a:rPr>
                <a:t>Claude Code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84010" y="1555432"/>
              <a:ext cx="15012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Office Agent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05238" y="1829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本项目关注层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57200" y="2057400"/>
            <a:ext cx="11277600" cy="2971800"/>
            <a:chOff x="457200" y="2057400"/>
            <a:chExt cx="11277600" cy="2971800"/>
          </a:xfrm>
        </p:grpSpPr>
        <p:sp>
          <p:nvSpPr>
            <p:cNvPr id="19" name="Rectangle 19"/>
            <p:cNvSpPr/>
            <p:nvPr/>
          </p:nvSpPr>
          <p:spPr>
            <a:xfrm>
              <a:off x="457200" y="2057400"/>
              <a:ext cx="11277600" cy="742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7200" y="2800350"/>
              <a:ext cx="11277600" cy="74295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3543300"/>
              <a:ext cx="11277600" cy="7429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" y="4286250"/>
              <a:ext cx="11277600" cy="74295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934450" y="2057400"/>
              <a:ext cx="2800350" cy="2971800"/>
            </a:xfrm>
            <a:prstGeom prst="rect">
              <a:avLst/>
            </a:prstGeom>
            <a:solidFill>
              <a:srgbClr val="0B3A70">
                <a:alpha val="6000"/>
              </a:srgbClr>
            </a:solidFill>
            <a:ln w="19050">
              <a:solidFill>
                <a:srgbClr val="0B3A70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419350" y="20574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591050" y="20574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762750" y="20574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934450" y="2057400"/>
              <a:ext cx="9525" cy="2971800"/>
            </a:xfrm>
            <a:custGeom>
              <a:avLst/>
              <a:gdLst/>
              <a:ahLst/>
              <a:cxnLst/>
              <a:rect l="l" t="t" r="r" b="b"/>
              <a:pathLst>
                <a:path w="9525" h="2971800">
                  <a:moveTo>
                    <a:pt x="0" y="0"/>
                  </a:moveTo>
                  <a:lnTo>
                    <a:pt x="0" y="297180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1980" y="23526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核心组织对象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980" y="30956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执行与并行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980" y="3838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权限与恢复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980" y="4581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用户主要看到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02992" y="2235518"/>
              <a:ext cx="1625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Gateway / Session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02992" y="2464118"/>
              <a:ext cx="1233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Agent Routing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74692" y="2235518"/>
              <a:ext cx="16717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Thread / Worktree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74692" y="2464118"/>
              <a:ext cx="1133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Coding Agent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46392" y="2235518"/>
              <a:ext cx="1689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Session / Subagent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46392" y="2464118"/>
              <a:ext cx="733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Tool Use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18092" y="2235518"/>
              <a:ext cx="2315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B3A70"/>
                  </a:solidFill>
                  <a:latin typeface="Segoe UI"/>
                  <a:ea typeface="Segoe UI"/>
                  <a:cs typeface="Segoe UI"/>
                </a:rPr>
                <a:t>Task / Branch / Artifact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18092" y="2464118"/>
              <a:ext cx="2049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Segoe UI"/>
                  <a:ea typeface="Segoe UI"/>
                  <a:cs typeface="Segoe UI"/>
                </a:rPr>
                <a:t>ControlEvent / Receipt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02992" y="3111818"/>
              <a:ext cx="1915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多 Agent 路由与自动化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74692" y="3111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并行任务与后台自动化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46392" y="3111818"/>
              <a:ext cx="1557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子 Agent 与 Hooks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18092" y="299751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按业务复杂度组织工作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18092" y="3245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分支隔离、共享工件、动态重排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02992" y="3854768"/>
              <a:ext cx="2091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Exec approval / session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74692" y="3854768"/>
              <a:ext cx="2365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Sandbox / review / resume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46773" y="3748564"/>
              <a:ext cx="186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Permissions / sandbox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46773" y="3996214"/>
              <a:ext cx="1283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hooks / resume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18092" y="3740468"/>
              <a:ext cx="2373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风险、证据、审批、Permit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18092" y="39881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动作影响预演与执行回执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02992" y="4597718"/>
              <a:ext cx="2365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Session / route / command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74692" y="4597718"/>
              <a:ext cx="1983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Thread / diff / review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46392" y="4597718"/>
              <a:ext cx="2337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26579"/>
                  </a:solidFill>
                  <a:latin typeface="Segoe UI"/>
                  <a:ea typeface="Segoe UI"/>
                  <a:cs typeface="Segoe UI"/>
                </a:rPr>
                <a:t>Tool / permission / output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18092" y="44834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哪份材料、哪个冲突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18092" y="4731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确认后会改变什么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57200" y="5334000"/>
            <a:ext cx="11277600" cy="838200"/>
            <a:chOff x="457200" y="5334000"/>
            <a:chExt cx="11277600" cy="838200"/>
          </a:xfrm>
        </p:grpSpPr>
        <p:sp>
          <p:nvSpPr>
            <p:cNvPr id="57" name="Rectangle 57"/>
            <p:cNvSpPr/>
            <p:nvPr/>
          </p:nvSpPr>
          <p:spPr>
            <a:xfrm>
              <a:off x="457200" y="5334000"/>
              <a:ext cx="11277600" cy="8382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942" y="5550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关键差异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6656" y="5806440"/>
              <a:ext cx="94322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不是再造一个执行框架，而是把企业业务事实变成用户可见、服务端可证明的协议。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51866" y="6442710"/>
            <a:ext cx="11289030" cy="234696"/>
            <a:chOff x="451866" y="6442710"/>
            <a:chExt cx="11289030" cy="234696"/>
          </a:xfrm>
        </p:grpSpPr>
        <p:sp>
          <p:nvSpPr>
            <p:cNvPr id="61" name="TextBox 61"/>
            <p:cNvSpPr txBox="1"/>
            <p:nvPr/>
          </p:nvSpPr>
          <p:spPr>
            <a:xfrm>
              <a:off x="451866" y="6458902"/>
              <a:ext cx="5040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来源：OpenClaw、Codex、Claude Code 官方材料与源码审计；无正面对照基准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447069" y="64427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6636" y="367665"/>
              <a:ext cx="75265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业务事实，是 Office Agent 的主语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自然语言提出建议；身份、来源、版本、风险与结果由服务端拥有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3900" y="1543050"/>
            <a:ext cx="10744200" cy="1066800"/>
            <a:chOff x="723900" y="1543050"/>
            <a:chExt cx="10744200" cy="1066800"/>
          </a:xfrm>
        </p:grpSpPr>
        <p:sp>
          <p:nvSpPr>
            <p:cNvPr id="6" name="Rectangle 6"/>
            <p:cNvSpPr/>
            <p:nvPr/>
          </p:nvSpPr>
          <p:spPr>
            <a:xfrm>
              <a:off x="723900" y="1543050"/>
              <a:ext cx="10744200" cy="1066800"/>
            </a:xfrm>
            <a:prstGeom prst="rect">
              <a:avLst/>
            </a:prstGeom>
            <a:solidFill>
              <a:srgbClr val="EAF0F7"/>
            </a:solidFill>
            <a:ln w="14288">
              <a:solidFill>
                <a:srgbClr val="CAD6E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6592" y="1692592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01 · 用户工作区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33450" y="2019300"/>
              <a:ext cx="9296400" cy="400050"/>
              <a:chOff x="933450" y="2019300"/>
              <a:chExt cx="9296400" cy="4000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33450" y="2019300"/>
                <a:ext cx="2209800" cy="4000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6E3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295650" y="2019300"/>
                <a:ext cx="2209800" cy="4000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6E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657850" y="2019300"/>
                <a:ext cx="2209800" cy="4000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6E3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8020050" y="2019300"/>
                <a:ext cx="2209800" cy="4000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AD6E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563519" y="2130742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72230"/>
                    </a:solidFill>
                    <a:latin typeface="Segoe UI"/>
                    <a:ea typeface="Microsoft YaHei UI"/>
                    <a:cs typeface="Segoe UI"/>
                  </a:rPr>
                  <a:t>邮件 / 日历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925719" y="2130742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72230"/>
                    </a:solidFill>
                    <a:latin typeface="Segoe UI"/>
                    <a:ea typeface="Microsoft YaHei UI"/>
                    <a:cs typeface="Segoe UI"/>
                  </a:rPr>
                  <a:t>报价 / 文档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287919" y="2130742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72230"/>
                    </a:solidFill>
                    <a:latin typeface="Segoe UI"/>
                    <a:ea typeface="Microsoft YaHei UI"/>
                    <a:cs typeface="Segoe UI"/>
                  </a:rPr>
                  <a:t>任务 / 成果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650119" y="2130742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172230"/>
                    </a:solidFill>
                    <a:latin typeface="Segoe UI"/>
                    <a:ea typeface="Microsoft YaHei UI"/>
                    <a:cs typeface="Segoe UI"/>
                  </a:rPr>
                  <a:t>审计 / 动作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723900" y="2838450"/>
            <a:ext cx="10744200" cy="1600200"/>
            <a:chOff x="723900" y="2838450"/>
            <a:chExt cx="10744200" cy="1600200"/>
          </a:xfrm>
        </p:grpSpPr>
        <p:sp>
          <p:nvSpPr>
            <p:cNvPr id="18" name="Rectangle 18"/>
            <p:cNvSpPr/>
            <p:nvPr/>
          </p:nvSpPr>
          <p:spPr>
            <a:xfrm>
              <a:off x="723900" y="2838450"/>
              <a:ext cx="10744200" cy="1600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B3A7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6592" y="2997518"/>
              <a:ext cx="2209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02 · 统一 Agent Runtime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33450" y="3352800"/>
              <a:ext cx="1790700" cy="8382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57500" y="3352800"/>
              <a:ext cx="1790700" cy="8382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781550" y="3352800"/>
              <a:ext cx="1790700" cy="8382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05600" y="3352800"/>
              <a:ext cx="1790700" cy="8382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629650" y="3352800"/>
              <a:ext cx="2628900" cy="8382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130300" y="3587750"/>
              <a:ext cx="177800" cy="177801"/>
              <a:chOff x="1130300" y="3587750"/>
              <a:chExt cx="177800" cy="17780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130300" y="358775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30300" y="3721101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33338"/>
                    </a:lnTo>
                    <a:cubicBezTo>
                      <a:pt x="66675" y="39475"/>
                      <a:pt x="61700" y="44450"/>
                      <a:pt x="55563" y="44450"/>
                    </a:cubicBezTo>
                    <a:lnTo>
                      <a:pt x="11113" y="44450"/>
                    </a:lnTo>
                    <a:cubicBezTo>
                      <a:pt x="4975" y="44450"/>
                      <a:pt x="0" y="39475"/>
                      <a:pt x="0" y="3333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241425" y="3676650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77788"/>
                    </a:lnTo>
                    <a:cubicBezTo>
                      <a:pt x="66675" y="83925"/>
                      <a:pt x="61700" y="88900"/>
                      <a:pt x="55563" y="88900"/>
                    </a:cubicBezTo>
                    <a:lnTo>
                      <a:pt x="11113" y="88900"/>
                    </a:lnTo>
                    <a:cubicBezTo>
                      <a:pt x="4975" y="88900"/>
                      <a:pt x="0" y="83925"/>
                      <a:pt x="0" y="7778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41425" y="35877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33338"/>
                    </a:lnTo>
                    <a:cubicBezTo>
                      <a:pt x="66675" y="39475"/>
                      <a:pt x="61700" y="44450"/>
                      <a:pt x="55563" y="44450"/>
                    </a:cubicBezTo>
                    <a:lnTo>
                      <a:pt x="11113" y="44450"/>
                    </a:lnTo>
                    <a:cubicBezTo>
                      <a:pt x="4975" y="44450"/>
                      <a:pt x="0" y="39475"/>
                      <a:pt x="0" y="3333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59230" y="3552825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Task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6075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合同与目标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3065463" y="3576638"/>
              <a:ext cx="177800" cy="211137"/>
              <a:chOff x="3065463" y="3576638"/>
              <a:chExt cx="177800" cy="21113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165475" y="35766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065463" y="35766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77788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05569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165475" y="37099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27781"/>
                    </a:moveTo>
                    <a:cubicBezTo>
                      <a:pt x="0" y="43125"/>
                      <a:pt x="12438" y="55563"/>
                      <a:pt x="27781" y="55563"/>
                    </a:cubicBezTo>
                    <a:cubicBezTo>
                      <a:pt x="43125" y="55563"/>
                      <a:pt x="55563" y="43125"/>
                      <a:pt x="55563" y="27781"/>
                    </a:cubicBezTo>
                    <a:cubicBezTo>
                      <a:pt x="55563" y="12438"/>
                      <a:pt x="43125" y="0"/>
                      <a:pt x="27781" y="0"/>
                    </a:cubicBezTo>
                    <a:cubicBezTo>
                      <a:pt x="12438" y="0"/>
                      <a:pt x="0" y="12438"/>
                      <a:pt x="0" y="27781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215482" y="3759994"/>
                <a:ext cx="27781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27781" h="27781">
                    <a:moveTo>
                      <a:pt x="0" y="0"/>
                    </a:moveTo>
                    <a:lnTo>
                      <a:pt x="27781" y="27781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3383280" y="355282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Context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8480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来源与版本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989513" y="3576638"/>
              <a:ext cx="155575" cy="200026"/>
            </a:xfrm>
            <a:custGeom>
              <a:avLst/>
              <a:gdLst/>
              <a:ahLst/>
              <a:cxnLst/>
              <a:rect l="l" t="t" r="r" b="b"/>
              <a:pathLst>
                <a:path w="155575" h="200026">
                  <a:moveTo>
                    <a:pt x="88900" y="0"/>
                  </a:moveTo>
                  <a:lnTo>
                    <a:pt x="88900" y="77788"/>
                  </a:lnTo>
                  <a:lnTo>
                    <a:pt x="155575" y="77788"/>
                  </a:lnTo>
                  <a:lnTo>
                    <a:pt x="66675" y="200026"/>
                  </a:lnTo>
                  <a:lnTo>
                    <a:pt x="66675" y="122238"/>
                  </a:lnTo>
                  <a:lnTo>
                    <a:pt x="0" y="122238"/>
                  </a:ln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07330" y="3552825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Execution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0885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阶段与分支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913563" y="3576638"/>
              <a:ext cx="155575" cy="200026"/>
              <a:chOff x="6913563" y="3576638"/>
              <a:chExt cx="155575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013575" y="35766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13563" y="35766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58013" y="36877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231380" y="3552825"/>
              <a:ext cx="901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Evidence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3290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验证与冲突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8815388" y="3576638"/>
              <a:ext cx="209550" cy="200025"/>
              <a:chOff x="8815388" y="3576638"/>
              <a:chExt cx="209550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815388" y="35766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859838" y="35766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0"/>
                    </a:moveTo>
                    <a:lnTo>
                      <a:pt x="0" y="44450"/>
                    </a:ln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82063" y="37322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70963" y="3698875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926513" y="3687763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15413" y="36766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9155430" y="3552825"/>
              <a:ext cx="901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Artifact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5695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共享交付物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23900" y="4667250"/>
            <a:ext cx="10744200" cy="971550"/>
            <a:chOff x="723900" y="4667250"/>
            <a:chExt cx="10744200" cy="971550"/>
          </a:xfrm>
        </p:grpSpPr>
        <p:sp>
          <p:nvSpPr>
            <p:cNvPr id="58" name="Rectangle 58"/>
            <p:cNvSpPr/>
            <p:nvPr/>
          </p:nvSpPr>
          <p:spPr>
            <a:xfrm>
              <a:off x="723900" y="4667250"/>
              <a:ext cx="10744200" cy="9715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6592" y="4826318"/>
              <a:ext cx="1778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03 · 控制与执行边界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5068" y="5174932"/>
              <a:ext cx="6759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Policy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563368" y="5174932"/>
              <a:ext cx="991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Evidence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335018" y="5174932"/>
              <a:ext cx="991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Approval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25718" y="5174932"/>
              <a:ext cx="781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Permit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06868" y="5174932"/>
              <a:ext cx="1108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Simulator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30918" y="5174932"/>
              <a:ext cx="863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6845B"/>
                  </a:solidFill>
                  <a:latin typeface="Segoe UI"/>
                  <a:ea typeface="Segoe UI"/>
                  <a:cs typeface="Segoe UI"/>
                </a:rPr>
                <a:t>Receipt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21155" y="5895975"/>
            <a:ext cx="8949690" cy="489776"/>
            <a:chOff x="1621155" y="5895975"/>
            <a:chExt cx="8949690" cy="489776"/>
          </a:xfrm>
        </p:grpSpPr>
        <p:sp>
          <p:nvSpPr>
            <p:cNvPr id="67" name="Line 67"/>
            <p:cNvSpPr/>
            <p:nvPr/>
          </p:nvSpPr>
          <p:spPr>
            <a:xfrm>
              <a:off x="1809750" y="59626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28575">
              <a:solidFill>
                <a:srgbClr val="D71920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743075" y="5895975"/>
              <a:ext cx="133350" cy="13335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4600575" y="5895975"/>
              <a:ext cx="133350" cy="1333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7458075" y="5895975"/>
              <a:ext cx="133350" cy="1333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0315575" y="5895975"/>
              <a:ext cx="133350" cy="13335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621155" y="6121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478655" y="6121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工件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36155" y="6121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控制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93655" y="6121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回执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451866" y="6537960"/>
            <a:ext cx="11289030" cy="234696"/>
            <a:chOff x="451866" y="6537960"/>
            <a:chExt cx="11289030" cy="234696"/>
          </a:xfrm>
        </p:grpSpPr>
        <p:sp>
          <p:nvSpPr>
            <p:cNvPr id="77" name="TextBox 77"/>
            <p:cNvSpPr txBox="1"/>
            <p:nvPr/>
          </p:nvSpPr>
          <p:spPr>
            <a:xfrm>
              <a:off x="451866" y="6554152"/>
              <a:ext cx="41306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前台隐藏 Prompt、思维链、Token 与底层日志，只投影业务事实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447069" y="65379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29565"/>
              <a:ext cx="107620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八个最小模块，把运行变成可持续、可验证、可控制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92106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复杂能力不是默认常驻，而是按任务复杂度和风险按需装配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11277600" cy="495300"/>
            <a:chOff x="457200" y="1390650"/>
            <a:chExt cx="11277600" cy="495300"/>
          </a:xfrm>
        </p:grpSpPr>
        <p:sp>
          <p:nvSpPr>
            <p:cNvPr id="6" name="Rectangle 6"/>
            <p:cNvSpPr/>
            <p:nvPr/>
          </p:nvSpPr>
          <p:spPr>
            <a:xfrm>
              <a:off x="457200" y="1390650"/>
              <a:ext cx="3600450" cy="49530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057650" y="1390650"/>
              <a:ext cx="3829050" cy="4953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886700" y="1390650"/>
              <a:ext cx="3848100" cy="4953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0464" y="1559242"/>
              <a:ext cx="2493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固定纵切 · Limited Verified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92298" y="1559242"/>
              <a:ext cx="1759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协议与治理 · 已实现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52129" y="1559242"/>
              <a:ext cx="2117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通用化与生产化 · Draft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57200" y="2076450"/>
            <a:ext cx="11454935" cy="2895600"/>
            <a:chOff x="457200" y="2076450"/>
            <a:chExt cx="11454935" cy="2895600"/>
          </a:xfrm>
        </p:grpSpPr>
        <p:sp>
          <p:nvSpPr>
            <p:cNvPr id="13" name="Rectangle 13"/>
            <p:cNvSpPr/>
            <p:nvPr/>
          </p:nvSpPr>
          <p:spPr>
            <a:xfrm>
              <a:off x="457200" y="207645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14700" y="207645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72200" y="207645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029700" y="2076450"/>
              <a:ext cx="270510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61950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14700" y="361950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72200" y="3619500"/>
              <a:ext cx="268605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29700" y="3619500"/>
              <a:ext cx="2705100" cy="1352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2076450"/>
              <a:ext cx="76200" cy="135255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14700" y="2076450"/>
              <a:ext cx="76200" cy="135255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72200" y="2076450"/>
              <a:ext cx="76200" cy="13525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029700" y="2076450"/>
              <a:ext cx="76200" cy="13525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7200" y="3619500"/>
              <a:ext cx="76200" cy="13525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14700" y="3619500"/>
              <a:ext cx="76200" cy="13525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72200" y="3619500"/>
              <a:ext cx="76200" cy="13525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29700" y="3619500"/>
              <a:ext cx="76200" cy="13525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74700" y="2355850"/>
              <a:ext cx="203200" cy="203200"/>
              <a:chOff x="774700" y="2355850"/>
              <a:chExt cx="203200" cy="203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74700" y="23558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4700" y="25082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38100"/>
                    </a:lnTo>
                    <a:cubicBezTo>
                      <a:pt x="76200" y="45114"/>
                      <a:pt x="70514" y="50800"/>
                      <a:pt x="635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01700" y="24574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01700" y="23558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38100"/>
                    </a:lnTo>
                    <a:cubicBezTo>
                      <a:pt x="76200" y="45114"/>
                      <a:pt x="70514" y="50800"/>
                      <a:pt x="635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172718" y="2355532"/>
              <a:ext cx="16412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Task Contract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423" y="27770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目标、预算、截止时间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8185" y="305990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固定路径已验证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3632200" y="2350950"/>
              <a:ext cx="203199" cy="213000"/>
              <a:chOff x="3632200" y="2350950"/>
              <a:chExt cx="203199" cy="213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632200" y="235095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632200" y="247015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16845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4030218" y="2355532"/>
              <a:ext cx="15823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Durable State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74923" y="27770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版本、事件、恢复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75685" y="3059906"/>
              <a:ext cx="1184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Task 跨 API 证据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502400" y="2343150"/>
              <a:ext cx="203199" cy="241299"/>
              <a:chOff x="6502400" y="2343150"/>
              <a:chExt cx="203199" cy="241299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16700" y="23431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02400" y="234315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889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12065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16700" y="24955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73849" y="2552699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lnTo>
                      <a:pt x="31750" y="3175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887718" y="2355532"/>
              <a:ext cx="16412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Context State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32423" y="27770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来源、活动视图、草稿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33185" y="305990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服务端拥有事实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9359900" y="2343150"/>
              <a:ext cx="177800" cy="228599"/>
            </a:xfrm>
            <a:custGeom>
              <a:avLst/>
              <a:gdLst/>
              <a:ahLst/>
              <a:cxnLst/>
              <a:rect l="l" t="t" r="r" b="b"/>
              <a:pathLst>
                <a:path w="177800" h="228599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599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45218" y="2355532"/>
              <a:ext cx="17106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Execution Loop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89923" y="2777014"/>
              <a:ext cx="15884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Observe 到 Commit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90685" y="30599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渐进阶段可见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762000" y="3886200"/>
              <a:ext cx="228599" cy="228599"/>
              <a:chOff x="762000" y="3886200"/>
              <a:chExt cx="228599" cy="22859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50900" y="39878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5500" y="4076699"/>
                <a:ext cx="1016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38100">
                    <a:moveTo>
                      <a:pt x="0" y="381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76200" y="0"/>
                    </a:lnTo>
                    <a:cubicBezTo>
                      <a:pt x="90228" y="0"/>
                      <a:pt x="101600" y="11372"/>
                      <a:pt x="101600" y="25400"/>
                    </a:cubicBezTo>
                    <a:lnTo>
                      <a:pt x="101600" y="3810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14400" y="3886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39799" y="3975100"/>
                <a:ext cx="508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8100">
                    <a:moveTo>
                      <a:pt x="0" y="0"/>
                    </a:moveTo>
                    <a:lnTo>
                      <a:pt x="25400" y="0"/>
                    </a:ln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3810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87400" y="3886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62000" y="3975100"/>
                <a:ext cx="508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8100">
                    <a:moveTo>
                      <a:pt x="0" y="381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172718" y="3898582"/>
              <a:ext cx="20945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Capability Runtime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7423" y="4320064"/>
              <a:ext cx="21306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单 Agent、固定流、Swarm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81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按需路由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3644900" y="3886200"/>
              <a:ext cx="177800" cy="228599"/>
              <a:chOff x="3644900" y="3886200"/>
              <a:chExt cx="177800" cy="228599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3759200" y="38862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3644900" y="38862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3695700" y="40132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4030218" y="3898582"/>
              <a:ext cx="19780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Evidence Verifier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574923" y="43200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来源、冲突、质量检查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575685" y="46029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不让模型自证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6459861" y="3886200"/>
              <a:ext cx="248008" cy="228599"/>
              <a:chOff x="6459861" y="3886200"/>
              <a:chExt cx="248008" cy="228599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459861" y="3886200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629400" y="40639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B3A70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887718" y="3898582"/>
              <a:ext cx="15930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Control Policy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32423" y="4320064"/>
              <a:ext cx="161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风险、审批、Permit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33185" y="46029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副作用前置控制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9334500" y="3898900"/>
              <a:ext cx="228599" cy="203200"/>
              <a:chOff x="9334500" y="3898900"/>
              <a:chExt cx="228599" cy="2032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9334500" y="3898900"/>
                <a:ext cx="2285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63500"/>
                    </a:lnTo>
                    <a:cubicBezTo>
                      <a:pt x="228599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334500" y="4000500"/>
                <a:ext cx="228599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63500"/>
                    </a:lnTo>
                    <a:cubicBezTo>
                      <a:pt x="228599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9385300" y="3949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385300" y="40512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9436100" y="39497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436100" y="40512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9745218" y="3898582"/>
              <a:ext cx="2166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Trace / Checkpoint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289923" y="43200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可审计序列与状态指纹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290685" y="46029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跨实例仍待验证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457200" y="5314950"/>
            <a:ext cx="11277600" cy="800100"/>
            <a:chOff x="457200" y="5314950"/>
            <a:chExt cx="11277600" cy="800100"/>
          </a:xfrm>
        </p:grpSpPr>
        <p:sp>
          <p:nvSpPr>
            <p:cNvPr id="89" name="Rectangle 89"/>
            <p:cNvSpPr/>
            <p:nvPr/>
          </p:nvSpPr>
          <p:spPr>
            <a:xfrm>
              <a:off x="457200" y="5314950"/>
              <a:ext cx="11277600" cy="8001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78942" y="5493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前台原则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6656" y="5749290"/>
              <a:ext cx="9713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用户只看可读业务状态；每个状态都回指 Snapshot、Event、Artifact 或 Receipt。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451866" y="6442710"/>
            <a:ext cx="11289030" cy="234696"/>
            <a:chOff x="451866" y="6442710"/>
            <a:chExt cx="11289030" cy="234696"/>
          </a:xfrm>
        </p:grpSpPr>
        <p:sp>
          <p:nvSpPr>
            <p:cNvPr id="93" name="TextBox 93"/>
            <p:cNvSpPr txBox="1"/>
            <p:nvPr/>
          </p:nvSpPr>
          <p:spPr>
            <a:xfrm>
              <a:off x="451866" y="645890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成熟度随证据范围标记，不能从固定纵切外推通用能力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447069" y="64427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6636" y="367665"/>
              <a:ext cx="108087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用户不是想“调用模型”，而是想把工作推进到可交付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088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工作区是主角，Agent 是协作层；每一步都要说清对象、依据和下一步影响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428750"/>
            <a:ext cx="3835679" cy="3714750"/>
            <a:chOff x="533400" y="1428750"/>
            <a:chExt cx="3835679" cy="3714750"/>
          </a:xfrm>
        </p:grpSpPr>
        <p:sp>
          <p:nvSpPr>
            <p:cNvPr id="6" name="Rectangle 6"/>
            <p:cNvSpPr/>
            <p:nvPr/>
          </p:nvSpPr>
          <p:spPr>
            <a:xfrm>
              <a:off x="533400" y="1428750"/>
              <a:ext cx="3733800" cy="3714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142" y="1644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用户故事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0570" y="1985962"/>
              <a:ext cx="36185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“整理客户 A 经营汇报，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0570" y="2366962"/>
              <a:ext cx="33781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给我可确认的下一步。”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28956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4380" y="31337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今天的代价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3492818"/>
              <a:ext cx="2865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在邮件、CRM、日历、文档间切换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37976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靠聊天摘要记住来源与版本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142" y="41024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无法预知下一步是否产生副作用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552950"/>
              <a:ext cx="3143250" cy="38100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5257" y="4662964"/>
              <a:ext cx="3076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真正需要：可交付状态，不是更多对话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0" y="1428750"/>
            <a:ext cx="7086600" cy="2476500"/>
            <a:chOff x="4572000" y="1428750"/>
            <a:chExt cx="7086600" cy="2476500"/>
          </a:xfrm>
        </p:grpSpPr>
        <p:sp>
          <p:nvSpPr>
            <p:cNvPr id="18" name="Rectangle 18"/>
            <p:cNvSpPr/>
            <p:nvPr/>
          </p:nvSpPr>
          <p:spPr>
            <a:xfrm>
              <a:off x="4572000" y="1428750"/>
              <a:ext cx="7086600" cy="2476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6300" y="1778337"/>
              <a:ext cx="3352800" cy="1777326"/>
            </a:xfrm>
            <a:prstGeom prst="rect">
              <a:avLst/>
            </a:prstGeom>
          </p:spPr>
        </p:pic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1500" y="1777987"/>
              <a:ext cx="3352800" cy="1778026"/>
            </a:xfrm>
            <a:prstGeom prst="rect">
              <a:avLst/>
            </a:prstGeom>
          </p:spPr>
        </p:pic>
        <p:sp>
          <p:nvSpPr>
            <p:cNvPr id="21" name="Line 21"/>
            <p:cNvSpPr/>
            <p:nvPr/>
          </p:nvSpPr>
          <p:spPr>
            <a:xfrm>
              <a:off x="8077200" y="161925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4405855" y="4159568"/>
            <a:ext cx="7190289" cy="1533143"/>
            <a:chOff x="4405855" y="4159568"/>
            <a:chExt cx="7190289" cy="1533143"/>
          </a:xfrm>
        </p:grpSpPr>
        <p:sp>
          <p:nvSpPr>
            <p:cNvPr id="23" name="TextBox 23"/>
            <p:cNvSpPr txBox="1"/>
            <p:nvPr/>
          </p:nvSpPr>
          <p:spPr>
            <a:xfrm>
              <a:off x="4565142" y="415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目标流程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953000" y="48387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28575">
              <a:solidFill>
                <a:srgbClr val="CAD6E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686300" y="4572000"/>
              <a:ext cx="533400" cy="5334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210300" y="4572000"/>
              <a:ext cx="533400" cy="5334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734300" y="4572000"/>
              <a:ext cx="533400" cy="5334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258300" y="4572000"/>
              <a:ext cx="533400" cy="5334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782300" y="4572000"/>
              <a:ext cx="533400" cy="5334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41189" y="4769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65189" y="4769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89189" y="4769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13189" y="4769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37189" y="4769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05855" y="52154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读取允许来源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29855" y="52154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形成工件草稿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3855" y="52154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冲突与证据门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77855" y="52154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验证可交付物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01855" y="52154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受控业务动作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52938" y="54873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文件和业务系统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47613" y="54873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用户仍可编辑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42288" y="54873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不替用户猜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24938" y="54873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来源与版本绑定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19613" y="54873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先预演后回执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33400" y="5905500"/>
            <a:ext cx="11125200" cy="495300"/>
            <a:chOff x="533400" y="5905500"/>
            <a:chExt cx="11125200" cy="495300"/>
          </a:xfrm>
        </p:grpSpPr>
        <p:sp>
          <p:nvSpPr>
            <p:cNvPr id="46" name="Rectangle 46"/>
            <p:cNvSpPr/>
            <p:nvPr/>
          </p:nvSpPr>
          <p:spPr>
            <a:xfrm>
              <a:off x="533400" y="5905500"/>
              <a:ext cx="11125200" cy="4953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3618" y="6041708"/>
              <a:ext cx="80481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关键交互不变量：Agent 返回期间用户仍能工作，晚到结果不能覆盖新输入。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8066" y="6576060"/>
            <a:ext cx="11136630" cy="234696"/>
            <a:chOff x="528066" y="6576060"/>
            <a:chExt cx="11136630" cy="234696"/>
          </a:xfrm>
        </p:grpSpPr>
        <p:sp>
          <p:nvSpPr>
            <p:cNvPr id="49" name="TextBox 49"/>
            <p:cNvSpPr txBox="1"/>
            <p:nvPr/>
          </p:nvSpPr>
          <p:spPr>
            <a:xfrm>
              <a:off x="528066" y="6592252"/>
              <a:ext cx="4837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场景来源：0716-v2 会后反馈与三组固定纵切场景；用户价值仍待形成性测试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70869" y="65760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677462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Demo 1：长任务不是一次性回答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5137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同一个 Task 持续推进；局部来源冲突不会把整项工作推倒重来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11912" y="1333500"/>
            <a:ext cx="10632338" cy="733806"/>
            <a:chOff x="511912" y="1333500"/>
            <a:chExt cx="10632338" cy="733806"/>
          </a:xfrm>
        </p:grpSpPr>
        <p:sp>
          <p:nvSpPr>
            <p:cNvPr id="6" name="Line 6"/>
            <p:cNvSpPr/>
            <p:nvPr/>
          </p:nvSpPr>
          <p:spPr>
            <a:xfrm>
              <a:off x="819150" y="156210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38100">
              <a:solidFill>
                <a:srgbClr val="CAD6E3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28650" y="1333500"/>
              <a:ext cx="457200" cy="4572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152650" y="1333500"/>
              <a:ext cx="457200" cy="4572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676650" y="1333500"/>
              <a:ext cx="457200" cy="4572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200650" y="1333500"/>
              <a:ext cx="457200" cy="4572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724650" y="1333500"/>
              <a:ext cx="457200" cy="4572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248650" y="1333500"/>
              <a:ext cx="457200" cy="4572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153650" y="1333500"/>
              <a:ext cx="457200" cy="4572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7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81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05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29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3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77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82862" y="14992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1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任务合同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35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读取资料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59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拆分任务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83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生成材料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07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核对事实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31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等待决定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36912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最终提交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2286000"/>
            <a:ext cx="6572250" cy="3695700"/>
            <a:chOff x="457200" y="2286000"/>
            <a:chExt cx="6572250" cy="3695700"/>
          </a:xfrm>
        </p:grpSpPr>
        <p:sp>
          <p:nvSpPr>
            <p:cNvPr id="29" name="Rectangle 29"/>
            <p:cNvSpPr/>
            <p:nvPr/>
          </p:nvSpPr>
          <p:spPr>
            <a:xfrm>
              <a:off x="457200" y="2286000"/>
              <a:ext cx="6572250" cy="36957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CAD6E3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096" y="2400300"/>
              <a:ext cx="6160458" cy="3467100"/>
            </a:xfrm>
            <a:prstGeom prst="rect">
              <a:avLst/>
            </a:prstGeom>
          </p:spPr>
        </p:pic>
      </p:grpSp>
      <p:grpSp>
        <p:nvGrpSpPr>
          <p:cNvPr id="42" name="Group 42"/>
          <p:cNvGrpSpPr/>
          <p:nvPr/>
        </p:nvGrpSpPr>
        <p:grpSpPr>
          <a:xfrm>
            <a:off x="7296150" y="2286000"/>
            <a:ext cx="4438650" cy="1695450"/>
            <a:chOff x="7296150" y="2286000"/>
            <a:chExt cx="4438650" cy="1695450"/>
          </a:xfrm>
        </p:grpSpPr>
        <p:sp>
          <p:nvSpPr>
            <p:cNvPr id="32" name="Rectangle 32"/>
            <p:cNvSpPr/>
            <p:nvPr/>
          </p:nvSpPr>
          <p:spPr>
            <a:xfrm>
              <a:off x="7296150" y="2286000"/>
              <a:ext cx="4438650" cy="1695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7192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96150" y="2286000"/>
              <a:ext cx="95250" cy="16954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585649" y="2546363"/>
              <a:ext cx="240143" cy="206314"/>
              <a:chOff x="7585649" y="2546363"/>
              <a:chExt cx="240143" cy="20631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705725" y="26217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585649" y="254636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05725" y="2705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D71920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992618" y="2546032"/>
              <a:ext cx="2271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客户 A 收入口径冲突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5992" y="29594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财务关账文件：已实现收入 2400 万元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55992" y="3245168"/>
              <a:ext cx="3354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销售预测文件：Q3 预测收入 2680 万元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56373" y="3596164"/>
              <a:ext cx="312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字段语义不同，Agent 不得自动选择。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296150" y="4171950"/>
            <a:ext cx="4438650" cy="1809750"/>
            <a:chOff x="7296150" y="4171950"/>
            <a:chExt cx="4438650" cy="1809750"/>
          </a:xfrm>
        </p:grpSpPr>
        <p:sp>
          <p:nvSpPr>
            <p:cNvPr id="43" name="Rectangle 43"/>
            <p:cNvSpPr/>
            <p:nvPr/>
          </p:nvSpPr>
          <p:spPr>
            <a:xfrm>
              <a:off x="7296150" y="4171950"/>
              <a:ext cx="4438650" cy="18097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55992" y="43500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局部暂停，整体继续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677150" y="481965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noFill/>
            <a:ln w="28575">
              <a:solidFill>
                <a:srgbClr val="CAD6E3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600950" y="4857750"/>
              <a:ext cx="152400" cy="1524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600950" y="5238750"/>
              <a:ext cx="152400" cy="1524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600950" y="5619750"/>
              <a:ext cx="152400" cy="1524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98892" y="4845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经营分析分支等待人工口径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98892" y="52263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风险页保持已验证版本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98892" y="5607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客户回复草稿保留，不发送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51866" y="6290310"/>
            <a:ext cx="11289030" cy="234696"/>
            <a:chOff x="451866" y="6290310"/>
            <a:chExt cx="11289030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451866" y="6306502"/>
              <a:ext cx="6031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Verified：固定客户 A、项目生成仿真文件、文件校验与渐进阶段；通用持久 Runtime 仍待扩展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47069" y="62903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6636" y="367665"/>
              <a:ext cx="987579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“正在处理”不能靠动画，必须由服务端事实产生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46030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GET 负责对账，SSE 负责有序变化，前端只做可读投影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1524000"/>
            <a:ext cx="3429000" cy="4000500"/>
            <a:chOff x="533400" y="1524000"/>
            <a:chExt cx="3429000" cy="4000500"/>
          </a:xfrm>
        </p:grpSpPr>
        <p:sp>
          <p:nvSpPr>
            <p:cNvPr id="6" name="Rectangle 6"/>
            <p:cNvSpPr/>
            <p:nvPr/>
          </p:nvSpPr>
          <p:spPr>
            <a:xfrm>
              <a:off x="533400" y="1524000"/>
              <a:ext cx="3429000" cy="400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524000"/>
              <a:ext cx="3429000" cy="5334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3618" y="168878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用户看到的业务状态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668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读取资料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4573" y="26436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来源包已校验，正在形成任务上下文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30099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2668" y="32508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协作单元运行中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57711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哪个工作包、使用什么来源、当前回执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39433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2668" y="418433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等待你的决定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45105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原因、候选事实、确认后影响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48768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2668" y="51177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业务工作包已收敛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267200" y="2006918"/>
            <a:ext cx="3524250" cy="3273266"/>
            <a:chOff x="4267200" y="2006918"/>
            <a:chExt cx="3524250" cy="3273266"/>
          </a:xfrm>
        </p:grpSpPr>
        <p:sp>
          <p:nvSpPr>
            <p:cNvPr id="20" name="Line 20"/>
            <p:cNvSpPr/>
            <p:nvPr/>
          </p:nvSpPr>
          <p:spPr>
            <a:xfrm>
              <a:off x="4267200" y="23241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7620000" y="222885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714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0B3A7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93120" y="2006918"/>
              <a:ext cx="2253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GET Snapshot · 全量对账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267200" y="310515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35242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16845B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267200" y="300990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0" y="95250"/>
                  </a:moveTo>
                  <a:lnTo>
                    <a:pt x="171450" y="0"/>
                  </a:lnTo>
                  <a:lnTo>
                    <a:pt x="171450" y="190500"/>
                  </a:lnTo>
                  <a:close/>
                </a:path>
              </a:pathLst>
            </a:custGeom>
            <a:solidFill>
              <a:srgbClr val="16845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26604" y="2787968"/>
              <a:ext cx="15863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SSE · 有序事件流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267200" y="3886200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28575">
              <a:solidFill>
                <a:srgbClr val="D71920"/>
              </a:solidFill>
              <a:custDash>
                <a:ds d="333333" sp="266666"/>
              </a:custDash>
            </a:ln>
          </p:spPr>
        </p:sp>
        <p:sp>
          <p:nvSpPr>
            <p:cNvPr id="27" name="Polygon 27"/>
            <p:cNvSpPr/>
            <p:nvPr/>
          </p:nvSpPr>
          <p:spPr>
            <a:xfrm>
              <a:off x="7620000" y="379095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714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D7192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64613" y="3569018"/>
              <a:ext cx="2510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D71920"/>
                  </a:solidFill>
                  <a:latin typeface="Segoe UI"/>
                  <a:ea typeface="Segoe UI"/>
                  <a:cs typeface="Segoe UI"/>
                </a:rPr>
                <a:t>Control + expected version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705350" y="4400550"/>
              <a:ext cx="2628900" cy="8572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82544" y="45486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乱序与重复保护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03173" y="4831556"/>
              <a:ext cx="2033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26579"/>
                  </a:solidFill>
                  <a:latin typeface="Consolas"/>
                  <a:ea typeface="Consolas"/>
                  <a:cs typeface="Consolas"/>
                </a:rPr>
                <a:t>version · sequence · digest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93374" y="5060156"/>
              <a:ext cx="22528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26579"/>
                  </a:solidFill>
                  <a:latin typeface="Consolas"/>
                  <a:ea typeface="Consolas"/>
                  <a:cs typeface="Consolas"/>
                </a:rPr>
                <a:t>message_id · idempotency-key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77200" y="1524000"/>
            <a:ext cx="3581400" cy="4000500"/>
            <a:chOff x="8077200" y="1524000"/>
            <a:chExt cx="3581400" cy="4000500"/>
          </a:xfrm>
        </p:grpSpPr>
        <p:sp>
          <p:nvSpPr>
            <p:cNvPr id="34" name="Rectangle 34"/>
            <p:cNvSpPr/>
            <p:nvPr/>
          </p:nvSpPr>
          <p:spPr>
            <a:xfrm>
              <a:off x="8077200" y="1524000"/>
              <a:ext cx="3581400" cy="40005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35518" y="17078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服务端权威事实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43900" y="2209800"/>
              <a:ext cx="3048000" cy="6096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27542" y="2445068"/>
              <a:ext cx="27211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Task / WorkCockpit Snapshot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43900" y="2971800"/>
              <a:ext cx="30480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27542" y="3207068"/>
              <a:ext cx="2515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Branch / Worker / Conflict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343900" y="3733800"/>
              <a:ext cx="3048000" cy="60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527542" y="3969068"/>
              <a:ext cx="2846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ArtifactVersion / Verification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43900" y="4495800"/>
              <a:ext cx="3048000" cy="60960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27542" y="4731068"/>
              <a:ext cx="2150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ControlEvent / Receipt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3400" y="5829300"/>
            <a:ext cx="11125200" cy="514350"/>
            <a:chOff x="533400" y="5829300"/>
            <a:chExt cx="11125200" cy="51435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143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3618" y="5975032"/>
              <a:ext cx="77366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缺少事实时，前台显示“状态待核对”，而不是推断完成、风险或模型调用。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8066" y="6537960"/>
            <a:ext cx="11136630" cy="234696"/>
            <a:chOff x="528066" y="6537960"/>
            <a:chExt cx="11136630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528066" y="6554152"/>
              <a:ext cx="4937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固定路径 Limited Verified；跨进程 SSE 通知、多实例与后台队列仍是 Draft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370869" y="65379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1093990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Demo 2：用户确认后，Adaptive Swarm 才真正启动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6215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“已选择路线”不是“任务已执行”，显式启动才创建受控 Execution Snapshot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71600"/>
            <a:ext cx="11277600" cy="3185351"/>
            <a:chOff x="457200" y="1371600"/>
            <a:chExt cx="11277600" cy="3185351"/>
          </a:xfrm>
        </p:grpSpPr>
        <p:sp>
          <p:nvSpPr>
            <p:cNvPr id="6" name="Rectangle 6"/>
            <p:cNvSpPr/>
            <p:nvPr/>
          </p:nvSpPr>
          <p:spPr>
            <a:xfrm>
              <a:off x="457200" y="1371600"/>
              <a:ext cx="4000500" cy="2781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074" y="1466850"/>
              <a:ext cx="3730752" cy="25908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7734300" y="1371600"/>
              <a:ext cx="4000500" cy="2781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9174" y="1466850"/>
              <a:ext cx="3730752" cy="25908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672985" y="429291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已选择 · 尚未启动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76763" y="4292918"/>
              <a:ext cx="2315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执行中 · Worker 回执可见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43450" y="2152650"/>
            <a:ext cx="2705100" cy="1181100"/>
            <a:chOff x="4743450" y="2152650"/>
            <a:chExt cx="2705100" cy="1181100"/>
          </a:xfrm>
        </p:grpSpPr>
        <p:sp>
          <p:nvSpPr>
            <p:cNvPr id="13" name="Line 13"/>
            <p:cNvSpPr/>
            <p:nvPr/>
          </p:nvSpPr>
          <p:spPr>
            <a:xfrm>
              <a:off x="4743450" y="274320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38100">
              <a:solidFill>
                <a:srgbClr val="CAD6E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7239000" y="2628900"/>
              <a:ext cx="209550" cy="228600"/>
            </a:xfrm>
            <a:custGeom>
              <a:avLst/>
              <a:gdLst/>
              <a:ahLst/>
              <a:cxnLst/>
              <a:rect l="l" t="t" r="r" b="b"/>
              <a:pathLst>
                <a:path w="209550" h="228600">
                  <a:moveTo>
                    <a:pt x="20955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0B3A7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143500" y="2152650"/>
              <a:ext cx="1905000" cy="11811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416550" y="2381250"/>
              <a:ext cx="177800" cy="228599"/>
            </a:xfrm>
            <a:custGeom>
              <a:avLst/>
              <a:gdLst/>
              <a:ahLst/>
              <a:cxnLst/>
              <a:rect l="l" t="t" r="r" b="b"/>
              <a:pathLst>
                <a:path w="177800" h="228599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599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83580" y="23907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明确启动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85003" y="2777014"/>
              <a:ext cx="1221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创建 Execution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88781" y="302466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冻结来源与预算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50342" y="4807268"/>
            <a:ext cx="11274628" cy="1437893"/>
            <a:chOff x="450342" y="4807268"/>
            <a:chExt cx="11274628" cy="1437893"/>
          </a:xfrm>
        </p:grpSpPr>
        <p:sp>
          <p:nvSpPr>
            <p:cNvPr id="21" name="TextBox 21"/>
            <p:cNvSpPr txBox="1"/>
            <p:nvPr/>
          </p:nvSpPr>
          <p:spPr>
            <a:xfrm>
              <a:off x="450342" y="4807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受控内部执行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066800" y="5467350"/>
              <a:ext cx="10058400" cy="9525"/>
            </a:xfrm>
            <a:custGeom>
              <a:avLst/>
              <a:gdLst/>
              <a:ahLst/>
              <a:cxnLst/>
              <a:rect l="l" t="t" r="r" b="b"/>
              <a:pathLst>
                <a:path w="10058400" h="9525">
                  <a:moveTo>
                    <a:pt x="0" y="0"/>
                  </a:moveTo>
                  <a:lnTo>
                    <a:pt x="10058400" y="0"/>
                  </a:lnTo>
                </a:path>
              </a:pathLst>
            </a:custGeom>
            <a:noFill/>
            <a:ln w="38100">
              <a:solidFill>
                <a:srgbClr val="CAD6E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28675" y="5229225"/>
              <a:ext cx="476250" cy="4762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343275" y="5229225"/>
              <a:ext cx="476250" cy="4762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857875" y="5229225"/>
              <a:ext cx="476250" cy="4762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372475" y="5229225"/>
              <a:ext cx="476250" cy="47625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887075" y="5229225"/>
              <a:ext cx="476250" cy="47625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4058" y="5404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28658" y="5404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43258" y="5404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7858" y="5404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72458" y="54044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7563" y="5775960"/>
              <a:ext cx="1198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Admission 预演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66440" y="57759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确认本轮路线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34982" y="5775960"/>
              <a:ext cx="1322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3 个初始 Worker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5640" y="57759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冲突触发增派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25430" y="57759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共享包核验完成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95813" y="60398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无外部副作用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1866" y="6442710"/>
            <a:ext cx="11289030" cy="234696"/>
            <a:chOff x="451866" y="6442710"/>
            <a:chExt cx="11289030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451866" y="6458902"/>
              <a:ext cx="6144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Limited Verified：固定客户 A、单 API 进程、memory、4 次 deepseek-v4-pro 模型输出被采用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447069" y="64427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982915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创新不在头像墙，而在发现冲突后改变工作组织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服务端事件把动态重排解释成用户能理解的业务原因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52550"/>
            <a:ext cx="6705600" cy="4657725"/>
            <a:chOff x="457200" y="1352550"/>
            <a:chExt cx="6705600" cy="4657725"/>
          </a:xfrm>
        </p:grpSpPr>
        <p:sp>
          <p:nvSpPr>
            <p:cNvPr id="6" name="Rectangle 6"/>
            <p:cNvSpPr/>
            <p:nvPr/>
          </p:nvSpPr>
          <p:spPr>
            <a:xfrm>
              <a:off x="457200" y="1352550"/>
              <a:ext cx="6705600" cy="46577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030" y="1466850"/>
              <a:ext cx="6377940" cy="4429125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5238750" y="2838450"/>
              <a:ext cx="457200" cy="4572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411312" y="300561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9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000750" y="3448050"/>
              <a:ext cx="457200" cy="4572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23751" y="361521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17892" y="1378268"/>
            <a:ext cx="3391161" cy="4632388"/>
            <a:chOff x="7517892" y="1378268"/>
            <a:chExt cx="3391161" cy="4632388"/>
          </a:xfrm>
        </p:grpSpPr>
        <p:sp>
          <p:nvSpPr>
            <p:cNvPr id="13" name="TextBox 13"/>
            <p:cNvSpPr txBox="1"/>
            <p:nvPr/>
          </p:nvSpPr>
          <p:spPr>
            <a:xfrm>
              <a:off x="7517892" y="1378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有序运行事实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848600" y="1885950"/>
              <a:ext cx="9525" cy="3790950"/>
            </a:xfrm>
            <a:custGeom>
              <a:avLst/>
              <a:gdLst/>
              <a:ahLst/>
              <a:cxnLst/>
              <a:rect l="l" t="t" r="r" b="b"/>
              <a:pathLst>
                <a:path w="9525" h="3790950">
                  <a:moveTo>
                    <a:pt x="0" y="0"/>
                  </a:moveTo>
                  <a:lnTo>
                    <a:pt x="0" y="3790950"/>
                  </a:lnTo>
                </a:path>
              </a:pathLst>
            </a:custGeom>
            <a:noFill/>
            <a:ln w="38100">
              <a:solidFill>
                <a:srgbClr val="CAD6E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724775" y="1933575"/>
              <a:ext cx="247650" cy="2476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838450"/>
              <a:ext cx="342900" cy="3429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677150" y="3829050"/>
              <a:ext cx="342900" cy="3429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724775" y="4829175"/>
              <a:ext cx="247650" cy="24765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677150" y="5505450"/>
              <a:ext cx="342900" cy="3429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85404" y="1889760"/>
              <a:ext cx="693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SEQ 1—8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83880" y="2105025"/>
              <a:ext cx="2176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初始 Worker 并行处理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85404" y="23850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收入事实、项目风险、客户要求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5404" y="2842260"/>
              <a:ext cx="49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D71920"/>
                  </a:solidFill>
                  <a:latin typeface="Consolas"/>
                  <a:ea typeface="Consolas"/>
                  <a:cs typeface="Consolas"/>
                </a:rPr>
                <a:t>SEQ 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3118" y="30413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动态重排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85404" y="33566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两份文件的收入字段口径不一致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5404" y="3832860"/>
              <a:ext cx="594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D71920"/>
                  </a:solidFill>
                  <a:latin typeface="Consolas"/>
                  <a:ea typeface="Consolas"/>
                  <a:cs typeface="Consolas"/>
                </a:rPr>
                <a:t>SEQ 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83118" y="40319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新增核对工作单元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85404" y="4347210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验证“已实现收入”与“预测收入”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5404" y="4785360"/>
              <a:ext cx="890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SEQ 11—14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83880" y="50006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共享工件收敛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5404" y="5509260"/>
              <a:ext cx="594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6845B"/>
                  </a:solidFill>
                  <a:latin typeface="Consolas"/>
                  <a:ea typeface="Consolas"/>
                  <a:cs typeface="Consolas"/>
                </a:rPr>
                <a:t>SEQ 15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21318" y="54606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执行完成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5404" y="5775960"/>
              <a:ext cx="27236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4 Worker · 5 Artifact · 无外部动作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57200" y="6153150"/>
            <a:ext cx="11277600" cy="381000"/>
            <a:chOff x="457200" y="6153150"/>
            <a:chExt cx="11277600" cy="381000"/>
          </a:xfrm>
        </p:grpSpPr>
        <p:sp>
          <p:nvSpPr>
            <p:cNvPr id="35" name="Rectangle 35"/>
            <p:cNvSpPr/>
            <p:nvPr/>
          </p:nvSpPr>
          <p:spPr>
            <a:xfrm>
              <a:off x="457200" y="6153150"/>
              <a:ext cx="11277600" cy="3810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942" y="6255068"/>
              <a:ext cx="56188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4 个模型输出被采用；运行耗时仅是本次观察，不是生产 SLA。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1866" y="6633210"/>
            <a:ext cx="11289030" cy="234696"/>
            <a:chOff x="451866" y="6633210"/>
            <a:chExt cx="11289030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866" y="6649402"/>
              <a:ext cx="5866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仓库截图与 Snapshot manifest 可复核；Worker 内部对话与原始重排 code 不进入业务界面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47069" y="66332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6636" y="348615"/>
              <a:ext cx="1062406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多 Agent 不靠“互相转述”，而靠共享工件版本收敛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21068"/>
              <a:ext cx="52956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每个 Worker 交付带来源、版本、digest 与验证状态的 Artifact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428750"/>
            <a:ext cx="6515100" cy="4524375"/>
            <a:chOff x="533400" y="1428750"/>
            <a:chExt cx="6515100" cy="4524375"/>
          </a:xfrm>
        </p:grpSpPr>
        <p:sp>
          <p:nvSpPr>
            <p:cNvPr id="6" name="Rectangle 6"/>
            <p:cNvSpPr/>
            <p:nvPr/>
          </p:nvSpPr>
          <p:spPr>
            <a:xfrm>
              <a:off x="533400" y="1428750"/>
              <a:ext cx="6515100" cy="45243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7992" y="1543050"/>
              <a:ext cx="6185916" cy="4295775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>
            <a:off x="7429500" y="1428750"/>
            <a:ext cx="4229100" cy="4524375"/>
            <a:chOff x="7429500" y="1428750"/>
            <a:chExt cx="4229100" cy="4524375"/>
          </a:xfrm>
        </p:grpSpPr>
        <p:sp>
          <p:nvSpPr>
            <p:cNvPr id="9" name="Rectangle 9"/>
            <p:cNvSpPr/>
            <p:nvPr/>
          </p:nvSpPr>
          <p:spPr>
            <a:xfrm>
              <a:off x="7429500" y="1428750"/>
              <a:ext cx="4229100" cy="9906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32192" y="16068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父工件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9144" y="1884998"/>
              <a:ext cx="32670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客户 A 可验证经营汇报包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544050" y="241935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905750" y="27813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905750" y="27813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544050" y="27813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182350" y="27813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0B3A7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0" y="3009900"/>
              <a:ext cx="1295400" cy="160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896350" y="3009900"/>
              <a:ext cx="1295400" cy="160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363200" y="3009900"/>
              <a:ext cx="1295400" cy="160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75423" y="31961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收入事实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6185" y="35171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财务关账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6185" y="37647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销售预测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6566" y="419195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v2 · passed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42273" y="31961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项目风险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3035" y="35171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周报来源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43035" y="37647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影响范围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43416" y="419195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6845B"/>
                  </a:solidFill>
                  <a:latin typeface="Consolas"/>
                  <a:ea typeface="Consolas"/>
                  <a:cs typeface="Consolas"/>
                </a:rPr>
                <a:t>v2 · passed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09123" y="31961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客户回复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09885" y="35171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邮件要求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09885" y="37647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草稿未发送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10266" y="4191952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6845B"/>
                  </a:solidFill>
                  <a:latin typeface="Consolas"/>
                  <a:ea typeface="Consolas"/>
                  <a:cs typeface="Consolas"/>
                </a:rPr>
                <a:t>v2 · passed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429500" y="4819650"/>
              <a:ext cx="4229100" cy="1133475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32192" y="49977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用户能检查的四件事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2573" y="5329714"/>
              <a:ext cx="3179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来自哪里 · 谁处理 · 当前版本 · 是否验证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32954" y="56235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冲突只影响依赖分支，已验证工作被保留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8066" y="6252210"/>
            <a:ext cx="11136630" cy="234696"/>
            <a:chOff x="528066" y="6252210"/>
            <a:chExt cx="11136630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528066" y="6268402"/>
              <a:ext cx="50264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Fixed path Limited Verified；通用跨 Worker 一致性与分布式存储仍是 Draft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70869" y="62522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115052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Demo 3：用户批准的不是命令，而是一次具体业务后果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预演说明将发生什么；回执只说明实际发生了什么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71600"/>
            <a:ext cx="4133850" cy="4705350"/>
            <a:chOff x="457200" y="1371600"/>
            <a:chExt cx="4133850" cy="4705350"/>
          </a:xfrm>
        </p:grpSpPr>
        <p:sp>
          <p:nvSpPr>
            <p:cNvPr id="6" name="Rectangle 6"/>
            <p:cNvSpPr/>
            <p:nvPr/>
          </p:nvSpPr>
          <p:spPr>
            <a:xfrm>
              <a:off x="457200" y="1371600"/>
              <a:ext cx="4133850" cy="2952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049" y="1485900"/>
              <a:ext cx="3586153" cy="27241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57200" y="4514850"/>
              <a:ext cx="4133850" cy="1562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0012" y="4629150"/>
              <a:ext cx="2248227" cy="1333500"/>
            </a:xfrm>
            <a:prstGeom prst="rect">
              <a:avLst/>
            </a:prstGeom>
          </p:spPr>
        </p:pic>
      </p:grpSp>
      <p:grpSp>
        <p:nvGrpSpPr>
          <p:cNvPr id="32" name="Group 32"/>
          <p:cNvGrpSpPr/>
          <p:nvPr/>
        </p:nvGrpSpPr>
        <p:grpSpPr>
          <a:xfrm>
            <a:off x="4965192" y="1416368"/>
            <a:ext cx="6769608" cy="3803332"/>
            <a:chOff x="4965192" y="1416368"/>
            <a:chExt cx="6769608" cy="3803332"/>
          </a:xfrm>
        </p:grpSpPr>
        <p:sp>
          <p:nvSpPr>
            <p:cNvPr id="11" name="TextBox 11"/>
            <p:cNvSpPr txBox="1"/>
            <p:nvPr/>
          </p:nvSpPr>
          <p:spPr>
            <a:xfrm>
              <a:off x="4965192" y="14163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动作影响账本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972050" y="1752600"/>
              <a:ext cx="6762750" cy="78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972050" y="1752600"/>
              <a:ext cx="95250" cy="7810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9611" y="1903571"/>
              <a:ext cx="618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会改变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31661" y="1903571"/>
              <a:ext cx="26632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客户回复草稿 → 受控发送动作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70754" y="22136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目标、主题、正文由当前已验证工件重建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972050" y="2647950"/>
              <a:ext cx="6762750" cy="78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72050" y="2647950"/>
              <a:ext cx="95250" cy="7810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9611" y="2798921"/>
              <a:ext cx="1021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会重新核对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17411" y="2798921"/>
              <a:ext cx="26330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证据、风险、权限与绑定版本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70754" y="3108960"/>
              <a:ext cx="3461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内容变化、参数不一致或证据不足时 fail closed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972050" y="3543300"/>
              <a:ext cx="6762750" cy="78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72050" y="3543300"/>
              <a:ext cx="95250" cy="78105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9611" y="369427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保持不变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1661" y="3694271"/>
              <a:ext cx="32066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已完成 Task、Artifact 与 Commit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0754" y="40043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拒绝或执行失败不会回滚已经验证的工作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972050" y="4438650"/>
              <a:ext cx="6762750" cy="781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972050" y="4438650"/>
              <a:ext cx="95250" cy="781050"/>
            </a:xfrm>
            <a:prstGeom prst="rect">
              <a:avLst/>
            </a:prstGeom>
            <a:solidFill>
              <a:srgbClr val="8291A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9611" y="458962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不会发生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1661" y="4589621"/>
              <a:ext cx="24513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真实邮箱、CRM、OA 写入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70754" y="4899660"/>
              <a:ext cx="31679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当前仅调用 Simulator，外部副作用为 none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045964" y="5486400"/>
            <a:ext cx="6557772" cy="644461"/>
            <a:chOff x="5045964" y="5486400"/>
            <a:chExt cx="6557772" cy="644461"/>
          </a:xfrm>
        </p:grpSpPr>
        <p:sp>
          <p:nvSpPr>
            <p:cNvPr id="33" name="Line 33"/>
            <p:cNvSpPr/>
            <p:nvPr/>
          </p:nvSpPr>
          <p:spPr>
            <a:xfrm>
              <a:off x="5334000" y="567690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38100">
              <a:solidFill>
                <a:srgbClr val="CAD6E3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143500" y="5486400"/>
              <a:ext cx="381000" cy="3810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343650" y="5486400"/>
              <a:ext cx="381000" cy="3810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543800" y="5486400"/>
              <a:ext cx="381000" cy="3810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743950" y="5486400"/>
              <a:ext cx="381000" cy="3810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944100" y="5486400"/>
              <a:ext cx="381000" cy="381000"/>
            </a:xfrm>
            <a:prstGeom prst="ellipse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125200" y="5486400"/>
              <a:ext cx="381000" cy="3810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45964" y="5925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工件绑定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75438" y="59255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证据与风险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46264" y="5925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人工批准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75738" y="59255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一次性许可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46564" y="5925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受控工具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27664" y="5925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执行回执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1866" y="6404610"/>
            <a:ext cx="11289030" cy="234696"/>
            <a:chOff x="451866" y="6404610"/>
            <a:chExt cx="11289030" cy="234696"/>
          </a:xfrm>
        </p:grpSpPr>
        <p:sp>
          <p:nvSpPr>
            <p:cNvPr id="47" name="TextBox 47"/>
            <p:cNvSpPr txBox="1"/>
            <p:nvPr/>
          </p:nvSpPr>
          <p:spPr>
            <a:xfrm>
              <a:off x="451866" y="6420802"/>
              <a:ext cx="7354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Verified：固定 reply_draft → email.send Simulator；真实 Connector、生产身份与跨进程 Permit replay 未验证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47069" y="64046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79633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前端展示什么，后端就必须能证明什么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6460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Task / Branch / Artifact / ControlEvent 是产品设计与 Runtime 的共同词汇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11277600" cy="514350"/>
            <a:chOff x="457200" y="1390650"/>
            <a:chExt cx="11277600" cy="514350"/>
          </a:xfrm>
        </p:grpSpPr>
        <p:sp>
          <p:nvSpPr>
            <p:cNvPr id="6" name="Rectangle 6"/>
            <p:cNvSpPr/>
            <p:nvPr/>
          </p:nvSpPr>
          <p:spPr>
            <a:xfrm>
              <a:off x="457200" y="1390650"/>
              <a:ext cx="3333750" cy="5143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229100" y="1390650"/>
              <a:ext cx="3429000" cy="5143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096250" y="1390650"/>
              <a:ext cx="3638550" cy="51435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92402" y="15621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用户界面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11927" y="15621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协议映射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7839" y="15621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服务端事实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7200" y="2038350"/>
            <a:ext cx="11277600" cy="3886200"/>
            <a:chOff x="457200" y="2038350"/>
            <a:chExt cx="11277600" cy="3886200"/>
          </a:xfrm>
        </p:grpSpPr>
        <p:sp>
          <p:nvSpPr>
            <p:cNvPr id="13" name="Rectangle 13"/>
            <p:cNvSpPr/>
            <p:nvPr/>
          </p:nvSpPr>
          <p:spPr>
            <a:xfrm>
              <a:off x="457200" y="2038350"/>
              <a:ext cx="33337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29100" y="2038350"/>
              <a:ext cx="3429000" cy="6858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096250" y="2038350"/>
              <a:ext cx="36385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7200" y="2838450"/>
              <a:ext cx="33337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229100" y="2838450"/>
              <a:ext cx="3429000" cy="6858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96250" y="2838450"/>
              <a:ext cx="36385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7200" y="3638550"/>
              <a:ext cx="33337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29100" y="3638550"/>
              <a:ext cx="3429000" cy="6858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96250" y="3638550"/>
              <a:ext cx="36385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" y="4438650"/>
              <a:ext cx="33337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229100" y="4438650"/>
              <a:ext cx="3429000" cy="6858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96250" y="4438650"/>
              <a:ext cx="36385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7200" y="5238750"/>
              <a:ext cx="33337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29100" y="5238750"/>
              <a:ext cx="3429000" cy="6858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96250" y="5238750"/>
              <a:ext cx="3638550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7799" y="2287429"/>
              <a:ext cx="26875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任务栏：状态、阶段、版本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69892" y="2311718"/>
              <a:ext cx="17293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GET + SSE + version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7042" y="2311718"/>
              <a:ext cx="1285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TaskSnapshot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7799" y="3087529"/>
              <a:ext cx="179702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分支状态与冲突卡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69892" y="31118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branch_id + conflict_id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7042" y="3111818"/>
              <a:ext cx="2255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Branch / ConflictRecord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7799" y="3887629"/>
              <a:ext cx="15743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共享工件与验证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69892" y="3911918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version + digest + source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7042" y="3911918"/>
              <a:ext cx="2360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ArtifactVersion / Report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7799" y="4687729"/>
              <a:ext cx="22422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待确认动作与影响预演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69892" y="4712018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expected_version + idempotency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7042" y="4712018"/>
              <a:ext cx="2255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ControlEvent / Approval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7799" y="5487829"/>
              <a:ext cx="20196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结果横幅与恢复入口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9892" y="5512118"/>
              <a:ext cx="2521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message_id + receipt status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7042" y="5512118"/>
              <a:ext cx="1608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72230"/>
                  </a:solidFill>
                  <a:latin typeface="Consolas"/>
                  <a:ea typeface="Consolas"/>
                  <a:cs typeface="Consolas"/>
                </a:rPr>
                <a:t>ExecutionReceipt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3790950" y="23812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7658100" y="23812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16845B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3790950" y="31813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7658100" y="31813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16845B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790950" y="3981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7658100" y="3981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16845B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3790950" y="47815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658100" y="47815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16845B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3790950" y="55816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658100" y="55816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16845B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57200" y="6115050"/>
            <a:ext cx="11277600" cy="400050"/>
            <a:chOff x="457200" y="6115050"/>
            <a:chExt cx="11277600" cy="400050"/>
          </a:xfrm>
        </p:grpSpPr>
        <p:sp>
          <p:nvSpPr>
            <p:cNvPr id="54" name="Rectangle 54"/>
            <p:cNvSpPr/>
            <p:nvPr/>
          </p:nvSpPr>
          <p:spPr>
            <a:xfrm>
              <a:off x="457200" y="6115050"/>
              <a:ext cx="11277600" cy="4000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942" y="6226492"/>
              <a:ext cx="6476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不要推断：秒完成、旧金额回退、前端生成风险、Permit 或模型调用事实。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447069" y="663321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0B3A70"/>
                </a:solidFill>
                <a:latin typeface="Consolas"/>
                <a:ea typeface="Consolas"/>
                <a:cs typeface="Consolas"/>
              </a:rPr>
              <a:t>P12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29565"/>
              <a:ext cx="997709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三个 Demo，是同一个 Runtime 的三种用户视角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9020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时间连续性、复杂任务组织、业务副作用控制，共用同一套来源与版本语言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7200" y="1428750"/>
            <a:ext cx="11277600" cy="3943350"/>
            <a:chOff x="457200" y="1428750"/>
            <a:chExt cx="11277600" cy="3943350"/>
          </a:xfrm>
        </p:grpSpPr>
        <p:sp>
          <p:nvSpPr>
            <p:cNvPr id="6" name="Rectangle 6"/>
            <p:cNvSpPr/>
            <p:nvPr/>
          </p:nvSpPr>
          <p:spPr>
            <a:xfrm>
              <a:off x="457200" y="1428750"/>
              <a:ext cx="11277600" cy="1200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428750"/>
              <a:ext cx="1809750" cy="12001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8942" y="1644968"/>
              <a:ext cx="709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0F7"/>
                  </a:solidFill>
                  <a:latin typeface="Consolas"/>
                  <a:ea typeface="Consolas"/>
                  <a:cs typeface="Consolas"/>
                </a:rPr>
                <a:t>DEMO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5132" y="19259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持续任务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704" y="22898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时间连续性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01468" y="1612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用户看见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02992" y="19878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阶段、分支、冲突、当前工件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87668" y="1612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服务端事实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9192" y="1987868"/>
              <a:ext cx="2205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Task / Branch / Artifact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12630" y="1800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持续收敛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" y="2800350"/>
              <a:ext cx="11277600" cy="1200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2800350"/>
              <a:ext cx="1809750" cy="12001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8942" y="3016568"/>
              <a:ext cx="709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AF0F7"/>
                  </a:solidFill>
                  <a:latin typeface="Consolas"/>
                  <a:ea typeface="Consolas"/>
                  <a:cs typeface="Consolas"/>
                </a:rPr>
                <a:t>DEMO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5132" y="32975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协作执行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9704" y="36614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复杂任务组织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01468" y="29841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用户看见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02992" y="3359468"/>
              <a:ext cx="2857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路线、Worker、动态重排、共享包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7668" y="29841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服务端事实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192" y="3359468"/>
              <a:ext cx="2732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Admission / Worker / Snapshot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12630" y="3171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组织改变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57200" y="4171950"/>
              <a:ext cx="11277600" cy="1200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7200" y="4171950"/>
              <a:ext cx="1809750" cy="12001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942" y="4388168"/>
              <a:ext cx="709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DEMO 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132" y="46691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受控动作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9704" y="50330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业务副作用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01468" y="4355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用户看见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02992" y="47310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影响预演、审批、许可、回执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7668" y="43557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服务端事实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192" y="4731068"/>
              <a:ext cx="265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ActionSpec / Permit / Receipt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12630" y="45434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45B"/>
                  </a:solidFill>
                  <a:latin typeface="Segoe UI"/>
                  <a:ea typeface="Microsoft YaHei UI"/>
                  <a:cs typeface="Segoe UI"/>
                </a:rPr>
                <a:t>影响可控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638800"/>
            <a:ext cx="11277600" cy="628650"/>
            <a:chOff x="457200" y="5638800"/>
            <a:chExt cx="11277600" cy="628650"/>
          </a:xfrm>
        </p:grpSpPr>
        <p:sp>
          <p:nvSpPr>
            <p:cNvPr id="37" name="Rectangle 37"/>
            <p:cNvSpPr/>
            <p:nvPr/>
          </p:nvSpPr>
          <p:spPr>
            <a:xfrm>
              <a:off x="457200" y="5638800"/>
              <a:ext cx="11277600" cy="6286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5756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共同底座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83080" y="5857875"/>
              <a:ext cx="8177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Contract · State · Context · Execution · Capability · Evidence · Policy · Trace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19200" y="6282214"/>
            <a:ext cx="9525000" cy="249364"/>
            <a:chOff x="1219200" y="6282214"/>
            <a:chExt cx="9525000" cy="249364"/>
          </a:xfrm>
        </p:grpSpPr>
        <p:sp>
          <p:nvSpPr>
            <p:cNvPr id="41" name="Line 41"/>
            <p:cNvSpPr/>
            <p:nvPr/>
          </p:nvSpPr>
          <p:spPr>
            <a:xfrm>
              <a:off x="1219200" y="64960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28575">
              <a:solidFill>
                <a:srgbClr val="D7192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63227" y="6282214"/>
              <a:ext cx="2436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来源 · 版本 · 事件 · 用户控制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447069" y="659511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0B3A70"/>
                </a:solidFill>
                <a:latin typeface="Consolas"/>
                <a:ea typeface="Consolas"/>
                <a:cs typeface="Consolas"/>
              </a:rPr>
              <a:t>P13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94093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证据不是装饰：每一个“已完成”都必须带范围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固定纵切可以运行，不等于通用能力，更不等于用户价值已经成立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390650"/>
            <a:ext cx="11277600" cy="590550"/>
            <a:chOff x="457200" y="1390650"/>
            <a:chExt cx="11277600" cy="590550"/>
          </a:xfrm>
        </p:grpSpPr>
        <p:sp>
          <p:nvSpPr>
            <p:cNvPr id="6" name="Rectangle 6"/>
            <p:cNvSpPr/>
            <p:nvPr/>
          </p:nvSpPr>
          <p:spPr>
            <a:xfrm>
              <a:off x="457200" y="1390650"/>
              <a:ext cx="2000250" cy="5905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2457450" y="1390650"/>
              <a:ext cx="3143250" cy="5905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600700" y="1390650"/>
              <a:ext cx="2952750" cy="59055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553450" y="1390650"/>
              <a:ext cx="3181350" cy="59055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5652" y="1600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证据等级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97402" y="1600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已经证明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39389" y="16002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前台可陈述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12452" y="1600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不能外推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7200" y="1981200"/>
            <a:ext cx="11277600" cy="1257300"/>
            <a:chOff x="457200" y="1981200"/>
            <a:chExt cx="11277600" cy="1257300"/>
          </a:xfrm>
        </p:grpSpPr>
        <p:sp>
          <p:nvSpPr>
            <p:cNvPr id="15" name="Rectangle 15"/>
            <p:cNvSpPr/>
            <p:nvPr/>
          </p:nvSpPr>
          <p:spPr>
            <a:xfrm>
              <a:off x="457200" y="1981200"/>
              <a:ext cx="11277600" cy="1257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7200" y="1981200"/>
              <a:ext cx="2000250" cy="1257300"/>
            </a:xfrm>
            <a:prstGeom prst="rect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8529" y="2263140"/>
              <a:ext cx="1017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Verified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5820" y="2659856"/>
              <a:ext cx="12230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固定场景完整证据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79192" y="2197418"/>
              <a:ext cx="18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Demo 1 文件冲突路径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79954" y="2518410"/>
              <a:ext cx="2049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Demo 3 Simulator 动作账本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79954" y="2804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协议、截图、自动化与回执一致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22442" y="2197418"/>
              <a:ext cx="21739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“固定客户 A 路径可运行”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22442" y="2502218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“外部真实写入未发生”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75192" y="2197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生产可靠性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75192" y="2502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真实客户价值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75192" y="2787968"/>
              <a:ext cx="1760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真实 Connector 能力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4817" y="3333750"/>
            <a:ext cx="11279983" cy="1257300"/>
            <a:chOff x="454817" y="3333750"/>
            <a:chExt cx="11279983" cy="1257300"/>
          </a:xfrm>
        </p:grpSpPr>
        <p:sp>
          <p:nvSpPr>
            <p:cNvPr id="28" name="Rectangle 28"/>
            <p:cNvSpPr/>
            <p:nvPr/>
          </p:nvSpPr>
          <p:spPr>
            <a:xfrm>
              <a:off x="457200" y="3333750"/>
              <a:ext cx="11277600" cy="12573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7200" y="3333750"/>
              <a:ext cx="2000250" cy="125730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4817" y="3615690"/>
              <a:ext cx="20050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Limited Verified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7268" y="40124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受限工程范围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79192" y="3549968"/>
              <a:ext cx="18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Demo 2 受控内部执行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79954" y="3870960"/>
              <a:ext cx="2630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单 API 进程 · memory · 固定客户 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79954" y="4156710"/>
              <a:ext cx="2015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4 模型采用 · 15 个有序事件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22442" y="3549968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“冲突触发了动态重排”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22442" y="3854768"/>
              <a:ext cx="2138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“4 Worker / 5 Artifact”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22442" y="4140518"/>
              <a:ext cx="2639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2230"/>
                  </a:solidFill>
                  <a:latin typeface="Segoe UI"/>
                  <a:ea typeface="Segoe UI"/>
                  <a:cs typeface="Segoe UI"/>
                </a:rPr>
                <a:t>“external side effect = none”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75192" y="3549968"/>
              <a:ext cx="1261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分布式 Worker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75192" y="3854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跨进程恢复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75192" y="4140518"/>
              <a:ext cx="1405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成本与 SLA 结论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57200" y="4686300"/>
            <a:ext cx="11277600" cy="1257300"/>
            <a:chOff x="457200" y="4686300"/>
            <a:chExt cx="11277600" cy="1257300"/>
          </a:xfrm>
        </p:grpSpPr>
        <p:sp>
          <p:nvSpPr>
            <p:cNvPr id="42" name="Rectangle 42"/>
            <p:cNvSpPr/>
            <p:nvPr/>
          </p:nvSpPr>
          <p:spPr>
            <a:xfrm>
              <a:off x="457200" y="4686300"/>
              <a:ext cx="11277600" cy="1257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57200" y="4686300"/>
              <a:ext cx="2000250" cy="1257300"/>
            </a:xfrm>
            <a:prstGeom prst="rect">
              <a:avLst/>
            </a:prstGeom>
            <a:solidFill>
              <a:srgbClr val="8291A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4377" y="496824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Draft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4461" y="5364956"/>
              <a:ext cx="1245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设计主张 / 待实验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79192" y="490251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主流差异与交互新颖性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679954" y="5223510"/>
              <a:ext cx="2243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通用 Swarm、真实 Connector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79954" y="55092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成本、质量、效率与用户价值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22442" y="490251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“下一步实验计划”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22442" y="5207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“需要用户研究验证”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75192" y="49025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不得写成已实现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75192" y="5207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不得写成竞品做不到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75192" y="5493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不得冒充真实用户研究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51104" y="6214110"/>
            <a:ext cx="11289792" cy="558546"/>
            <a:chOff x="451104" y="6214110"/>
            <a:chExt cx="11289792" cy="558546"/>
          </a:xfrm>
        </p:grpSpPr>
        <p:sp>
          <p:nvSpPr>
            <p:cNvPr id="55" name="TextBox 55"/>
            <p:cNvSpPr txBox="1"/>
            <p:nvPr/>
          </p:nvSpPr>
          <p:spPr>
            <a:xfrm>
              <a:off x="451104" y="621411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证据等级与边界跟随每个对外结论，而不是只放在附录。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47069" y="65379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40436" y="310515"/>
              <a:ext cx="93626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下一步要证明：为什么这样组织工作更值得用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342" y="8829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同一任务、同一来源、同一模型条件下，只改变路由策略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371600"/>
            <a:ext cx="11277600" cy="710184"/>
            <a:chOff x="457200" y="1371600"/>
            <a:chExt cx="11277600" cy="710184"/>
          </a:xfrm>
        </p:grpSpPr>
        <p:sp>
          <p:nvSpPr>
            <p:cNvPr id="6" name="Rectangle 6"/>
            <p:cNvSpPr/>
            <p:nvPr/>
          </p:nvSpPr>
          <p:spPr>
            <a:xfrm>
              <a:off x="457200" y="1371600"/>
              <a:ext cx="11277600" cy="6858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9323" y="152923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冻结任务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6656" y="1729740"/>
              <a:ext cx="77741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客户 A：从允许来源生成可验证经营汇报包，并处理收入口径冲突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2247900"/>
            <a:ext cx="11277600" cy="552450"/>
            <a:chOff x="457200" y="2247900"/>
            <a:chExt cx="11277600" cy="552450"/>
          </a:xfrm>
        </p:grpSpPr>
        <p:sp>
          <p:nvSpPr>
            <p:cNvPr id="10" name="Rectangle 10"/>
            <p:cNvSpPr/>
            <p:nvPr/>
          </p:nvSpPr>
          <p:spPr>
            <a:xfrm>
              <a:off x="457200" y="2247900"/>
              <a:ext cx="1981200" cy="552450"/>
            </a:xfrm>
            <a:prstGeom prst="rect">
              <a:avLst/>
            </a:prstGeom>
            <a:solidFill>
              <a:srgbClr val="EAF0F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438400" y="2247900"/>
              <a:ext cx="2324100" cy="552450"/>
            </a:xfrm>
            <a:prstGeom prst="rect">
              <a:avLst/>
            </a:prstGeom>
            <a:solidFill>
              <a:srgbClr val="526579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762500" y="2247900"/>
              <a:ext cx="2324100" cy="552450"/>
            </a:xfrm>
            <a:prstGeom prst="rect">
              <a:avLst/>
            </a:prstGeom>
            <a:solidFill>
              <a:srgbClr val="526579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086600" y="2247900"/>
              <a:ext cx="2324100" cy="552450"/>
            </a:xfrm>
            <a:prstGeom prst="rect">
              <a:avLst/>
            </a:prstGeom>
            <a:solidFill>
              <a:srgbClr val="526579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410700" y="2247900"/>
              <a:ext cx="2324100" cy="552450"/>
            </a:xfrm>
            <a:prstGeom prst="rect">
              <a:avLst/>
            </a:prstGeom>
            <a:solidFill>
              <a:srgbClr val="0B3A7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59294" y="2445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对照维度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68152" y="2428875"/>
              <a:ext cx="864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Tool Call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90370" y="2428875"/>
              <a:ext cx="1268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Single 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5047" y="2428875"/>
              <a:ext cx="15872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Fixed Workflow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52413" y="2428875"/>
              <a:ext cx="16406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Adaptive Swarm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7200" y="2800350"/>
            <a:ext cx="11277600" cy="2286000"/>
            <a:chOff x="457200" y="2800350"/>
            <a:chExt cx="11277600" cy="2286000"/>
          </a:xfrm>
        </p:grpSpPr>
        <p:sp>
          <p:nvSpPr>
            <p:cNvPr id="21" name="Rectangle 21"/>
            <p:cNvSpPr/>
            <p:nvPr/>
          </p:nvSpPr>
          <p:spPr>
            <a:xfrm>
              <a:off x="457200" y="2800350"/>
              <a:ext cx="112776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" y="3562350"/>
              <a:ext cx="11277600" cy="762000"/>
            </a:xfrm>
            <a:prstGeom prst="rect">
              <a:avLst/>
            </a:prstGeom>
            <a:solidFill>
              <a:srgbClr val="EAF0F7"/>
            </a:solidFill>
            <a:ln w="9525">
              <a:solidFill>
                <a:srgbClr val="CAD6E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7200" y="4324350"/>
              <a:ext cx="112776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438400" y="2800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762500" y="2800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086600" y="2800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CAD6E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410700" y="28003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0B3A7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561" y="310372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工作组织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8561" y="386572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冲突处理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561" y="4627721"/>
              <a:ext cx="8201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用户控制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60523" y="302466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按命令调用工具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61285" y="32694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无长期状态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84623" y="3024664"/>
              <a:ext cx="1635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一个 Agent 串行完成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85385" y="3269456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上下文集中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08723" y="302466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预定义阶段与分支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09485" y="3269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组织稳定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32823" y="30246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按事实动态增派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33585" y="3269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共享工件收敛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60523" y="3881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返回错误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84623" y="38819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模型自主修正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08723" y="38819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固定验证节点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32823" y="3881914"/>
              <a:ext cx="19777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局部重排与验证 Worker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60523" y="46439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命令级确认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84623" y="46439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会话级介入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08723" y="4643914"/>
              <a:ext cx="796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579"/>
                  </a:solidFill>
                  <a:latin typeface="Segoe UI"/>
                  <a:ea typeface="Microsoft YaHei UI"/>
                  <a:cs typeface="Segoe UI"/>
                </a:rPr>
                <a:t>阶段 Gate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2823" y="4643914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原因、影响与回执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0342" y="5340668"/>
            <a:ext cx="11284458" cy="812482"/>
            <a:chOff x="450342" y="5340668"/>
            <a:chExt cx="11284458" cy="812482"/>
          </a:xfrm>
        </p:grpSpPr>
        <p:sp>
          <p:nvSpPr>
            <p:cNvPr id="48" name="TextBox 48"/>
            <p:cNvSpPr txBox="1"/>
            <p:nvPr/>
          </p:nvSpPr>
          <p:spPr>
            <a:xfrm>
              <a:off x="450342" y="53406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3A70"/>
                  </a:solidFill>
                  <a:latin typeface="Segoe UI"/>
                  <a:ea typeface="Microsoft YaHei UI"/>
                  <a:cs typeface="Segoe UI"/>
                </a:rPr>
                <a:t>统一评估指标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57200" y="5676900"/>
              <a:ext cx="169545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286000" y="5676900"/>
              <a:ext cx="169545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114800" y="5676900"/>
              <a:ext cx="169545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43600" y="5676900"/>
              <a:ext cx="169545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772400" y="5676900"/>
              <a:ext cx="169545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601200" y="5676900"/>
              <a:ext cx="2133600" cy="476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AD6E3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94969" y="5842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工件完整度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562225" y="58426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冲突恢复正确率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33341" y="58426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收敛时间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81369" y="5842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模型调用数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29397" y="58426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人工确认负担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03612" y="5842635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失败 / 未知结果率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51866" y="6347460"/>
            <a:ext cx="11289030" cy="234696"/>
            <a:chOff x="451866" y="6347460"/>
            <a:chExt cx="11289030" cy="234696"/>
          </a:xfrm>
        </p:grpSpPr>
        <p:sp>
          <p:nvSpPr>
            <p:cNvPr id="62" name="TextBox 62"/>
            <p:cNvSpPr txBox="1"/>
            <p:nvPr/>
          </p:nvSpPr>
          <p:spPr>
            <a:xfrm>
              <a:off x="451866" y="6363652"/>
              <a:ext cx="51942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Draft / planned study：尚无对照结果；保留负面结果，分离模型能力与编排效果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47069" y="63474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B3A70"/>
                  </a:solidFill>
                  <a:latin typeface="Consolas"/>
                  <a:ea typeface="Consolas"/>
                  <a:cs typeface="Consolas"/>
                </a:rPr>
                <a:t>P15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7223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03504" y="518160"/>
              <a:ext cx="1723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8291A3"/>
                  </a:solidFill>
                  <a:latin typeface="Segoe UI"/>
                  <a:ea typeface="Segoe UI"/>
                  <a:cs typeface="Segoe UI"/>
                </a:rPr>
                <a:t>NEXT EVIDENCE LOOP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1223010"/>
            <a:ext cx="6568516" cy="3215069"/>
            <a:chOff x="590550" y="1223010"/>
            <a:chExt cx="6568516" cy="3215069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223010"/>
              <a:ext cx="47874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下一阶段的目标，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889760"/>
              <a:ext cx="487128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不是更多 Agent，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5565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而是更可信的工作交付。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47700" y="3352800"/>
              <a:ext cx="4762500" cy="47625"/>
            </a:xfrm>
            <a:prstGeom prst="rect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37794" y="3694748"/>
              <a:ext cx="34624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让用户看见 Agent 的影响，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794" y="4056698"/>
              <a:ext cx="47055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AF0F7"/>
                  </a:solidFill>
                  <a:latin typeface="Segoe UI"/>
                  <a:ea typeface="Microsoft YaHei UI"/>
                  <a:cs typeface="Segoe UI"/>
                </a:rPr>
                <a:t>也让系统只承认它真正证明过的影响。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39000" y="1257300"/>
            <a:ext cx="3674012" cy="4607528"/>
            <a:chOff x="7239000" y="1257300"/>
            <a:chExt cx="3674012" cy="4607528"/>
          </a:xfrm>
        </p:grpSpPr>
        <p:sp>
          <p:nvSpPr>
            <p:cNvPr id="13" name="Line 13"/>
            <p:cNvSpPr/>
            <p:nvPr/>
          </p:nvSpPr>
          <p:spPr>
            <a:xfrm>
              <a:off x="7505700" y="1257300"/>
              <a:ext cx="9525" cy="4495800"/>
            </a:xfrm>
            <a:custGeom>
              <a:avLst/>
              <a:gdLst/>
              <a:ahLst/>
              <a:cxnLst/>
              <a:rect l="l" t="t" r="r" b="b"/>
              <a:pathLst>
                <a:path w="9525" h="4495800">
                  <a:moveTo>
                    <a:pt x="0" y="0"/>
                  </a:moveTo>
                  <a:lnTo>
                    <a:pt x="0" y="4495800"/>
                  </a:lnTo>
                </a:path>
              </a:pathLst>
            </a:custGeom>
            <a:noFill/>
            <a:ln w="38100">
              <a:solidFill>
                <a:srgbClr val="526579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239000" y="1314450"/>
              <a:ext cx="533400" cy="533400"/>
            </a:xfrm>
            <a:prstGeom prst="ellipse">
              <a:avLst/>
            </a:prstGeom>
            <a:solidFill>
              <a:srgbClr val="D71920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239000" y="2628900"/>
              <a:ext cx="533400" cy="533400"/>
            </a:xfrm>
            <a:prstGeom prst="ellipse">
              <a:avLst/>
            </a:prstGeom>
            <a:solidFill>
              <a:srgbClr val="0B3A70"/>
            </a:solidFill>
            <a:ln w="19050">
              <a:solidFill>
                <a:srgbClr val="F7F9FC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239000" y="3943350"/>
              <a:ext cx="533400" cy="533400"/>
            </a:xfrm>
            <a:prstGeom prst="ellipse">
              <a:avLst/>
            </a:prstGeom>
            <a:solidFill>
              <a:srgbClr val="0B3A70"/>
            </a:solidFill>
            <a:ln w="19050">
              <a:solidFill>
                <a:srgbClr val="F7F9FC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239000" y="5257800"/>
              <a:ext cx="533400" cy="533400"/>
            </a:xfrm>
            <a:prstGeom prst="ellipse">
              <a:avLst/>
            </a:prstGeom>
            <a:solidFill>
              <a:srgbClr val="16845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39773" y="1504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39773" y="2819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39773" y="4133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39773" y="54483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3756" y="13106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固化四路由对照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56423" y="16721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同任务、同来源、同模型条件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53756" y="26250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补齐失败与恢复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56423" y="29865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预算、局部暂停、跨进程恢复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53756" y="39395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开展无引导理解测试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56423" y="4301014"/>
              <a:ext cx="2956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至少 5 人，验证状态、原因与后果理解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53756" y="52539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 UI"/>
                  <a:cs typeface="Segoe UI"/>
                </a:rPr>
                <a:t>桥接已验证工件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56423" y="5615464"/>
              <a:ext cx="2545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只把通过验证的结果交给 Demo 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5048250"/>
            <a:ext cx="5606255" cy="914400"/>
            <a:chOff x="609600" y="5048250"/>
            <a:chExt cx="5606255" cy="914400"/>
          </a:xfrm>
        </p:grpSpPr>
        <p:sp>
          <p:nvSpPr>
            <p:cNvPr id="31" name="Rectangle 31"/>
            <p:cNvSpPr/>
            <p:nvPr/>
          </p:nvSpPr>
          <p:spPr>
            <a:xfrm>
              <a:off x="609600" y="5048250"/>
              <a:ext cx="5391150" cy="914400"/>
            </a:xfrm>
            <a:prstGeom prst="rect">
              <a:avLst/>
            </a:prstGeom>
            <a:solidFill>
              <a:srgbClr val="F7F9F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1342" y="5264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71920"/>
                  </a:solidFill>
                  <a:latin typeface="Segoe UI"/>
                  <a:ea typeface="Microsoft YaHei UI"/>
                  <a:cs typeface="Segoe UI"/>
                </a:rPr>
                <a:t>本次请求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056" y="553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2230"/>
                  </a:solidFill>
                  <a:latin typeface="Segoe UI"/>
                  <a:ea typeface="Microsoft YaHei UI"/>
                  <a:cs typeface="Segoe UI"/>
                </a:rPr>
                <a:t>批准下一轮“证据生产”，而不是扩大宣传口径。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3885" y="6286500"/>
            <a:ext cx="10984611" cy="429006"/>
            <a:chOff x="603885" y="6286500"/>
            <a:chExt cx="10984611" cy="429006"/>
          </a:xfrm>
        </p:grpSpPr>
        <p:sp>
          <p:nvSpPr>
            <p:cNvPr id="35" name="Line 35"/>
            <p:cNvSpPr/>
            <p:nvPr/>
          </p:nvSpPr>
          <p:spPr>
            <a:xfrm>
              <a:off x="609600" y="628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2657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3885" y="6488906"/>
              <a:ext cx="2559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291A3"/>
                  </a:solidFill>
                  <a:latin typeface="Segoe UI"/>
                  <a:ea typeface="Microsoft YaHei UI"/>
                  <a:cs typeface="Segoe UI"/>
                </a:rPr>
                <a:t>Draft / next gate · 非生产路线承诺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94669" y="648081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7F9FC"/>
                  </a:solidFill>
                  <a:latin typeface="Consolas"/>
                  <a:ea typeface="Consolas"/>
                  <a:cs typeface="Consolas"/>
                </a:rPr>
                <a:t>P16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2026-08-21T05:50:40Z</dcterms:created>
  <dcterms:modified xsi:type="dcterms:W3CDTF">2026-08-21T05:50:40Z</dcterms:modified>
  <cp:category/>
  <cp:contentStatus/>
</cp:coreProperties>
</file>
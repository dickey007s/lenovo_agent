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这次汇报大部分内容沿用 07-16 的主线：未来办公 Agent 不是把聊天做得更长，而是让工作在持续、协作、治理和交付四个方向上收敛。右侧换成当前 Agent 能力页的真实运行截图；它把任务进展、协作方式和证据核对按需展开。15 个目录、96 份输入文件仍是这条能力链的固定办公资料环境。今天新增的重点只有两个：第一，主流方案现在发展到哪里；第二，技术差异怎样具体改变用户动作和前台反馈。当前截图来自公开 FORTE 固定数据，不是企业生产环境，也不证明用户价值。</a:t>
            </a:r>
          </a:p>
          <a:p>
            <a:endParaRPr lang="en-US" dirty="0"/>
          </a:p>
          <a:p>
            <a:r>
              <a:rPr lang="zh-CN" dirty="0"/>
              <a:t>转场：先看 07-16 的三个 Demo 分工在当前版本里发生了什么变化。</a:t>
            </a:r>
          </a:p>
          <a:p>
            <a:endParaRPr lang="en-US" dirty="0"/>
          </a:p>
          <a:p>
            <a:r>
              <a:rPr lang="zh-CN" dirty="0"/>
              <a:t>证据/边界：当前系统实测；不把截图当作正式用户研究。</a:t>
            </a:r>
          </a:p>
          <a:p>
            <a:endParaRPr lang="en-US" dirty="0"/>
          </a:p>
          <a:p>
            <a:r>
              <a:rPr lang="zh-CN" dirty="0"/>
              <a:t>预期问题：这次相对 07-16 到底新增了什么，而不是换了一套说法？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07-16 把三个 Demo 分成时间连续性、复杂任务组织和动作风险。这个分工保留不变。当前版本真正补上的，是把每个 Demo 的进展落到 Workspace 范围、Branch 证据门、WorkUnit 依赖、Contribution 采用、真实 Artifact 和未执行边界。Demo 2 已经不再只是目标框图：服务端能够给出真实 WorkUnit DAG，并以单进程、显式波次、每波最多三个只读 Worker 形成受控纵切；但它仍不是分布式 Swarm。对用户而言，界面不再只说 Agent 正在运行，而要说明为什么停、从哪里继续、谁依赖谁、哪一批需要确认、确认后会改变什么。这里的设计依据来自 Microsoft HAI Guidelines 对能力边界、上下文和纠正控制的要求，以及 ReAct 对环境反馈循环的启发。它们支持设计方向，不证明当前方案优于竞品。</a:t>
            </a:r>
          </a:p>
          <a:p>
            <a:endParaRPr lang="en-US" dirty="0"/>
          </a:p>
          <a:p>
            <a:r>
              <a:rPr lang="zh-CN" dirty="0"/>
              <a:t>转场：下面回到 07-16 的核心架构，解释这些状态由谁负责。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；https://arxiv.org/abs/2210.03629</a:t>
            </a:r>
          </a:p>
          <a:p>
            <a:endParaRPr lang="en-US" dirty="0"/>
          </a:p>
          <a:p>
            <a:r>
              <a:rPr lang="zh-CN" dirty="0"/>
              <a:t>预期问题：为什么一定要拆成三个 Demo，而不是做一个大而全的 Agent？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这一页先不要急着记英文名，只看三层关系。最下面的统一 Agent Runtime 是每个任务都要经过的底座，它稳定承接任务、状态、上下文、执行、能力、证据、策略和追踪。没有这层，Agent 仍然只是一次模型调用，任务中断以后不知道从哪里继续，也无法说明某个结论或动作来自哪一步。</a:t>
            </a:r>
          </a:p>
          <a:p>
            <a:endParaRPr lang="en-US" dirty="0"/>
          </a:p>
          <a:p>
            <a:r>
              <a:rPr lang="zh-CN" dirty="0"/>
              <a:t>第一层增强是 Agent Control Loop。它只在任务需要多轮推进、等待补证或恢复时发挥价值。07-16 希望它解决时间维连续性；当前已经落地的是受限单 Loop、服务端 Branch、Evidence Gate、ArtifactVersion 和 Snapshot/SSE。第二层增强是 Governed Adaptive Swarm，它面向高价值、跨来源、可并行的复杂工作。当前已经形成最小受控纵切：Topology Admission、WorkUnit DAG、每波最多三个进程内只读 Worker、Contribution Gate 与统一 Artifact；但 durable queue、远端 Worker、通用 Resolver 和多实例调度仍是目标。</a:t>
            </a:r>
          </a:p>
          <a:p>
            <a:endParaRPr lang="en-US" dirty="0"/>
          </a:p>
          <a:p>
            <a:r>
              <a:rPr lang="zh-CN" dirty="0"/>
              <a:t>左侧三类控制不是第三层业务能力，而是贯穿所有层的约束。Task Control 决定目标、预算、暂停与停止；Evidence Control 决定来源、冲突、验证和模型说明是否采用；Action Control 决定风险、审批、Permit 和执行回执。它们最终让前台只需要回答三件事：任务现在走到哪，当前结论凭什么成立，哪些动作真的发生了。</a:t>
            </a:r>
          </a:p>
          <a:p>
            <a:endParaRPr lang="en-US" dirty="0"/>
          </a:p>
          <a:p>
            <a:r>
              <a:rPr lang="zh-CN" dirty="0"/>
              <a:t>转场：下一页把底座拆成八个稳定职责，并说明每两个模块共同回答一个用户问题。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；https://modelcontextprotocol.io/specification/draft/client/elicitation</a:t>
            </a:r>
          </a:p>
          <a:p>
            <a:endParaRPr lang="en-US" dirty="0"/>
          </a:p>
          <a:p>
            <a:r>
              <a:rPr lang="zh-CN" dirty="0"/>
              <a:t>预期问题：为什么不把所有任务都放进 Loop 或 Swarm？因为增强层有额外状态与协调成本，只有任务的时间跨度和组织复杂度值得时才应启用。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八个模块不是八个前台页面，而是一次任务从定范围到可恢复的四段责任链。</a:t>
            </a:r>
          </a:p>
          <a:p>
            <a:endParaRPr lang="en-US" dirty="0"/>
          </a:p>
          <a:p>
            <a:r>
              <a:rPr lang="zh-CN" dirty="0"/>
              <a:t>第一段是“定范围”。Workspace Catalog &amp; Safe Preview 负责哪些资料可以安全读取，Task Contract 负责目标、范围、完成条件和禁止事项。前台要回答的是“你读了哪些资料、任务边界是什么”。</a:t>
            </a:r>
          </a:p>
          <a:p>
            <a:endParaRPr lang="en-US" dirty="0"/>
          </a:p>
          <a:p>
            <a:r>
              <a:rPr lang="zh-CN" dirty="0"/>
              <a:t>第二段是“定计划”。Planner 可以提出分支、依赖和资料范围，但计划不能因为模型返回就直接运行。Admission、Policy Compiler &amp; Plan Validator 还要校验预算、来源、依赖、工具和副作用。前台要回答的是“为什么这样拆、什么计划被拒绝或修复”。</a:t>
            </a:r>
          </a:p>
          <a:p>
            <a:endParaRPr lang="en-US" dirty="0"/>
          </a:p>
          <a:p>
            <a:r>
              <a:rPr lang="zh-CN" dirty="0"/>
              <a:t>第三段是“推进执行”。Scheduler &amp; Worker Manager 决定哪个分支先做、依赖谁、何时等待、何时恢复；当前已经支持服务端编译的 WorkUnit DAG、显式波次和每波最多三个进程内只读 Worker。Tool Gateway 仍应统一真实工具的授权、超时、幂等和回执，但当前没有通用实现。前台要回答的是“现在做到哪一步、谁依赖谁、哪个分支受影响、动作是否真的执行”。</a:t>
            </a:r>
          </a:p>
          <a:p>
            <a:endParaRPr lang="en-US" dirty="0"/>
          </a:p>
          <a:p>
            <a:r>
              <a:rPr lang="zh-CN" dirty="0"/>
              <a:t>第四段是“成果恢复”。Artifact Workspace &amp; Verifier 保存成果版本并执行当前固定场景的确定性检查；Checkpoint, Event &amp; Governance Control 让 Snapshot 成为状态权威，SSE 只做有序投影，并提供可选 PostgreSQL 重启恢复子集。前台要回答的是“结果能否下载、核对、审计和恢复”。</a:t>
            </a:r>
          </a:p>
          <a:p>
            <a:endParaRPr lang="en-US" dirty="0"/>
          </a:p>
          <a:p>
            <a:r>
              <a:rPr lang="zh-CN" dirty="0"/>
              <a:t>所以模块对后端是职责，对用户只有四个问题：读什么、怎么做、做到哪、结果能不能复核与恢复。蓝色表示当前实现，橙色表示部分近似，灰色表示目标，不能把目标模块写成现有能力。</a:t>
            </a:r>
          </a:p>
          <a:p>
            <a:endParaRPr lang="en-US" dirty="0"/>
          </a:p>
          <a:p>
            <a:r>
              <a:rPr lang="zh-CN" dirty="0"/>
              <a:t>转场：这些职责为什么会逐步出现，下一页沿技术演进解释系统责任如何外扩。</a:t>
            </a:r>
          </a:p>
          <a:p>
            <a:endParaRPr lang="en-US" dirty="0"/>
          </a:p>
          <a:p>
            <a:r>
              <a:rPr lang="zh-CN" dirty="0"/>
              <a:t>证据/边界：当前系统实测；ReAct、LangGraph、MCP 与 A2A 只作线上架构参照。</a:t>
            </a:r>
          </a:p>
          <a:p>
            <a:endParaRPr lang="en-US" dirty="0"/>
          </a:p>
          <a:p>
            <a:r>
              <a:rPr lang="zh-CN" dirty="0"/>
              <a:t>预期问题：八个模块会不会让前台更复杂？不会要求用户操作模块名，但必须把模块产生的关键状态翻译成业务语言。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 07-16 的 P05 到 P09 合并成一条链。Prompt Engineering 关注一次指令与示例；ReAct 把工程对象扩展到 Action 和 Observation；Context Engineering 开始管理系统指令、工具、外部数据和历史；Harness Engineering 再把权限、沙箱和工具环境纳入系统；Loop Engineering 是我们对触发、验证、记录和恢复的方案归纳。最后一步是办公交付：业务成果、来源、人工决定和未执行边界都可复核。需要强调，这些阶段名不是学界统一年表，而是为了说明系统责任为什么不断外扩。</a:t>
            </a:r>
          </a:p>
          <a:p>
            <a:endParaRPr lang="en-US" dirty="0"/>
          </a:p>
          <a:p>
            <a:r>
              <a:rPr lang="zh-CN" dirty="0"/>
              <a:t>转场：接下来不按功能打勾，而按用户实际审查的对象看主流方案。</a:t>
            </a:r>
          </a:p>
          <a:p>
            <a:endParaRPr lang="en-US" dirty="0"/>
          </a:p>
          <a:p>
            <a:r>
              <a:rPr lang="zh-CN" dirty="0"/>
              <a:t>证据/边界：https://arxiv.org/abs/2005.14165 ；https://arxiv.org/abs/2210.03629 ；https://www.anthropic.com/engineering/effective-context-engineering-for-ai-agents ；https://docs.langchain.com/oss/javascript/langgraph/persistence</a:t>
            </a:r>
          </a:p>
          <a:p>
            <a:endParaRPr lang="en-US" dirty="0"/>
          </a:p>
          <a:p>
            <a:r>
              <a:rPr lang="zh-CN" dirty="0"/>
              <a:t>预期问题：Loop Engineering 是正式术语还是本方案的归纳？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Microsoft 365 Copilot 让用户引用文件、邮件、会议和站点；ChatGPT deep research 让用户审研究计划、来源、实时进度和带引用报告；Codex App 把 Task、隔离工作区、Diff 和审查队列做成核心对象；Claude Code 围绕项目会话、工具动作和验证结果；OpenClaw 围绕 Gateway Task、路由、会话与审批；ReAct 提供 Action-Observation 的基础循环。这里不做胜负判断，也不从官方文档未提及推断竞品做不到。Office Agent 的候选差异，是把资料、业务结论、成果、人工决定和未执行边界放进同一审查链。</a:t>
            </a:r>
          </a:p>
          <a:p>
            <a:endParaRPr lang="en-US" dirty="0"/>
          </a:p>
          <a:p>
            <a:r>
              <a:rPr lang="zh-CN" dirty="0"/>
              <a:t>转场：这个差异只有落到用户流程上才有意义。</a:t>
            </a:r>
          </a:p>
          <a:p>
            <a:endParaRPr lang="en-US" dirty="0"/>
          </a:p>
          <a:p>
            <a:r>
              <a:rPr lang="zh-CN" dirty="0"/>
              <a:t>证据/边界：https://support.microsoft.com/en-US/Microsoft-365-Copilot/refer-to-specific-files-and-more-in-microsoft-365-copilot ；https://help.openai.com/en/articles/10500283-deep-research ；https://openai.com/index/introducing-the-codex-app/ ；https://code.claude.com/docs/en/how-claude-code-works ；https://docs.openclaw.ai/automation/tasks ；https://arxiv.org/abs/2210.03629</a:t>
            </a:r>
          </a:p>
          <a:p>
            <a:endParaRPr lang="en-US" dirty="0"/>
          </a:p>
          <a:p>
            <a:r>
              <a:rPr lang="zh-CN" dirty="0"/>
              <a:t>预期问题：你们能否证明这些产品没有类似的业务治理能力？答案是不能，尚未同场实测。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用户先说目标，服务端冻结完整允许范围，而不是要求用户提前猜文件；Planner 提议计划，服务端再校验预算、依赖、工具和禁止动作；模型被调用与模型输出被采用是两个事实；证据定位多义时只处理受影响 Branch；最后把 Artifact、说明和外部动作分层。于是前台每一步都能回答用户动作、反馈和后端事实。这个设计与 deep research 的来源控制、MCP Elicitation 的结构化补充请求、HAI Guidelines 的纠正与控制原则相互呼应，但当前实测仍局限于固定公开数据。</a:t>
            </a:r>
          </a:p>
          <a:p>
            <a:endParaRPr lang="en-US" dirty="0"/>
          </a:p>
          <a:p>
            <a:r>
              <a:rPr lang="zh-CN" dirty="0"/>
              <a:t>转场：当这条流程跨多轮运行，风险会被循环放大。</a:t>
            </a:r>
          </a:p>
          <a:p>
            <a:endParaRPr lang="en-US" dirty="0"/>
          </a:p>
          <a:p>
            <a:r>
              <a:rPr lang="zh-CN" dirty="0"/>
              <a:t>证据/边界：https://help.openai.com/en/articles/10500283-deep-research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预期问题：为什么不让模型自己判断哪些输出可信？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方向漂移、上下文退化、错误复利、成本扩张、权限漂移和停止困难，是 07-16 已经提出的六类风险。它们对应六个前台问题：目标是否仍一致、用了哪版来源、预算还剩多少、允许什么动作、哪条 Branch 受影响、如何暂停恢复或接管。这里不能夸大当前实现：系统最多三轮，pause 和 stop 只在模型调用之间的安全点生效，也不会硬取消在途 HTTP。它解决了一部分状态透明与局部恢复问题，还不是无限自治的长任务执行器。</a:t>
            </a:r>
          </a:p>
          <a:p>
            <a:endParaRPr lang="en-US" dirty="0"/>
          </a:p>
          <a:p>
            <a:r>
              <a:rPr lang="zh-CN" dirty="0"/>
              <a:t>转场：下一页把 Observe、Plan、Act、Verify、Commit 和外围控制放在一起看。</a:t>
            </a:r>
          </a:p>
          <a:p>
            <a:endParaRPr lang="en-US" dirty="0"/>
          </a:p>
          <a:p>
            <a:r>
              <a:rPr lang="zh-CN" dirty="0"/>
              <a:t>证据/边界：https://www.anthropic.com/engineering/effective-context-engineering-for-ai-agents ；https://docs.langchain.com/oss/javascript/langgraph/persistence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预期问题：三轮预算是否足够？当前只能说它是固定上限，不是所有任务的合理预算。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中心五段里，Observe 和 Plan 已有清晰纵切；Act 仍主要是只读分析和固定成果适配器；Verify 能做 Schema、引用定位和部分确定性成果检查；Commit 是 append-only 的逻辑 ArtifactVersion 与 TaskCommit。外围控制里，Task Contract、Evidence Gate 和 Trace 较完整，Budget、Steer/Pause、Durable State 是部分近似，Takeover 和通用执行仍缺。旧审计曾给出约 30% 的历史架构成熟度基线，但那不是当前覆盖率，更不是模型质量。现阶段最准确的说法是：有反馈与恢复的只读办公任务纵切。</a:t>
            </a:r>
          </a:p>
          <a:p>
            <a:endParaRPr lang="en-US" dirty="0"/>
          </a:p>
          <a:p>
            <a:r>
              <a:rPr lang="zh-CN" dirty="0"/>
              <a:t>转场：下面不再讲抽象模块，直接看六个办公场景。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 ；https://a2a-protocol.org/dev/specification/</a:t>
            </a:r>
          </a:p>
          <a:p>
            <a:endParaRPr lang="en-US" dirty="0"/>
          </a:p>
          <a:p>
            <a:r>
              <a:rPr lang="zh-CN" dirty="0"/>
              <a:t>预期问题：什么时候可以把它称为完整 Control Loop？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六个场景覆盖了成果、证据、人工判断和外部动作四种风险。TC-01 看成果与引用定位怎样分离；TC-05 看统计和会计判断怎样分离；TC-06、TC-07 把招聘与法务的最终权威留给人；TC-10 把文档产出和真实外呼拆开；TC-14、TC-15 处理来源冲突和模型说明冲突。每个场景都用同一条讲法：触发、Agent 路径、停顿、前台输出、后端事实和当前边界。这样场景不是故事，而是可以复现、失败和升级的测试。</a:t>
            </a:r>
          </a:p>
          <a:p>
            <a:endParaRPr lang="en-US" dirty="0"/>
          </a:p>
          <a:p>
            <a:r>
              <a:rPr lang="zh-CN" dirty="0"/>
              <a:t>转场：先从用户反馈最强烈的入职资产匹配开始。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预期问题：这些场景是不是为了 Demo 人工定制？答案是固定适配器范围内验证，尚未通用化。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用户输入的是根据时间表和规则生成 3 月 20 日到 4 月 20 日的资产匹配表。旧界面把已生成成果、引用定位缺口和 Loop 等待状态混在一起，用户自然会以为任务失败。实际上三件事可以同时成立：资产表通过文件检查；某段逐字 quote 在预览中出现多次，无法唯一定位；用户只需处理这一处审计问题。“缺一份引用”缺的是唯一可回开的定位，不是缺源文件，也不代表日期算错。当前前台把成果置顶、同源缺口合并，并说明补定位不影响现有成果。</a:t>
            </a:r>
          </a:p>
          <a:p>
            <a:endParaRPr lang="en-US" dirty="0"/>
          </a:p>
          <a:p>
            <a:r>
              <a:rPr lang="zh-CN" dirty="0"/>
              <a:t>转场：下一页继续回答“三期输入为什么只有两类统计文件”。</a:t>
            </a:r>
          </a:p>
          <a:p>
            <a:endParaRPr lang="en-US" dirty="0"/>
          </a:p>
          <a:p>
            <a:r>
              <a:rPr lang="zh-CN" dirty="0"/>
              <a:t>证据/边界：https://platform.claude.com/docs/en/build-with-claude/citations ；https://www.microsoft.com/en-us/research/publication/guidelines-for-human-ai-interaction/ ；左侧为用户反馈样本，非正式目标用户研究。</a:t>
            </a:r>
          </a:p>
          <a:p>
            <a:endParaRPr lang="en-US" dirty="0"/>
          </a:p>
          <a:p>
            <a:r>
              <a:rPr lang="zh-CN" dirty="0"/>
              <a:t>预期问题：为什么服务端不能总是一次定位准确？因为当前主要依靠逐字 quote 与安全预览匹配，格式原生 Locator 仍需补齐。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这里需要纠正一个容易产生的理解：三份输入工作簿，不是三期各输出一份统计。未付统计和未收统计只看最新 2026 期，分别提取正数贷方与正数借方期末余额；当前固定来源是 31 条和 2 条。真正使用三个期间的是跨期核对说明，它比较同一科目和客商的借方余额是否连续不变，当前风险候选为 0。前台必须在下载前解释三份成果各自代表什么。统计和候选都不是会计处置，系统没有付款、核销或记账。</a:t>
            </a:r>
          </a:p>
          <a:p>
            <a:endParaRPr lang="en-US" dirty="0"/>
          </a:p>
          <a:p>
            <a:r>
              <a:rPr lang="zh-CN" dirty="0"/>
              <a:t>转场：财务判断要保留人工门，招聘和法务更是如此。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；https://www.w3.org/TR/prov-o/ ；数字仅属于当前固定来源版本。</a:t>
            </a:r>
          </a:p>
          <a:p>
            <a:endParaRPr lang="en-US" dirty="0"/>
          </a:p>
          <a:p>
            <a:r>
              <a:rPr lang="zh-CN" dirty="0"/>
              <a:t>预期问题：0 条候选是否等于不存在僵尸账款？不等于，只表示这套固定启发式没有命中。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招聘场景读取两份 JD 和五份简历，输出候选顺序、支持证据、缺失信息和复核项；材料冲突时进入待复核，系统不执行录用或淘汰。法务场景从六份授权文件抽取主体、期限和范围，形成规则台账与风险候选；不一致时不自动裁决，也不代表法律意见或签署动作。两边共同体现 HAI Guidelines 的原则：系统要说明能力边界、给出上下文、允许用户纠正，并在高影响决定中保留人的控制权。</a:t>
            </a:r>
          </a:p>
          <a:p>
            <a:endParaRPr lang="en-US" dirty="0"/>
          </a:p>
          <a:p>
            <a:r>
              <a:rPr lang="zh-CN" dirty="0"/>
              <a:t>转场：有了人工门，还要继续区分“形成方案”和“执行动作”。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；自动化只验证固定成果，不验证公平性、法律适用性或业务效果。</a:t>
            </a:r>
          </a:p>
          <a:p>
            <a:endParaRPr lang="en-US" dirty="0"/>
          </a:p>
          <a:p>
            <a:r>
              <a:rPr lang="zh-CN" dirty="0"/>
              <a:t>预期问题：候选建议是否可能放大偏见？可能，因此需要规则、证据、隐私与人工复核共同约束。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TC-10 读取来源后生成流程图与 DOCX，这些文件和结构检查是真实发生的；拨号、写 CRM、发短信没有发生，因为没有 Connector receipt。TC-14 的日志存在相互冲突的信号，系统保留支持与反证，生成条件式诊断和止损提案，但不执行 ES 命令，也不触发生产降级。前台不能把“建议下一步”写成“已经执行”，也不能把未接入外部系统显示成失败。更准确的界面是并列展示已发生和未发生，让用户看到业务后果边界。</a:t>
            </a:r>
          </a:p>
          <a:p>
            <a:endParaRPr lang="en-US" dirty="0"/>
          </a:p>
          <a:p>
            <a:r>
              <a:rPr lang="zh-CN" dirty="0"/>
              <a:t>转场：最后一个场景处理的是模型说明和确定性成果互相冲突。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；https://www.w3.org/TR/prov-o/</a:t>
            </a:r>
          </a:p>
          <a:p>
            <a:endParaRPr lang="en-US" dirty="0"/>
          </a:p>
          <a:p>
            <a:r>
              <a:rPr lang="zh-CN" dirty="0"/>
              <a:t>预期问题：未来接入 Connector 后如何防止重复动作？需要 Permit、版本、幂等和执行回执共同约束。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TC-15 的确定性成果覆盖 212 行、形成 87 组，P0 到 P4 为 25、40、14、6、2。真实模型调用却声称只看了 60 行，并改写 P0 优先级。如果前台同时展示两套说法，用户会看到假绿和重复待办。当前服务端把模型调用和采用拆开：模型仍是 called=true，但 output_used=false；回执为 contradictory、deterministic_outcome、rejected。两份通过检查的成果继续保留，冲突说明只进入审计轨迹。这个机制只验证固定场景的结构化事实一致性，不是通用真值判断。</a:t>
            </a:r>
          </a:p>
          <a:p>
            <a:endParaRPr lang="en-US" dirty="0"/>
          </a:p>
          <a:p>
            <a:r>
              <a:rPr lang="zh-CN" dirty="0"/>
              <a:t>转场：从这些场景回到前台，用户真正需要先回答的只有五个问题。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</a:t>
            </a:r>
          </a:p>
          <a:p>
            <a:endParaRPr lang="en-US" dirty="0"/>
          </a:p>
          <a:p>
            <a:r>
              <a:rPr lang="zh-CN" dirty="0"/>
              <a:t>预期问题：一致就一定正确吗？不一定，一致只说明结构化事实没有冲突。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用户首先要知道五件事：完成了什么、依据是什么、为什么停、确认后会改变什么、什么绝不会发生。首屏只放当前结论、成果、复核状态和未执行边界；展开层解释来源、校验、模型说明采用和局部决定；审计层再放 Snapshot、version、named SSE 和 DecisionRecord。这样技术事实没有消失，只是不抢占业务阅读顺序。现在的截图和现场反馈还不是正式用户研究。下一步要让目标用户无引导说出结果、来源、影响和下一步，并用 HEART 记录理解、负担与任务成功。</a:t>
            </a:r>
          </a:p>
          <a:p>
            <a:endParaRPr lang="en-US" dirty="0"/>
          </a:p>
          <a:p>
            <a:r>
              <a:rPr lang="zh-CN" dirty="0"/>
              <a:t>转场：接下来用四页真实界面，把前面讲的系统纵切完整走一遍。</a:t>
            </a:r>
          </a:p>
          <a:p>
            <a:endParaRPr lang="en-US" dirty="0"/>
          </a:p>
          <a:p>
            <a:r>
              <a:rPr lang="zh-CN" dirty="0"/>
              <a:t>证据/边界：https://www.microsoft.com/en-us/research/publication/guidelines-for-human-ai-interaction/ ；https://www.w3.org/WAI/WCAG21/Understanding/status-messages ；https://www.w3.org/WAI/WCAG21/Understanding/target-size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预期问题：怎样证明界面真的更清晰？需要目标用户任务测试，不是更多截图。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这页回答最直接的问题：我们到底做了什么。不是又做了一张 Agent 对话页面，而是把一条办公任务纵切跑通了。</a:t>
            </a:r>
          </a:p>
          <a:p>
            <a:endParaRPr lang="en-US" dirty="0"/>
          </a:p>
          <a:p>
            <a:r>
              <a:rPr lang="zh-CN" dirty="0"/>
              <a:t>第一层是 Workspace。系统面对的是 15 个顶层目录、96 份输入文件，文件都通过服务端 allowlist、大小、哈希、格式和非链接校验后再进入安全预览。第二层是 Task Contract。用户只写任务目标，服务端冻结可读范围、预算、禁止动作和当前版本。第三层是 Planner 与 Analyst。模型调用、服务端校验和模型输出采用分别记录，不再把“模型返回了”写成“当前结论已经采用”。第四层是 Branch Evidence Gate。某条证据不能唯一定位时，只让受影响分支等待，其他已完成成果继续保留。第五层是真实 Artifact 与回执。当前固定场景可以生成可下载文件，执行具名确定性检查，并把 Snapshot 和有序 Trace 留下来。</a:t>
            </a:r>
          </a:p>
          <a:p>
            <a:endParaRPr lang="en-US" dirty="0"/>
          </a:p>
          <a:p>
            <a:r>
              <a:rPr lang="zh-CN" dirty="0"/>
              <a:t>右侧不是概念图，而是当前系统完成 TC-01 后的完整运行界面：左侧是资料库，中间是任务、Agent 路径和成果，右侧是有序 Control Loop 记录。</a:t>
            </a:r>
          </a:p>
          <a:p>
            <a:endParaRPr lang="en-US" dirty="0"/>
          </a:p>
          <a:p>
            <a:r>
              <a:rPr lang="zh-CN" dirty="0"/>
              <a:t>这条链已经证明的是固定公开数据上的受限纵切；尚未证明的是通用语义正确、任意办公文件写入、生产级 Connector 和生产 SLA。</a:t>
            </a:r>
          </a:p>
          <a:p>
            <a:endParaRPr lang="en-US" dirty="0"/>
          </a:p>
          <a:p>
            <a:r>
              <a:rPr lang="zh-CN" dirty="0"/>
              <a:t>转场：下一页从用户输入开始，看“自主选择资料”具体怎样发生。</a:t>
            </a:r>
          </a:p>
          <a:p>
            <a:endParaRPr lang="en-US" dirty="0"/>
          </a:p>
          <a:p>
            <a:r>
              <a:rPr lang="zh-CN" dirty="0"/>
              <a:t>证据/边界：当前系统实测；截图来自固定公开数据运行，不是竞品对照或生产环境。</a:t>
            </a:r>
          </a:p>
          <a:p>
            <a:endParaRPr lang="en-US" dirty="0"/>
          </a:p>
          <a:p>
            <a:r>
              <a:rPr lang="zh-CN" dirty="0"/>
              <a:t>预期问题：这是不是一个为固定 Demo 写死的流程？当前确有固定成果适配器，但 Workspace、合同、分支、证据门、Snapshot 和 Trace 是通用运行时结构。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用户做的第一件事只有一个：写清业务目标。浏览器不会再要求用户先勾选文件，也不会提交客户端的 selected_file_refs。这样减少了一个“用户必须先知道答案在哪里”的前置负担。</a:t>
            </a:r>
          </a:p>
          <a:p>
            <a:endParaRPr lang="en-US" dirty="0"/>
          </a:p>
          <a:p>
            <a:r>
              <a:rPr lang="zh-CN" dirty="0"/>
              <a:t>服务端创建 Run 时冻结完整 allowlisted 输入索引，scope_mode 是 whole_workspace。Planner 看到的是安全元数据，而不是绝对路径、隐藏任务、答案或内部哈希；它提出本轮需要的资料和分支，服务端再校验预算、来源、依赖、工具和禁止动作。</a:t>
            </a:r>
          </a:p>
          <a:p>
            <a:endParaRPr lang="en-US" dirty="0"/>
          </a:p>
          <a:p>
            <a:r>
              <a:rPr lang="zh-CN" dirty="0"/>
              <a:t>前台因此必须补上三类反馈。第一，解释本轮为什么选择这些资料；第二，区分规划模型和分析模型是否调用、输出是否被采用；第三，持续显示当前轮次、剩余调用预算、阶段和有序 Trace。用户少做了文件选择，但系统多承担了范围解释责任。</a:t>
            </a:r>
          </a:p>
          <a:p>
            <a:endParaRPr lang="en-US" dirty="0"/>
          </a:p>
          <a:p>
            <a:r>
              <a:rPr lang="zh-CN" dirty="0"/>
              <a:t>这里不能把“自主选择资料”说成“已经穷举所有相关资料”。当前最多三轮，选择仍可能不完整，所以完成结果仍需证据核对、成果检查和人工复核。</a:t>
            </a:r>
          </a:p>
          <a:p>
            <a:endParaRPr lang="en-US" dirty="0"/>
          </a:p>
          <a:p>
            <a:r>
              <a:rPr lang="zh-CN" dirty="0"/>
              <a:t>转场：如果选择到的来源文字不能唯一定位，系统不会把整项任务推倒重来。</a:t>
            </a:r>
          </a:p>
          <a:p>
            <a:endParaRPr lang="en-US" dirty="0"/>
          </a:p>
          <a:p>
            <a:r>
              <a:rPr lang="zh-CN" dirty="0"/>
              <a:t>证据/边界：当前系统实测；全库范围、服务端 Planner 和前台 Trace 的显示均以本次 Snapshot 为准。</a:t>
            </a:r>
          </a:p>
          <a:p>
            <a:endParaRPr lang="en-US" dirty="0"/>
          </a:p>
          <a:p>
            <a:r>
              <a:rPr lang="zh-CN" dirty="0"/>
              <a:t>预期问题：为什么不把全部 96 份文件都交给模型？因为服务端需要控制上下文、成本和来源范围，并保留每轮选择依据。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这页展示证据出现歧义时的真实处理。典型情况不是“没有源文件”，而是模型给出的逐字片段在安全预览里出现多次，服务端无法唯一决定应该回开哪一处。</a:t>
            </a:r>
          </a:p>
          <a:p>
            <a:endParaRPr lang="en-US" dirty="0"/>
          </a:p>
          <a:p>
            <a:r>
              <a:rPr lang="zh-CN" dirty="0"/>
              <a:t>界面先用业务语言回答三件事：发生了什么、这会影响什么、用户现在需要做什么。然后给出候选原文位置和安全预览高亮。用户选择的是来源位置，不是在替 Agent 判断结论一定正确。</a:t>
            </a:r>
          </a:p>
          <a:p>
            <a:endParaRPr lang="en-US" dirty="0"/>
          </a:p>
          <a:p>
            <a:r>
              <a:rPr lang="zh-CN" dirty="0"/>
              <a:t>右下角的小图展示同一轮里不同 Branch 可以有不同动作：一条需要用户确认原文位置，另一条可能只需要继续本分支。DecisionRequest 绑定 expected_version、source_revision、候选和受影响 Branch；来源版本变化时进入 stale，不能把旧选择直接套到新文件。</a:t>
            </a:r>
          </a:p>
          <a:p>
            <a:endParaRPr lang="en-US" dirty="0"/>
          </a:p>
          <a:p>
            <a:r>
              <a:rPr lang="zh-CN" dirty="0"/>
              <a:t>用户确认后，只恢复目标 Branch。已完成 ArtifactVersion、其他 Branch 和已有核对记录不被覆盖。这是局部恢复和整轮重跑在用户体验上的关键差别。</a:t>
            </a:r>
          </a:p>
          <a:p>
            <a:endParaRPr lang="en-US" dirty="0"/>
          </a:p>
          <a:p>
            <a:r>
              <a:rPr lang="zh-CN" dirty="0"/>
              <a:t>转场：最后看成果已经生成后，系统如何区分文件事实、业务效果和模型说明。</a:t>
            </a:r>
          </a:p>
          <a:p>
            <a:endParaRPr lang="en-US" dirty="0"/>
          </a:p>
          <a:p>
            <a:r>
              <a:rPr lang="zh-CN" dirty="0"/>
              <a:t>证据/边界：当前系统实测；位置确认只证明 locator 与来源成员关系，不证明自然语言蕴含、穷举或算术全面正确。</a:t>
            </a:r>
          </a:p>
          <a:p>
            <a:endParaRPr lang="en-US" dirty="0"/>
          </a:p>
          <a:p>
            <a:r>
              <a:rPr lang="zh-CN" dirty="0"/>
              <a:t>预期问题：为什么还要人选位置？格式原生 Locator 尚未完全覆盖，当前保留可审计的人工决定比服务端猜一个位置更稳妥。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左侧展示成果与业务效果分层。当前固定场景能够在隔离 Run 工作区生成真实文件，用户可以下载；系统还会执行具名确定性检查，并记录 EffectReceipt。与此同时，付款、核销、发送、写 CRM 等未发生动作会继续明确显示为未发生。</a:t>
            </a:r>
          </a:p>
          <a:p>
            <a:endParaRPr lang="en-US" dirty="0"/>
          </a:p>
          <a:p>
            <a:r>
              <a:rPr lang="zh-CN" dirty="0"/>
              <a:t>右侧展示模型说明与确定性成果冲突时的处理。模型确实被调用，因此 called=true；但它给出的行数或分组与确定性成果不一致时，output_used=false。前台只保留一套当前结论，冲突说明进入审计轨迹，而不是与通过检查的成果并排争夺用户注意力。</a:t>
            </a:r>
          </a:p>
          <a:p>
            <a:endParaRPr lang="en-US" dirty="0"/>
          </a:p>
          <a:p>
            <a:r>
              <a:rPr lang="zh-CN" dirty="0"/>
              <a:t>这一步把“模型说了什么”和“系统已经采用什么”分开，也把“文件存在”和“业务动作发生”分开。对用户的直接影响，是成果可以先用、依据可以继续审、错误说明不会覆盖事实。</a:t>
            </a:r>
          </a:p>
          <a:p>
            <a:endParaRPr lang="en-US" dirty="0"/>
          </a:p>
          <a:p>
            <a:r>
              <a:rPr lang="zh-CN" dirty="0"/>
              <a:t>当前边界仍然清楚：固定检查只证明特定字段、结构和效果，不是通用语义真值证明器；成果通过也不代表业务价值或最终判断自动成立。</a:t>
            </a:r>
          </a:p>
          <a:p>
            <a:endParaRPr lang="en-US" dirty="0"/>
          </a:p>
          <a:p>
            <a:r>
              <a:rPr lang="zh-CN" dirty="0"/>
              <a:t>转场：有了这条当前纵切，下面把它重新放回 07-16 的三个 Demo，分别看时间、组织和动作三个维度哪些已经落地、哪些仍是目标。</a:t>
            </a:r>
          </a:p>
          <a:p>
            <a:endParaRPr lang="en-US" dirty="0"/>
          </a:p>
          <a:p>
            <a:r>
              <a:rPr lang="zh-CN" dirty="0"/>
              <a:t>证据/边界：当前系统实测；固定成果适配器与叙事对账覆盖既定场景，不外推到任意办公任务。</a:t>
            </a:r>
          </a:p>
          <a:p>
            <a:endParaRPr lang="en-US" dirty="0"/>
          </a:p>
          <a:p>
            <a:r>
              <a:rPr lang="zh-CN" dirty="0"/>
              <a:t>预期问题：固定检查会不会把模型变得多余？不会，模型仍负责规划、跨资料归纳和提出候选；确定性检查负责约束可复算事实。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1 来自 07-16 的时间维连续性。目标不是让 Agent 永远运行，而是让同一个 Task ID 在多轮任务中有稳定的任务契约、状态版本、分支和恢复点。流程仍然是 Task Contract、Observe、Plan、Act、Verify、Commit。</a:t>
            </a:r>
          </a:p>
          <a:p>
            <a:endParaRPr lang="en-US" dirty="0"/>
          </a:p>
          <a:p>
            <a:r>
              <a:rPr lang="zh-CN" dirty="0"/>
              <a:t>07-16 的关键镜头是 Verify 同时发现正式口径 2,400 万和预测口径 2,680 万。正确处理不是整项任务失败，也不是让模型自行选择，而是 Evidence Gate 只让 revenue-baseline 分支进入 waiting_input；customer-facts 和 project-risk 分支继续产出并保留。用户给出 Steer，采用正式口径并保留预测差异说明，系统只恢复受影响分支，最后把版本、来源、验证结果和 Trace 一起 Commit。</a:t>
            </a:r>
          </a:p>
          <a:p>
            <a:endParaRPr lang="en-US" dirty="0"/>
          </a:p>
          <a:p>
            <a:r>
              <a:rPr lang="zh-CN" dirty="0"/>
              <a:t>当前系统已经具备服务端 Branch、分支级 Evidence Gate、append-only ArtifactVersion、TaskCommit、局部恢复和可选 PostgreSQL 重启恢复。还没有生产级跨端身份、任意办公工件写入和长期后台 Worker。因此这一页不是把 07-16 演示冒充当前实测，而是说明我们已经完成了其中最关键的一段状态与证据纵切。</a:t>
            </a:r>
          </a:p>
          <a:p>
            <a:endParaRPr lang="en-US" dirty="0"/>
          </a:p>
          <a:p>
            <a:r>
              <a:rPr lang="zh-CN" dirty="0"/>
              <a:t>前台变化是用户不必重开对话、重讲背景；他在同一任务里看见哪个分支完成、哪个分支为何停、选择后恢复什么、旧成果是否保留。</a:t>
            </a:r>
          </a:p>
          <a:p>
            <a:endParaRPr lang="en-US" dirty="0"/>
          </a:p>
          <a:p>
            <a:r>
              <a:rPr lang="zh-CN" dirty="0"/>
              <a:t>转场：时间连续性解决以后，Demo 2 处理的是同时有很多待办和复杂分工时，工作如何被组织。</a:t>
            </a:r>
          </a:p>
          <a:p>
            <a:endParaRPr lang="en-US" dirty="0"/>
          </a:p>
          <a:p>
            <a:r>
              <a:rPr lang="zh-CN" dirty="0"/>
              <a:t>证据/边界：https://docs.langchain.com/oss/javascript/langgraph/persistence ；https://openai.github.io/openai-agents-python/human_in_the_loop/</a:t>
            </a:r>
          </a:p>
          <a:p>
            <a:endParaRPr lang="en-US" dirty="0"/>
          </a:p>
          <a:p>
            <a:r>
              <a:rPr lang="zh-CN" dirty="0"/>
              <a:t>预期问题：现在已经支持手机和电脑控制同一生产任务吗？没有，当前证明的是服务端状态、分支与恢复机制，生产身份和跨端控制仍是目标。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2 仍然保留 07-16 的智能工作驾驶舱作为目标产品面，但这一页不再只讲目标框图，而是先回答一个可以直接演示的输入、过程和输出。</a:t>
            </a:r>
          </a:p>
          <a:p>
            <a:endParaRPr lang="en-US" dirty="0"/>
          </a:p>
          <a:p>
            <a:r>
              <a:rPr lang="zh-CN" dirty="0"/>
              <a:t>输入是一条复杂但只读的办公任务：分别核对产品上线、搜索 Agent 运行和用户交互三条工作线的风险与证据，先独立核对，再形成统一简报。用户不需要指定五个 Agent，也不需要自己分配会话。</a:t>
            </a:r>
          </a:p>
          <a:p>
            <a:endParaRPr lang="en-US" dirty="0"/>
          </a:p>
          <a:p>
            <a:r>
              <a:rPr lang="zh-CN" dirty="0"/>
              <a:t>过程由服务端事实决定。Topology Admission 编译出五个 WorkUnit，其中三个是根工作包，两个依赖前序结果。第一波返回后，三个 Contribution 分别进入采用门；只有带批准来源和可定位证据的候选才能进入 Artifact。两个依赖工作包显示“下一波待确认”，由用户明确启动，而不是后台无声扩张预算。</a:t>
            </a:r>
          </a:p>
          <a:p>
            <a:endParaRPr lang="en-US" dirty="0"/>
          </a:p>
          <a:p>
            <a:r>
              <a:rPr lang="zh-CN" dirty="0"/>
              <a:t>输出是一个统一工作面：左侧阶段轨回答现在走到哪，中央 DAG 回答谁依赖谁，右侧当前影响只突出唯一主要动作，底部结果条说明三份贡献已经采用、Artifact v1 已保留、还有两个工作包待确认。用户管理的是统一成果和下一步，不是多个 Agent 对话。</a:t>
            </a:r>
          </a:p>
          <a:p>
            <a:endParaRPr lang="en-US" dirty="0"/>
          </a:p>
          <a:p>
            <a:r>
              <a:rPr lang="zh-CN" dirty="0"/>
              <a:t>边界必须讲清：这是单 API 进程、顺序波次、每波最多三个只读 Worker 的 controlled fixture。它不是 durable queue、远端 Worker、分布式 Swarm，也不是已经完成的智能工作驾驶舱；自动化和截图同样不能证明多 Worker 更快、更准或更易理解。</a:t>
            </a:r>
          </a:p>
          <a:p>
            <a:endParaRPr lang="en-US" dirty="0"/>
          </a:p>
          <a:p>
            <a:r>
              <a:rPr lang="zh-CN" dirty="0"/>
              <a:t>转场：无论任务由单 Agent、Workflow 还是 Swarm 完成，只要下一步涉及真实发送、付款或生产变更，都要进入 Demo 3 的动作风险门。</a:t>
            </a:r>
          </a:p>
          <a:p>
            <a:endParaRPr lang="en-US" dirty="0"/>
          </a:p>
          <a:p>
            <a:r>
              <a:rPr lang="zh-CN" dirty="0"/>
              <a:t>证据/边界：https://docs.openclaw.ai/multi-agent ；https://a2a-protocol.org/dev/specification/ ；https://www.nngroup.com/articles/progressive-disclosure/</a:t>
            </a:r>
          </a:p>
          <a:p>
            <a:endParaRPr lang="en-US" dirty="0"/>
          </a:p>
          <a:p>
            <a:r>
              <a:rPr lang="zh-CN" dirty="0"/>
              <a:t>预期问题：多 Agent 一定比单 Agent 好吗？不一定，当前也没有效果证据；只有同任务、同模型、同来源和同预算下的增量收益高于协调与验证开销时，才应该启动 Adaptive 路线。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Demo 3 保留 07-16 的 Risk Gate。Risk Lens 从动作影响、数据敏感度、可逆性、权限和缺失信息评估风险，再映射到 L0-L5：L0 自动执行，L1 执行并通知，L2 只生成草稿，L3 普通确认，L4 强确认，L5 直接拒绝。</a:t>
            </a:r>
          </a:p>
          <a:p>
            <a:endParaRPr lang="en-US" dirty="0"/>
          </a:p>
          <a:p>
            <a:r>
              <a:rPr lang="zh-CN" dirty="0"/>
              <a:t>真正关键的是动作链。Agent 先提出方案，前台展示动作对象、影响范围和可逆性；Evidence Gate 与 Risk Lens 给出来源和风险理由；需要人工确认时，用户明确同意后才生成 Permit；执行后必须返回可核验的 ExecutionReceipt，或者明确写出动作未发生。这样“方案”“草稿”“批准”和“执行”不会被混成一个绿色完成状态。</a:t>
            </a:r>
          </a:p>
          <a:p>
            <a:endParaRPr lang="en-US" dirty="0"/>
          </a:p>
          <a:p>
            <a:r>
              <a:rPr lang="zh-CN" dirty="0"/>
              <a:t>页面下半部分使用当前真实界面截图，说明目前已经实现的有限一段：实际 Artifact、具名 Validator、EffectReceipt 和未发生边界可以分层展示。但生产 Connector、身份授权、Permit 防重放与真实外部动作仍未实现，所以系统不会发送邮件、付款、写 CRM 或执行生产命令。</a:t>
            </a:r>
          </a:p>
          <a:p>
            <a:endParaRPr lang="en-US" dirty="0"/>
          </a:p>
          <a:p>
            <a:r>
              <a:rPr lang="zh-CN" dirty="0"/>
              <a:t>前台的直接变化是按钮不能只写“确认”。用户必须先看见对象、影响、证据、风险级别、可逆性和执行回执，才能知道自己的点击究竟会改变什么。</a:t>
            </a:r>
          </a:p>
          <a:p>
            <a:endParaRPr lang="en-US" dirty="0"/>
          </a:p>
          <a:p>
            <a:r>
              <a:rPr lang="zh-CN" dirty="0"/>
              <a:t>转场：三个 Demo 的方向保留，但下一步必须继续用可证伪证据而不是更多概念升级结论。</a:t>
            </a:r>
          </a:p>
          <a:p>
            <a:endParaRPr lang="en-US" dirty="0"/>
          </a:p>
          <a:p>
            <a:r>
              <a:rPr lang="zh-CN" dirty="0"/>
              <a:t>证据/边界：https://openai.github.io/openai-agents-python/human_in_the_loop/ ；https://modelcontextprotocol.io/specification/draft/client/elicitation ；https://www.microsoft.com/en-us/research/publication/guidelines-for-human-ai-interaction/</a:t>
            </a:r>
          </a:p>
          <a:p>
            <a:endParaRPr lang="en-US" dirty="0"/>
          </a:p>
          <a:p>
            <a:r>
              <a:rPr lang="zh-CN" dirty="0"/>
              <a:t>预期问题：当前是不是已经具备 L0-L5 的生产执行能力？没有，L0-L5 是目标控制模型，当前只有固定成果和未执行边界的有限实现。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下一阶段仍然延续 07-16 的目标：让工作在约束下持续收敛，但结论必须经过五道证据门。先做 PDF、XLSX、DOCX 的格式原生 Locator；再让 Artifact、EffectReceipt、provenance 和未执行边界一起导出；随后把固定适配器扩展成可配置业务 Verifier；再把当前进程内 Worker 纵切升级为 durable queue/lease、远端 Worker 和多实例恢复，并接入 Tool、Connector、Permit 与幂等动作回执；最后冻结同一任务、模型、来源和预算做竞品同场挑战，并开展目标用户研究。只有这些门通过，“差异候选”才可以升级为“已验证优势”。</a:t>
            </a:r>
          </a:p>
          <a:p>
            <a:endParaRPr lang="en-US" dirty="0"/>
          </a:p>
          <a:p>
            <a:r>
              <a:rPr lang="zh-CN" dirty="0"/>
              <a:t>转场：请评审决定的不是一句“看起来不错”，而是是否同意按这五道门继续生产证据。</a:t>
            </a:r>
          </a:p>
          <a:p>
            <a:endParaRPr lang="en-US" dirty="0"/>
          </a:p>
          <a:p>
            <a:r>
              <a:rPr lang="zh-CN" dirty="0"/>
              <a:t>证据/边界：https://modelcontextprotocol.io/specification/draft/client/elicitation ；https://a2a-protocol.org/dev/specification/ ；https://www.w3.org/TR/prov-o/ ；https://www.microsoft.com/en-us/research/publication/guidelines-for-human-ai-interaction/ ；https://research.google/pubs/measuring-the-user-experience-on-a-large-scale-user-centered-metrics-for-web-applications/</a:t>
            </a:r>
          </a:p>
          <a:p>
            <a:endParaRPr lang="en-US" dirty="0"/>
          </a:p>
          <a:p>
            <a:r>
              <a:rPr lang="zh-CN" dirty="0"/>
              <a:t>预期问题：当前可以对外承诺什么？只能承诺固定公开数据上的系统实测与明确边界，不承诺全面领先、生产 SLA 或用户价值。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9af7a8866962a52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87a38b6a3279434.jpg"/>
  <Relationship Id="rId3" Type="http://schemas.openxmlformats.org/officeDocument/2006/relationships/image" Target="../media/image_134b6f9220a40bf8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64c34752c86912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b1f25de3444c79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c3df4a81cf84db2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6a128846c02685a.png"/>
  <Relationship Id="rId3" Type="http://schemas.openxmlformats.org/officeDocument/2006/relationships/image" Target="../media/image_8d1c1725b10c83d3.png"/>
  <Relationship Id="rId4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image" Target="../media/image_bb1f25de3444c798.png"/>
  <Relationship Id="rId4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9e5cecb714ed206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240f8bdb4603e4a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95300" y="62388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90550" y="1119664"/>
            <a:ext cx="4422056" cy="3362420"/>
            <a:chOff x="590550" y="1119664"/>
            <a:chExt cx="4422056" cy="3362420"/>
          </a:xfrm>
        </p:grpSpPr>
        <p:sp>
          <p:nvSpPr>
            <p:cNvPr id="6" name="TextBox 6"/>
            <p:cNvSpPr txBox="1"/>
            <p:nvPr/>
          </p:nvSpPr>
          <p:spPr>
            <a:xfrm>
              <a:off x="603123" y="1119664"/>
              <a:ext cx="32120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延续 07-16 · OFFICE AGENT 技术方案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625918"/>
              <a:ext cx="442205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未来办公 Agent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23117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从一次回答到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2997518"/>
              <a:ext cx="434223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可治理工作系统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3806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技术演进、主流方案、办公场景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41300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与前台交互影响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0550" y="4591050"/>
            <a:ext cx="4607443" cy="1068705"/>
            <a:chOff x="590550" y="4591050"/>
            <a:chExt cx="4607443" cy="1068705"/>
          </a:xfrm>
        </p:grpSpPr>
        <p:sp>
          <p:nvSpPr>
            <p:cNvPr id="13" name="TextBox 13"/>
            <p:cNvSpPr txBox="1"/>
            <p:nvPr/>
          </p:nvSpPr>
          <p:spPr>
            <a:xfrm>
              <a:off x="5905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22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个顶层目录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2273" y="508206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固定办公挑战现场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667000" y="45910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2750" y="4669155"/>
              <a:ext cx="83107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96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74973" y="47963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份输入文件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74973" y="5082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96/96 安全预览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05500" y="857250"/>
            <a:ext cx="5791200" cy="4762500"/>
            <a:chOff x="5905500" y="857250"/>
            <a:chExt cx="5791200" cy="4762500"/>
          </a:xfrm>
        </p:grpSpPr>
        <p:sp>
          <p:nvSpPr>
            <p:cNvPr id="21" name="Rectangle 21"/>
            <p:cNvSpPr/>
            <p:nvPr/>
          </p:nvSpPr>
          <p:spPr>
            <a:xfrm>
              <a:off x="5905500" y="857250"/>
              <a:ext cx="5791200" cy="4762500"/>
            </a:xfrm>
            <a:prstGeom prst="roundRect">
              <a:avLst>
                <a:gd name="adj" fmla="val 12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76109" y="1333500"/>
              <a:ext cx="5049982" cy="3857625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6019800" y="990600"/>
              <a:ext cx="1600200" cy="285750"/>
            </a:xfrm>
            <a:prstGeom prst="roundRect">
              <a:avLst>
                <a:gd name="adj" fmla="val 20000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174581" y="1069181"/>
              <a:ext cx="128587" cy="121444"/>
              <a:chOff x="6174581" y="1069181"/>
              <a:chExt cx="128587" cy="1214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203156" y="1069181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4288" y="0"/>
                    </a:moveTo>
                    <a:lnTo>
                      <a:pt x="35719" y="0"/>
                    </a:lnTo>
                    <a:lnTo>
                      <a:pt x="50006" y="14288"/>
                    </a:lnTo>
                    <a:lnTo>
                      <a:pt x="85725" y="14288"/>
                    </a:lnTo>
                    <a:cubicBezTo>
                      <a:pt x="93616" y="14288"/>
                      <a:pt x="100012" y="20684"/>
                      <a:pt x="100012" y="28575"/>
                    </a:cubicBez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74581" y="1097756"/>
                <a:ext cx="100012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2869">
                    <a:moveTo>
                      <a:pt x="100012" y="64294"/>
                    </a:moveTo>
                    <a:lnTo>
                      <a:pt x="100012" y="78581"/>
                    </a:lnTo>
                    <a:cubicBezTo>
                      <a:pt x="100012" y="86472"/>
                      <a:pt x="93616" y="92869"/>
                      <a:pt x="85725" y="92869"/>
                    </a:cubicBezTo>
                    <a:lnTo>
                      <a:pt x="14288" y="92869"/>
                    </a:lnTo>
                    <a:cubicBezTo>
                      <a:pt x="6397" y="92869"/>
                      <a:pt x="0" y="86472"/>
                      <a:pt x="0" y="78581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285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413373" y="1062514"/>
              <a:ext cx="15348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"/>
                  <a:ea typeface="Microsoft YaHei"/>
                  <a:cs typeface="Segoe UI"/>
                </a:rPr>
                <a:t>当前 Agent 能力页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4466" y="5277802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 · 任务进展、协作方式与证据核对逐层展开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4266" y="6439852"/>
            <a:ext cx="11097768" cy="205359"/>
            <a:chOff x="604266" y="6439852"/>
            <a:chExt cx="110977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604266" y="6439852"/>
              <a:ext cx="1783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C8A98"/>
                  </a:solidFill>
                  <a:latin typeface="Segoe UI"/>
                  <a:ea typeface="Segoe UI"/>
                  <a:cs typeface="Segoe UI"/>
                </a:rPr>
                <a:t>Lenovo CAAI · 2026-09-02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784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539932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这次改版带来的能力跃迁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09131" y="519589"/>
              <a:ext cx="87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延续 07-16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78255"/>
            <a:ext cx="10408511" cy="671798"/>
            <a:chOff x="484632" y="1278255"/>
            <a:chExt cx="10408511" cy="67179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78255"/>
              <a:ext cx="750163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三类控制不变，验证对象从“回答”扩展到“真实办公成果”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700689"/>
              <a:ext cx="10404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Demo 1 管时间连续性，Demo 2 管复杂任务组织，Demo 3 管动作风险；当前版本补上 Workspace、WorkUnit、Artifact 与证据回开。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5300" y="2286000"/>
            <a:ext cx="11201400" cy="2286000"/>
            <a:chOff x="495300" y="2286000"/>
            <a:chExt cx="112014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49530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95300" y="2286000"/>
              <a:ext cx="3390900" cy="762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0214" y="2605806"/>
              <a:ext cx="219694" cy="224739"/>
              <a:chOff x="760214" y="2605806"/>
              <a:chExt cx="219694" cy="2247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66775" y="2667000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71438">
                    <a:moveTo>
                      <a:pt x="0" y="0"/>
                    </a:moveTo>
                    <a:lnTo>
                      <a:pt x="0" y="47625"/>
                    </a:lnTo>
                    <a:lnTo>
                      <a:pt x="23812" y="714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60214" y="2605806"/>
                <a:ext cx="219694" cy="224739"/>
              </a:xfrm>
              <a:custGeom>
                <a:avLst/>
                <a:gdLst/>
                <a:ahLst/>
                <a:cxnLst/>
                <a:rect l="l" t="t" r="r" b="b"/>
                <a:pathLst>
                  <a:path w="219694" h="224739">
                    <a:moveTo>
                      <a:pt x="0" y="96913"/>
                    </a:moveTo>
                    <a:cubicBezTo>
                      <a:pt x="5524" y="42685"/>
                      <a:pt x="50876" y="1245"/>
                      <a:pt x="105381" y="623"/>
                    </a:cubicBezTo>
                    <a:cubicBezTo>
                      <a:pt x="159885" y="0"/>
                      <a:pt x="206172" y="40393"/>
                      <a:pt x="212933" y="94481"/>
                    </a:cubicBezTo>
                    <a:cubicBezTo>
                      <a:pt x="219694" y="148568"/>
                      <a:pt x="184774" y="199112"/>
                      <a:pt x="131794" y="211925"/>
                    </a:cubicBezTo>
                    <a:cubicBezTo>
                      <a:pt x="78813" y="224739"/>
                      <a:pt x="24655" y="195737"/>
                      <a:pt x="5953" y="144538"/>
                    </a:cubicBezTo>
                    <a:moveTo>
                      <a:pt x="0" y="204069"/>
                    </a:moveTo>
                    <a:lnTo>
                      <a:pt x="0" y="144538"/>
                    </a:lnTo>
                    <a:lnTo>
                      <a:pt x="59531" y="1445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1513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 · 持续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475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同一任务跨轮推进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423" y="3481864"/>
              <a:ext cx="2215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新增：完整 Workspace 范围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423" y="3767614"/>
              <a:ext cx="2369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新增：Branch 级证据门与恢复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742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前台：为什么停、从哪里继续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71950" y="2286000"/>
              <a:ext cx="33909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171950" y="2286000"/>
              <a:ext cx="3390900" cy="762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4460081" y="2619375"/>
              <a:ext cx="178595" cy="190500"/>
              <a:chOff x="4460081" y="2619375"/>
              <a:chExt cx="178595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460081" y="27622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460081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579144" y="26193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83894" y="26670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507706" y="27027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567238" y="27027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82803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 · 协作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91406" y="3044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复杂任务按需组织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4073" y="3481864"/>
              <a:ext cx="2583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当前：WorkUnit DAG 与采用台账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4073" y="3767614"/>
              <a:ext cx="3296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边界：单进程、每波最多 3 个只读 Worker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4073" y="41295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前台：谁依赖谁、哪里需确认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48600" y="2286000"/>
              <a:ext cx="3848100" cy="2286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848600" y="2286000"/>
              <a:ext cx="3848100" cy="762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096851" y="2607469"/>
              <a:ext cx="232508" cy="214312"/>
              <a:chOff x="8096851" y="2607469"/>
              <a:chExt cx="232508" cy="2143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96851" y="26074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55794" y="27741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8504682" y="2573655"/>
              <a:ext cx="19479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 · 治理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8056" y="3044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真实动作前展示后果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70723" y="3481864"/>
              <a:ext cx="2720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新增：Artifact 与 EffectReceipt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70723" y="3767614"/>
              <a:ext cx="2698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边界：无 Connector 回执即未执行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0723" y="41295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前台：会改变什么、不会发生什么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1550" y="4878705"/>
            <a:ext cx="10096500" cy="700373"/>
            <a:chOff x="971550" y="4878705"/>
            <a:chExt cx="10096500" cy="700373"/>
          </a:xfrm>
        </p:grpSpPr>
        <p:sp>
          <p:nvSpPr>
            <p:cNvPr id="47" name="Freeform 47"/>
            <p:cNvSpPr/>
            <p:nvPr/>
          </p:nvSpPr>
          <p:spPr>
            <a:xfrm>
              <a:off x="1123950" y="5181600"/>
              <a:ext cx="9944100" cy="9525"/>
            </a:xfrm>
            <a:custGeom>
              <a:avLst/>
              <a:gdLst/>
              <a:ahLst/>
              <a:cxnLst/>
              <a:rect l="l" t="t" r="r" b="b"/>
              <a:pathLst>
                <a:path w="9944100" h="9525">
                  <a:moveTo>
                    <a:pt x="0" y="0"/>
                  </a:moveTo>
                  <a:lnTo>
                    <a:pt x="9944100" y="0"/>
                  </a:lnTo>
                </a:path>
              </a:pathLst>
            </a:custGeom>
            <a:noFill/>
            <a:ln w="38100">
              <a:solidFill>
                <a:srgbClr val="1769E0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971550" y="5029200"/>
              <a:ext cx="304800" cy="3048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56182" y="4878705"/>
              <a:ext cx="69408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核心升级：Agent 的进展必须落到可核对的工作事实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60373" y="5329714"/>
              <a:ext cx="6020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当前系统实测只证明固定公开数据上的工程纵切，不证明生产能力或用户价值。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489966" y="6458902"/>
              <a:ext cx="3244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线上研究依据：Microsoft HAI Guidelines · ReAct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一个底座、两层增强、三类控制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架构主线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565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底座负责每次任务都要有的稳定能力；增强层只在任务变长、变复杂时启用；控制机制贯穿所有层。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6156" y="1596390"/>
            <a:ext cx="3351345" cy="3909060"/>
            <a:chOff x="486156" y="1596390"/>
            <a:chExt cx="3351345" cy="390906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3513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三类控制：决定“能不能继续”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20002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89749" y="2217875"/>
              <a:ext cx="197464" cy="197481"/>
              <a:chOff x="689749" y="2217875"/>
              <a:chExt cx="197464" cy="19748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80256" y="2304256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38981" y="2262981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51594" y="0"/>
                    </a:moveTo>
                    <a:cubicBezTo>
                      <a:pt x="23099" y="0"/>
                      <a:pt x="0" y="23099"/>
                      <a:pt x="0" y="51594"/>
                    </a:cubicBez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89749" y="2217875"/>
                <a:ext cx="197464" cy="197481"/>
              </a:xfrm>
              <a:custGeom>
                <a:avLst/>
                <a:gdLst/>
                <a:ahLst/>
                <a:cxnLst/>
                <a:rect l="l" t="t" r="r" b="b"/>
                <a:pathLst>
                  <a:path w="197464" h="197481">
                    <a:moveTo>
                      <a:pt x="111144" y="4399"/>
                    </a:moveTo>
                    <a:cubicBezTo>
                      <a:pt x="71936" y="0"/>
                      <a:pt x="34229" y="20855"/>
                      <a:pt x="17114" y="56404"/>
                    </a:cubicBezTo>
                    <a:cubicBezTo>
                      <a:pt x="0" y="91952"/>
                      <a:pt x="7215" y="134434"/>
                      <a:pt x="35106" y="162340"/>
                    </a:cubicBezTo>
                    <a:cubicBezTo>
                      <a:pt x="62997" y="190245"/>
                      <a:pt x="105476" y="197481"/>
                      <a:pt x="141033" y="180385"/>
                    </a:cubicBezTo>
                    <a:cubicBezTo>
                      <a:pt x="176590" y="163288"/>
                      <a:pt x="197464" y="125591"/>
                      <a:pt x="193085" y="86381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21531" y="2221706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30956"/>
                    </a:moveTo>
                    <a:lnTo>
                      <a:pt x="0" y="61912"/>
                    </a:lnTo>
                    <a:lnTo>
                      <a:pt x="30956" y="61912"/>
                    </a:lnTo>
                    <a:lnTo>
                      <a:pt x="61912" y="30956"/>
                    </a:lnTo>
                    <a:lnTo>
                      <a:pt x="30956" y="30956"/>
                    </a:lnTo>
                    <a:lnTo>
                      <a:pt x="30956" y="0"/>
                    </a:ln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90575" y="2283618"/>
                <a:ext cx="3095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30956">
                    <a:moveTo>
                      <a:pt x="30956" y="0"/>
                    </a:move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9556" y="2186940"/>
              <a:ext cx="1586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Control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273" y="25293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目标、范围、预算、暂停、停止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416" y="27822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防止任务跑偏或无限继续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5300" y="32194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08023" y="3446183"/>
              <a:ext cx="170128" cy="175162"/>
              <a:chOff x="708023" y="3446183"/>
              <a:chExt cx="170128" cy="17516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59618" y="3502818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0" y="61912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80256" y="3446183"/>
                <a:ext cx="97895" cy="97910"/>
              </a:xfrm>
              <a:custGeom>
                <a:avLst/>
                <a:gdLst/>
                <a:ahLst/>
                <a:cxnLst/>
                <a:rect l="l" t="t" r="r" b="b"/>
                <a:pathLst>
                  <a:path w="97895" h="97910">
                    <a:moveTo>
                      <a:pt x="0" y="25679"/>
                    </a:moveTo>
                    <a:lnTo>
                      <a:pt x="4778" y="20148"/>
                    </a:lnTo>
                    <a:cubicBezTo>
                      <a:pt x="24929" y="0"/>
                      <a:pt x="57598" y="2"/>
                      <a:pt x="77746" y="20154"/>
                    </a:cubicBezTo>
                    <a:cubicBezTo>
                      <a:pt x="97895" y="40305"/>
                      <a:pt x="97892" y="72974"/>
                      <a:pt x="77741" y="93122"/>
                    </a:cubicBezTo>
                    <a:lnTo>
                      <a:pt x="72231" y="9791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08023" y="3523456"/>
                <a:ext cx="92870" cy="97889"/>
              </a:xfrm>
              <a:custGeom>
                <a:avLst/>
                <a:gdLst/>
                <a:ahLst/>
                <a:cxnLst/>
                <a:rect l="l" t="t" r="r" b="b"/>
                <a:pathLst>
                  <a:path w="92870" h="97889">
                    <a:moveTo>
                      <a:pt x="92870" y="72231"/>
                    </a:moveTo>
                    <a:lnTo>
                      <a:pt x="88773" y="77741"/>
                    </a:lnTo>
                    <a:cubicBezTo>
                      <a:pt x="68399" y="97889"/>
                      <a:pt x="35606" y="97889"/>
                      <a:pt x="15232" y="77741"/>
                    </a:cubicBezTo>
                    <a:cubicBezTo>
                      <a:pt x="5485" y="68104"/>
                      <a:pt x="0" y="54966"/>
                      <a:pt x="0" y="41259"/>
                    </a:cubicBezTo>
                    <a:cubicBezTo>
                      <a:pt x="0" y="27552"/>
                      <a:pt x="5485" y="14415"/>
                      <a:pt x="15232" y="4778"/>
                    </a:cubicBezTo>
                    <a:lnTo>
                      <a:pt x="20639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19556" y="3406140"/>
              <a:ext cx="2081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Control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273" y="37485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来源、冲突、验证、采用与拒绝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1416" y="40014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防止模型说明覆盖业务事实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" y="4438650"/>
              <a:ext cx="2590800" cy="1066800"/>
            </a:xfrm>
            <a:prstGeom prst="roundRect">
              <a:avLst>
                <a:gd name="adj" fmla="val 53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83781" y="4660106"/>
              <a:ext cx="201506" cy="185737"/>
              <a:chOff x="683781" y="4660106"/>
              <a:chExt cx="201506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83781" y="46601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1531" y="48045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19556" y="4625340"/>
              <a:ext cx="18019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Action Control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273" y="4967764"/>
              <a:ext cx="24819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风险、审批、Permit、执行回执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1416" y="5220652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防止“建议”被误认成“已执行”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381756" y="1596390"/>
            <a:ext cx="5336414" cy="3925538"/>
            <a:chOff x="3381756" y="1596390"/>
            <a:chExt cx="5336414" cy="3925538"/>
          </a:xfrm>
        </p:grpSpPr>
        <p:sp>
          <p:nvSpPr>
            <p:cNvPr id="37" name="TextBox 37"/>
            <p:cNvSpPr txBox="1"/>
            <p:nvPr/>
          </p:nvSpPr>
          <p:spPr>
            <a:xfrm>
              <a:off x="3381756" y="15963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两层增强：任务越复杂，运行时越强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390900" y="20002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  <a:custDash>
                <a:ds d="400000" sp="300000"/>
              </a:custDash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3636963" y="2254250"/>
              <a:ext cx="166687" cy="177801"/>
              <a:chOff x="3636963" y="2254250"/>
              <a:chExt cx="166687" cy="17780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3636963" y="238760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636963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48088" y="22542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659188" y="22987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681413" y="233203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736975" y="23320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3973449" y="2192179"/>
              <a:ext cx="36405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2：Governed Adaptive Swarm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75685" y="2507456"/>
              <a:ext cx="3616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当前：Admission → WorkUnit DAG → ≤3 只读 Worker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76447" y="2742724"/>
              <a:ext cx="4050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→ Contribution Gate；目标：持久队列 / 远程 Worker / 多实例调度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58100" y="2114550"/>
              <a:ext cx="6667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24013" y="21902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受限纵切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953125" y="3009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390900" y="3219450"/>
              <a:ext cx="5124450" cy="1009650"/>
            </a:xfrm>
            <a:prstGeom prst="roundRect">
              <a:avLst>
                <a:gd name="adj" fmla="val 5660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3625850" y="3469163"/>
              <a:ext cx="177801" cy="186375"/>
              <a:chOff x="3625850" y="3469163"/>
              <a:chExt cx="177801" cy="18637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3625850" y="3469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625850" y="35734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3972306" y="3425190"/>
              <a:ext cx="3361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增强 1：Agent Control Loop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574923" y="3767614"/>
              <a:ext cx="5143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长任务：按轮推进、按 Branch 补证、保留 Artifact 历史并可恢复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410450" y="3352800"/>
              <a:ext cx="914400" cy="247650"/>
            </a:xfrm>
            <a:prstGeom prst="roundRect">
              <a:avLst>
                <a:gd name="adj" fmla="val 1923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38263" y="3420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当前受限实现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5953125" y="42291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3390900" y="4438650"/>
              <a:ext cx="5124450" cy="1066800"/>
            </a:xfrm>
            <a:prstGeom prst="roundRect">
              <a:avLst>
                <a:gd name="adj" fmla="val 5357"/>
              </a:avLst>
            </a:prstGeom>
            <a:solidFill>
              <a:srgbClr val="132A3A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3617119" y="4695825"/>
              <a:ext cx="214312" cy="190500"/>
              <a:chOff x="3617119" y="4695825"/>
              <a:chExt cx="214312" cy="1905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3617119" y="469582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3617119" y="4791075"/>
                <a:ext cx="21431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95250">
                    <a:moveTo>
                      <a:pt x="0" y="35719"/>
                    </a:moveTo>
                    <a:cubicBezTo>
                      <a:pt x="0" y="15992"/>
                      <a:pt x="15992" y="0"/>
                      <a:pt x="35719" y="0"/>
                    </a:cubicBezTo>
                    <a:lnTo>
                      <a:pt x="178594" y="0"/>
                    </a:lnTo>
                    <a:cubicBezTo>
                      <a:pt x="198321" y="0"/>
                      <a:pt x="214312" y="15992"/>
                      <a:pt x="214312" y="35719"/>
                    </a:cubicBezTo>
                    <a:lnTo>
                      <a:pt x="214312" y="59531"/>
                    </a:lnTo>
                    <a:cubicBezTo>
                      <a:pt x="214312" y="79258"/>
                      <a:pt x="198321" y="95250"/>
                      <a:pt x="178594" y="95250"/>
                    </a:cubicBezTo>
                    <a:lnTo>
                      <a:pt x="35719" y="95250"/>
                    </a:lnTo>
                    <a:cubicBezTo>
                      <a:pt x="15992" y="95250"/>
                      <a:pt x="0" y="79258"/>
                      <a:pt x="0" y="59531"/>
                    </a:cubicBezTo>
                    <a:lnTo>
                      <a:pt x="0" y="357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3664744" y="4743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664744" y="4838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4008882" y="4650105"/>
              <a:ext cx="40644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底座：Unified Agent Runtime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574923" y="5043964"/>
              <a:ext cx="46805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每个任务都稳定承接：Task · State · Context · Execution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574923" y="5272564"/>
              <a:ext cx="31093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Segoe UI"/>
                  <a:ea typeface="Segoe UI"/>
                  <a:cs typeface="Segoe UI"/>
                </a:rPr>
                <a:t>Capability · Evidence · Policy · Trace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8811006" y="1596390"/>
            <a:ext cx="2885694" cy="3909060"/>
            <a:chOff x="8811006" y="1596390"/>
            <a:chExt cx="2885694" cy="3909060"/>
          </a:xfrm>
        </p:grpSpPr>
        <p:sp>
          <p:nvSpPr>
            <p:cNvPr id="71" name="TextBox 71"/>
            <p:cNvSpPr txBox="1"/>
            <p:nvPr/>
          </p:nvSpPr>
          <p:spPr>
            <a:xfrm>
              <a:off x="8811006" y="15963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前台最终只回答三件事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820150" y="2000250"/>
              <a:ext cx="2876550" cy="3505200"/>
            </a:xfrm>
            <a:prstGeom prst="roundRect">
              <a:avLst>
                <a:gd name="adj" fmla="val 198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953500" y="2247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068912" y="23388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423273" y="22245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任务现在走到哪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24416" y="25060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轮次、分支、版本、预算、恢复点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048750" y="289560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8953500" y="314325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68912" y="323421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423273" y="31199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当前结论凭什么成立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424416" y="340137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来源、成果校验、冲突与采用状态</a:t>
              </a:r>
            </a:p>
          </p:txBody>
        </p:sp>
        <p:sp>
          <p:nvSpPr>
            <p:cNvPr id="82" name="Freeform 82"/>
            <p:cNvSpPr/>
            <p:nvPr/>
          </p:nvSpPr>
          <p:spPr>
            <a:xfrm>
              <a:off x="9048750" y="3790950"/>
              <a:ext cx="2419350" cy="9525"/>
            </a:xfrm>
            <a:custGeom>
              <a:avLst/>
              <a:gdLst/>
              <a:ahLst/>
              <a:cxnLst/>
              <a:rect l="l" t="t" r="r" b="b"/>
              <a:pathLst>
                <a:path w="2419350" h="9525">
                  <a:moveTo>
                    <a:pt x="0" y="0"/>
                  </a:moveTo>
                  <a:lnTo>
                    <a:pt x="24193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8953500" y="40386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068912" y="41295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423273" y="40152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哪些动作发生了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24416" y="429672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影响预览、人工确认、执行或未发生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048750" y="4762500"/>
              <a:ext cx="2419350" cy="514350"/>
            </a:xfrm>
            <a:prstGeom prst="roundRect">
              <a:avLst>
                <a:gd name="adj" fmla="val 1111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436789" y="48587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用户不需要理解架构名词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3343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只需看见状态、依据与下一步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495300" y="5772150"/>
            <a:ext cx="11201400" cy="457200"/>
            <a:chOff x="495300" y="5772150"/>
            <a:chExt cx="11201400" cy="457200"/>
          </a:xfrm>
        </p:grpSpPr>
        <p:sp>
          <p:nvSpPr>
            <p:cNvPr id="91" name="Rectangle 91"/>
            <p:cNvSpPr/>
            <p:nvPr/>
          </p:nvSpPr>
          <p:spPr>
            <a:xfrm>
              <a:off x="495300" y="5772150"/>
              <a:ext cx="11201400" cy="457200"/>
            </a:xfrm>
            <a:prstGeom prst="roundRect">
              <a:avLst>
                <a:gd name="adj" fmla="val 125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17423" y="592978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一句话：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403223" y="59297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底座保证任务不失控，增强层处理时间和组织复杂度，三类控制保证结果与动作可被复核。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5" name="TextBox 95"/>
            <p:cNvSpPr txBox="1"/>
            <p:nvPr/>
          </p:nvSpPr>
          <p:spPr>
            <a:xfrm>
              <a:off x="489966" y="6458902"/>
              <a:ext cx="6364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线上实践依据：ReAct · LangGraph Persistence · OpenAI Agents SDK Human-in-the-loop · MCP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45743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最小运行时：八个稳定职责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28625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56515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内容展开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8823" y="1272064"/>
            <a:ext cx="10810113" cy="249364"/>
            <a:chOff x="488823" y="1272064"/>
            <a:chExt cx="10810113" cy="249364"/>
          </a:xfrm>
        </p:grpSpPr>
        <p:sp>
          <p:nvSpPr>
            <p:cNvPr id="9" name="TextBox 9"/>
            <p:cNvSpPr txBox="1"/>
            <p:nvPr/>
          </p:nvSpPr>
          <p:spPr>
            <a:xfrm>
              <a:off x="488823" y="1272064"/>
              <a:ext cx="6741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不要把八个模块理解成八个页面：它们是一次任务从“定范围”到“可恢复”的四段责任链。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639175" y="1285875"/>
              <a:ext cx="133350" cy="13335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529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9667875" y="1285875"/>
              <a:ext cx="133350" cy="13335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81616" y="1296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10791825" y="1285875"/>
              <a:ext cx="133350" cy="133350"/>
            </a:xfrm>
            <a:prstGeom prst="ellipse">
              <a:avLst/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005566" y="1296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16" y="1639252"/>
            <a:ext cx="10003098" cy="205359"/>
            <a:chOff x="661416" y="1639252"/>
            <a:chExt cx="10003098" cy="205359"/>
          </a:xfrm>
        </p:grpSpPr>
        <p:sp>
          <p:nvSpPr>
            <p:cNvPr id="17" name="TextBox 17"/>
            <p:cNvSpPr txBox="1"/>
            <p:nvPr/>
          </p:nvSpPr>
          <p:spPr>
            <a:xfrm>
              <a:off x="661416" y="16392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责任阶段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33016" y="1639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两个稳定模块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14566" y="163925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后端必须负责什么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14916" y="163925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8A98"/>
                  </a:solidFill>
                  <a:latin typeface="Segoe UI Semibold"/>
                  <a:ea typeface="Microsoft YaHei"/>
                  <a:cs typeface="Segoe UI Semibold"/>
                </a:rPr>
                <a:t>前台要回答什么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95300" y="1885950"/>
            <a:ext cx="11201400" cy="876300"/>
            <a:chOff x="495300" y="1885950"/>
            <a:chExt cx="11201400" cy="876300"/>
          </a:xfrm>
        </p:grpSpPr>
        <p:sp>
          <p:nvSpPr>
            <p:cNvPr id="22" name="Rectangle 22"/>
            <p:cNvSpPr/>
            <p:nvPr/>
          </p:nvSpPr>
          <p:spPr>
            <a:xfrm>
              <a:off x="495300" y="18859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18859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323" y="20721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6656" y="23202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定范围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031206" y="2107406"/>
              <a:ext cx="185737" cy="175418"/>
              <a:chOff x="2031206" y="2107406"/>
              <a:chExt cx="185737" cy="17541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072481" y="2107406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20637" y="0"/>
                    </a:moveTo>
                    <a:lnTo>
                      <a:pt x="51594" y="0"/>
                    </a:lnTo>
                    <a:lnTo>
                      <a:pt x="72231" y="20637"/>
                    </a:lnTo>
                    <a:lnTo>
                      <a:pt x="123825" y="20637"/>
                    </a:lnTo>
                    <a:cubicBezTo>
                      <a:pt x="135222" y="20637"/>
                      <a:pt x="144462" y="29877"/>
                      <a:pt x="144462" y="41275"/>
                    </a:cubicBez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031206" y="2148681"/>
                <a:ext cx="144462" cy="134143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34143">
                    <a:moveTo>
                      <a:pt x="144462" y="92868"/>
                    </a:moveTo>
                    <a:lnTo>
                      <a:pt x="144462" y="113506"/>
                    </a:lnTo>
                    <a:cubicBezTo>
                      <a:pt x="144462" y="124904"/>
                      <a:pt x="135222" y="134143"/>
                      <a:pt x="123825" y="134143"/>
                    </a:cubicBezTo>
                    <a:lnTo>
                      <a:pt x="20637" y="134143"/>
                    </a:lnTo>
                    <a:cubicBezTo>
                      <a:pt x="9240" y="134143"/>
                      <a:pt x="0" y="124904"/>
                      <a:pt x="0" y="113506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36673" y="2129314"/>
              <a:ext cx="3011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 Catalog &amp; Safe Preview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051844" y="2431256"/>
              <a:ext cx="144462" cy="185737"/>
              <a:chOff x="2051844" y="2431256"/>
              <a:chExt cx="144462" cy="18573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051844" y="2451894"/>
                <a:ext cx="14446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65099">
                    <a:moveTo>
                      <a:pt x="41275" y="0"/>
                    </a:moveTo>
                    <a:lnTo>
                      <a:pt x="20637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099"/>
                      <a:pt x="20637" y="165099"/>
                    </a:cubicBezTo>
                    <a:lnTo>
                      <a:pt x="123825" y="165099"/>
                    </a:lnTo>
                    <a:cubicBezTo>
                      <a:pt x="135222" y="165099"/>
                      <a:pt x="144462" y="155860"/>
                      <a:pt x="144462" y="144462"/>
                    </a:cubicBezTo>
                    <a:lnTo>
                      <a:pt x="144462" y="20637"/>
                    </a:lnTo>
                    <a:cubicBezTo>
                      <a:pt x="144462" y="9240"/>
                      <a:pt x="135222" y="0"/>
                      <a:pt x="123825" y="0"/>
                    </a:cubicBez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093118" y="2431256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7" y="41275"/>
                    </a:lnTo>
                    <a:cubicBezTo>
                      <a:pt x="9240" y="41275"/>
                      <a:pt x="0" y="32035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093118" y="2524125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336673" y="2453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13423" y="20721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限定能读的资料；冻结目标、范围、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13423" y="23198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完成条件和禁止事项。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13773" y="20721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“你读了哪些资料？”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14916" y="2363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目录、来源范围、任务自述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876550"/>
            <a:ext cx="11201400" cy="876300"/>
            <a:chOff x="495300" y="2876550"/>
            <a:chExt cx="11201400" cy="876300"/>
          </a:xfrm>
        </p:grpSpPr>
        <p:sp>
          <p:nvSpPr>
            <p:cNvPr id="40" name="Rectangle 40"/>
            <p:cNvSpPr/>
            <p:nvPr/>
          </p:nvSpPr>
          <p:spPr>
            <a:xfrm>
              <a:off x="495300" y="28765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495300" y="28765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9323" y="30627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6656" y="33108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定计划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2031206" y="3098006"/>
              <a:ext cx="185737" cy="185737"/>
              <a:chOff x="2031206" y="3098006"/>
              <a:chExt cx="185737" cy="185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2031206" y="324246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175668" y="3098006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20637" y="41275"/>
                    </a:move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  <a:cubicBezTo>
                      <a:pt x="0" y="32035"/>
                      <a:pt x="9240" y="41275"/>
                      <a:pt x="20637" y="412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2051844" y="3118644"/>
                <a:ext cx="154781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54781" h="144462">
                    <a:moveTo>
                      <a:pt x="61912" y="144462"/>
                    </a:moveTo>
                    <a:lnTo>
                      <a:pt x="118665" y="144462"/>
                    </a:lnTo>
                    <a:cubicBezTo>
                      <a:pt x="138611" y="144462"/>
                      <a:pt x="154781" y="128293"/>
                      <a:pt x="154781" y="108347"/>
                    </a:cubicBezTo>
                    <a:cubicBezTo>
                      <a:pt x="154781" y="88400"/>
                      <a:pt x="138611" y="72231"/>
                      <a:pt x="118665" y="72231"/>
                    </a:cubicBezTo>
                    <a:lnTo>
                      <a:pt x="36116" y="72231"/>
                    </a:lnTo>
                    <a:cubicBezTo>
                      <a:pt x="16169" y="72231"/>
                      <a:pt x="0" y="56062"/>
                      <a:pt x="0" y="36116"/>
                    </a:cubicBezTo>
                    <a:cubicBezTo>
                      <a:pt x="0" y="16169"/>
                      <a:pt x="16169" y="0"/>
                      <a:pt x="36116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2336673" y="3119914"/>
              <a:ext cx="667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2017281" y="3421856"/>
              <a:ext cx="201506" cy="185737"/>
              <a:chOff x="2017281" y="3421856"/>
              <a:chExt cx="201506" cy="18573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017281" y="34218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2155031" y="35663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2336673" y="3443764"/>
              <a:ext cx="3745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Admission, Policy Compiler &amp; Plan Validator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13423" y="306276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模型先提议路线；服务端再校验预算、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13423" y="3310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依赖、资料范围和副作用。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13773" y="3062764"/>
              <a:ext cx="14727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“为什么这样拆？”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14916" y="33537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分支、依赖、驳回与修复原因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95300" y="3867150"/>
            <a:ext cx="11201400" cy="876300"/>
            <a:chOff x="495300" y="3867150"/>
            <a:chExt cx="11201400" cy="876300"/>
          </a:xfrm>
        </p:grpSpPr>
        <p:sp>
          <p:nvSpPr>
            <p:cNvPr id="58" name="Rectangle 58"/>
            <p:cNvSpPr/>
            <p:nvPr/>
          </p:nvSpPr>
          <p:spPr>
            <a:xfrm>
              <a:off x="495300" y="38671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5300" y="38671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9323" y="40533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76656" y="43014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推进执行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2051844" y="4098925"/>
              <a:ext cx="154780" cy="165099"/>
              <a:chOff x="2051844" y="4098925"/>
              <a:chExt cx="154780" cy="16509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2051844" y="422274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2051844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2155031" y="40989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2072481" y="41402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093118" y="41711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72231"/>
                    </a:moveTo>
                    <a:lnTo>
                      <a:pt x="61912" y="72231"/>
                    </a:lnTo>
                    <a:cubicBezTo>
                      <a:pt x="73310" y="72231"/>
                      <a:pt x="82550" y="62991"/>
                      <a:pt x="82550" y="51594"/>
                    </a:cubicBez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2144712" y="4171156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0" y="30956"/>
                    </a:moveTo>
                    <a:lnTo>
                      <a:pt x="30956" y="0"/>
                    </a:lnTo>
                    <a:lnTo>
                      <a:pt x="61912" y="30956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2336673" y="4110514"/>
              <a:ext cx="2501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Scheduler &amp; Worker Manager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2041525" y="4422775"/>
              <a:ext cx="165100" cy="165100"/>
              <a:chOff x="2041525" y="4422775"/>
              <a:chExt cx="165100" cy="1651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2058088" y="4443412"/>
                <a:ext cx="127898" cy="127898"/>
              </a:xfrm>
              <a:custGeom>
                <a:avLst/>
                <a:gdLst/>
                <a:ahLst/>
                <a:cxnLst/>
                <a:rect l="l" t="t" r="r" b="b"/>
                <a:pathLst>
                  <a:path w="127898" h="127898">
                    <a:moveTo>
                      <a:pt x="43130" y="0"/>
                    </a:moveTo>
                    <a:lnTo>
                      <a:pt x="127898" y="84768"/>
                    </a:lnTo>
                    <a:lnTo>
                      <a:pt x="106704" y="105963"/>
                    </a:lnTo>
                    <a:cubicBezTo>
                      <a:pt x="91664" y="121604"/>
                      <a:pt x="69346" y="127898"/>
                      <a:pt x="48350" y="122419"/>
                    </a:cubicBezTo>
                    <a:cubicBezTo>
                      <a:pt x="27355" y="116941"/>
                      <a:pt x="10958" y="100544"/>
                      <a:pt x="5479" y="79548"/>
                    </a:cubicBezTo>
                    <a:cubicBezTo>
                      <a:pt x="0" y="58552"/>
                      <a:pt x="6294" y="36234"/>
                      <a:pt x="21936" y="21195"/>
                    </a:cubicBezTo>
                    <a:lnTo>
                      <a:pt x="43130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2041525" y="4551759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0" y="36116"/>
                    </a:moveTo>
                    <a:lnTo>
                      <a:pt x="36116" y="0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2118915" y="4422775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2170509" y="4474368"/>
                <a:ext cx="36116" cy="36116"/>
              </a:xfrm>
              <a:custGeom>
                <a:avLst/>
                <a:gdLst/>
                <a:ahLst/>
                <a:cxnLst/>
                <a:rect l="l" t="t" r="r" b="b"/>
                <a:pathLst>
                  <a:path w="36116" h="36116">
                    <a:moveTo>
                      <a:pt x="36116" y="0"/>
                    </a:moveTo>
                    <a:lnTo>
                      <a:pt x="0" y="36116"/>
                    </a:lnTo>
                  </a:path>
                </a:pathLst>
              </a:custGeom>
              <a:noFill/>
              <a:ln w="19050">
                <a:solidFill>
                  <a:srgbClr val="7C8A9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2336673" y="4434364"/>
              <a:ext cx="11600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Tool Gateway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13423" y="40533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决定分支顺序、依赖、谁来做；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813423" y="4301014"/>
              <a:ext cx="30969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当前支持显式波次与受限只读 Worker。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613773" y="4053364"/>
              <a:ext cx="1652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“现在做到哪一步？”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14916" y="43253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当前：单进程，每波最多 3 个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614916" y="4515802"/>
              <a:ext cx="1524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Tool Gateway 仍是目标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495300" y="4857750"/>
            <a:ext cx="11672565" cy="876300"/>
            <a:chOff x="495300" y="4857750"/>
            <a:chExt cx="11672565" cy="876300"/>
          </a:xfrm>
        </p:grpSpPr>
        <p:sp>
          <p:nvSpPr>
            <p:cNvPr id="82" name="Rectangle 82"/>
            <p:cNvSpPr/>
            <p:nvPr/>
          </p:nvSpPr>
          <p:spPr>
            <a:xfrm>
              <a:off x="495300" y="4857750"/>
              <a:ext cx="112014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 w="19050">
              <a:solidFill>
                <a:srgbClr val="CBD5DF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495300" y="4857750"/>
              <a:ext cx="1276350" cy="876300"/>
            </a:xfrm>
            <a:prstGeom prst="roundRect">
              <a:avLst>
                <a:gd name="adj" fmla="val 6522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79323" y="50439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7665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成果恢复</a:t>
              </a:r>
            </a:p>
          </p:txBody>
        </p:sp>
        <p:grpSp>
          <p:nvGrpSpPr>
            <p:cNvPr id="91" name="Group 91"/>
            <p:cNvGrpSpPr/>
            <p:nvPr/>
          </p:nvGrpSpPr>
          <p:grpSpPr>
            <a:xfrm>
              <a:off x="2051844" y="5079206"/>
              <a:ext cx="144462" cy="185737"/>
              <a:chOff x="2051844" y="5079206"/>
              <a:chExt cx="144462" cy="18573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2144712" y="50792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2051844" y="5079206"/>
                <a:ext cx="144462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85737">
                    <a:moveTo>
                      <a:pt x="123825" y="185737"/>
                    </a:moveTo>
                    <a:lnTo>
                      <a:pt x="20637" y="185737"/>
                    </a:lnTo>
                    <a:cubicBezTo>
                      <a:pt x="9240" y="185737"/>
                      <a:pt x="0" y="176497"/>
                      <a:pt x="0" y="165099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8" y="0"/>
                    </a:lnTo>
                    <a:lnTo>
                      <a:pt x="144462" y="51594"/>
                    </a:lnTo>
                    <a:lnTo>
                      <a:pt x="144462" y="165099"/>
                    </a:lnTo>
                    <a:cubicBezTo>
                      <a:pt x="144462" y="176497"/>
                      <a:pt x="135222" y="185737"/>
                      <a:pt x="123825" y="18573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2082800" y="5161756"/>
                <a:ext cx="82550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72231">
                    <a:moveTo>
                      <a:pt x="0" y="0"/>
                    </a:moveTo>
                    <a:lnTo>
                      <a:pt x="82550" y="0"/>
                    </a:lnTo>
                    <a:lnTo>
                      <a:pt x="82550" y="72231"/>
                    </a:lnTo>
                    <a:lnTo>
                      <a:pt x="0" y="72231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2082800" y="5203031"/>
                <a:ext cx="82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9525">
                    <a:moveTo>
                      <a:pt x="0" y="0"/>
                    </a:moveTo>
                    <a:lnTo>
                      <a:pt x="8255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2113756" y="5161756"/>
                <a:ext cx="9525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2231">
                    <a:moveTo>
                      <a:pt x="0" y="0"/>
                    </a:moveTo>
                    <a:lnTo>
                      <a:pt x="0" y="7223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2" name="TextBox 92"/>
            <p:cNvSpPr txBox="1"/>
            <p:nvPr/>
          </p:nvSpPr>
          <p:spPr>
            <a:xfrm>
              <a:off x="2336673" y="5101114"/>
              <a:ext cx="2671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Workspace &amp; Verifier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2041525" y="5403056"/>
              <a:ext cx="165099" cy="185737"/>
              <a:chOff x="2041525" y="5403056"/>
              <a:chExt cx="165099" cy="185737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2041525" y="540305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2041525" y="543401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2041525" y="549592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2336673" y="5424964"/>
              <a:ext cx="35340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Checkpoint, Event &amp; Governance Control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813423" y="5043964"/>
              <a:ext cx="31243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保存成果版本与校验；让 Snapshot 成为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813423" y="52916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状态权威，事件只负责有序投影。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613773" y="504396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“结果能否下载、核对、恢复？”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614916" y="533495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固定成果校验、版本、审计与重启恢复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495300" y="5905500"/>
            <a:ext cx="11201400" cy="330803"/>
            <a:chOff x="495300" y="5905500"/>
            <a:chExt cx="11201400" cy="330803"/>
          </a:xfrm>
        </p:grpSpPr>
        <p:sp>
          <p:nvSpPr>
            <p:cNvPr id="103" name="Rectangle 103"/>
            <p:cNvSpPr/>
            <p:nvPr/>
          </p:nvSpPr>
          <p:spPr>
            <a:xfrm>
              <a:off x="495300" y="5905500"/>
              <a:ext cx="11201400" cy="323850"/>
            </a:xfrm>
            <a:prstGeom prst="roundRect">
              <a:avLst>
                <a:gd name="adj" fmla="val 17647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2394961" y="5986939"/>
              <a:ext cx="7402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模块对后端是职责；对用户则是四个问题：读什么、怎么做、做到哪、结果能否复核与恢复。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489966" y="6458902"/>
            <a:ext cx="10945368" cy="205359"/>
            <a:chOff x="489966" y="6458902"/>
            <a:chExt cx="10945368" cy="205359"/>
          </a:xfrm>
        </p:grpSpPr>
        <p:sp>
          <p:nvSpPr>
            <p:cNvPr id="106" name="TextBox 106"/>
            <p:cNvSpPr txBox="1"/>
            <p:nvPr/>
          </p:nvSpPr>
          <p:spPr>
            <a:xfrm>
              <a:off x="489966" y="6458902"/>
              <a:ext cx="564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当前系统实测；线上架构依据：ReAct · LangGraph Persistence · MCP · A2A Protocol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9511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37464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技术演进：工程对象不断外扩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96500" y="438150"/>
              <a:ext cx="16002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64445" y="519589"/>
              <a:ext cx="1264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P05-P09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59205"/>
            <a:ext cx="7571304" cy="662273"/>
            <a:chOff x="484632" y="1259205"/>
            <a:chExt cx="7571304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59205"/>
              <a:ext cx="75713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不是模型突然“变成 Agent”，而是系统逐步接管更多责任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721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阶段名称是方案归纳，不代表学界统一命名；研究依据来自论文与产品官方实践。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2362200"/>
            <a:ext cx="11201400" cy="2076450"/>
            <a:chOff x="495300" y="2362200"/>
            <a:chExt cx="11201400" cy="2076450"/>
          </a:xfrm>
        </p:grpSpPr>
        <p:sp>
          <p:nvSpPr>
            <p:cNvPr id="12" name="Freeform 12"/>
            <p:cNvSpPr/>
            <p:nvPr/>
          </p:nvSpPr>
          <p:spPr>
            <a:xfrm>
              <a:off x="495300" y="2362200"/>
              <a:ext cx="11201400" cy="2076450"/>
            </a:xfrm>
            <a:custGeom>
              <a:avLst/>
              <a:gdLst/>
              <a:ahLst/>
              <a:cxnLst/>
              <a:rect l="l" t="t" r="r" b="b"/>
              <a:pathLst>
                <a:path w="11201400" h="2076450">
                  <a:moveTo>
                    <a:pt x="0" y="0"/>
                  </a:moveTo>
                  <a:lnTo>
                    <a:pt x="11201400" y="0"/>
                  </a:lnTo>
                  <a:lnTo>
                    <a:pt x="1120140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5300" y="2362200"/>
              <a:ext cx="2076450" cy="2076450"/>
            </a:xfrm>
            <a:custGeom>
              <a:avLst/>
              <a:gdLst/>
              <a:ahLst/>
              <a:cxnLst/>
              <a:rect l="l" t="t" r="r" b="b"/>
              <a:pathLst>
                <a:path w="2076450" h="2076450">
                  <a:moveTo>
                    <a:pt x="0" y="0"/>
                  </a:moveTo>
                  <a:lnTo>
                    <a:pt x="1809750" y="0"/>
                  </a:lnTo>
                  <a:lnTo>
                    <a:pt x="2076450" y="1038225"/>
                  </a:lnTo>
                  <a:lnTo>
                    <a:pt x="1809750" y="2076450"/>
                  </a:lnTo>
                  <a:lnTo>
                    <a:pt x="0" y="207645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6656" y="2663190"/>
              <a:ext cx="9172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Prompt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665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932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工程对象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单次指令与示例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257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5506" y="2663190"/>
              <a:ext cx="13708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Agent Loop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05506" y="2948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0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8173" y="3767614"/>
              <a:ext cx="1775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Action / Observation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447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10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Context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1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1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3173" y="37676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状态与信息选择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381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15506" y="266319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Harness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15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18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18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工具、权限、沙箱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286750" y="2362200"/>
              <a:ext cx="1905000" cy="2076450"/>
            </a:xfrm>
            <a:custGeom>
              <a:avLst/>
              <a:gdLst/>
              <a:ahLst/>
              <a:cxnLst/>
              <a:rect l="l" t="t" r="r" b="b"/>
              <a:pathLst>
                <a:path w="1905000" h="2076450">
                  <a:moveTo>
                    <a:pt x="0" y="0"/>
                  </a:moveTo>
                  <a:lnTo>
                    <a:pt x="1638300" y="0"/>
                  </a:lnTo>
                  <a:lnTo>
                    <a:pt x="1905000" y="1038225"/>
                  </a:lnTo>
                  <a:lnTo>
                    <a:pt x="163830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20506" y="2663190"/>
              <a:ext cx="5859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Loop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20506" y="2948940"/>
              <a:ext cx="1437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Engineering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23173" y="35009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新增责任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23173" y="37676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触发、验证、恢复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191750" y="2362200"/>
              <a:ext cx="1504950" cy="2076450"/>
            </a:xfrm>
            <a:custGeom>
              <a:avLst/>
              <a:gdLst/>
              <a:ahLst/>
              <a:cxnLst/>
              <a:rect l="l" t="t" r="r" b="b"/>
              <a:pathLst>
                <a:path w="1504950" h="2076450">
                  <a:moveTo>
                    <a:pt x="0" y="0"/>
                  </a:moveTo>
                  <a:lnTo>
                    <a:pt x="1504950" y="0"/>
                  </a:lnTo>
                  <a:lnTo>
                    <a:pt x="1504950" y="2076450"/>
                  </a:lnTo>
                  <a:lnTo>
                    <a:pt x="0" y="2076450"/>
                  </a:lnTo>
                  <a:lnTo>
                    <a:pt x="266700" y="1038225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56360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办公交付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66273" y="310086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业务成果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566273" y="3386614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证据与边界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566273" y="37676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用户可复核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8638" y="4935855"/>
            <a:ext cx="6109811" cy="700373"/>
            <a:chOff x="528638" y="4935855"/>
            <a:chExt cx="6109811" cy="700373"/>
          </a:xfrm>
        </p:grpSpPr>
        <p:grpSp>
          <p:nvGrpSpPr>
            <p:cNvPr id="46" name="Group 46"/>
            <p:cNvGrpSpPr/>
            <p:nvPr/>
          </p:nvGrpSpPr>
          <p:grpSpPr>
            <a:xfrm>
              <a:off x="528638" y="5019675"/>
              <a:ext cx="200025" cy="133350"/>
              <a:chOff x="528638" y="5019675"/>
              <a:chExt cx="200025" cy="1333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73088" y="50196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0" y="44450"/>
                    </a:moveTo>
                    <a:lnTo>
                      <a:pt x="155575" y="44450"/>
                    </a:lnTo>
                    <a:lnTo>
                      <a:pt x="111125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28638" y="5108575"/>
                <a:ext cx="1555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44450">
                    <a:moveTo>
                      <a:pt x="155575" y="0"/>
                    </a:moveTo>
                    <a:lnTo>
                      <a:pt x="0" y="0"/>
                    </a:lnTo>
                    <a:lnTo>
                      <a:pt x="4445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03732" y="493585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交互对象同步变化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7923" y="5386864"/>
              <a:ext cx="5730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从“改一句 Prompt”到“审查任务状态、来源、成果、恢复点与动作后果”。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426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研究依据：Brown et al. (2020) · ReAct (2022) · Anthropic Context Engineering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6171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主流方案的差别，首先是“用户在审什么”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竞品官方调研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4632" y="1240155"/>
            <a:ext cx="4994720" cy="662273"/>
            <a:chOff x="484632" y="1240155"/>
            <a:chExt cx="4994720" cy="662273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477073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不做功能打勾表，比较一等交互对象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8823" y="1653064"/>
              <a:ext cx="49905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官方材料可以说明产品重心，不能据此推出竞品做不到其他能力。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95300" y="2133600"/>
            <a:ext cx="11201400" cy="3238500"/>
            <a:chOff x="495300" y="2133600"/>
            <a:chExt cx="11201400" cy="3238500"/>
          </a:xfrm>
        </p:grpSpPr>
        <p:sp>
          <p:nvSpPr>
            <p:cNvPr id="12" name="Rectangle 12"/>
            <p:cNvSpPr/>
            <p:nvPr/>
          </p:nvSpPr>
          <p:spPr>
            <a:xfrm>
              <a:off x="4953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2376488"/>
              <a:ext cx="200026" cy="188913"/>
              <a:chOff x="738188" y="2376488"/>
              <a:chExt cx="200026" cy="1889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38188" y="2420938"/>
                <a:ext cx="200026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444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77801" y="0"/>
                    </a:lnTo>
                    <a:cubicBezTo>
                      <a:pt x="190075" y="0"/>
                      <a:pt x="200026" y="9950"/>
                      <a:pt x="200026" y="22225"/>
                    </a:cubicBezTo>
                    <a:lnTo>
                      <a:pt x="200026" y="122238"/>
                    </a:lnTo>
                    <a:cubicBezTo>
                      <a:pt x="200026" y="134512"/>
                      <a:pt x="190075" y="144463"/>
                      <a:pt x="177801" y="144463"/>
                    </a:cubicBezTo>
                    <a:lnTo>
                      <a:pt x="22225" y="144463"/>
                    </a:lnTo>
                    <a:cubicBezTo>
                      <a:pt x="9950" y="144463"/>
                      <a:pt x="0" y="134512"/>
                      <a:pt x="0" y="1222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3750" y="2376488"/>
                <a:ext cx="8890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44450">
                    <a:moveTo>
                      <a:pt x="0" y="4445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66675" y="0"/>
                    </a:lnTo>
                    <a:cubicBezTo>
                      <a:pt x="78950" y="0"/>
                      <a:pt x="88900" y="9950"/>
                      <a:pt x="88900" y="22225"/>
                    </a:cubicBezTo>
                    <a:lnTo>
                      <a:pt x="88900" y="4445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2476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38188" y="2487613"/>
                <a:ext cx="200026" cy="31699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31699">
                    <a:moveTo>
                      <a:pt x="0" y="0"/>
                    </a:moveTo>
                    <a:cubicBezTo>
                      <a:pt x="62908" y="31699"/>
                      <a:pt x="137118" y="31699"/>
                      <a:pt x="200026" y="0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95756" y="2358390"/>
              <a:ext cx="27087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Microsoft 365 Copilot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8373" y="2796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审：文件、邮件、会议、站点与人员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8373" y="310086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交互对象：工作内容与引用范围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52900" y="213360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395788" y="2376488"/>
              <a:ext cx="200025" cy="200025"/>
              <a:chOff x="4395788" y="2376488"/>
              <a:chExt cx="20002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395788" y="23764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29138" y="25098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753356" y="2358390"/>
              <a:ext cx="28632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ChatGPT deep research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55973" y="27960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审：研究计划、来源、进度与报告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55973" y="3100864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交互对象：可中断的研究过程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0" y="213360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75613" y="2387600"/>
              <a:ext cx="166687" cy="177801"/>
              <a:chOff x="8075613" y="2387600"/>
              <a:chExt cx="166687" cy="1778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075613" y="2520951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75613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86738" y="23876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097838" y="24320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0063" y="2465388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77788"/>
                    </a:moveTo>
                    <a:lnTo>
                      <a:pt x="66675" y="77788"/>
                    </a:lnTo>
                    <a:cubicBezTo>
                      <a:pt x="78950" y="77788"/>
                      <a:pt x="88900" y="67837"/>
                      <a:pt x="88900" y="55563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75625" y="246538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410956" y="2358390"/>
              <a:ext cx="12310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Codex App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3573" y="2796064"/>
              <a:ext cx="28763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审：Task、隔离工作区、Diff 与队列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13573" y="31008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交互对象：代码任务与可审查变更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26808" y="4112538"/>
              <a:ext cx="221851" cy="196658"/>
            </a:xfrm>
            <a:custGeom>
              <a:avLst/>
              <a:gdLst/>
              <a:ahLst/>
              <a:cxnLst/>
              <a:rect l="l" t="t" r="r" b="b"/>
              <a:pathLst>
                <a:path w="221851" h="196658">
                  <a:moveTo>
                    <a:pt x="11379" y="186413"/>
                  </a:moveTo>
                  <a:lnTo>
                    <a:pt x="25826" y="143074"/>
                  </a:lnTo>
                  <a:cubicBezTo>
                    <a:pt x="0" y="104880"/>
                    <a:pt x="9979" y="55596"/>
                    <a:pt x="49162" y="27792"/>
                  </a:cubicBezTo>
                  <a:cubicBezTo>
                    <a:pt x="88345" y="0"/>
                    <a:pt x="144618" y="2278"/>
                    <a:pt x="180790" y="33126"/>
                  </a:cubicBezTo>
                  <a:cubicBezTo>
                    <a:pt x="216961" y="63986"/>
                    <a:pt x="221851" y="113870"/>
                    <a:pt x="192225" y="149819"/>
                  </a:cubicBezTo>
                  <a:cubicBezTo>
                    <a:pt x="162599" y="185768"/>
                    <a:pt x="107603" y="196658"/>
                    <a:pt x="63608" y="175300"/>
                  </a:cubicBezTo>
                  <a:lnTo>
                    <a:pt x="11379" y="186413"/>
                  </a:lnTo>
                </a:path>
              </a:pathLst>
            </a:custGeom>
            <a:noFill/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5756" y="4091940"/>
              <a:ext cx="1446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Claude Code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8373" y="45296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审：项目上下文、工具动作与验证结果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83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交互对象：项目会话与工具循环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152900" y="3867150"/>
              <a:ext cx="34290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4395788" y="4121150"/>
              <a:ext cx="200026" cy="177800"/>
              <a:chOff x="4395788" y="4121150"/>
              <a:chExt cx="200026" cy="177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4395788" y="41211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395788" y="421005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440238" y="4165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4440238" y="42545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4753356" y="4091940"/>
              <a:ext cx="11923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OpenClaw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55973" y="4529614"/>
              <a:ext cx="3056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审：Gateway Task、路由、会话与审批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559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交互对象：任务账本与运行通道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0" y="3867150"/>
              <a:ext cx="3886200" cy="1504950"/>
            </a:xfrm>
            <a:prstGeom prst="roundRect">
              <a:avLst>
                <a:gd name="adj" fmla="val 379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8064500" y="4116863"/>
              <a:ext cx="177801" cy="186375"/>
              <a:chOff x="8064500" y="4116863"/>
              <a:chExt cx="177801" cy="1863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8064500" y="41168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064500" y="42211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8410956" y="4091940"/>
              <a:ext cx="733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ReAct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13573" y="4529614"/>
              <a:ext cx="3062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审：Action 是否得到环境 Observation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3573" y="4834414"/>
              <a:ext cx="25360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交互对象：推理与环境反馈循环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86156" y="5810250"/>
            <a:ext cx="11210544" cy="443484"/>
            <a:chOff x="486156" y="5810250"/>
            <a:chExt cx="11210544" cy="443484"/>
          </a:xfrm>
        </p:grpSpPr>
        <p:sp>
          <p:nvSpPr>
            <p:cNvPr id="61" name="Freeform 61"/>
            <p:cNvSpPr/>
            <p:nvPr/>
          </p:nvSpPr>
          <p:spPr>
            <a:xfrm>
              <a:off x="495300" y="5810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6156" y="5901690"/>
              <a:ext cx="101203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候选差异：用户审的是“资料 → 业务结论 → 成果 → 人工决定 → 未执行边界”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868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官方来源：Microsoft Support · OpenAI Help / Codex App · Claude Code Docs · OpenClaw Docs · ReAct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技术差异如何一步步改变用户流程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08862" y="519589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因果链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84632" y="1240155"/>
            <a:ext cx="6284599" cy="410718"/>
            <a:chOff x="484632" y="1240155"/>
            <a:chExt cx="628459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62845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不是增加更多状态，而是重新分配“谁负责判断”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2247900"/>
            <a:ext cx="11201400" cy="3048000"/>
            <a:chOff x="495300" y="2247900"/>
            <a:chExt cx="11201400" cy="3048000"/>
          </a:xfrm>
        </p:grpSpPr>
        <p:sp>
          <p:nvSpPr>
            <p:cNvPr id="11" name="Freeform 11"/>
            <p:cNvSpPr/>
            <p:nvPr/>
          </p:nvSpPr>
          <p:spPr>
            <a:xfrm>
              <a:off x="685800" y="2476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200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2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486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58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772150" y="2247900"/>
              <a:ext cx="457200" cy="4572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4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058150" y="2247900"/>
              <a:ext cx="457200" cy="4572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30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10344150" y="2247900"/>
              <a:ext cx="457200" cy="4572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16712" y="2415064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953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6656" y="3082290"/>
              <a:ext cx="19257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Workspace 合同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93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9323" y="38057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只说业务目标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93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9323" y="451056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整库范围已冻结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0466" y="489680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后端：allowlisted index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717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7531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计划编译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7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5773" y="38057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查看分支与依赖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557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55773" y="4510564"/>
              <a:ext cx="140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能读/能做/禁止项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6916" y="489680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后端：validated plan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64820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829556" y="3082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模型采用门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32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32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不再猜模型是否可信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2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333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called / output_used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33366" y="489680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后端：schema + policy gate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724650" y="2952750"/>
              <a:ext cx="1866900" cy="2343150"/>
            </a:xfrm>
            <a:prstGeom prst="roundRect">
              <a:avLst>
                <a:gd name="adj" fmla="val 3061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06006" y="30822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局部恢复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0867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8673" y="38057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只处理受影响问题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867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08673" y="45105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原因、影响、选择后果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9816" y="4896802"/>
              <a:ext cx="1627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后端：Branch + Decision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801100" y="2952750"/>
              <a:ext cx="2895600" cy="2343150"/>
            </a:xfrm>
            <a:prstGeom prst="roundRect">
              <a:avLst>
                <a:gd name="adj" fmla="val 24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20556" y="3082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可核对办公结论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23223" y="35199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23223" y="380571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下载成果，回开依据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23223" y="42248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23223" y="4510564"/>
              <a:ext cx="2124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 / 说明 / 外部动作分层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24366" y="4896802"/>
              <a:ext cx="23404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后端：Artifact + Effect + Receipt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12019" y="5795443"/>
            <a:ext cx="7007588" cy="250360"/>
            <a:chOff x="512019" y="5795443"/>
            <a:chExt cx="7007588" cy="250360"/>
          </a:xfrm>
        </p:grpSpPr>
        <p:grpSp>
          <p:nvGrpSpPr>
            <p:cNvPr id="61" name="Group 61"/>
            <p:cNvGrpSpPr/>
            <p:nvPr/>
          </p:nvGrpSpPr>
          <p:grpSpPr>
            <a:xfrm>
              <a:off x="512019" y="5795443"/>
              <a:ext cx="176105" cy="151297"/>
              <a:chOff x="512019" y="5795443"/>
              <a:chExt cx="176105" cy="1512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600075" y="58507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12019" y="57954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0075" y="591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812673" y="5796439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当前只在固定公开数据与有限适配器中验证；不是竞品同场实测，也不是用户效果结论。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489966" y="6458902"/>
              <a:ext cx="63974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ChatGPT deep research source control · MCP Elicitation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8382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长任务 Loop 的风险，会被循环持续放大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401300" y="438150"/>
              <a:ext cx="12954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1633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5300" y="1466850"/>
            <a:ext cx="7086600" cy="4095750"/>
            <a:chOff x="495300" y="1466850"/>
            <a:chExt cx="7086600" cy="4095750"/>
          </a:xfrm>
        </p:grpSpPr>
        <p:sp>
          <p:nvSpPr>
            <p:cNvPr id="9" name="Rectangle 9"/>
            <p:cNvSpPr/>
            <p:nvPr/>
          </p:nvSpPr>
          <p:spPr>
            <a:xfrm>
              <a:off x="495300" y="1466850"/>
              <a:ext cx="7086600" cy="4095750"/>
            </a:xfrm>
            <a:prstGeom prst="roundRect">
              <a:avLst>
                <a:gd name="adj" fmla="val 1395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3232" y="162115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六类风险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23900" y="2076450"/>
              <a:ext cx="6629400" cy="3238500"/>
            </a:xfrm>
            <a:custGeom>
              <a:avLst/>
              <a:gdLst/>
              <a:ahLst/>
              <a:cxnLst/>
              <a:rect l="l" t="t" r="r" b="b"/>
              <a:pathLst>
                <a:path w="6629400" h="3238500">
                  <a:moveTo>
                    <a:pt x="0" y="0"/>
                  </a:moveTo>
                  <a:lnTo>
                    <a:pt x="6629400" y="0"/>
                  </a:lnTo>
                  <a:moveTo>
                    <a:pt x="3314700" y="0"/>
                  </a:moveTo>
                  <a:lnTo>
                    <a:pt x="3314700" y="3238500"/>
                  </a:lnTo>
                  <a:moveTo>
                    <a:pt x="0" y="1085850"/>
                  </a:moveTo>
                  <a:lnTo>
                    <a:pt x="6629400" y="1085850"/>
                  </a:lnTo>
                  <a:moveTo>
                    <a:pt x="0" y="2171700"/>
                  </a:moveTo>
                  <a:lnTo>
                    <a:pt x="6629400" y="21717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3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156" y="2244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方向漂移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50823" y="2605564"/>
              <a:ext cx="26465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中间目标逐步偏离 Task Contract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095750" y="2305050"/>
              <a:ext cx="342900" cy="342900"/>
            </a:xfrm>
            <a:prstGeom prst="ellipse">
              <a:avLst/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21051" y="2429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2440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上下文退化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5523" y="26055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旧版本、噪声与关键约束丢失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3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481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错误复利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50823" y="36914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未经验证的事实进入后续成果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095750" y="3390900"/>
              <a:ext cx="342900" cy="3429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21051" y="35156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2856" y="33299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成本扩张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5523" y="369141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重试、工具与分支持续增长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810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3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481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权限漂移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50823" y="47772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工具链扩展后超出原始授权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095750" y="4476750"/>
              <a:ext cx="342900" cy="342900"/>
            </a:xfrm>
            <a:prstGeom prst="ellipse">
              <a:avLst/>
            </a:prstGeom>
            <a:solidFill>
              <a:srgbClr val="B5470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21051" y="46015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62856" y="4415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停止困难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65523" y="47772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局部失败牵连整任务，用户难接管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7848600" y="1466850"/>
            <a:ext cx="3848100" cy="4095750"/>
            <a:chOff x="7848600" y="1466850"/>
            <a:chExt cx="3848100" cy="4095750"/>
          </a:xfrm>
        </p:grpSpPr>
        <p:sp>
          <p:nvSpPr>
            <p:cNvPr id="37" name="Rectangle 37"/>
            <p:cNvSpPr/>
            <p:nvPr/>
          </p:nvSpPr>
          <p:spPr>
            <a:xfrm>
              <a:off x="7848600" y="1466850"/>
              <a:ext cx="3848100" cy="4095750"/>
            </a:xfrm>
            <a:prstGeom prst="roundRect">
              <a:avLst>
                <a:gd name="adj" fmla="val 1485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04632" y="1640205"/>
              <a:ext cx="23960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前台必须对应回答</a:t>
              </a: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8136530" y="2234839"/>
              <a:ext cx="182275" cy="182291"/>
              <a:chOff x="8136530" y="2234839"/>
              <a:chExt cx="182275" cy="182291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220075" y="231457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81975" y="22764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21322" y="0"/>
                      <a:pt x="0" y="21322"/>
                      <a:pt x="0" y="47625"/>
                    </a:cubicBez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136530" y="2234839"/>
                <a:ext cx="182275" cy="182291"/>
              </a:xfrm>
              <a:custGeom>
                <a:avLst/>
                <a:gdLst/>
                <a:ahLst/>
                <a:cxnLst/>
                <a:rect l="l" t="t" r="r" b="b"/>
                <a:pathLst>
                  <a:path w="182275" h="182291">
                    <a:moveTo>
                      <a:pt x="102595" y="4060"/>
                    </a:moveTo>
                    <a:cubicBezTo>
                      <a:pt x="66403" y="0"/>
                      <a:pt x="31596" y="19251"/>
                      <a:pt x="15798" y="52065"/>
                    </a:cubicBezTo>
                    <a:cubicBezTo>
                      <a:pt x="0" y="84879"/>
                      <a:pt x="6660" y="124094"/>
                      <a:pt x="32406" y="149852"/>
                    </a:cubicBezTo>
                    <a:cubicBezTo>
                      <a:pt x="58152" y="175611"/>
                      <a:pt x="97362" y="182291"/>
                      <a:pt x="130185" y="166509"/>
                    </a:cubicBezTo>
                    <a:cubicBezTo>
                      <a:pt x="163007" y="150728"/>
                      <a:pt x="182275" y="115931"/>
                      <a:pt x="178233" y="7973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8175" y="2238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lnTo>
                      <a:pt x="0" y="57150"/>
                    </a:lnTo>
                    <a:lnTo>
                      <a:pt x="28575" y="57150"/>
                    </a:lnTo>
                    <a:lnTo>
                      <a:pt x="57150" y="28575"/>
                    </a:lnTo>
                    <a:lnTo>
                      <a:pt x="28575" y="28575"/>
                    </a:lnTo>
                    <a:lnTo>
                      <a:pt x="28575" y="0"/>
                    </a:ln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29600" y="2295525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28575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489823" y="224361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当前目标是否仍然一致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162925" y="2714625"/>
              <a:ext cx="133350" cy="171450"/>
              <a:chOff x="8162925" y="2714625"/>
              <a:chExt cx="133350" cy="17145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248650" y="27146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0" y="38100"/>
                    </a:lnTo>
                    <a:cubicBezTo>
                      <a:pt x="0" y="43361"/>
                      <a:pt x="4264" y="47625"/>
                      <a:pt x="9525" y="47625"/>
                    </a:cubicBez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162925" y="27146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14300" y="171450"/>
                    </a:moveTo>
                    <a:lnTo>
                      <a:pt x="19050" y="171450"/>
                    </a:lnTo>
                    <a:cubicBezTo>
                      <a:pt x="8529" y="171450"/>
                      <a:pt x="0" y="162921"/>
                      <a:pt x="0" y="15240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lnTo>
                      <a:pt x="85725" y="0"/>
                    </a:lnTo>
                    <a:lnTo>
                      <a:pt x="133350" y="47625"/>
                    </a:lnTo>
                    <a:lnTo>
                      <a:pt x="133350" y="152400"/>
                    </a:lnTo>
                    <a:cubicBezTo>
                      <a:pt x="133350" y="162921"/>
                      <a:pt x="124821" y="171450"/>
                      <a:pt x="114300" y="1714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01025" y="2771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2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201025" y="28098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01025" y="28479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489823" y="2719864"/>
              <a:ext cx="1557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当前用了哪一版来源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8143875" y="3200400"/>
              <a:ext cx="171450" cy="161925"/>
              <a:chOff x="8143875" y="3200400"/>
              <a:chExt cx="171450" cy="1619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143875" y="327660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66675"/>
                    </a:lnTo>
                    <a:cubicBezTo>
                      <a:pt x="57150" y="71936"/>
                      <a:pt x="52886" y="76200"/>
                      <a:pt x="47625" y="76200"/>
                    </a:cubicBezTo>
                    <a:lnTo>
                      <a:pt x="9525" y="76200"/>
                    </a:lnTo>
                    <a:cubicBezTo>
                      <a:pt x="4264" y="76200"/>
                      <a:pt x="0" y="71936"/>
                      <a:pt x="0" y="666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258175" y="3238500"/>
                <a:ext cx="571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43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04775"/>
                    </a:lnTo>
                    <a:cubicBezTo>
                      <a:pt x="57150" y="110036"/>
                      <a:pt x="52886" y="114300"/>
                      <a:pt x="47625" y="114300"/>
                    </a:cubicBezTo>
                    <a:lnTo>
                      <a:pt x="9525" y="114300"/>
                    </a:lnTo>
                    <a:cubicBezTo>
                      <a:pt x="4264" y="114300"/>
                      <a:pt x="0" y="110036"/>
                      <a:pt x="0" y="1047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01025" y="3200400"/>
                <a:ext cx="571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5240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47625" y="0"/>
                    </a:lnTo>
                    <a:cubicBezTo>
                      <a:pt x="52886" y="0"/>
                      <a:pt x="57150" y="4264"/>
                      <a:pt x="57150" y="9525"/>
                    </a:cubicBezTo>
                    <a:lnTo>
                      <a:pt x="57150" y="142875"/>
                    </a:lnTo>
                    <a:cubicBezTo>
                      <a:pt x="57150" y="148136"/>
                      <a:pt x="52886" y="152400"/>
                      <a:pt x="47625" y="152400"/>
                    </a:cubicBezTo>
                    <a:lnTo>
                      <a:pt x="9525" y="152400"/>
                    </a:lnTo>
                    <a:cubicBezTo>
                      <a:pt x="4264" y="152400"/>
                      <a:pt x="0" y="148136"/>
                      <a:pt x="0" y="14287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53400" y="3352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8489823" y="319611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还剩多少轮次与调用预算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8162925" y="3667125"/>
              <a:ext cx="133350" cy="171450"/>
              <a:chOff x="8162925" y="3667125"/>
              <a:chExt cx="133350" cy="1714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162925" y="374332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14300" y="0"/>
                    </a:lnTo>
                    <a:cubicBezTo>
                      <a:pt x="124821" y="0"/>
                      <a:pt x="133350" y="8529"/>
                      <a:pt x="133350" y="19050"/>
                    </a:cubicBezTo>
                    <a:lnTo>
                      <a:pt x="133350" y="76200"/>
                    </a:lnTo>
                    <a:cubicBezTo>
                      <a:pt x="133350" y="86721"/>
                      <a:pt x="124821" y="95250"/>
                      <a:pt x="114300" y="95250"/>
                    </a:cubicBezTo>
                    <a:lnTo>
                      <a:pt x="19050" y="95250"/>
                    </a:lnTo>
                    <a:cubicBezTo>
                      <a:pt x="8529" y="95250"/>
                      <a:pt x="0" y="86721"/>
                      <a:pt x="0" y="7620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20075" y="3781425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191500" y="36671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8489823" y="36723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允许与禁止的动作范围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8162925" y="4152900"/>
              <a:ext cx="142875" cy="152400"/>
              <a:chOff x="8162925" y="4152900"/>
              <a:chExt cx="142875" cy="1524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62925" y="4267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6292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8175" y="41529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81975" y="41910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01025" y="4219575"/>
                <a:ext cx="7620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66675">
                    <a:moveTo>
                      <a:pt x="0" y="66675"/>
                    </a:moveTo>
                    <a:lnTo>
                      <a:pt x="57150" y="66675"/>
                    </a:lnTo>
                    <a:cubicBezTo>
                      <a:pt x="67671" y="66675"/>
                      <a:pt x="76200" y="58146"/>
                      <a:pt x="76200" y="47625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248650" y="42195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28575" y="0"/>
                    </a:ln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8489823" y="4148614"/>
              <a:ext cx="15549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哪条 Branch 受影响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172450" y="4638675"/>
              <a:ext cx="114300" cy="133350"/>
              <a:chOff x="8172450" y="4638675"/>
              <a:chExt cx="114300" cy="133350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724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48650" y="4638675"/>
                <a:ext cx="381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33350">
                    <a:moveTo>
                      <a:pt x="0" y="9525"/>
                    </a:moveTo>
                    <a:cubicBezTo>
                      <a:pt x="0" y="4264"/>
                      <a:pt x="4264" y="0"/>
                      <a:pt x="9525" y="0"/>
                    </a:cubicBezTo>
                    <a:lnTo>
                      <a:pt x="28575" y="0"/>
                    </a:lnTo>
                    <a:cubicBezTo>
                      <a:pt x="33836" y="0"/>
                      <a:pt x="38100" y="4264"/>
                      <a:pt x="38100" y="9525"/>
                    </a:cubicBezTo>
                    <a:lnTo>
                      <a:pt x="38100" y="123825"/>
                    </a:lnTo>
                    <a:cubicBezTo>
                      <a:pt x="38100" y="129086"/>
                      <a:pt x="33836" y="133350"/>
                      <a:pt x="28575" y="133350"/>
                    </a:cubicBezTo>
                    <a:lnTo>
                      <a:pt x="9525" y="133350"/>
                    </a:lnTo>
                    <a:cubicBezTo>
                      <a:pt x="4264" y="133350"/>
                      <a:pt x="0" y="129086"/>
                      <a:pt x="0" y="123825"/>
                    </a:cubicBez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8489823" y="46248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如何暂停、恢复或接管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115300" y="5048250"/>
              <a:ext cx="3276600" cy="323850"/>
            </a:xfrm>
            <a:prstGeom prst="roundRect">
              <a:avLst>
                <a:gd name="adj" fmla="val 17647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575677" y="5129689"/>
              <a:ext cx="2355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控制信息必须来自服务端事实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12019" y="5871643"/>
            <a:ext cx="6846360" cy="250360"/>
            <a:chOff x="512019" y="5871643"/>
            <a:chExt cx="6846360" cy="250360"/>
          </a:xfrm>
        </p:grpSpPr>
        <p:grpSp>
          <p:nvGrpSpPr>
            <p:cNvPr id="82" name="Group 82"/>
            <p:cNvGrpSpPr/>
            <p:nvPr/>
          </p:nvGrpSpPr>
          <p:grpSpPr>
            <a:xfrm>
              <a:off x="512019" y="5871643"/>
              <a:ext cx="176105" cy="151297"/>
              <a:chOff x="512019" y="5871643"/>
              <a:chExt cx="176105" cy="151297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00075" y="59269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12019" y="58716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600075" y="598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812673" y="587263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746123" y="5872639"/>
              <a:ext cx="56122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最多三轮只读 Control Loop；不是无限自治，也没有硬取消在途 HTTP。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489966" y="6458902"/>
              <a:ext cx="6948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研究依据：Microsoft HAI Guidelines · Anthropic Context Engineering · LangGraph Persistence · ReAct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48720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Agent Control Loop：当前实现与缺口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63200" y="438150"/>
              <a:ext cx="13335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97286" y="519589"/>
              <a:ext cx="865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769E0"/>
                  </a:solidFill>
                  <a:latin typeface="Segoe UI"/>
                  <a:ea typeface="Segoe UI"/>
                  <a:cs typeface="Segoe UI"/>
                </a:rPr>
                <a:t>07-16 P11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5300" y="1295400"/>
            <a:ext cx="3314700" cy="292037"/>
            <a:chOff x="495300" y="1295400"/>
            <a:chExt cx="3314700" cy="292037"/>
          </a:xfrm>
        </p:grpSpPr>
        <p:sp>
          <p:nvSpPr>
            <p:cNvPr id="9" name="Rectangle 9"/>
            <p:cNvSpPr/>
            <p:nvPr/>
          </p:nvSpPr>
          <p:spPr>
            <a:xfrm>
              <a:off x="495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0263" y="13820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当前真实实现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638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4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部分近似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81300" y="1295400"/>
              <a:ext cx="1028700" cy="285750"/>
            </a:xfrm>
            <a:prstGeom prst="roundRect">
              <a:avLst>
                <a:gd name="adj" fmla="val 20000"/>
              </a:avLst>
            </a:prstGeom>
            <a:solidFill>
              <a:srgbClr val="7C8A9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07614" y="13820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尚未实现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00150" y="1981200"/>
            <a:ext cx="9467850" cy="1181100"/>
            <a:chOff x="1200150" y="1981200"/>
            <a:chExt cx="9467850" cy="1181100"/>
          </a:xfrm>
        </p:grpSpPr>
        <p:sp>
          <p:nvSpPr>
            <p:cNvPr id="16" name="Freeform 16"/>
            <p:cNvSpPr/>
            <p:nvPr/>
          </p:nvSpPr>
          <p:spPr>
            <a:xfrm>
              <a:off x="1200150" y="2647950"/>
              <a:ext cx="8610600" cy="9525"/>
            </a:xfrm>
            <a:custGeom>
              <a:avLst/>
              <a:gdLst/>
              <a:ahLst/>
              <a:cxnLst/>
              <a:rect l="l" t="t" r="r" b="b"/>
              <a:pathLst>
                <a:path w="8610600" h="9525">
                  <a:moveTo>
                    <a:pt x="0" y="0"/>
                  </a:moveTo>
                  <a:lnTo>
                    <a:pt x="86106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219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90675" y="2419350"/>
              <a:ext cx="285751" cy="190500"/>
              <a:chOff x="1590675" y="2419350"/>
              <a:chExt cx="285751" cy="1905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701800" y="2482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590675" y="2419350"/>
                <a:ext cx="28575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90500">
                    <a:moveTo>
                      <a:pt x="285751" y="95250"/>
                    </a:moveTo>
                    <a:cubicBezTo>
                      <a:pt x="247650" y="158750"/>
                      <a:pt x="200025" y="190500"/>
                      <a:pt x="142875" y="190500"/>
                    </a:cubicBezTo>
                    <a:cubicBezTo>
                      <a:pt x="85725" y="190500"/>
                      <a:pt x="38100" y="158750"/>
                      <a:pt x="0" y="95250"/>
                    </a:cubicBezTo>
                    <a:cubicBezTo>
                      <a:pt x="38100" y="31750"/>
                      <a:pt x="85725" y="0"/>
                      <a:pt x="142875" y="0"/>
                    </a:cubicBezTo>
                    <a:cubicBezTo>
                      <a:pt x="200025" y="0"/>
                      <a:pt x="247650" y="31750"/>
                      <a:pt x="285751" y="952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9171" y="2872264"/>
              <a:ext cx="748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Observe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124200" y="2133600"/>
              <a:ext cx="1028700" cy="10287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95675" y="2371725"/>
              <a:ext cx="285751" cy="285751"/>
              <a:chOff x="3495675" y="2371725"/>
              <a:chExt cx="285751" cy="28575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495675" y="2593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17926" y="2371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527425" y="2403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453869" y="2872264"/>
              <a:ext cx="369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Plan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02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416550" y="2387600"/>
              <a:ext cx="254001" cy="254001"/>
              <a:chOff x="5416550" y="2387600"/>
              <a:chExt cx="254001" cy="254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442033" y="2419350"/>
                <a:ext cx="196768" cy="196768"/>
              </a:xfrm>
              <a:custGeom>
                <a:avLst/>
                <a:gdLst/>
                <a:ahLst/>
                <a:cxnLst/>
                <a:rect l="l" t="t" r="r" b="b"/>
                <a:pathLst>
                  <a:path w="196768" h="196768">
                    <a:moveTo>
                      <a:pt x="66354" y="0"/>
                    </a:moveTo>
                    <a:lnTo>
                      <a:pt x="196768" y="130413"/>
                    </a:lnTo>
                    <a:lnTo>
                      <a:pt x="164160" y="163021"/>
                    </a:lnTo>
                    <a:cubicBezTo>
                      <a:pt x="141022" y="187085"/>
                      <a:pt x="106687" y="196768"/>
                      <a:pt x="74386" y="188339"/>
                    </a:cubicBezTo>
                    <a:cubicBezTo>
                      <a:pt x="42084" y="179909"/>
                      <a:pt x="16858" y="154684"/>
                      <a:pt x="8429" y="122382"/>
                    </a:cubicBezTo>
                    <a:cubicBezTo>
                      <a:pt x="0" y="90081"/>
                      <a:pt x="9683" y="55745"/>
                      <a:pt x="33747" y="32607"/>
                    </a:cubicBezTo>
                    <a:lnTo>
                      <a:pt x="66354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416550" y="25860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lnTo>
                      <a:pt x="55563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535613" y="2387600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14988" y="2466975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55563" y="0"/>
                    </a:moveTo>
                    <a:lnTo>
                      <a:pt x="0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385584" y="2872264"/>
              <a:ext cx="315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Act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934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84251" y="2371725"/>
              <a:ext cx="310011" cy="285751"/>
              <a:chOff x="7284251" y="2371725"/>
              <a:chExt cx="310011" cy="285751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284251" y="2371725"/>
                <a:ext cx="310011" cy="283306"/>
              </a:xfrm>
              <a:custGeom>
                <a:avLst/>
                <a:gdLst/>
                <a:ahLst/>
                <a:cxnLst/>
                <a:rect l="l" t="t" r="r" b="b"/>
                <a:pathLst>
                  <a:path w="310011" h="283306">
                    <a:moveTo>
                      <a:pt x="155727" y="283306"/>
                    </a:moveTo>
                    <a:cubicBezTo>
                      <a:pt x="56277" y="252479"/>
                      <a:pt x="0" y="147517"/>
                      <a:pt x="29362" y="47625"/>
                    </a:cubicBezTo>
                    <a:cubicBezTo>
                      <a:pt x="78821" y="49888"/>
                      <a:pt x="127218" y="32807"/>
                      <a:pt x="164299" y="0"/>
                    </a:cubicBezTo>
                    <a:cubicBezTo>
                      <a:pt x="201381" y="32807"/>
                      <a:pt x="249778" y="49888"/>
                      <a:pt x="299237" y="47625"/>
                    </a:cubicBezTo>
                    <a:cubicBezTo>
                      <a:pt x="310011" y="84282"/>
                      <a:pt x="309513" y="123332"/>
                      <a:pt x="297808" y="159703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96175" y="2593976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164641" y="2872264"/>
              <a:ext cx="5678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Verify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8839200" y="2133600"/>
              <a:ext cx="1028700" cy="10287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9226550" y="2403475"/>
              <a:ext cx="254000" cy="222250"/>
              <a:chOff x="9226550" y="2403475"/>
              <a:chExt cx="254000" cy="222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9321800" y="2403475"/>
                <a:ext cx="1587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2225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27000" y="0"/>
                    </a:lnTo>
                    <a:cubicBezTo>
                      <a:pt x="144535" y="0"/>
                      <a:pt x="158750" y="14215"/>
                      <a:pt x="158750" y="31750"/>
                    </a:cubicBezTo>
                    <a:lnTo>
                      <a:pt x="158750" y="190500"/>
                    </a:lnTo>
                    <a:cubicBezTo>
                      <a:pt x="158750" y="208035"/>
                      <a:pt x="144535" y="222250"/>
                      <a:pt x="127000" y="222250"/>
                    </a:cubicBezTo>
                    <a:lnTo>
                      <a:pt x="31750" y="222250"/>
                    </a:lnTo>
                    <a:cubicBezTo>
                      <a:pt x="14215" y="222250"/>
                      <a:pt x="0" y="208035"/>
                      <a:pt x="0" y="19050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274175" y="24352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226550" y="24511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033256" y="2872264"/>
              <a:ext cx="640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Commit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1733550" y="1981200"/>
              <a:ext cx="8934450" cy="666750"/>
            </a:xfrm>
            <a:custGeom>
              <a:avLst/>
              <a:gdLst/>
              <a:ahLst/>
              <a:cxnLst/>
              <a:rect l="l" t="t" r="r" b="b"/>
              <a:pathLst>
                <a:path w="8934450" h="666750">
                  <a:moveTo>
                    <a:pt x="8134350" y="666750"/>
                  </a:moveTo>
                  <a:lnTo>
                    <a:pt x="8934450" y="666750"/>
                  </a:lnTo>
                  <a:lnTo>
                    <a:pt x="8934450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  <a:custDash>
                <a:ds d="266666" sp="200000"/>
              </a:custDash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75164" y="2286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最多三轮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95300" y="3600450"/>
            <a:ext cx="11248858" cy="1885950"/>
            <a:chOff x="495300" y="3600450"/>
            <a:chExt cx="11248858" cy="1885950"/>
          </a:xfrm>
        </p:grpSpPr>
        <p:sp>
          <p:nvSpPr>
            <p:cNvPr id="49" name="Rectangle 49"/>
            <p:cNvSpPr/>
            <p:nvPr/>
          </p:nvSpPr>
          <p:spPr>
            <a:xfrm>
              <a:off x="495300" y="3600450"/>
              <a:ext cx="11201400" cy="1885950"/>
            </a:xfrm>
            <a:prstGeom prst="roundRect">
              <a:avLst>
                <a:gd name="adj" fmla="val 3030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14756" y="37490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外围控制与状态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3900" y="4171950"/>
              <a:ext cx="10744200" cy="1123950"/>
            </a:xfrm>
            <a:custGeom>
              <a:avLst/>
              <a:gdLst/>
              <a:ahLst/>
              <a:cxnLst/>
              <a:rect l="l" t="t" r="r" b="b"/>
              <a:pathLst>
                <a:path w="10744200" h="1123950">
                  <a:moveTo>
                    <a:pt x="0" y="0"/>
                  </a:moveTo>
                  <a:lnTo>
                    <a:pt x="10744200" y="0"/>
                  </a:lnTo>
                  <a:moveTo>
                    <a:pt x="1790700" y="0"/>
                  </a:moveTo>
                  <a:lnTo>
                    <a:pt x="1790700" y="1123950"/>
                  </a:lnTo>
                  <a:moveTo>
                    <a:pt x="3581400" y="0"/>
                  </a:moveTo>
                  <a:lnTo>
                    <a:pt x="3581400" y="1123950"/>
                  </a:lnTo>
                  <a:moveTo>
                    <a:pt x="5372100" y="0"/>
                  </a:moveTo>
                  <a:lnTo>
                    <a:pt x="5372100" y="1123950"/>
                  </a:lnTo>
                  <a:moveTo>
                    <a:pt x="7162800" y="0"/>
                  </a:moveTo>
                  <a:lnTo>
                    <a:pt x="7162800" y="1123950"/>
                  </a:lnTo>
                  <a:moveTo>
                    <a:pt x="8953500" y="0"/>
                  </a:moveTo>
                  <a:lnTo>
                    <a:pt x="8953500" y="11239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0773" y="4358164"/>
              <a:ext cx="12682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1916" y="4725352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当前：目标/范围冻结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6414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42616" y="4725352"/>
              <a:ext cx="1237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当前：Branch 级门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321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Budget &amp; Stop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433316" y="4725352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部分：轮次/调用/期限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2873" y="4358164"/>
              <a:ext cx="12250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Steer / Pause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4016" y="4725352"/>
              <a:ext cx="1818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部分：安全点；无 Takeover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13573" y="43581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Durable State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14716" y="472535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部分：可选 PG 重启恢复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804273" y="4358164"/>
              <a:ext cx="5141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Trace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05416" y="4725352"/>
              <a:ext cx="19387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当前：named SSE + Snapshot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6156" y="5711190"/>
            <a:ext cx="7014972" cy="572071"/>
            <a:chOff x="486156" y="5711190"/>
            <a:chExt cx="7014972" cy="572071"/>
          </a:xfrm>
        </p:grpSpPr>
        <p:sp>
          <p:nvSpPr>
            <p:cNvPr id="65" name="TextBox 65"/>
            <p:cNvSpPr txBox="1"/>
            <p:nvPr/>
          </p:nvSpPr>
          <p:spPr>
            <a:xfrm>
              <a:off x="486156" y="5711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当前本质：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667256" y="57111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有反馈与恢复的只读办公任务纵切，不是完整执行器。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966" y="6077902"/>
              <a:ext cx="44278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历史“约 30%”只属于早期架构审计基线，不是当前覆盖率或模型质量。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489966" y="6458902"/>
              <a:ext cx="6782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线上运行时参照：LangGraph Persistence · OpenAI Agents SDK Human-in-the-loop · A2A Task States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09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83762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六个办公场景，共用同一条治理主线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场景地图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3400" y="1504950"/>
            <a:ext cx="6844741" cy="4436078"/>
            <a:chOff x="533400" y="1504950"/>
            <a:chExt cx="6844741" cy="4436078"/>
          </a:xfrm>
        </p:grpSpPr>
        <p:sp>
          <p:nvSpPr>
            <p:cNvPr id="9" name="Freeform 9"/>
            <p:cNvSpPr/>
            <p:nvPr/>
          </p:nvSpPr>
          <p:spPr>
            <a:xfrm>
              <a:off x="742950" y="1504950"/>
              <a:ext cx="9525" cy="4152900"/>
            </a:xfrm>
            <a:custGeom>
              <a:avLst/>
              <a:gdLst/>
              <a:ahLst/>
              <a:cxnLst/>
              <a:rect l="l" t="t" r="r" b="b"/>
              <a:pathLst>
                <a:path w="9525" h="4152900">
                  <a:moveTo>
                    <a:pt x="0" y="0"/>
                  </a:moveTo>
                  <a:lnTo>
                    <a:pt x="0" y="415290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600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6912" y="173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4806" y="1558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 入职资产匹配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7473" y="1881664"/>
              <a:ext cx="59517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产物：资产匹配表 人工门：业务规则复核 边界：引用定位问题不等于成果失败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236220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6912" y="2500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14806" y="2320290"/>
              <a:ext cx="2182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 三期往来款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17473" y="2643664"/>
              <a:ext cx="5187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产物：未收/未付统计 人工门：僵尸账款判断 边界：不核销、不记账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124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86912" y="3262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4806" y="3082290"/>
              <a:ext cx="2720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双岗位招聘筛选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473" y="3405664"/>
              <a:ext cx="5436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产物：候选建议与依据 人工门：招聘负责人决定 边界：未录用、未淘汰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38862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14806" y="3844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授权文件风控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473" y="4167664"/>
              <a:ext cx="5265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产物：规则台账与风险候选 人工门：法务复核 边界：不代表法律意见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33400" y="4648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6912" y="4786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14806" y="4606290"/>
              <a:ext cx="24512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合规外呼流程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7473" y="4929664"/>
              <a:ext cx="62606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产物：流程图与 DOCX 人工门：执行批准 边界：不拨号、不写 CRM、不发短信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3400" y="541020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912" y="5548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4806" y="5368290"/>
              <a:ext cx="4306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/ TC-15 冲突诊断与说明对账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7473" y="5691664"/>
              <a:ext cx="5805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产物：条件式提案 / 排序成果 人工门：复核权威顺序 边界：不静默覆盖冲突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39200" y="1504950"/>
            <a:ext cx="2857500" cy="4324350"/>
            <a:chOff x="8839200" y="1504950"/>
            <a:chExt cx="2857500" cy="4324350"/>
          </a:xfrm>
        </p:grpSpPr>
        <p:sp>
          <p:nvSpPr>
            <p:cNvPr id="35" name="Rectangle 35"/>
            <p:cNvSpPr/>
            <p:nvPr/>
          </p:nvSpPr>
          <p:spPr>
            <a:xfrm>
              <a:off x="8839200" y="1504950"/>
              <a:ext cx="2857500" cy="4324350"/>
            </a:xfrm>
            <a:prstGeom prst="roundRect">
              <a:avLst>
                <a:gd name="adj" fmla="val 2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14282" y="1716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同一治理主线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15806" y="22631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1 触发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18473" y="25865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用户只说业务目标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15806" y="30060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2 路径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118473" y="33294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来源、计划、成果、验证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15806" y="374904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3 停顿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8473" y="4072414"/>
              <a:ext cx="13860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只暂停受影响部分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15806" y="4491990"/>
              <a:ext cx="743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4 输出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8473" y="4815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成果、依据、决定、边界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18473" y="52916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每个场景都可被反证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64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场景设计依据：Microsoft HAI Guidelines · W3C PROV-O · OpenAI Agents SDK Human-in-the-loop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918099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TC-01：成果正确，不等于引用定位完整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895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用户反馈驱动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28750"/>
            <a:ext cx="4016121" cy="4343400"/>
            <a:chOff x="495300" y="1428750"/>
            <a:chExt cx="4016121" cy="4343400"/>
          </a:xfrm>
        </p:grpSpPr>
        <p:sp>
          <p:nvSpPr>
            <p:cNvPr id="9" name="Rectangle 9"/>
            <p:cNvSpPr/>
            <p:nvPr/>
          </p:nvSpPr>
          <p:spPr>
            <a:xfrm>
              <a:off x="495300" y="1428750"/>
              <a:ext cx="3429000" cy="4343400"/>
            </a:xfrm>
            <a:prstGeom prst="roundRect">
              <a:avLst>
                <a:gd name="adj" fmla="val 166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6656" y="15582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旧体验：成果与审计缺口混在一起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2169953"/>
              <a:ext cx="3124200" cy="2899094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680466" y="54111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用户反馈样本，非正式目标用户研究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52900" y="1428750"/>
            <a:ext cx="5059871" cy="4343400"/>
            <a:chOff x="4152900" y="1428750"/>
            <a:chExt cx="5059871" cy="4343400"/>
          </a:xfrm>
        </p:grpSpPr>
        <p:sp>
          <p:nvSpPr>
            <p:cNvPr id="14" name="Rectangle 14"/>
            <p:cNvSpPr/>
            <p:nvPr/>
          </p:nvSpPr>
          <p:spPr>
            <a:xfrm>
              <a:off x="4152900" y="1428750"/>
              <a:ext cx="468630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372356" y="15582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现在把三个事实拆开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75023" y="1976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08423" y="1976914"/>
              <a:ext cx="3540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根据时间表和规则生成 3/20-4/20 资产匹配表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750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08423" y="2338864"/>
              <a:ext cx="3893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读取两份资料 → 生成 CSV → 文件检查 → 证据定位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5023" y="27008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成果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08423" y="2700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日期与资产表可通过确定性文件检查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5023" y="30627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8423" y="3062764"/>
              <a:ext cx="40207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同一逐字 quote 多次出现，无法唯一映射到原文位置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486150"/>
              <a:ext cx="42291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5523" y="3615214"/>
              <a:ext cx="2554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“缺一份引用”到底是什么意思？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523" y="3900964"/>
              <a:ext cx="46472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缺的是唯一可回开的定位，不是缺源文件，也不是日期算错。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5023" y="44915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前台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8423" y="44915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成果置顶；同源缺口合并；只决定受影响定位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75023" y="48534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后端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8423" y="4853464"/>
              <a:ext cx="39472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Artifact/Effect 与 Resolution/Branch 分开负责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75023" y="5215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8423" y="5215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用户仍需复核资产规则与特殊备注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67800" y="1428750"/>
            <a:ext cx="2628900" cy="4343400"/>
            <a:chOff x="9067800" y="1428750"/>
            <a:chExt cx="2628900" cy="4343400"/>
          </a:xfrm>
        </p:grpSpPr>
        <p:sp>
          <p:nvSpPr>
            <p:cNvPr id="34" name="Rectangle 34"/>
            <p:cNvSpPr/>
            <p:nvPr/>
          </p:nvSpPr>
          <p:spPr>
            <a:xfrm>
              <a:off x="9067800" y="1428750"/>
              <a:ext cx="2628900" cy="4343400"/>
            </a:xfrm>
            <a:prstGeom prst="roundRect">
              <a:avLst>
                <a:gd name="adj" fmla="val 2174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49156" y="15582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现在：成果优先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00223" y="1962150"/>
              <a:ext cx="1564055" cy="33337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9252966" y="54111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489966" y="6458902"/>
              <a:ext cx="63274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设计依据：Anthropic Citations · Microsoft HAI Guidelines；截图只证明当前系统渲染与运行事实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21152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TC-05：三份输入，不等于三期各出一份结果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语义说明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4632" y="1240155"/>
            <a:ext cx="10831068" cy="1179195"/>
            <a:chOff x="484632" y="1240155"/>
            <a:chExt cx="10831068" cy="11791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401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输入：三个期间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95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41363" y="1947863"/>
              <a:ext cx="155575" cy="200026"/>
              <a:chOff x="741363" y="1947863"/>
              <a:chExt cx="155575" cy="20002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41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1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4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4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8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79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上半年明细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62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408363" y="1947863"/>
              <a:ext cx="155575" cy="200026"/>
              <a:chOff x="3408363" y="1947863"/>
              <a:chExt cx="155575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508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08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441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441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475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746373" y="2005489"/>
              <a:ext cx="1364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2025 下半年明细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29300" y="1714500"/>
              <a:ext cx="2476500" cy="70485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075363" y="1947863"/>
              <a:ext cx="155575" cy="200026"/>
              <a:chOff x="6075363" y="1947863"/>
              <a:chExt cx="155575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175375" y="1947863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75363" y="1947863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08700" y="2036763"/>
                <a:ext cx="8890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77788">
                    <a:moveTo>
                      <a:pt x="0" y="0"/>
                    </a:moveTo>
                    <a:lnTo>
                      <a:pt x="88900" y="0"/>
                    </a:lnTo>
                    <a:lnTo>
                      <a:pt x="88900" y="77788"/>
                    </a:lnTo>
                    <a:lnTo>
                      <a:pt x="0" y="777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08700" y="208121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142038" y="2036763"/>
                <a:ext cx="952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7788">
                    <a:moveTo>
                      <a:pt x="0" y="0"/>
                    </a:moveTo>
                    <a:lnTo>
                      <a:pt x="0" y="77788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413373" y="2005489"/>
              <a:ext cx="1184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2026 期初明细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496300" y="2066925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11125200" y="1952625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190500" y="114300"/>
                  </a:move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908299" y="1786414"/>
              <a:ext cx="1995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按不同目的生成三份成果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95300" y="2895600"/>
            <a:ext cx="11201400" cy="2209800"/>
            <a:chOff x="495300" y="2895600"/>
            <a:chExt cx="11201400" cy="2209800"/>
          </a:xfrm>
        </p:grpSpPr>
        <p:sp>
          <p:nvSpPr>
            <p:cNvPr id="38" name="Rectangle 38"/>
            <p:cNvSpPr/>
            <p:nvPr/>
          </p:nvSpPr>
          <p:spPr>
            <a:xfrm>
              <a:off x="4953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87400" y="3162300"/>
              <a:ext cx="177800" cy="228599"/>
              <a:chOff x="787400" y="3162300"/>
              <a:chExt cx="177800" cy="22859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9017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874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55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55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36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1704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未付统计.csv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74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4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提取正数贷方期末余额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6374" y="42948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31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270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152900" y="2895600"/>
              <a:ext cx="34290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4445000" y="3162300"/>
              <a:ext cx="177800" cy="228599"/>
              <a:chOff x="4445000" y="3162300"/>
              <a:chExt cx="177800" cy="22859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45593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4450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83100" y="326390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88900"/>
                    </a:lnTo>
                    <a:lnTo>
                      <a:pt x="0" y="889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483100" y="3314700"/>
                <a:ext cx="10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9525">
                    <a:moveTo>
                      <a:pt x="0" y="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521200" y="326390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4828032" y="3145155"/>
              <a:ext cx="18617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未收统计.csv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375023" y="3672364"/>
              <a:ext cx="1351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只看最新 2026 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375023" y="3977164"/>
              <a:ext cx="1729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提取正数借方期末余额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639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1769E0"/>
                  </a:solidFill>
                  <a:latin typeface="Segoe UI Semibold"/>
                  <a:ea typeface="Segoe UI Semibold"/>
                  <a:cs typeface="Segoe UI Semibold"/>
                </a:rPr>
                <a:t>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794123" y="4529614"/>
              <a:ext cx="14118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 · 当前固定来源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810500" y="2895600"/>
              <a:ext cx="3886200" cy="2209800"/>
            </a:xfrm>
            <a:prstGeom prst="roundRect">
              <a:avLst>
                <a:gd name="adj" fmla="val 2586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102600" y="3162300"/>
              <a:ext cx="177800" cy="228599"/>
              <a:chOff x="8102600" y="3162300"/>
              <a:chExt cx="177800" cy="22859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216900" y="31623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102600" y="3162300"/>
                <a:ext cx="177800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599">
                    <a:moveTo>
                      <a:pt x="152400" y="228599"/>
                    </a:moveTo>
                    <a:lnTo>
                      <a:pt x="25400" y="228599"/>
                    </a:lnTo>
                    <a:cubicBezTo>
                      <a:pt x="11372" y="228599"/>
                      <a:pt x="0" y="217227"/>
                      <a:pt x="0" y="203199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199"/>
                    </a:lnTo>
                    <a:cubicBezTo>
                      <a:pt x="177800" y="217227"/>
                      <a:pt x="166428" y="228599"/>
                      <a:pt x="152400" y="228599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53400" y="32385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53400" y="32893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153400" y="33400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8485632" y="3145155"/>
              <a:ext cx="2351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跨期核对说明.md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32623" y="3672364"/>
              <a:ext cx="1901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这份文件才比较三个期间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032623" y="3977164"/>
              <a:ext cx="3128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同一科目 + 客商的借方余额是否连续不变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21574" y="4294822"/>
              <a:ext cx="3032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D97706"/>
                  </a:solidFill>
                  <a:latin typeface="Segoe UI Semibold"/>
                  <a:ea typeface="Segoe UI Semibold"/>
                  <a:cs typeface="Segoe UI Semibold"/>
                </a:rPr>
                <a:t>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51723" y="4529614"/>
              <a:ext cx="20983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条风险候选 · 仍需财务复核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5429250"/>
            <a:ext cx="11201400" cy="666750"/>
            <a:chOff x="495300" y="5429250"/>
            <a:chExt cx="11201400" cy="666750"/>
          </a:xfrm>
        </p:grpSpPr>
        <p:sp>
          <p:nvSpPr>
            <p:cNvPr id="75" name="Rectangle 75"/>
            <p:cNvSpPr/>
            <p:nvPr/>
          </p:nvSpPr>
          <p:spPr>
            <a:xfrm>
              <a:off x="495300" y="5429250"/>
              <a:ext cx="112014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14756" y="5520690"/>
              <a:ext cx="411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前台必须先解释“每份成果代表什么”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7423" y="5844064"/>
              <a:ext cx="67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统计完成不等于僵尸账款定论；系统未付款、未核销、未记账，也不替代会计政策判断。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458902"/>
              <a:ext cx="4444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当前系统实测；交互依据：Microsoft HAI Guidelines · W3C PROV-O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/ TC-07：高影响判断必须保留人工门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38150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3235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人机责任分层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95300" y="1390650"/>
            <a:ext cx="5334000" cy="4267200"/>
            <a:chOff x="495300" y="1390650"/>
            <a:chExt cx="53340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53340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42963" y="1697831"/>
              <a:ext cx="202407" cy="242889"/>
              <a:chOff x="842963" y="1697831"/>
              <a:chExt cx="202407" cy="24288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69950" y="16978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2963" y="1859757"/>
                <a:ext cx="107950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80963">
                    <a:moveTo>
                      <a:pt x="0" y="80963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644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27582" y="1678305"/>
              <a:ext cx="34400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TC-06 · 双岗位招聘筛选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21526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5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6073" y="2338864"/>
              <a:ext cx="28330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两份 JD + 五份简历，形成候选建议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6073" y="2738914"/>
              <a:ext cx="34457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职位条件 → 经历证据 → 匹配/缺口 → 建议台账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5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60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候选顺序、支持证据、缺失信息、复核项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55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6073" y="3539014"/>
              <a:ext cx="293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材料冲突或关键条件缺失时标为待复核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5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50873" y="3939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回开依据，确认或改写筛选规则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419600"/>
              <a:ext cx="48006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60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910614"/>
              <a:ext cx="4398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这是建议，不是录用/淘汰；不隐藏不确定性与隐私边界。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0" y="1390650"/>
            <a:ext cx="5600700" cy="4267200"/>
            <a:chOff x="6096000" y="1390650"/>
            <a:chExt cx="5600700" cy="42672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390650"/>
              <a:ext cx="56007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384971" y="1697831"/>
              <a:ext cx="263510" cy="242888"/>
              <a:chOff x="6384971" y="1697831"/>
              <a:chExt cx="263510" cy="24288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384971" y="1697831"/>
                <a:ext cx="263510" cy="240810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240810">
                    <a:moveTo>
                      <a:pt x="132368" y="240810"/>
                    </a:moveTo>
                    <a:cubicBezTo>
                      <a:pt x="47836" y="214607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5" y="0"/>
                    </a:cubicBezTo>
                    <a:cubicBezTo>
                      <a:pt x="171174" y="27886"/>
                      <a:pt x="212311" y="42405"/>
                      <a:pt x="254352" y="40481"/>
                    </a:cubicBezTo>
                    <a:cubicBezTo>
                      <a:pt x="263510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65107" y="1886744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0" y="26988"/>
                    </a:moveTo>
                    <a:lnTo>
                      <a:pt x="26988" y="53975"/>
                    </a:ln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828282" y="167830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TC-07 · 授权文件风控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362700" y="2152650"/>
              <a:ext cx="5067300" cy="9525"/>
            </a:xfrm>
            <a:custGeom>
              <a:avLst/>
              <a:gdLst/>
              <a:ahLst/>
              <a:cxnLst/>
              <a:rect l="l" t="t" r="r" b="b"/>
              <a:pathLst>
                <a:path w="5067300" h="9525">
                  <a:moveTo>
                    <a:pt x="0" y="0"/>
                  </a:moveTo>
                  <a:lnTo>
                    <a:pt x="50673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E3E8E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56223" y="2338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6773" y="23388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六份授权文件，核对授权范围与风险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6223" y="27389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6773" y="2738914"/>
              <a:ext cx="3351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条款抽取 → 原文定位 → 规则台账 → 风险候选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56223" y="31389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输出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6773" y="3138964"/>
              <a:ext cx="31024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文件级规则、来源位置、冲突与复核清单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56223" y="35390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停顿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46773" y="3539014"/>
              <a:ext cx="3119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授权主体/期限/范围不一致时不自动裁决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56223" y="39390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D97706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1573" y="39390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逐项回开原文，交由法务作最终判断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62700" y="4419600"/>
              <a:ext cx="5067300" cy="914400"/>
            </a:xfrm>
            <a:prstGeom prst="roundRect">
              <a:avLst>
                <a:gd name="adj" fmla="val 6250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46723" y="45867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前台必须明确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46723" y="4910614"/>
              <a:ext cx="39606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这是风险候选，不代表法律意见，也不会代替签署。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6000750"/>
            <a:ext cx="11210544" cy="443484"/>
            <a:chOff x="486156" y="6000750"/>
            <a:chExt cx="11210544" cy="443484"/>
          </a:xfrm>
        </p:grpSpPr>
        <p:sp>
          <p:nvSpPr>
            <p:cNvPr id="50" name="Freeform 50"/>
            <p:cNvSpPr/>
            <p:nvPr/>
          </p:nvSpPr>
          <p:spPr>
            <a:xfrm>
              <a:off x="495300" y="60007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6156" y="6092190"/>
              <a:ext cx="7750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共同原则：Agent 提供证据与候选，业务权威仍由有职责的人承担。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489966" y="6458902"/>
              <a:ext cx="4486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人机交互研究依据：Microsoft Guidelines for Human-AI Interaction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1599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/ TC-14：形成方案，不等于执行动作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661142" y="519589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动作边界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95300" y="1390650"/>
            <a:ext cx="4762500" cy="4381500"/>
            <a:chOff x="495300" y="1390650"/>
            <a:chExt cx="4762500" cy="438150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47625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83431" y="1678781"/>
              <a:ext cx="242888" cy="242888"/>
              <a:chOff x="783431" y="1678781"/>
              <a:chExt cx="242888" cy="24288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83431" y="18676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2344" y="16787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8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10419" y="1705769"/>
                <a:ext cx="202407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188913">
                    <a:moveTo>
                      <a:pt x="80963" y="188913"/>
                    </a:moveTo>
                    <a:lnTo>
                      <a:pt x="155178" y="188913"/>
                    </a:lnTo>
                    <a:cubicBezTo>
                      <a:pt x="181262" y="188913"/>
                      <a:pt x="202407" y="167768"/>
                      <a:pt x="202407" y="141685"/>
                    </a:cubicBezTo>
                    <a:cubicBezTo>
                      <a:pt x="202407" y="115601"/>
                      <a:pt x="181262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2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769E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08532" y="1659255"/>
              <a:ext cx="3126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TC-10 · 合规外呼流程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473" y="2167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触发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023" y="21674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根据材料形成外呼流程与话术规则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6473" y="254841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7023" y="2548414"/>
              <a:ext cx="3168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来源抽取 → 节点/条件 → 流程图 → DOCX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2950" y="3048000"/>
              <a:ext cx="4267200" cy="876300"/>
            </a:xfrm>
            <a:prstGeom prst="roundRect">
              <a:avLst>
                <a:gd name="adj" fmla="val 6522"/>
              </a:avLst>
            </a:prstGeom>
            <a:solidFill>
              <a:srgbClr val="EDF1F4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64406" y="3288506"/>
              <a:ext cx="185737" cy="185737"/>
              <a:chOff x="964406" y="3288506"/>
              <a:chExt cx="185737" cy="18573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964406" y="32885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6318" y="33607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324356" y="3253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7023" y="3596164"/>
              <a:ext cx="3404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生成流程图与可下载 DOCX，完成结构检查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2950" y="4095750"/>
              <a:ext cx="42672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53209" y="4351878"/>
              <a:ext cx="208123" cy="178805"/>
              <a:chOff x="953209" y="4351878"/>
              <a:chExt cx="208123" cy="17880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57275" y="44172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3209" y="43518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7275" y="44894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324356" y="43205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7023" y="4682014"/>
              <a:ext cx="23977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未拨号、未写 CRM、未发短信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28166" y="4953952"/>
              <a:ext cx="30250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没有 Connector receipt，就不能显示“已执行”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24500" y="1390650"/>
            <a:ext cx="6172200" cy="4381500"/>
            <a:chOff x="5524500" y="1390650"/>
            <a:chExt cx="6172200" cy="4381500"/>
          </a:xfrm>
        </p:grpSpPr>
        <p:sp>
          <p:nvSpPr>
            <p:cNvPr id="34" name="Rectangle 34"/>
            <p:cNvSpPr/>
            <p:nvPr/>
          </p:nvSpPr>
          <p:spPr>
            <a:xfrm>
              <a:off x="5524500" y="1390650"/>
              <a:ext cx="6172200" cy="4381500"/>
            </a:xfrm>
            <a:prstGeom prst="roundRect">
              <a:avLst>
                <a:gd name="adj" fmla="val 1304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61482" y="1525905"/>
              <a:ext cx="37379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TC-14 · SRE 冲突日志诊断</a:t>
              </a:r>
            </a:p>
          </p:txBody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15051" y="1943100"/>
              <a:ext cx="3591098" cy="27432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5772150" y="4857750"/>
              <a:ext cx="260985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37123" y="4986814"/>
              <a:ext cx="16349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已发生：条件式诊断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38266" y="52587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保留支持、反证与止损提案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553450" y="4857750"/>
              <a:ext cx="2895600" cy="666750"/>
            </a:xfrm>
            <a:prstGeom prst="roundRect">
              <a:avLst>
                <a:gd name="adj" fmla="val 8571"/>
              </a:avLst>
            </a:pr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8423" y="4986814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未发生：生产变更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19566" y="525875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 ES 命令，未触发业务降级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6156" y="6038850"/>
            <a:ext cx="11210544" cy="443484"/>
            <a:chOff x="486156" y="6038850"/>
            <a:chExt cx="11210544" cy="443484"/>
          </a:xfrm>
        </p:grpSpPr>
        <p:sp>
          <p:nvSpPr>
            <p:cNvPr id="44" name="Freeform 44"/>
            <p:cNvSpPr/>
            <p:nvPr/>
          </p:nvSpPr>
          <p:spPr>
            <a:xfrm>
              <a:off x="495300" y="60388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1769E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6156" y="6130290"/>
              <a:ext cx="7651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前台输出必须同时写清：成果是什么，以及哪些业务动作没有发生。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489966" y="6458902"/>
              <a:ext cx="7013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技术依据：OpenAI Agents SDK Human-in-the-loop · MCP Elicitation · W3C PROV-O；截图为当前系统实测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6657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TC-15：模型说明不能覆盖确定性成果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48900" y="438150"/>
              <a:ext cx="14478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514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单一当前结论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390650"/>
            <a:ext cx="6819900" cy="4476750"/>
            <a:chOff x="495300" y="1390650"/>
            <a:chExt cx="6819900" cy="4476750"/>
          </a:xfrm>
        </p:grpSpPr>
        <p:sp>
          <p:nvSpPr>
            <p:cNvPr id="9" name="Rectangle 9"/>
            <p:cNvSpPr/>
            <p:nvPr/>
          </p:nvSpPr>
          <p:spPr>
            <a:xfrm>
              <a:off x="495300" y="1390650"/>
              <a:ext cx="6819900" cy="4476750"/>
            </a:xfrm>
            <a:prstGeom prst="roundRect">
              <a:avLst>
                <a:gd name="adj" fmla="val 1277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4756" y="153924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当前系统实测：冲突说明被拒绝，成果仍保留</a:t>
              </a:r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3159" y="1943100"/>
              <a:ext cx="4364182" cy="3333750"/>
            </a:xfrm>
            <a:prstGeom prst="rect">
              <a:avLst/>
            </a:prstGeom>
          </p:spPr>
        </p:pic>
        <p:sp>
          <p:nvSpPr>
            <p:cNvPr id="12" name="TextBox 12"/>
            <p:cNvSpPr txBox="1"/>
            <p:nvPr/>
          </p:nvSpPr>
          <p:spPr>
            <a:xfrm>
              <a:off x="718566" y="5506402"/>
              <a:ext cx="24348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桌面端拒绝态 · 不伪造竞品或生产截图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81900" y="1390650"/>
            <a:ext cx="4114800" cy="4476750"/>
            <a:chOff x="7581900" y="1390650"/>
            <a:chExt cx="4114800" cy="4476750"/>
          </a:xfrm>
        </p:grpSpPr>
        <p:sp>
          <p:nvSpPr>
            <p:cNvPr id="14" name="Rectangle 14"/>
            <p:cNvSpPr/>
            <p:nvPr/>
          </p:nvSpPr>
          <p:spPr>
            <a:xfrm>
              <a:off x="7581900" y="139065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04023" y="15768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确定性成果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99832" y="1887855"/>
              <a:ext cx="26038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212/212 行 · 87 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04023" y="2281714"/>
              <a:ext cx="2352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Consolas"/>
                  <a:ea typeface="Consolas"/>
                  <a:cs typeface="Consolas"/>
                </a:rPr>
                <a:t>P0-P4 = 25 / 40 / 14 / 6 / 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81900" y="2819400"/>
              <a:ext cx="4114800" cy="1257300"/>
            </a:xfrm>
            <a:prstGeom prst="roundRect">
              <a:avLst>
                <a:gd name="adj" fmla="val 4545"/>
              </a:avLst>
            </a:prstGeom>
            <a:solidFill>
              <a:srgbClr val="EDF1F4"/>
            </a:solidFill>
            <a:ln w="19050">
              <a:solidFill>
                <a:srgbClr val="C0362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04023" y="30056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C0362C"/>
                  </a:solidFill>
                  <a:latin typeface="Segoe UI Semibold"/>
                  <a:ea typeface="Microsoft YaHei"/>
                  <a:cs typeface="Segoe UI Semibold"/>
                </a:rPr>
                <a:t>模型冲突说明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04023" y="3386614"/>
              <a:ext cx="29871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声称只覆盖 60 行，并改写 P0 优先级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4023" y="3691414"/>
              <a:ext cx="2724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581900" y="4248150"/>
              <a:ext cx="4114800" cy="1619250"/>
            </a:xfrm>
            <a:prstGeom prst="roundRect">
              <a:avLst>
                <a:gd name="adj" fmla="val 352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4023" y="4434364"/>
              <a:ext cx="1274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服务端采用回执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04023" y="4815364"/>
              <a:ext cx="11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contradictory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04023" y="5101114"/>
              <a:ext cx="19353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5DF"/>
                  </a:solidFill>
                  <a:latin typeface="Consolas"/>
                  <a:ea typeface="Consolas"/>
                  <a:cs typeface="Consolas"/>
                </a:rPr>
                <a:t>deterministic_outcome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4023" y="5386864"/>
              <a:ext cx="725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7706"/>
                  </a:solidFill>
                  <a:latin typeface="Consolas"/>
                  <a:ea typeface="Consolas"/>
                  <a:cs typeface="Consolas"/>
                </a:rPr>
                <a:t>rejected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39706" y="50063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前台只保留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39706" y="533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一套当前结论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2019" y="6081193"/>
            <a:ext cx="8209071" cy="250360"/>
            <a:chOff x="512019" y="6081193"/>
            <a:chExt cx="8209071" cy="250360"/>
          </a:xfrm>
        </p:grpSpPr>
        <p:grpSp>
          <p:nvGrpSpPr>
            <p:cNvPr id="33" name="Group 33"/>
            <p:cNvGrpSpPr/>
            <p:nvPr/>
          </p:nvGrpSpPr>
          <p:grpSpPr>
            <a:xfrm>
              <a:off x="512019" y="6081193"/>
              <a:ext cx="176105" cy="151297"/>
              <a:chOff x="512019" y="6081193"/>
              <a:chExt cx="176105" cy="1512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0075" y="61364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2019" y="60811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00075" y="6197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12673" y="6082189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这只证明固定场景的结构化事实对账，不是通用自然语言真值证明器，也不证明排序方案带来用户价值。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489966" y="6458902"/>
              <a:ext cx="547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交互依据：Microsoft HAI Guidelines · W3C Status Messages；截图为当前系统实测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686230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前台交互只需要先回答五个问题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325100" y="438150"/>
              <a:ext cx="13716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5322" y="519589"/>
              <a:ext cx="8711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界面与体验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95300" y="1409700"/>
            <a:ext cx="6286500" cy="4267200"/>
            <a:chOff x="495300" y="1409700"/>
            <a:chExt cx="6286500" cy="4267200"/>
          </a:xfrm>
        </p:grpSpPr>
        <p:sp>
          <p:nvSpPr>
            <p:cNvPr id="9" name="Rectangle 9"/>
            <p:cNvSpPr/>
            <p:nvPr/>
          </p:nvSpPr>
          <p:spPr>
            <a:xfrm>
              <a:off x="495300" y="1409700"/>
              <a:ext cx="6286500" cy="4267200"/>
            </a:xfrm>
            <a:prstGeom prst="roundRect">
              <a:avLst>
                <a:gd name="adj" fmla="val 1339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1583055"/>
              <a:ext cx="26928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业务用户的阅读顺序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685800" y="205740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0262" y="2176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106" y="2129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现在完成了什么？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8273" y="2186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成果文件与确定性检查置顶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685800" y="27241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0262" y="28436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106" y="2796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依据是什么？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08273" y="285321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文件、原文位置与摘录可回开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85800" y="339090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262" y="35104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9106" y="34632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为什么停？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8273" y="3519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说明问题、影响范围和可选动作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85800" y="40576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0262" y="4177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9106" y="41300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我确认后会改变什么？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03573" y="4186714"/>
              <a:ext cx="15029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只恢复哪条 Branch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5800" y="472440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0262" y="484393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29106" y="47967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什么绝不会发生？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8273" y="4853464"/>
              <a:ext cx="20726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未执行边界与外部动作回执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53349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技术字段放入二级或审计层，不抢占首屏。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48500" y="1409700"/>
            <a:ext cx="4648200" cy="4267200"/>
            <a:chOff x="7048500" y="1409700"/>
            <a:chExt cx="4648200" cy="4267200"/>
          </a:xfrm>
        </p:grpSpPr>
        <p:sp>
          <p:nvSpPr>
            <p:cNvPr id="33" name="Rectangle 33"/>
            <p:cNvSpPr/>
            <p:nvPr/>
          </p:nvSpPr>
          <p:spPr>
            <a:xfrm>
              <a:off x="7048500" y="1409700"/>
              <a:ext cx="4648200" cy="4267200"/>
            </a:xfrm>
            <a:prstGeom prst="roundRect">
              <a:avLst>
                <a:gd name="adj" fmla="val 1339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04532" y="158305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三层信息架构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315200" y="2095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34656" y="2186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首屏：当前结论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323" y="2529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成果、复核状态、未执行边界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15200" y="30480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34656" y="3139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展开：为什么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37323" y="34818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来源、校验、说明采用、局部决定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315200" y="4000500"/>
              <a:ext cx="4114800" cy="781050"/>
            </a:xfrm>
            <a:prstGeom prst="roundRect">
              <a:avLst>
                <a:gd name="adj" fmla="val 7317"/>
              </a:avLst>
            </a:prstGeom>
            <a:solidFill>
              <a:srgbClr val="FFFFFF">
                <a:alpha val="8000"/>
              </a:srgbClr>
            </a:solidFill>
            <a:ln w="19050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4656" y="40919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审计：系统事实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37323" y="4434364"/>
              <a:ext cx="34561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Snapshot、version、SSE、DecisionRecord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15200" y="4991100"/>
              <a:ext cx="4114800" cy="476250"/>
            </a:xfrm>
            <a:prstGeom prst="roundRect">
              <a:avLst>
                <a:gd name="adj" fmla="val 12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4454" y="5158264"/>
              <a:ext cx="27162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目标：少解释概念，多解释下一步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6156" y="5844540"/>
            <a:ext cx="8655406" cy="352044"/>
            <a:chOff x="486156" y="5844540"/>
            <a:chExt cx="8655406" cy="352044"/>
          </a:xfrm>
        </p:grpSpPr>
        <p:sp>
          <p:nvSpPr>
            <p:cNvPr id="47" name="TextBox 47"/>
            <p:cNvSpPr txBox="1"/>
            <p:nvPr/>
          </p:nvSpPr>
          <p:spPr>
            <a:xfrm>
              <a:off x="486156" y="58445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仍需用户研究验证：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17673" y="5901214"/>
              <a:ext cx="64238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能否无引导说出当前结果、来源、影响、下一步；并用 HEART 度量理解与负担。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6345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用户研究依据：Microsoft HAI Guidelines · W3C Status Messages / Target Size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77774" y="370522"/>
            <a:ext cx="11218926" cy="674751"/>
            <a:chOff x="477774" y="370522"/>
            <a:chExt cx="1121892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8325288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我们到底做了什么：跑通办公任务纵切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172700" y="438150"/>
              <a:ext cx="15240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413302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84632" y="1221105"/>
            <a:ext cx="4473892" cy="4836795"/>
            <a:chOff x="484632" y="1221105"/>
            <a:chExt cx="4473892" cy="4836795"/>
          </a:xfrm>
        </p:grpSpPr>
        <p:sp>
          <p:nvSpPr>
            <p:cNvPr id="9" name="TextBox 9"/>
            <p:cNvSpPr txBox="1"/>
            <p:nvPr/>
          </p:nvSpPr>
          <p:spPr>
            <a:xfrm>
              <a:off x="484632" y="1221105"/>
              <a:ext cx="44738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不是回答页，而是一条可复核链路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42950" y="1943100"/>
              <a:ext cx="9525" cy="2876550"/>
            </a:xfrm>
            <a:custGeom>
              <a:avLst/>
              <a:gdLst/>
              <a:ahLst/>
              <a:cxnLst/>
              <a:rect l="l" t="t" r="r" b="b"/>
              <a:pathLst>
                <a:path w="9525" h="2876550">
                  <a:moveTo>
                    <a:pt x="0" y="0"/>
                  </a:moveTo>
                  <a:lnTo>
                    <a:pt x="0" y="287655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BD5D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52450" y="18478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6912" y="1967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5756" y="1786890"/>
              <a:ext cx="13368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Workspace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8423" y="2110264"/>
              <a:ext cx="2064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15 个目录 · 96 份安全预览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552450" y="25336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86912" y="26531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5756" y="2472690"/>
              <a:ext cx="1790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Task Contract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8423" y="27960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目标、范围、预算由服务端冻结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52450" y="3219450"/>
              <a:ext cx="381000" cy="3810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6912" y="33389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756" y="3158490"/>
              <a:ext cx="2159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Planner + Analyst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8423" y="34818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调用、校验、采用分别留回执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2450" y="3905250"/>
              <a:ext cx="381000" cy="3810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6912" y="40247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756" y="3844290"/>
              <a:ext cx="2650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Branch Evidence Gate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8423" y="4167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局部停、局部补证、保留已完成成果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52450" y="4591050"/>
              <a:ext cx="381000" cy="3810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6912" y="47105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756" y="4530090"/>
              <a:ext cx="2299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Artifact + Receipt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8423" y="4853464"/>
              <a:ext cx="3432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真实文件、确定性检查、Snapshot 与 Trace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5257800"/>
              <a:ext cx="37338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4756" y="5387340"/>
              <a:ext cx="3096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用户得到的不是一句“完成”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7423" y="572976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而是成果、依据、影响和下一步。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1333500"/>
            <a:ext cx="7239000" cy="5029200"/>
            <a:chOff x="4457700" y="1333500"/>
            <a:chExt cx="7239000" cy="5029200"/>
          </a:xfrm>
        </p:grpSpPr>
        <p:sp>
          <p:nvSpPr>
            <p:cNvPr id="35" name="Rectangle 35"/>
            <p:cNvSpPr/>
            <p:nvPr/>
          </p:nvSpPr>
          <p:spPr>
            <a:xfrm>
              <a:off x="4457700" y="1333500"/>
              <a:ext cx="72390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2950" y="1428750"/>
              <a:ext cx="7048500" cy="489585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4648200" y="1543050"/>
              <a:ext cx="1447800" cy="304800"/>
            </a:xfrm>
            <a:prstGeom prst="roundRect">
              <a:avLst>
                <a:gd name="adj" fmla="val 1875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824955" y="161496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真实运行界面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489966" y="6458902"/>
              <a:ext cx="60319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当前边界：有界只读 Agent Control Loop + 固定成果适配器；不是通用执行器或生产 SLA 证明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84936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1：用户只说目标，Agent 自主选择资料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3336" y="1428750"/>
              <a:ext cx="6967728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466850" cy="304800"/>
            </a:xfrm>
            <a:prstGeom prst="roundRect">
              <a:avLst>
                <a:gd name="adj" fmla="val 18750"/>
              </a:avLst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20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当前系统实测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305800" y="1333500"/>
            <a:ext cx="3505314" cy="5029200"/>
            <a:chOff x="8305800" y="1333500"/>
            <a:chExt cx="3505314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420100" y="14859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35512" y="15863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68156" y="1529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用户动作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27923" y="1976914"/>
              <a:ext cx="25875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只写自然语言目标，不先猜文件。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29066" y="2248852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no selected_file_refs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05800" y="2743200"/>
              <a:ext cx="3390900" cy="14478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420100" y="2895600"/>
              <a:ext cx="342900" cy="3429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535512" y="29960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8156" y="2939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服务端事实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27923" y="3386614"/>
              <a:ext cx="2218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冻结完整 allowlisted 索引；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27923" y="3653314"/>
              <a:ext cx="3283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Planner 只看安全元数据，提出本轮证据。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29066" y="3925252"/>
              <a:ext cx="2081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scope_mode=whole_workspace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4343400"/>
              <a:ext cx="33909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420100" y="4495800"/>
              <a:ext cx="342900" cy="3429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35512" y="4596289"/>
              <a:ext cx="112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8156" y="45396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前台反馈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27923" y="49868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展示资料依据、模型采用、剩余预算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27923" y="5253514"/>
              <a:ext cx="1757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以及实时有序 Trace。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05800" y="5753100"/>
              <a:ext cx="33909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27923" y="5872639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9066" y="61255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自主选资料不等于穷举正确，仍需复核。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89966" y="6458902"/>
            <a:ext cx="11021568" cy="205359"/>
            <a:chOff x="489966" y="6458902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489966" y="6458902"/>
              <a:ext cx="4420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交互变化：从“用户先选文件”变为“用户说明目标，系统解释资料选择”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77774" y="370522"/>
            <a:ext cx="9227461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32A3A"/>
                </a:solidFill>
                <a:latin typeface="Segoe UI Semibold"/>
                <a:ea typeface="Microsoft YaHei"/>
                <a:cs typeface="Segoe UI Semibold"/>
              </a:rPr>
              <a:t>实操 2：证据有歧义，只恢复受影响的分支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5300" y="1333500"/>
            <a:ext cx="7543800" cy="5029200"/>
            <a:chOff x="495300" y="1333500"/>
            <a:chExt cx="7543800" cy="5029200"/>
          </a:xfrm>
        </p:grpSpPr>
        <p:sp>
          <p:nvSpPr>
            <p:cNvPr id="6" name="Rectangle 6"/>
            <p:cNvSpPr/>
            <p:nvPr/>
          </p:nvSpPr>
          <p:spPr>
            <a:xfrm>
              <a:off x="495300" y="1333500"/>
              <a:ext cx="7543800" cy="5029200"/>
            </a:xfrm>
            <a:prstGeom prst="roundRect">
              <a:avLst>
                <a:gd name="adj" fmla="val 113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2320" y="1428750"/>
              <a:ext cx="6869759" cy="48387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85800" y="1524000"/>
              <a:ext cx="1619250" cy="304800"/>
            </a:xfrm>
            <a:prstGeom prst="roundRect">
              <a:avLst>
                <a:gd name="adj" fmla="val 1875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8280" y="1595914"/>
              <a:ext cx="1094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证据复核实景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05800" y="1333500"/>
            <a:ext cx="3390900" cy="5029200"/>
            <a:chOff x="8305800" y="1333500"/>
            <a:chExt cx="3390900" cy="5029200"/>
          </a:xfrm>
        </p:grpSpPr>
        <p:sp>
          <p:nvSpPr>
            <p:cNvPr id="11" name="Rectangle 11"/>
            <p:cNvSpPr/>
            <p:nvPr/>
          </p:nvSpPr>
          <p:spPr>
            <a:xfrm>
              <a:off x="8305800" y="133350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25256" y="14820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先解释发生了什么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27923" y="188166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同一逐字片段出现多次，服务端无法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27923" y="2148364"/>
              <a:ext cx="22442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唯一决定该回开哪一处原文。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305800" y="2686050"/>
              <a:ext cx="33909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25256" y="2834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再让用户决定位置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27923" y="3234214"/>
              <a:ext cx="27592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界面同时给出事实、影响、下一步，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27923" y="350091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并在安全预览中高亮候选原文。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05800" y="4038600"/>
              <a:ext cx="3390900" cy="1600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4968" y="4133850"/>
              <a:ext cx="3192564" cy="1514475"/>
            </a:xfrm>
            <a:prstGeom prst="rect">
              <a:avLst/>
            </a:prstGeom>
          </p:spPr>
        </p:pic>
        <p:sp>
          <p:nvSpPr>
            <p:cNvPr id="21" name="Rectangle 21"/>
            <p:cNvSpPr/>
            <p:nvPr/>
          </p:nvSpPr>
          <p:spPr>
            <a:xfrm>
              <a:off x="8439150" y="4191000"/>
              <a:ext cx="1219200" cy="285750"/>
            </a:xfrm>
            <a:prstGeom prst="roundRect">
              <a:avLst>
                <a:gd name="adj" fmla="val 20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98160" y="42776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分支动作实景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305800" y="5791200"/>
              <a:ext cx="3390900" cy="571500"/>
            </a:xfrm>
            <a:prstGeom prst="roundRect">
              <a:avLst>
                <a:gd name="adj" fmla="val 10000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27923" y="5901214"/>
              <a:ext cx="1577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32"/>
                  </a:solidFill>
                  <a:latin typeface="Segoe UI Semibold"/>
                  <a:ea typeface="Microsoft YaHei"/>
                  <a:cs typeface="Segoe UI Semibold"/>
                </a:rPr>
                <a:t>只改变目标 Branch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29066" y="61350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已完成成果和其他分支继续保留。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27" name="TextBox 27"/>
            <p:cNvSpPr txBox="1"/>
            <p:nvPr/>
          </p:nvSpPr>
          <p:spPr>
            <a:xfrm>
              <a:off x="489966" y="6458902"/>
              <a:ext cx="5760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用户确认的是原文位置，不是替 Agent 为结论背书；来源版本变化会进入 stale 并重新核对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BD5DF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370522"/>
            <a:ext cx="9045416" cy="674751"/>
            <a:chOff x="477774" y="370522"/>
            <a:chExt cx="9045416" cy="674751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9125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实操 3：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173224" y="370522"/>
              <a:ext cx="73499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成果可检查，模型说明不覆盖事实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333500"/>
            <a:ext cx="5219700" cy="4838700"/>
            <a:chOff x="495300" y="1333500"/>
            <a:chExt cx="5219700" cy="4838700"/>
          </a:xfrm>
        </p:grpSpPr>
        <p:sp>
          <p:nvSpPr>
            <p:cNvPr id="8" name="Rectangle 8"/>
            <p:cNvSpPr/>
            <p:nvPr/>
          </p:nvSpPr>
          <p:spPr>
            <a:xfrm>
              <a:off x="495300" y="1333500"/>
              <a:ext cx="52197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756" y="1501140"/>
              <a:ext cx="28141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A. 成果与业务效果分层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1869281"/>
              <a:ext cx="4953000" cy="2786062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723900" y="4857750"/>
              <a:ext cx="4762500" cy="1104900"/>
            </a:xfrm>
            <a:prstGeom prst="roundRect">
              <a:avLst>
                <a:gd name="adj" fmla="val 5172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57250" y="5048250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55573" y="5063014"/>
              <a:ext cx="3204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真实文件写入隔离 Run 工作区，可下载。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857250" y="5381625"/>
              <a:ext cx="190500" cy="1905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55573" y="5396389"/>
              <a:ext cx="3389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具名确定性检查与 EffectReceipt 可追溯。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57250" y="5715000"/>
              <a:ext cx="190500" cy="1905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573" y="5729764"/>
              <a:ext cx="32741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未付款、未核销等动作继续明确为未发生。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904015" y="1333500"/>
            <a:ext cx="5792685" cy="4838700"/>
            <a:chOff x="5904015" y="1333500"/>
            <a:chExt cx="5792685" cy="4838700"/>
          </a:xfrm>
        </p:grpSpPr>
        <p:sp>
          <p:nvSpPr>
            <p:cNvPr id="19" name="Rectangle 19"/>
            <p:cNvSpPr/>
            <p:nvPr/>
          </p:nvSpPr>
          <p:spPr>
            <a:xfrm>
              <a:off x="5981700" y="1333500"/>
              <a:ext cx="5715000" cy="4838700"/>
            </a:xfrm>
            <a:prstGeom prst="roundRect">
              <a:avLst>
                <a:gd name="adj" fmla="val 1181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01156" y="1501140"/>
              <a:ext cx="4158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B. 模型被调用，不代表说明被采用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050" y="1866900"/>
              <a:ext cx="5448300" cy="4162425"/>
            </a:xfrm>
            <a:prstGeom prst="rect">
              <a:avLst/>
            </a:prstGeom>
          </p:spPr>
        </p:pic>
        <p:sp>
          <p:nvSpPr>
            <p:cNvPr id="22" name="Rectangle 22"/>
            <p:cNvSpPr/>
            <p:nvPr/>
          </p:nvSpPr>
          <p:spPr>
            <a:xfrm>
              <a:off x="6229350" y="1962150"/>
              <a:ext cx="2209800" cy="304800"/>
            </a:xfrm>
            <a:prstGeom prst="roundRect">
              <a:avLst>
                <a:gd name="adj" fmla="val 18750"/>
              </a:avLst>
            </a:prstGeom>
            <a:solidFill>
              <a:srgbClr val="C0362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04015" y="2034064"/>
              <a:ext cx="2860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called=true · output_used=false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8823" y="6282214"/>
            <a:ext cx="7087362" cy="249364"/>
            <a:chOff x="488823" y="6282214"/>
            <a:chExt cx="7087362" cy="249364"/>
          </a:xfrm>
        </p:grpSpPr>
        <p:sp>
          <p:nvSpPr>
            <p:cNvPr id="25" name="TextBox 25"/>
            <p:cNvSpPr txBox="1"/>
            <p:nvPr/>
          </p:nvSpPr>
          <p:spPr>
            <a:xfrm>
              <a:off x="488823" y="628221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4173" y="6282214"/>
              <a:ext cx="6192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固定检查证明特定字段与效果，不是通用语义真值证明器；前台仍要求人工复核。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489966" y="6592252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交互变化：先展示可用成果与检查回执，再解释模型说明是否采用及其原因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1054449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1：时间维连续性，单个任务如何持续推进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82986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核心不是让 Agent 一直跑，而是让同一 Task ID 在证据冲突、用户纠偏和服务重启后仍能从可信状态继续。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5300" y="1657350"/>
            <a:ext cx="11201400" cy="1200150"/>
            <a:chOff x="495300" y="1657350"/>
            <a:chExt cx="11201400" cy="1200150"/>
          </a:xfrm>
        </p:grpSpPr>
        <p:sp>
          <p:nvSpPr>
            <p:cNvPr id="10" name="Rectangle 10"/>
            <p:cNvSpPr/>
            <p:nvPr/>
          </p:nvSpPr>
          <p:spPr>
            <a:xfrm>
              <a:off x="495300" y="1657350"/>
              <a:ext cx="11201400" cy="120015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565023" y="1771650"/>
              <a:ext cx="1425321" cy="892111"/>
              <a:chOff x="565023" y="1771650"/>
              <a:chExt cx="1425321" cy="892111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62865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406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65023" y="2186464"/>
                <a:ext cx="12682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Task Contract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6166" y="24584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目标、交付、完成条件</a:t>
                </a:r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22288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812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603373" y="1771650"/>
              <a:ext cx="1283970" cy="892111"/>
              <a:chOff x="2603373" y="1771650"/>
              <a:chExt cx="1283970" cy="892111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26289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7443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03373" y="2186464"/>
                <a:ext cx="74875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Observe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26045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读事件、状态、来源</a:t>
                </a:r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39052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0576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279773" y="1771650"/>
              <a:ext cx="1283970" cy="892111"/>
              <a:chOff x="4279773" y="1771650"/>
              <a:chExt cx="1283970" cy="892111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43053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207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79773" y="2186464"/>
                <a:ext cx="3693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Plan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80916" y="245840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拆分支、依赖、预算</a:t>
                </a:r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55816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1769E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7340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769E0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956173" y="1771650"/>
              <a:ext cx="859917" cy="892111"/>
              <a:chOff x="5956173" y="1771650"/>
              <a:chExt cx="859917" cy="89211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5981700" y="1771650"/>
                <a:ext cx="342900" cy="342900"/>
              </a:xfrm>
              <a:prstGeom prst="ellipse">
                <a:avLst/>
              </a:prstGeom>
              <a:solidFill>
                <a:srgbClr val="1769E0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0971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956173" y="2186464"/>
                <a:ext cx="31593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Act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957316" y="2458402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产出候选工件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72580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4104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32573" y="1771650"/>
              <a:ext cx="1397051" cy="892111"/>
              <a:chOff x="7632573" y="1771650"/>
              <a:chExt cx="1397051" cy="892111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7658100" y="1771650"/>
                <a:ext cx="342900" cy="3429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7735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5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32573" y="2186464"/>
                <a:ext cx="56781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Verify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33716" y="2458402"/>
                <a:ext cx="13959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0362C"/>
                    </a:solidFill>
                    <a:latin typeface="Segoe UI"/>
                    <a:ea typeface="Microsoft YaHei"/>
                    <a:cs typeface="Segoe UI"/>
                  </a:rPr>
                  <a:t>2,400 万 vs 2,680 万</a:t>
                </a:r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201150" y="222885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353550" y="2171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75673" y="1771650"/>
              <a:ext cx="1262634" cy="892111"/>
              <a:chOff x="9575673" y="1771650"/>
              <a:chExt cx="1262634" cy="892111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9601200" y="1771650"/>
                <a:ext cx="342900" cy="3429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716612" y="1862614"/>
                <a:ext cx="1120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6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75673" y="2186464"/>
                <a:ext cx="64058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132A3A"/>
                    </a:solidFill>
                    <a:latin typeface="Segoe UI Semibold"/>
                    <a:ea typeface="Segoe UI Semibold"/>
                    <a:cs typeface="Segoe UI Semibold"/>
                  </a:rPr>
                  <a:t>Commit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576816" y="2458402"/>
                <a:ext cx="12614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A6B7C"/>
                    </a:solidFill>
                    <a:latin typeface="Segoe UI"/>
                    <a:ea typeface="Microsoft YaHei"/>
                    <a:cs typeface="Segoe UI"/>
                  </a:rPr>
                  <a:t>版本、来源、Trace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486156" y="3025140"/>
            <a:ext cx="7381494" cy="2423160"/>
            <a:chOff x="486156" y="3025140"/>
            <a:chExt cx="7381494" cy="2423160"/>
          </a:xfrm>
        </p:grpSpPr>
        <p:sp>
          <p:nvSpPr>
            <p:cNvPr id="52" name="TextBox 52"/>
            <p:cNvSpPr txBox="1"/>
            <p:nvPr/>
          </p:nvSpPr>
          <p:spPr>
            <a:xfrm>
              <a:off x="486156" y="3025140"/>
              <a:ext cx="3857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Evidence Gate 只暂停受影响分支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95300" y="3409950"/>
              <a:ext cx="737235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6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69156" y="3860006"/>
              <a:ext cx="185737" cy="185737"/>
              <a:chOff x="869156" y="3860006"/>
              <a:chExt cx="185737" cy="18573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69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31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193673" y="3862864"/>
              <a:ext cx="14367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customer-facts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952750" y="3638550"/>
              <a:ext cx="2133600" cy="723900"/>
            </a:xfrm>
            <a:prstGeom prst="roundRect">
              <a:avLst>
                <a:gd name="adj" fmla="val 789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3155156" y="3860006"/>
              <a:ext cx="185737" cy="185737"/>
              <a:chOff x="3155156" y="3860006"/>
              <a:chExt cx="185737" cy="185737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3155156" y="386000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3217068" y="3932237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3479673" y="3862864"/>
              <a:ext cx="1112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project-risk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118866" y="41157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继续产出并保留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238750" y="3638550"/>
              <a:ext cx="2457450" cy="72390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472112" y="3880644"/>
              <a:ext cx="123825" cy="144462"/>
              <a:chOff x="5472112" y="3880644"/>
              <a:chExt cx="123825" cy="1444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547211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554662" y="3880644"/>
                <a:ext cx="41275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144462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30956" y="0"/>
                    </a:lnTo>
                    <a:cubicBezTo>
                      <a:pt x="36655" y="0"/>
                      <a:pt x="41275" y="4620"/>
                      <a:pt x="41275" y="10319"/>
                    </a:cubicBezTo>
                    <a:lnTo>
                      <a:pt x="41275" y="134143"/>
                    </a:lnTo>
                    <a:cubicBezTo>
                      <a:pt x="41275" y="139842"/>
                      <a:pt x="36655" y="144462"/>
                      <a:pt x="30956" y="144462"/>
                    </a:cubicBezTo>
                    <a:lnTo>
                      <a:pt x="10319" y="144462"/>
                    </a:lnTo>
                    <a:cubicBezTo>
                      <a:pt x="4620" y="144462"/>
                      <a:pt x="0" y="139842"/>
                      <a:pt x="0" y="134143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5765673" y="3862864"/>
              <a:ext cx="1508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32A3A"/>
                  </a:solidFill>
                  <a:latin typeface="Segoe UI Semibold"/>
                  <a:ea typeface="Segoe UI Semibold"/>
                  <a:cs typeface="Segoe UI Semibold"/>
                </a:rPr>
                <a:t>revenue-baseline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404866" y="4115752"/>
              <a:ext cx="1933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waiting_input：等待口径决定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6457950" y="43624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6400800" y="45148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952750" y="4667250"/>
              <a:ext cx="4743450" cy="590550"/>
            </a:xfrm>
            <a:prstGeom prst="roundRect">
              <a:avLst>
                <a:gd name="adj" fmla="val 9677"/>
              </a:avLst>
            </a:pr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3163640" y="4862453"/>
              <a:ext cx="206003" cy="182610"/>
            </a:xfrm>
            <a:custGeom>
              <a:avLst/>
              <a:gdLst/>
              <a:ahLst/>
              <a:cxnLst/>
              <a:rect l="l" t="t" r="r" b="b"/>
              <a:pathLst>
                <a:path w="206003" h="182610">
                  <a:moveTo>
                    <a:pt x="10566" y="173096"/>
                  </a:moveTo>
                  <a:lnTo>
                    <a:pt x="23981" y="132853"/>
                  </a:lnTo>
                  <a:cubicBezTo>
                    <a:pt x="0" y="97388"/>
                    <a:pt x="9266" y="51625"/>
                    <a:pt x="45650" y="25807"/>
                  </a:cubicBezTo>
                  <a:cubicBezTo>
                    <a:pt x="82034" y="0"/>
                    <a:pt x="134288" y="2115"/>
                    <a:pt x="167875" y="30760"/>
                  </a:cubicBezTo>
                  <a:cubicBezTo>
                    <a:pt x="201463" y="59415"/>
                    <a:pt x="206003" y="105736"/>
                    <a:pt x="178493" y="139117"/>
                  </a:cubicBezTo>
                  <a:cubicBezTo>
                    <a:pt x="150983" y="172498"/>
                    <a:pt x="99916" y="182610"/>
                    <a:pt x="59064" y="162778"/>
                  </a:cubicBezTo>
                  <a:lnTo>
                    <a:pt x="10566" y="173096"/>
                  </a:lnTo>
                </a:path>
              </a:pathLst>
            </a:custGeom>
            <a:noFill/>
            <a:ln w="19050">
              <a:solidFill>
                <a:srgbClr val="1769E0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517773" y="4758214"/>
              <a:ext cx="3430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Steer：采用正式口径，保留预测差异说明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518916" y="5011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只恢复该分支；已完成工件和版本不被覆盖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144256" y="3025140"/>
            <a:ext cx="4519757" cy="2423160"/>
            <a:chOff x="8144256" y="3025140"/>
            <a:chExt cx="4519757" cy="2423160"/>
          </a:xfrm>
        </p:grpSpPr>
        <p:sp>
          <p:nvSpPr>
            <p:cNvPr id="79" name="TextBox 79"/>
            <p:cNvSpPr txBox="1"/>
            <p:nvPr/>
          </p:nvSpPr>
          <p:spPr>
            <a:xfrm>
              <a:off x="8144256" y="3025140"/>
              <a:ext cx="29060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从 07-16 目标到当前事实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153400" y="3409950"/>
              <a:ext cx="3543300" cy="2038350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343900" y="3600450"/>
              <a:ext cx="895350" cy="247650"/>
            </a:xfrm>
            <a:prstGeom prst="roundRect">
              <a:avLst>
                <a:gd name="adj" fmla="val 19231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15195" y="36680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当前已落地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37423" y="3958114"/>
              <a:ext cx="3105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服务端 Branch 与分支级 Evidence Gate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37423" y="4205764"/>
              <a:ext cx="35802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B2733"/>
                  </a:solidFill>
                  <a:latin typeface="Segoe UI"/>
                  <a:ea typeface="Segoe UI"/>
                  <a:cs typeface="Segoe UI"/>
                </a:rPr>
                <a:t>append-only ArtifactVersion / TaskCommit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37423" y="4453414"/>
              <a:ext cx="3049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局部恢复与可选 PostgreSQL 重启恢复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343900" y="4762500"/>
              <a:ext cx="3162300" cy="9525"/>
            </a:xfrm>
            <a:custGeom>
              <a:avLst/>
              <a:gdLst/>
              <a:ahLst/>
              <a:cxnLst/>
              <a:rect l="l" t="t" r="r" b="b"/>
              <a:pathLst>
                <a:path w="3162300" h="9525">
                  <a:moveTo>
                    <a:pt x="0" y="0"/>
                  </a:moveTo>
                  <a:lnTo>
                    <a:pt x="316230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38566" y="4896802"/>
              <a:ext cx="432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仍是目标：生产跨端身份、通用可写办公工件、长期后台 Worker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495300" y="5715000"/>
            <a:ext cx="11201400" cy="514350"/>
            <a:chOff x="495300" y="5715000"/>
            <a:chExt cx="11201400" cy="514350"/>
          </a:xfrm>
        </p:grpSpPr>
        <p:sp>
          <p:nvSpPr>
            <p:cNvPr id="89" name="Rectangle 89"/>
            <p:cNvSpPr/>
            <p:nvPr/>
          </p:nvSpPr>
          <p:spPr>
            <a:xfrm>
              <a:off x="495300" y="5715000"/>
              <a:ext cx="11201400" cy="514350"/>
            </a:xfrm>
            <a:prstGeom prst="roundRect">
              <a:avLst>
                <a:gd name="adj" fmla="val 11111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17423" y="5891689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交互变化：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593723" y="5891689"/>
              <a:ext cx="6878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用户不再重开对话、重讲背景，而是在同一任务里查看分支、处理冲突、恢复受影响部分。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93" name="TextBox 93"/>
            <p:cNvSpPr txBox="1"/>
            <p:nvPr/>
          </p:nvSpPr>
          <p:spPr>
            <a:xfrm>
              <a:off x="489966" y="6458902"/>
              <a:ext cx="7405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1；线上实践依据：LangGraph Persistence · OpenAI Agents SDK Human-in-the-loop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7774" y="370522"/>
            <a:ext cx="11218926" cy="1131856"/>
            <a:chOff x="477774" y="370522"/>
            <a:chExt cx="11218926" cy="1131856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370522"/>
              <a:ext cx="75771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2：复杂任务怎样拆解并收敛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039350" y="438150"/>
              <a:ext cx="165735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6626" y="519589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当前系统实测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573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07-16 的智能工作驾驶舱仍是产品目标；当前先验证它底层的一段组织能力，而不是先造任务队列。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90550" y="1777365"/>
            <a:ext cx="4493266" cy="3585591"/>
            <a:chOff x="590550" y="1777365"/>
            <a:chExt cx="4493266" cy="3585591"/>
          </a:xfrm>
        </p:grpSpPr>
        <p:sp>
          <p:nvSpPr>
            <p:cNvPr id="10" name="Freeform 10"/>
            <p:cNvSpPr/>
            <p:nvPr/>
          </p:nvSpPr>
          <p:spPr>
            <a:xfrm>
              <a:off x="800100" y="1885950"/>
              <a:ext cx="9525" cy="3295650"/>
            </a:xfrm>
            <a:custGeom>
              <a:avLst/>
              <a:gdLst/>
              <a:ahLst/>
              <a:cxnLst/>
              <a:rect l="l" t="t" r="r" b="b"/>
              <a:pathLst>
                <a:path w="9525" h="3295650">
                  <a:moveTo>
                    <a:pt x="0" y="0"/>
                  </a:moveTo>
                  <a:lnTo>
                    <a:pt x="0" y="3295650"/>
                  </a:lnTo>
                </a:path>
              </a:pathLst>
            </a:custGeom>
            <a:noFill/>
            <a:ln w="38100">
              <a:solidFill>
                <a:srgbClr val="CBD5D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90550" y="1809750"/>
              <a:ext cx="419100" cy="419100"/>
            </a:xfrm>
            <a:prstGeom prst="ellipse">
              <a:avLst/>
            </a:prstGeom>
            <a:solidFill>
              <a:srgbClr val="1769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0765" y="19402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1956" y="1777365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输入：一个复杂但只读的办公任务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23" y="2129314"/>
              <a:ext cx="3789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跨产品、算法、交互三条工作线核对风险与证据，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4623" y="2376964"/>
              <a:ext cx="2415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先独立核对，再形成统一简报。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90550" y="30480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0765" y="31784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1956" y="3015615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过程：真实依赖决定执行波次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623" y="3367564"/>
              <a:ext cx="35114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Topology Admission 编译出 5 个 WorkUnit：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4623" y="3615214"/>
              <a:ext cx="3909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3 个根工作包先执行，2 个依赖工作包等待下一波。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90550" y="4324350"/>
              <a:ext cx="419100" cy="41910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0765" y="4454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1956" y="4291965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输出：统一成果与一个明确待办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5004" y="4652010"/>
              <a:ext cx="3617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3/3 Contribution 已采用，Artifact v1 已保留；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75004" y="4890135"/>
              <a:ext cx="1966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右侧只突出“继续下一批”，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5004" y="5128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不要求用户管理多个会话。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14950" y="1581150"/>
            <a:ext cx="6381750" cy="4343400"/>
            <a:chOff x="5314950" y="1581150"/>
            <a:chExt cx="6381750" cy="4343400"/>
          </a:xfrm>
        </p:grpSpPr>
        <p:sp>
          <p:nvSpPr>
            <p:cNvPr id="28" name="Rectangle 28"/>
            <p:cNvSpPr/>
            <p:nvPr/>
          </p:nvSpPr>
          <p:spPr>
            <a:xfrm>
              <a:off x="5314950" y="1581150"/>
              <a:ext cx="6381750" cy="4343400"/>
            </a:xfrm>
            <a:prstGeom prst="roundRect">
              <a:avLst>
                <a:gd name="adj" fmla="val 1316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12501" y="1695450"/>
              <a:ext cx="5386647" cy="41148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5505450" y="1809750"/>
              <a:ext cx="1257300" cy="285750"/>
            </a:xfrm>
            <a:prstGeom prst="roundRect">
              <a:avLst>
                <a:gd name="adj" fmla="val 16667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74841" y="1896428"/>
              <a:ext cx="1318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受控 Adaptive 纵切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943850" y="3810000"/>
              <a:ext cx="1181100" cy="9525"/>
            </a:xfrm>
            <a:custGeom>
              <a:avLst/>
              <a:gdLst/>
              <a:ahLst/>
              <a:cxnLst/>
              <a:rect l="l" t="t" r="r" b="b"/>
              <a:pathLst>
                <a:path w="1181100" h="9525">
                  <a:moveTo>
                    <a:pt x="0" y="0"/>
                  </a:moveTo>
                  <a:lnTo>
                    <a:pt x="11811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10650" y="3743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77250" y="3486150"/>
              <a:ext cx="1524000" cy="266700"/>
            </a:xfrm>
            <a:prstGeom prst="roundRect">
              <a:avLst>
                <a:gd name="adj" fmla="val 17857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40242" y="356330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54708"/>
                  </a:solidFill>
                  <a:latin typeface="Segoe UI Semibold"/>
                  <a:ea typeface="Microsoft YaHei"/>
                  <a:cs typeface="Segoe UI Semibold"/>
                </a:rPr>
                <a:t>下一波由用户确认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5300" y="6115050"/>
            <a:ext cx="11201400" cy="381000"/>
            <a:chOff x="495300" y="6115050"/>
            <a:chExt cx="11201400" cy="381000"/>
          </a:xfrm>
        </p:grpSpPr>
        <p:sp>
          <p:nvSpPr>
            <p:cNvPr id="37" name="Rectangle 37"/>
            <p:cNvSpPr/>
            <p:nvPr/>
          </p:nvSpPr>
          <p:spPr>
            <a:xfrm>
              <a:off x="495300" y="6115050"/>
              <a:ext cx="11201400" cy="381000"/>
            </a:xfrm>
            <a:prstGeom prst="roundRect">
              <a:avLst>
                <a:gd name="adj" fmla="val 15000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7423" y="62250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当前边界：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5623" y="6225064"/>
              <a:ext cx="8138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单 API 进程、顺序波次、每波最多 3 个只读 Worker；不是分布式 Swarm，也不是完整智能工作驾驶舱。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89966" y="6611302"/>
            <a:ext cx="11212068" cy="205359"/>
            <a:chOff x="489966" y="6611302"/>
            <a:chExt cx="112120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489966" y="6611302"/>
              <a:ext cx="7351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线上研究依据：A2A Protocol · OpenClaw Multi-agent routing · Nielsen Norman Group Progressive Disclosure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17840" y="6611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95300" y="106680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8536" y="386715"/>
            <a:ext cx="11218164" cy="1115663"/>
            <a:chOff x="478536" y="386715"/>
            <a:chExt cx="11218164" cy="1115663"/>
          </a:xfrm>
        </p:grpSpPr>
        <p:sp>
          <p:nvSpPr>
            <p:cNvPr id="5" name="TextBox 5"/>
            <p:cNvSpPr txBox="1"/>
            <p:nvPr/>
          </p:nvSpPr>
          <p:spPr>
            <a:xfrm>
              <a:off x="478536" y="386715"/>
              <a:ext cx="913991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Demo 3：动作维风险，方案与执行必须隔离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0210800" y="428625"/>
              <a:ext cx="1485900" cy="323850"/>
            </a:xfrm>
            <a:prstGeom prst="roundRect">
              <a:avLst>
                <a:gd name="adj" fmla="val 17647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42240" y="510064"/>
              <a:ext cx="12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769E0"/>
                  </a:solidFill>
                  <a:latin typeface="Segoe UI"/>
                  <a:ea typeface="Microsoft YaHei"/>
                  <a:cs typeface="Segoe UI"/>
                </a:rPr>
                <a:t>07-16 目标演示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8823" y="1253014"/>
              <a:ext cx="7908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生成建议、形成草稿和真实发送或付款是三种不同事实；风险越高，用户越需要在动作发生前看见影响。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86156" y="1596390"/>
            <a:ext cx="11210544" cy="994410"/>
            <a:chOff x="486156" y="1596390"/>
            <a:chExt cx="11210544" cy="994410"/>
          </a:xfrm>
        </p:grpSpPr>
        <p:sp>
          <p:nvSpPr>
            <p:cNvPr id="10" name="TextBox 10"/>
            <p:cNvSpPr txBox="1"/>
            <p:nvPr/>
          </p:nvSpPr>
          <p:spPr>
            <a:xfrm>
              <a:off x="486156" y="1596390"/>
              <a:ext cx="35265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L0-L5 把风险映射为不同交互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953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3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032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自动执行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EDF1F4"/>
            </a:solidFill>
            <a:ln w="19050">
              <a:solidFill>
                <a:srgbClr val="2E7D3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52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2E7D32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4627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执行并通知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12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32223" y="2262664"/>
              <a:ext cx="91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只生成草稿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5315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371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181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普通确认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39100" y="1981200"/>
              <a:ext cx="179070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2312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04123" y="2262664"/>
              <a:ext cx="553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强确认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25050" y="1981200"/>
              <a:ext cx="1771650" cy="6096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19050">
              <a:solidFill>
                <a:srgbClr val="C0362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09073" y="2091214"/>
              <a:ext cx="2224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C0362C"/>
                  </a:solidFill>
                  <a:latin typeface="Consolas"/>
                  <a:ea typeface="Consolas"/>
                  <a:cs typeface="Consolas"/>
                </a:rPr>
                <a:t>L5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90073" y="2262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直接拒绝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6156" y="2758440"/>
            <a:ext cx="11210544" cy="1184910"/>
            <a:chOff x="486156" y="2758440"/>
            <a:chExt cx="11210544" cy="1184910"/>
          </a:xfrm>
        </p:grpSpPr>
        <p:sp>
          <p:nvSpPr>
            <p:cNvPr id="30" name="TextBox 30"/>
            <p:cNvSpPr txBox="1"/>
            <p:nvPr/>
          </p:nvSpPr>
          <p:spPr>
            <a:xfrm>
              <a:off x="486156" y="2758440"/>
              <a:ext cx="6066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动作链：先让用户看见影响，再决定是否发放 Permit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5300" y="3143250"/>
              <a:ext cx="11201400" cy="800100"/>
            </a:xfrm>
            <a:prstGeom prst="roundRect">
              <a:avLst>
                <a:gd name="adj" fmla="val 7143"/>
              </a:avLst>
            </a:prstGeom>
            <a:solidFill>
              <a:srgbClr val="132A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6473" y="34818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方案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12192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4668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270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影响预览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2628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876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36773" y="3481864"/>
              <a:ext cx="8262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Risk Lens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0195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2672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7423" y="3481864"/>
              <a:ext cx="1222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Segoe UI Semibold"/>
                  <a:ea typeface="Segoe UI Semibold"/>
                  <a:cs typeface="Segoe UI Semibold"/>
                </a:rPr>
                <a:t>Evidence Gate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73405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CBD5DF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98170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BD5D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192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人工确认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71247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D97706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3723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632573" y="3481864"/>
              <a:ext cx="604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Permit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8343900" y="35433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2E7D3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591550" y="34861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851773" y="34818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执行回执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95916" y="3506152"/>
              <a:ext cx="10142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或明确“未发生”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" y="4191000"/>
            <a:ext cx="6457950" cy="1847850"/>
            <a:chOff x="495300" y="4191000"/>
            <a:chExt cx="6457950" cy="1847850"/>
          </a:xfrm>
        </p:grpSpPr>
        <p:sp>
          <p:nvSpPr>
            <p:cNvPr id="53" name="Rectangle 53"/>
            <p:cNvSpPr/>
            <p:nvPr/>
          </p:nvSpPr>
          <p:spPr>
            <a:xfrm>
              <a:off x="495300" y="4191000"/>
              <a:ext cx="64579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2E7D32"/>
              </a:solidFill>
            </a:ln>
          </p:spPr>
        </p:sp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51075" y="4286250"/>
              <a:ext cx="2946400" cy="165735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666750" y="4362450"/>
              <a:ext cx="1771650" cy="285750"/>
            </a:xfrm>
            <a:prstGeom prst="roundRect">
              <a:avLst>
                <a:gd name="adj" fmla="val 2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08311" y="4449128"/>
              <a:ext cx="20885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当前有限实现：成果与效果边界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181850" y="4191000"/>
            <a:ext cx="4693851" cy="1847850"/>
            <a:chOff x="7181850" y="4191000"/>
            <a:chExt cx="4693851" cy="1847850"/>
          </a:xfrm>
        </p:grpSpPr>
        <p:sp>
          <p:nvSpPr>
            <p:cNvPr id="58" name="Rectangle 58"/>
            <p:cNvSpPr/>
            <p:nvPr/>
          </p:nvSpPr>
          <p:spPr>
            <a:xfrm>
              <a:off x="7181850" y="4191000"/>
              <a:ext cx="4514850" cy="1847850"/>
            </a:xfrm>
            <a:prstGeom prst="roundRect">
              <a:avLst>
                <a:gd name="adj" fmla="val 3093"/>
              </a:avLst>
            </a:prstGeom>
            <a:solidFill>
              <a:srgbClr val="FFFFFF"/>
            </a:solidFill>
            <a:ln w="19050">
              <a:solidFill>
                <a:srgbClr val="CBD5DF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01306" y="43395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当前已经能证明什么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7439025" y="4733925"/>
              <a:ext cx="171450" cy="171450"/>
              <a:chOff x="7439025" y="4733925"/>
              <a:chExt cx="171450" cy="17145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39025" y="4733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496175" y="48006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746873" y="4739164"/>
              <a:ext cx="38348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实际 Artifact、具名 Validator、EffectReceipt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7439025" y="5038725"/>
              <a:ext cx="171450" cy="171450"/>
              <a:chOff x="7439025" y="5038725"/>
              <a:chExt cx="171450" cy="1714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439025" y="50387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496175" y="5105400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746873" y="5043964"/>
              <a:ext cx="3308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B2733"/>
                  </a:solidFill>
                  <a:latin typeface="Segoe UI"/>
                  <a:ea typeface="Microsoft YaHei"/>
                  <a:cs typeface="Segoe UI"/>
                </a:rPr>
                <a:t>前台明确展示“已生成”与“外部动作未发生”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7410450" y="5334000"/>
              <a:ext cx="4057650" cy="9525"/>
            </a:xfrm>
            <a:custGeom>
              <a:avLst/>
              <a:gdLst/>
              <a:ahLst/>
              <a:cxnLst/>
              <a:rect l="l" t="t" r="r" b="b"/>
              <a:pathLst>
                <a:path w="4057650" h="9525">
                  <a:moveTo>
                    <a:pt x="0" y="0"/>
                  </a:moveTo>
                  <a:lnTo>
                    <a:pt x="4057650" y="0"/>
                  </a:lnTo>
                </a:path>
              </a:pathLst>
            </a:custGeom>
            <a:noFill/>
            <a:ln w="19050">
              <a:solidFill>
                <a:srgbClr val="E3E8ED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428689" y="5492761"/>
              <a:ext cx="192114" cy="165051"/>
              <a:chOff x="7428689" y="5492761"/>
              <a:chExt cx="192114" cy="165051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524750" y="55530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428689" y="549276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524750" y="561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D97706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7746873" y="5482114"/>
              <a:ext cx="4128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54708"/>
                  </a:solidFill>
                  <a:latin typeface="Segoe UI"/>
                  <a:ea typeface="Microsoft YaHei"/>
                  <a:cs typeface="Segoe UI"/>
                </a:rPr>
                <a:t>生产 Connector、身份授权、Permit 防重放仍未实现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48016" y="5735002"/>
              <a:ext cx="3468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因此当前不执行真实付款、发送、CRM 或生产变更。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495300" y="6153150"/>
            <a:ext cx="11201400" cy="302228"/>
            <a:chOff x="495300" y="6153150"/>
            <a:chExt cx="11201400" cy="302228"/>
          </a:xfrm>
        </p:grpSpPr>
        <p:sp>
          <p:nvSpPr>
            <p:cNvPr id="76" name="Rectangle 76"/>
            <p:cNvSpPr/>
            <p:nvPr/>
          </p:nvSpPr>
          <p:spPr>
            <a:xfrm>
              <a:off x="495300" y="6153150"/>
              <a:ext cx="11201400" cy="266700"/>
            </a:xfrm>
            <a:prstGeom prst="roundRect">
              <a:avLst>
                <a:gd name="adj" fmla="val 21429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295839" y="6206014"/>
              <a:ext cx="7600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交互变化：按钮不再只写“确认”，而要说明对象、影响、可逆性、证据、风险级别和动作回执。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489966" y="6592252"/>
            <a:ext cx="11212068" cy="205359"/>
            <a:chOff x="489966" y="6592252"/>
            <a:chExt cx="11212068" cy="205359"/>
          </a:xfrm>
        </p:grpSpPr>
        <p:sp>
          <p:nvSpPr>
            <p:cNvPr id="79" name="TextBox 79"/>
            <p:cNvSpPr txBox="1"/>
            <p:nvPr/>
          </p:nvSpPr>
          <p:spPr>
            <a:xfrm>
              <a:off x="489966" y="6592252"/>
              <a:ext cx="687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目标结构来源：07-16 Demo 3；线上实践依据：OpenAI Agents SDK Human-in-the-loop · MCP Elicitation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17840" y="65922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71450" cy="6858000"/>
            </a:xfrm>
            <a:prstGeom prst="rect">
              <a:avLst/>
            </a:prstGeom>
            <a:solidFill>
              <a:srgbClr val="1769E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7774" y="408622"/>
            <a:ext cx="8983630" cy="949262"/>
            <a:chOff x="477774" y="408622"/>
            <a:chExt cx="8983630" cy="949262"/>
          </a:xfrm>
        </p:grpSpPr>
        <p:sp>
          <p:nvSpPr>
            <p:cNvPr id="5" name="TextBox 5"/>
            <p:cNvSpPr txBox="1"/>
            <p:nvPr/>
          </p:nvSpPr>
          <p:spPr>
            <a:xfrm>
              <a:off x="477774" y="408622"/>
              <a:ext cx="898363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下一阶段：把 07-16 方向变成可证伪证据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86156" y="10058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先闭合可信失败与恢复，再扩大业务效果和外部动作。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95300" y="1962150"/>
            <a:ext cx="11201400" cy="2286000"/>
            <a:chOff x="495300" y="1962150"/>
            <a:chExt cx="11201400" cy="2286000"/>
          </a:xfrm>
        </p:grpSpPr>
        <p:sp>
          <p:nvSpPr>
            <p:cNvPr id="8" name="Freeform 8"/>
            <p:cNvSpPr/>
            <p:nvPr/>
          </p:nvSpPr>
          <p:spPr>
            <a:xfrm>
              <a:off x="495300" y="1962150"/>
              <a:ext cx="2114550" cy="2286000"/>
            </a:xfrm>
            <a:custGeom>
              <a:avLst/>
              <a:gdLst/>
              <a:ahLst/>
              <a:cxnLst/>
              <a:rect l="l" t="t" r="r" b="b"/>
              <a:pathLst>
                <a:path w="2114550" h="2286000">
                  <a:moveTo>
                    <a:pt x="0" y="0"/>
                  </a:moveTo>
                  <a:lnTo>
                    <a:pt x="1828800" y="0"/>
                  </a:lnTo>
                  <a:lnTo>
                    <a:pt x="2114550" y="1143000"/>
                  </a:lnTo>
                  <a:lnTo>
                    <a:pt x="1828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364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806" y="2586990"/>
              <a:ext cx="1595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原生 Locator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473" y="3005614"/>
              <a:ext cx="5479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PDF 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473" y="3272314"/>
              <a:ext cx="527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表格行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473" y="3539014"/>
              <a:ext cx="1394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正文块 + revision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26098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769E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843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817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携证成果包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4373" y="3005614"/>
              <a:ext cx="730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Artifact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4373" y="3272314"/>
              <a:ext cx="1207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EffectReceipt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4373" y="3539014"/>
              <a:ext cx="14976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provenance + 边界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46291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1769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36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769E0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01006" y="2586990"/>
              <a:ext cx="1606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业务 Verifier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3673" y="30056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从固定适配器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03673" y="32723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扩展到可配置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03673" y="3539014"/>
              <a:ext cx="12144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数值与语义规则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648450" y="1962150"/>
              <a:ext cx="2019300" cy="2286000"/>
            </a:xfrm>
            <a:custGeom>
              <a:avLst/>
              <a:gdLst/>
              <a:ahLst/>
              <a:cxnLst/>
              <a:rect l="l" t="t" r="r" b="b"/>
              <a:pathLst>
                <a:path w="2019300" h="2286000">
                  <a:moveTo>
                    <a:pt x="0" y="0"/>
                  </a:moveTo>
                  <a:lnTo>
                    <a:pt x="1733550" y="0"/>
                  </a:lnTo>
                  <a:lnTo>
                    <a:pt x="2019300" y="1143000"/>
                  </a:lnTo>
                  <a:lnTo>
                    <a:pt x="17335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D9770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29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0306" y="2586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调度与动作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33235" y="3021806"/>
              <a:ext cx="1690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queue / lease / Worker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33997" y="3304699"/>
              <a:ext cx="1658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A6B7C"/>
                  </a:solidFill>
                  <a:latin typeface="Segoe UI"/>
                  <a:ea typeface="Segoe UI"/>
                  <a:cs typeface="Segoe UI"/>
                </a:rPr>
                <a:t>Tool / Connector / Permit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32473" y="35390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幂等回执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667750" y="1962150"/>
              <a:ext cx="1981200" cy="2286000"/>
            </a:xfrm>
            <a:custGeom>
              <a:avLst/>
              <a:gdLst/>
              <a:ahLst/>
              <a:cxnLst/>
              <a:rect l="l" t="t" r="r" b="b"/>
              <a:pathLst>
                <a:path w="1981200" h="2286000">
                  <a:moveTo>
                    <a:pt x="0" y="0"/>
                  </a:moveTo>
                  <a:lnTo>
                    <a:pt x="1695450" y="0"/>
                  </a:lnTo>
                  <a:lnTo>
                    <a:pt x="1981200" y="1143000"/>
                  </a:lnTo>
                  <a:lnTo>
                    <a:pt x="16954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EDF1F4"/>
            </a:solidFill>
            <a:ln w="19050">
              <a:solidFill>
                <a:srgbClr val="D9770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42273" y="2262664"/>
              <a:ext cx="211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B54708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39606" y="25869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同场挑战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42273" y="3005614"/>
              <a:ext cx="15748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固定任务/模型/来源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2273" y="3272314"/>
              <a:ext cx="6995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竞品实测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2273" y="3539014"/>
              <a:ext cx="1042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目标用户研究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10648950" y="1962150"/>
              <a:ext cx="1047750" cy="2286000"/>
            </a:xfrm>
            <a:custGeom>
              <a:avLst/>
              <a:gdLst/>
              <a:ahLst/>
              <a:cxnLst/>
              <a:rect l="l" t="t" r="r" b="b"/>
              <a:pathLst>
                <a:path w="1047750" h="2286000">
                  <a:moveTo>
                    <a:pt x="0" y="0"/>
                  </a:moveTo>
                  <a:lnTo>
                    <a:pt x="1047750" y="0"/>
                  </a:lnTo>
                  <a:lnTo>
                    <a:pt x="1047750" y="2286000"/>
                  </a:lnTo>
                  <a:lnTo>
                    <a:pt x="0" y="2286000"/>
                  </a:lnTo>
                  <a:lnTo>
                    <a:pt x="285750" y="1143000"/>
                  </a:lnTo>
                  <a:close/>
                </a:path>
              </a:pathLst>
            </a:custGeom>
            <a:solidFill>
              <a:srgbClr val="132A3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791558" y="24917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已验证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18774" y="28155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 Semibold"/>
                  <a:ea typeface="Microsoft YaHei"/>
                  <a:cs typeface="Segoe UI Semibold"/>
                </a:rPr>
                <a:t>差异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94314" y="3372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通过门后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52963" y="36014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BD5DF"/>
                  </a:solidFill>
                  <a:latin typeface="Segoe UI"/>
                  <a:ea typeface="Microsoft YaHei"/>
                  <a:cs typeface="Segoe UI"/>
                </a:rPr>
                <a:t>才可升级结论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3108" y="4712970"/>
            <a:ext cx="7826959" cy="888492"/>
            <a:chOff x="483108" y="4712970"/>
            <a:chExt cx="7826959" cy="888492"/>
          </a:xfrm>
        </p:grpSpPr>
        <p:sp>
          <p:nvSpPr>
            <p:cNvPr id="44" name="TextBox 44"/>
            <p:cNvSpPr txBox="1"/>
            <p:nvPr/>
          </p:nvSpPr>
          <p:spPr>
            <a:xfrm>
              <a:off x="483108" y="4712970"/>
              <a:ext cx="60564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32A3A"/>
                  </a:solidFill>
                  <a:latin typeface="Segoe UI Semibold"/>
                  <a:ea typeface="Microsoft YaHei"/>
                  <a:cs typeface="Segoe UI Semibold"/>
                </a:rPr>
                <a:t>Office Agent 的产品，不是一段回答；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83108" y="5132070"/>
              <a:ext cx="7826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69E0"/>
                  </a:solidFill>
                  <a:latin typeface="Segoe UI Semibold"/>
                  <a:ea typeface="Microsoft YaHei"/>
                  <a:cs typeface="Segoe UI Semibold"/>
                </a:rPr>
                <a:t>而是一份可复核、可恢复、可追责的当前工作结论。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95300" y="5810250"/>
            <a:ext cx="11201400" cy="419100"/>
            <a:chOff x="495300" y="5810250"/>
            <a:chExt cx="11201400" cy="419100"/>
          </a:xfrm>
        </p:grpSpPr>
        <p:sp>
          <p:nvSpPr>
            <p:cNvPr id="47" name="Rectangle 47"/>
            <p:cNvSpPr/>
            <p:nvPr/>
          </p:nvSpPr>
          <p:spPr>
            <a:xfrm>
              <a:off x="495300" y="5810250"/>
              <a:ext cx="11201400" cy="419100"/>
            </a:xfrm>
            <a:prstGeom prst="roundRect">
              <a:avLst>
                <a:gd name="adj" fmla="val 13636"/>
              </a:avLst>
            </a:prstGeom>
            <a:solidFill>
              <a:srgbClr val="EDF1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423" y="5939314"/>
              <a:ext cx="58616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B7C"/>
                  </a:solidFill>
                  <a:latin typeface="Segoe UI"/>
                  <a:ea typeface="Microsoft YaHei"/>
                  <a:cs typeface="Segoe UI"/>
                </a:rPr>
                <a:t>当前不证明全面领先 · 不证明生产 SLA · 不证明用户已经更信任或更高效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9966" y="6458902"/>
            <a:ext cx="11212068" cy="205359"/>
            <a:chOff x="489966" y="6458902"/>
            <a:chExt cx="112120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489966" y="6458902"/>
              <a:ext cx="5639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C8A98"/>
                  </a:solidFill>
                  <a:latin typeface="Segoe UI"/>
                  <a:ea typeface="Microsoft YaHei"/>
                  <a:cs typeface="Segoe UI"/>
                </a:rPr>
                <a:t>研究路线依据：MCP · A2A · W3C PROV-O · Microsoft HAI Guidelines · Google HEART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178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7C8A98"/>
                  </a:solidFill>
                  <a:latin typeface="Consolas"/>
                  <a:ea typeface="Consolas"/>
                  <a:cs typeface="Consolas"/>
                </a:rPr>
                <a:t>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2026-09-01T16:54:19Z</dcterms:created>
  <dcterms:modified xsi:type="dcterms:W3CDTF">2026-09-01T16:54:19Z</dcterms:modified>
  <cp:category/>
  <cp:contentStatus/>
</cp:coreProperties>
</file>
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这次汇报改成两段。前半段先回答“我们沿 07-16 设计真正实现了什么”，后半段再回答“它与主流方案有什么差异、会怎样改变用户流程和前台输出”。</a:t>
            </a:r>
          </a:p>
          <a:p/>
          <a:p>
            <a:r>
              <a:t>右侧保留当前系统真实界面，提醒听众这不是只讲概念。当前系统已经把资料库、任务合同、规划校验、分支证据门、成果文件、状态快照和有序记录放到同一工作面，但仍是固定公开数据上的受限只读纵切。</a:t>
            </a:r>
          </a:p>
          <a:p/>
          <a:p>
            <a:r>
              <a:t>整场始终区分三类事实：已经实现、有限实现、目标能力。竞品官方资料用于说明市场基线；文献和协议用于说明设计来源；自动化与截图不是用户研究。</a:t>
            </a:r>
          </a:p>
          <a:p/>
          <a:p>
            <a:r>
              <a:t>转场：先看 07-16 三个方向今天分别落到了什么程度。</a:t>
            </a:r>
          </a:p>
          <a:p/>
          <a:p>
            <a:r>
              <a:t>证据/边界：当前系统实测；市场差异与用户价值仍需固定配置同测和目标用户研究。</a:t>
            </a:r>
          </a:p>
          <a:p/>
          <a:p>
            <a:r>
              <a:t>[Sources]</a:t>
            </a:r>
          </a:p>
          <a:p>
            <a:r>
              <a:t>- https://www.microsoft.com/en-us/research/publication/guidelines-for-human-ai-interaction/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这一页先给出结论，不让听众等到后半段才知道当前系统做到哪里。</a:t>
            </a:r>
          </a:p>
          <a:p/>
          <a:p>
            <a:r>
              <a:t>Demo 1 是已实现的时间维纵切：同一任务可以跨运行继续，分支、成果版本和局部恢复有服务端事实。Demo 2 是有限实现：服务端能编译依赖路线，用户确认后按波次启动最多三个进程内只读执行单元，贡献采用和统一成果分开记录；它不是分布式协作运行时。Demo 3 仍是目标能力：当前能区分成果已经生成与外部动作未发生，但生产连接器、身份授权、执行许可和幂等外部回执尚未实现。</a:t>
            </a:r>
          </a:p>
          <a:p/>
          <a:p>
            <a:r>
              <a:t>因此当前最准确的描述是：一条可恢复、可核对的只读办公任务纵切，不是完整执行器。</a:t>
            </a:r>
          </a:p>
          <a:p/>
          <a:p>
            <a:r>
              <a:t>转场：下面把这三个方向重新放回一个底座、两层增强和三类控制。</a:t>
            </a:r>
          </a:p>
          <a:p/>
          <a:p>
            <a:r>
              <a:t>证据/边界：当前系统实测；持久状态与人工审批机制参考官方运行时实践。</a:t>
            </a:r>
          </a:p>
          <a:p/>
          <a:p>
            <a:r>
              <a:t>[Sources]</a:t>
            </a:r>
          </a:p>
          <a:p>
            <a:r>
              <a:t>- https://docs.langchain.com/oss/python/langgraph/persistence</a:t>
            </a:r>
          </a:p>
          <a:p>
            <a:r>
              <a:t>- https://openai.github.io/openai-agents-python/human_in_the_loop/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这一页先不要急着记英文名，只看三层关系。最下面的统一 Agent Runtime 是每个任务都要经过的底座，它稳定承接任务、状态、上下文、执行、能力、证据、策略和追踪。没有这层，Agent 仍然只是一次模型调用，任务中断以后不知道从哪里继续，也无法说明某个结论或动作来自哪一步。</a:t>
            </a:r>
          </a:p>
          <a:p/>
          <a:p>
            <a:r>
              <a:t>第一层增强是 Agent Control Loop。它只在任务需要多轮推进、等待补证或恢复时发挥价值。07-16 希望它解决时间维连续性；当前已经落地的是受限单 Loop、服务端 Branch、Evidence Gate、ArtifactVersion 和 Snapshot/SSE。第二层增强是 Governed Adaptive Swarm，它面向高价值、跨来源、可并行的复杂工作。当前已经形成最小受控纵切：Topology Admission、WorkUnit DAG、每波最多三个进程内只读 Worker、Contribution Gate 与统一 Artifact；但 durable queue、远端 Worker、通用 Resolver 和多实例调度仍是目标。</a:t>
            </a:r>
          </a:p>
          <a:p/>
          <a:p>
            <a:r>
              <a:t>左侧三类控制不是第三层业务能力，而是贯穿所有层的约束。Task Control 决定目标、预算、暂停与停止；Evidence Control 决定来源、冲突、验证和模型说明是否采用；Action Control 决定风险、审批、Permit 和执行回执。它们最终让前台只需要回答三件事：任务现在走到哪，当前结论凭什么成立，哪些动作真的发生了。</a:t>
            </a:r>
          </a:p>
          <a:p/>
          <a:p>
            <a:r>
              <a:t>转场：接着把这套骨架拆成八个稳定职责。</a:t>
            </a:r>
          </a:p>
          <a:p/>
          <a:p>
            <a:r>
              <a:t>证据/边界：https://docs.langchain.com/oss/javascript/langgraph/persistence ；https://openai.github.io/openai-agents-python/human_in_the_loop/ ；https://modelcontextprotocol.io/specification/draft/client/elicitation</a:t>
            </a:r>
          </a:p>
          <a:p/>
          <a:p>
            <a:r>
              <a:t>预期问题：为什么不把所有任务都放进 Loop 或 Swarm？因为增强层有额外状态与协调成本，只有任务的时间跨度和组织复杂度值得时才应启用。</a:t>
            </a:r>
          </a:p>
          <a:p/>
          <a:p/>
          <a:p>
            <a:r>
              <a:t>[Sources]</a:t>
            </a:r>
          </a:p>
          <a:p>
            <a:r>
              <a:t>- https://arxiv.org/abs/2210.03629</a:t>
            </a:r>
          </a:p>
          <a:p>
            <a:r>
              <a:t>- https://docs.langchain.com/oss/javascript/langgraph/persistence</a:t>
            </a:r>
          </a:p>
          <a:p>
            <a:r>
              <a:t>- https://openai.github.io/openai-agents-python/human_in_the_loop/</a:t>
            </a:r>
          </a:p>
          <a:p>
            <a:r>
              <a:t>- https://modelcontextprotocol.io/specification/draft/client/elicitation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八个模块不是八个前台页面，而是一次任务从定范围到可恢复的四段责任链。</a:t>
            </a:r>
          </a:p>
          <a:p/>
          <a:p>
            <a:r>
              <a:t>第一段是“定范围”。Workspace Catalog &amp; Safe Preview 负责哪些资料可以安全读取，Task Contract 负责目标、范围、完成条件和禁止事项。前台要回答的是“你读了哪些资料、任务边界是什么”。</a:t>
            </a:r>
          </a:p>
          <a:p/>
          <a:p>
            <a:r>
              <a:t>第二段是“定计划”。Planner 可以提出分支、依赖和资料范围，但计划不能因为模型返回就直接运行。Admission、Policy Compiler &amp; Plan Validator 还要校验预算、来源、依赖、工具和副作用。前台要回答的是“为什么这样拆、什么计划被拒绝或修复”。</a:t>
            </a:r>
          </a:p>
          <a:p/>
          <a:p>
            <a:r>
              <a:t>第三段是“推进执行”。Scheduler &amp; Worker Manager 决定哪个分支先做、依赖谁、何时等待、何时恢复；当前已经支持服务端编译的 WorkUnit DAG、显式波次和每波最多三个进程内只读 Worker。Tool Gateway 仍应统一真实工具的授权、超时、幂等和回执，但当前没有通用实现。前台要回答的是“现在做到哪一步、谁依赖谁、哪个分支受影响、动作是否真的执行”。</a:t>
            </a:r>
          </a:p>
          <a:p/>
          <a:p>
            <a:r>
              <a:t>第四段是“成果恢复”。Artifact Workspace &amp; Verifier 保存成果版本并执行当前固定场景的确定性检查；Checkpoint, Event &amp; Governance Control 让 Snapshot 成为状态权威，SSE 只做有序投影，并提供可选 PostgreSQL 重启恢复子集。前台要回答的是“结果能否下载、核对、审计和恢复”。</a:t>
            </a:r>
          </a:p>
          <a:p/>
          <a:p>
            <a:r>
              <a:t>所以模块对后端是职责，对用户只有四个问题：读什么、怎么做、做到哪、结果能不能复核与恢复。蓝色表示当前实现，橙色表示部分近似，灰色表示目标，不能把目标模块写成现有能力。</a:t>
            </a:r>
          </a:p>
          <a:p/>
          <a:p>
            <a:r>
              <a:t>转场：有了职责边界，再看当前实现究竟做到哪里、缺口在哪里。</a:t>
            </a:r>
          </a:p>
          <a:p/>
          <a:p>
            <a:r>
              <a:t>证据/边界：当前系统实测；ReAct、LangGraph、MCP 与 A2A 只作线上架构参照。</a:t>
            </a:r>
          </a:p>
          <a:p/>
          <a:p>
            <a:r>
              <a:t>预期问题：八个模块会不会让前台更复杂？不会要求用户操作模块名，但必须把模块产生的关键状态翻译成业务语言。</a:t>
            </a:r>
          </a:p>
          <a:p/>
          <a:p/>
          <a:p>
            <a:r>
              <a:t>[Sources]</a:t>
            </a:r>
          </a:p>
          <a:p>
            <a:r>
              <a:t>- https://arxiv.org/abs/2210.03629</a:t>
            </a:r>
          </a:p>
          <a:p>
            <a:r>
              <a:t>- https://docs.langchain.com/oss/javascript/langgraph/persistence</a:t>
            </a:r>
          </a:p>
          <a:p>
            <a:r>
              <a:t>- https://modelcontextprotocol.io/specification/draft/client/elicitation</a:t>
            </a:r>
          </a:p>
          <a:p>
            <a:r>
              <a:t>- https://a2a-protocol.org/latest/specification/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中心五段里，Observe 和 Plan 已有清晰纵切；Act 仍主要是只读分析和固定成果适配器；Verify 能做 Schema、引用定位和部分确定性成果检查；Commit 是 append-only 的逻辑 ArtifactVersion 与 TaskCommit。外围控制里，Task Contract、Evidence Gate 和 Trace 较完整，Budget、Steer/Pause、Durable State 是部分近似，Takeover 和通用执行仍缺。旧审计曾给出约 30% 的历史架构成熟度基线，但那不是当前覆盖率，更不是模型质量。现阶段最准确的说法是：有反馈与恢复的只读办公任务纵切。</a:t>
            </a:r>
          </a:p>
          <a:p/>
          <a:p>
            <a:r>
              <a:t>转场：下面用真实系统界面走完整条办公任务纵切。</a:t>
            </a:r>
          </a:p>
          <a:p/>
          <a:p>
            <a:r>
              <a:t>证据/边界：https://docs.langchain.com/oss/javascript/langgraph/persistence ；https://openai.github.io/openai-agents-python/human_in_the_loop/ ；https://a2a-protocol.org/latest/specification/</a:t>
            </a:r>
          </a:p>
          <a:p/>
          <a:p>
            <a:r>
              <a:t>预期问题：什么时候可以把它称为完整 Control Loop？</a:t>
            </a:r>
          </a:p>
          <a:p/>
          <a:p/>
          <a:p>
            <a:r>
              <a:t>[Sources]</a:t>
            </a:r>
          </a:p>
          <a:p>
            <a:r>
              <a:t>- https://docs.langchain.com/oss/javascript/langgraph/persistence</a:t>
            </a:r>
          </a:p>
          <a:p>
            <a:r>
              <a:t>- https://openai.github.io/openai-agents-python/human_in_the_loop/</a:t>
            </a:r>
          </a:p>
          <a:p>
            <a:r>
              <a:t>- https://a2a-protocol.org/latest/specification/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这页回答最直接的问题：我们到底做了什么。不是又做了一张 Agent 对话页面，而是把一条办公任务纵切跑通了。</a:t>
            </a:r>
          </a:p>
          <a:p/>
          <a:p>
            <a:r>
              <a:t>第一层是 Workspace。系统面对的是 15 个顶层目录、96 份输入文件，文件都通过服务端 allowlist、大小、哈希、格式和非链接校验后再进入安全预览。第二层是 Task Contract。用户只写任务目标，服务端冻结可读范围、预算、禁止动作和当前版本。第三层是 Planner 与 Analyst。模型调用、服务端校验和模型输出采用分别记录，不再把“模型返回了”写成“当前结论已经采用”。第四层是 Branch Evidence Gate。某条证据不能唯一定位时，只让受影响分支等待，其他已完成成果继续保留。第五层是真实 Artifact 与回执。当前固定场景可以生成可下载文件，执行具名确定性检查，并把 Snapshot 和有序 Trace 留下来。</a:t>
            </a:r>
          </a:p>
          <a:p/>
          <a:p>
            <a:r>
              <a:t>右侧不是概念图，而是当前系统完成一条固定办公任务后的完整运行界面：左侧是资料库，中间是任务、Agent 路径和成果，右侧是有序 Control Loop 记录。</a:t>
            </a:r>
          </a:p>
          <a:p/>
          <a:p>
            <a:r>
              <a:t>这条链已经证明的是固定公开数据上的受限纵切；尚未证明的是通用语义正确、任意办公文件写入、生产级 Connector 和生产 SLA。</a:t>
            </a:r>
          </a:p>
          <a:p/>
          <a:p>
            <a:r>
              <a:t>转场：先看用户只说目标、系统自主选择资料。</a:t>
            </a:r>
          </a:p>
          <a:p/>
          <a:p>
            <a:r>
              <a:t>证据/边界：当前系统实测；截图来自固定公开数据运行，不是竞品对照或生产环境。</a:t>
            </a:r>
          </a:p>
          <a:p/>
          <a:p>
            <a:r>
              <a:t>预期问题：这是不是一个为固定演示写死的流程？当前确有固定成果适配器，但 Workspace、合同、分支、证据门、Snapshot 和 Trace 是通用运行时结构。</a:t>
            </a:r>
          </a:p>
          <a:p/>
          <a:p>
            <a:r>
              <a:t>[Sources]</a:t>
            </a:r>
          </a:p>
          <a:p>
            <a:r>
              <a:t>- https://github.com/Dickey007s/lenovo_agent/blob/8a5e01567ad89a24a6aac8ac8d58c438409c1346/README.md</a:t>
            </a:r>
          </a:p>
          <a:p>
            <a:r>
              <a:t>- https://github.com/Dickey007s/lenovo_agent/blob/8a5e01567ad89a24a6aac8ac8d58c438409c1346/docs/ARCHITECTURE.md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用户做的第一件事只有一个：写清业务目标。浏览器不会再要求用户先勾选文件，也不会提交客户端的 selected_file_refs。这样减少了一个“用户必须先知道答案在哪里”的前置负担。</a:t>
            </a:r>
          </a:p>
          <a:p/>
          <a:p>
            <a:r>
              <a:t>服务端创建 Run 时冻结完整 allowlisted 输入索引，scope_mode 是 whole_workspace。Planner 看到的是安全元数据，而不是绝对路径、隐藏任务、答案或内部哈希；它提出本轮需要的资料和分支，服务端再校验预算、来源、依赖、工具和禁止动作。</a:t>
            </a:r>
          </a:p>
          <a:p/>
          <a:p>
            <a:r>
              <a:t>前台因此必须补上三类反馈。第一，解释本轮为什么选择这些资料；第二，区分规划模型和分析模型是否调用、输出是否被采用；第三，持续显示当前轮次、剩余调用预算、阶段和有序 Trace。用户少做了文件选择，但系统多承担了范围解释责任。</a:t>
            </a:r>
          </a:p>
          <a:p/>
          <a:p>
            <a:r>
              <a:t>这里不能把“自主选择资料”说成“已经穷举所有相关资料”。系统默认 12 轮、公开上限 24 轮，但资料选择仍可能不完整，所以完成结果仍需证据核对、成果检查和人工复核。</a:t>
            </a:r>
          </a:p>
          <a:p/>
          <a:p>
            <a:r>
              <a:t>转场：再看证据出现歧义时，为什么只恢复受影响分支。</a:t>
            </a:r>
          </a:p>
          <a:p/>
          <a:p>
            <a:r>
              <a:t>证据/边界：当前系统实测；全库范围、服务端 Planner 和前台 Trace 的显示均以本次 Snapshot 为准。</a:t>
            </a:r>
          </a:p>
          <a:p/>
          <a:p>
            <a:r>
              <a:t>预期问题：为什么不把全部 96 份文件都交给模型？因为服务端需要控制上下文、成本和来源范围，并保留每轮选择依据。</a:t>
            </a:r>
          </a:p>
          <a:p/>
          <a:p>
            <a:r>
              <a:t>[Sources]</a:t>
            </a:r>
          </a:p>
          <a:p>
            <a:r>
              <a:t>- https://github.com/Dickey007s/lenovo_agent/blob/8a5e01567ad89a24a6aac8ac8d58c438409c1346/docs/decisions/DR-0024-autonomous-whole-workspace-research.md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这页展示证据出现歧义时的真实处理。典型情况不是“没有源文件”，而是模型给出的逐字片段在安全预览里出现多次，服务端无法唯一决定应该回开哪一处。</a:t>
            </a:r>
          </a:p>
          <a:p/>
          <a:p>
            <a:r>
              <a:t>界面先用业务语言回答三件事：发生了什么、这会影响什么、用户现在需要做什么。然后给出候选原文位置和安全预览高亮。用户选择的是来源位置，不是在替 Agent 判断结论一定正确。</a:t>
            </a:r>
          </a:p>
          <a:p/>
          <a:p>
            <a:r>
              <a:t>右下角的小图展示同一轮里不同 Branch 可以有不同动作：一条需要用户确认原文位置，另一条可能只需要继续本分支。DecisionRequest 绑定 expected_version、source_revision、候选和受影响 Branch；来源版本变化时进入 stale，不能把旧选择直接套到新文件。</a:t>
            </a:r>
          </a:p>
          <a:p/>
          <a:p>
            <a:r>
              <a:t>用户确认后，只恢复目标 Branch。已完成 ArtifactVersion、其他 Branch 和已有核对记录不被覆盖。这是局部恢复和整轮重跑在用户体验上的关键差别。</a:t>
            </a:r>
          </a:p>
          <a:p/>
          <a:p>
            <a:r>
              <a:t>转场：接着看真实成果、确定性校验和模型说明怎样分层。</a:t>
            </a:r>
          </a:p>
          <a:p/>
          <a:p>
            <a:r>
              <a:t>证据/边界：当前系统实测；位置确认只证明 locator 与来源成员关系，不证明自然语言蕴含、穷举或算术全面正确。</a:t>
            </a:r>
          </a:p>
          <a:p/>
          <a:p>
            <a:r>
              <a:t>预期问题：为什么还要人选位置？格式原生 Locator 尚未完全覆盖，当前保留可审计的人工决定比服务端猜一个位置更稳妥。</a:t>
            </a:r>
          </a:p>
          <a:p/>
          <a:p>
            <a:r>
              <a:t>[Sources]</a:t>
            </a:r>
          </a:p>
          <a:p>
            <a:r>
              <a:t>- https://github.com/Dickey007s/lenovo_agent/blob/8a5e01567ad89a24a6aac8ac8d58c438409c1346/docs/decisions/DR-0032-persistent-decision-and-local-recovery.md</a:t>
            </a:r>
          </a:p>
          <a:p>
            <a:r>
              <a:t>- https://github.com/Dickey007s/lenovo_agent/blob/8a5e01567ad89a24a6aac8ac8d58c438409c1346/docs/decisions/DR-0038-user-language-source-location-recovery.md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左侧展示成果与业务效果分层。当前固定场景能够在隔离 Run 工作区生成真实文件，用户可以下载；系统还会执行具名确定性检查，并记录 EffectReceipt。与此同时，付款、核销、发送、写 CRM 等未发生动作会继续明确显示为未发生。</a:t>
            </a:r>
          </a:p>
          <a:p/>
          <a:p>
            <a:r>
              <a:t>右侧展示模型说明与确定性成果冲突时的处理。模型确实被调用，因此 called=true；但它给出的行数或分组与确定性成果不一致时，output_used=false。前台只保留一套当前结论，冲突说明进入审计轨迹，而不是与通过检查的成果并排争夺用户注意力。</a:t>
            </a:r>
          </a:p>
          <a:p/>
          <a:p>
            <a:r>
              <a:t>这一步把“模型说了什么”和“系统已经采用什么”分开，也把“文件存在”和“业务动作发生”分开。对用户的直接影响，是成果可以先用、依据可以继续审、错误说明不会覆盖事实。</a:t>
            </a:r>
          </a:p>
          <a:p/>
          <a:p>
            <a:r>
              <a:t>当前边界仍然清楚：固定检查只证明特定字段、结构和效果，不是通用语义真值证明器；成果通过也不代表业务价值或最终判断自动成立。</a:t>
            </a:r>
          </a:p>
          <a:p/>
          <a:p>
            <a:r>
              <a:t>转场：这三段实操汇总到 Demo 1 的时间维连续性。</a:t>
            </a:r>
          </a:p>
          <a:p/>
          <a:p>
            <a:r>
              <a:t>证据/边界：当前系统实测；固定成果适配器与叙事对账覆盖既定场景，不外推到任意办公任务。</a:t>
            </a:r>
          </a:p>
          <a:p/>
          <a:p>
            <a:r>
              <a:t>预期问题：固定检查会不会把模型变得多余？不会，模型仍负责规划、跨资料归纳和提出候选；确定性检查负责约束可复算事实。</a:t>
            </a:r>
          </a:p>
          <a:p/>
          <a:p>
            <a:r>
              <a:t>[Sources]</a:t>
            </a:r>
          </a:p>
          <a:p>
            <a:r>
              <a:t>- https://github.com/Dickey007s/lenovo_agent/blob/8a5e01567ad89a24a6aac8ac8d58c438409c1346/docs/decisions/DR-0052-authoritative-outcome-and-narrative-reconciliation.md</a:t>
            </a:r>
          </a:p>
          <a:p>
            <a:r>
              <a:t>- https://github.com/Dickey007s/lenovo_agent/blob/8a5e01567ad89a24a6aac8ac8d58c438409c1346/docs/decisions/DR-0035-scenario-effect-gate-and-run-workspace-artifacts.md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1 来自 07-16 的时间维连续性。目标不是让 Agent 永远运行，而是让同一个 Task ID 在多轮任务中有稳定的任务契约、状态版本、分支和恢复点。流程仍然是 Task Contract、Observe、Plan、Act、Verify、Commit。</a:t>
            </a:r>
          </a:p>
          <a:p/>
          <a:p>
            <a:r>
              <a:t>07-16 的关键镜头是 Verify 同时发现正式口径 2,400 万和预测口径 2,680 万。正确处理不是整项任务失败，也不是让模型自行选择，而是 Evidence Gate 只让 revenue-baseline 分支进入 waiting_input；customer-facts 和 project-risk 分支继续产出并保留。用户给出 Steer，采用正式口径并保留预测差异说明，系统只恢复受影响分支，最后把版本、来源、验证结果和 Trace 一起 Commit。</a:t>
            </a:r>
          </a:p>
          <a:p/>
          <a:p>
            <a:r>
              <a:t>当前系统已经具备服务端 Branch、分支级 Evidence Gate、append-only ArtifactVersion、TaskCommit、局部恢复和可选 PostgreSQL 重启恢复。还没有生产级跨端身份、任意办公工件写入和长期后台 Worker。因此这一页不是把 07-16 演示冒充当前实测，而是说明我们已经完成了其中最关键的一段状态与证据纵切。</a:t>
            </a:r>
          </a:p>
          <a:p/>
          <a:p>
            <a:r>
              <a:t>前台变化是用户不必重开对话、重讲背景；他在同一任务里看见哪个分支完成、哪个分支为何停、选择后恢复什么、旧成果是否保留。</a:t>
            </a:r>
          </a:p>
          <a:p/>
          <a:p>
            <a:r>
              <a:t>转场：时间维成立后，再看 Demo 2 怎样处理组织复杂度。</a:t>
            </a:r>
          </a:p>
          <a:p/>
          <a:p>
            <a:r>
              <a:t>证据/边界：https://docs.langchain.com/oss/javascript/langgraph/persistence ；https://openai.github.io/openai-agents-python/human_in_the_loop/</a:t>
            </a:r>
          </a:p>
          <a:p/>
          <a:p>
            <a:r>
              <a:t>预期问题：现在已经支持手机和电脑控制同一生产任务吗？没有，当前证明的是服务端状态、分支与恢复机制，生产身份和跨端控制仍是目标。</a:t>
            </a:r>
          </a:p>
          <a:p/>
          <a:p/>
          <a:p>
            <a:r>
              <a:t>[Sources]</a:t>
            </a:r>
          </a:p>
          <a:p>
            <a:r>
              <a:t>- https://docs.langchain.com/oss/javascript/langgraph/persistence</a:t>
            </a:r>
          </a:p>
          <a:p>
            <a:r>
              <a:t>- https://openai.github.io/openai-agents-python/human_in_the_loop/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2 仍然保留 07-16 的智能工作驾驶舱作为目标产品面，但这一页不再只讲目标框图，而是先回答一个可以直接演示的输入、过程和输出。</a:t>
            </a:r>
          </a:p>
          <a:p/>
          <a:p>
            <a:r>
              <a:t>输入是一条复杂但只读的办公任务：分别核对产品上线、搜索 Agent 运行和用户交互三条工作线的风险与证据，先独立核对，再形成统一简报。用户不需要指定五个 Agent，也不需要自己分配会话。</a:t>
            </a:r>
          </a:p>
          <a:p/>
          <a:p>
            <a:r>
              <a:t>过程由服务端事实决定。Topology Admission 编译出五个 WorkUnit，其中三个是根工作包，两个依赖前序结果。第一波返回后，三个 Contribution 分别进入采用门；只有带批准来源和可定位证据的候选才能进入 Artifact。两个依赖工作包显示“下一波待确认”，由用户明确启动，而不是后台无声扩张预算。</a:t>
            </a:r>
          </a:p>
          <a:p/>
          <a:p>
            <a:r>
              <a:t>输出是一个统一工作面：左侧阶段轨回答现在走到哪，中央 DAG 回答谁依赖谁，右侧当前影响只突出唯一主要动作，底部结果条说明三份贡献已经采用、Artifact v1 已保留、还有两个工作包待确认。用户管理的是统一成果和下一步，不是多个 Agent 对话。</a:t>
            </a:r>
          </a:p>
          <a:p/>
          <a:p>
            <a:r>
              <a:t>边界必须讲清：这是单服务进程、顺序批次、每批最多三个只读执行单元的受控演示样例。它没有持久任务队列、租约、远端执行单元或多实例协调，也不是完整的智能工作驾驶舱；自动化和截图同样不能证明这种协作方式更快、更准或更易理解。</a:t>
            </a:r>
          </a:p>
          <a:p/>
          <a:p>
            <a:r>
              <a:t>转场：协作之后，还必须把方案与真实执行隔离。</a:t>
            </a:r>
          </a:p>
          <a:p/>
          <a:p>
            <a:r>
              <a:t>证据/边界：https://docs.openclaw.ai/concepts/multi-agent ；https://a2a-protocol.org/latest/specification/ ；https://www.nngroup.com/articles/progressive-disclosure/</a:t>
            </a:r>
          </a:p>
          <a:p/>
          <a:p>
            <a:r>
              <a:t>预期问题：多个执行单元一定比单一流程好吗？不一定，当前也没有效果证据；只有同任务、同模型、同来源和同预算下的增量收益高于协调与验证开销时，才应该启用自适应协作。</a:t>
            </a:r>
          </a:p>
          <a:p/>
          <a:p/>
          <a:p>
            <a:r>
              <a:t>[Sources]</a:t>
            </a:r>
          </a:p>
          <a:p>
            <a:r>
              <a:t>- https://a2a-protocol.org/latest/specification/</a:t>
            </a:r>
          </a:p>
          <a:p>
            <a:r>
              <a:t>- https://docs.openclaw.ai/concepts/multi-agent</a:t>
            </a:r>
          </a:p>
          <a:p>
            <a:r>
              <a:t>- https://www.nngroup.com/articles/progressive-disclosure/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3 保留 07-16 的 Risk Gate。Risk Lens 从动作影响、数据敏感度、可逆性、权限和缺失信息评估风险，再映射到 L0-L5：L0 自动执行，L1 执行并通知，L2 只生成草稿，L3 普通确认，L4 强确认，L5 直接拒绝。</a:t>
            </a:r>
          </a:p>
          <a:p/>
          <a:p>
            <a:r>
              <a:t>真正关键的是动作链。Agent 先提出方案，前台展示动作对象、影响范围和可逆性；Evidence Gate 与 Risk Lens 给出来源和风险理由；需要人工确认时，用户明确同意后才生成 Permit；执行后必须返回可核验的 ExecutionReceipt，或者明确写出动作未发生。这样“方案”“草稿”“批准”和“执行”不会被混成一个绿色完成状态。</a:t>
            </a:r>
          </a:p>
          <a:p/>
          <a:p>
            <a:r>
              <a:t>页面下半部分使用当前真实界面截图，说明目前已经实现的有限一段：实际 Artifact、具名 Validator、EffectReceipt 和未发生边界可以分层展示。但生产 Connector、身份授权、Permit 防重放与真实外部动作仍未实现，所以系统不会发送邮件、付款、写 CRM 或执行生产命令。</a:t>
            </a:r>
          </a:p>
          <a:p/>
          <a:p>
            <a:r>
              <a:t>前台的直接变化是按钮不能只写“确认”。用户必须先看见对象、影响、证据、风险级别、可逆性和执行回执，才能知道自己的点击究竟会改变什么。</a:t>
            </a:r>
          </a:p>
          <a:p/>
          <a:p>
            <a:r>
              <a:t>转场：实现讲完以后，下面进入市场与技术调研。</a:t>
            </a:r>
          </a:p>
          <a:p/>
          <a:p>
            <a:r>
              <a:t>证据/边界：https://openai.github.io/openai-agents-python/human_in_the_loop/ ；https://modelcontextprotocol.io/specification/draft/client/elicitation ；https://www.microsoft.com/en-us/research/publication/guidelines-for-human-ai-interaction/</a:t>
            </a:r>
          </a:p>
          <a:p/>
          <a:p>
            <a:r>
              <a:t>预期问题：当前是不是已经具备 L0-L5 的生产执行能力？没有，L0-L5 是目标控制模型，当前只有固定成果和未执行边界的有限实现。</a:t>
            </a:r>
          </a:p>
          <a:p/>
          <a:p/>
          <a:p>
            <a:r>
              <a:t>[Sources]</a:t>
            </a:r>
          </a:p>
          <a:p>
            <a:r>
              <a:t>- https://openai.github.io/openai-agents-python/human_in_the_loop/</a:t>
            </a:r>
          </a:p>
          <a:p>
            <a:r>
              <a:t>- https://modelcontextprotocol.io/specification/draft/client/elicitation</a:t>
            </a:r>
          </a:p>
          <a:p>
            <a:r>
              <a:t>- https://www.microsoft.com/en-us/research/publication/guidelines-for-human-ai-interaction/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这页把 07-16 的 P05 到 P09 合并成一条链。Prompt Engineering 关注一次指令与示例；ReAct 把工程对象扩展到 Action 和 Observation；Context Engineering 开始管理系统指令、工具、外部数据和历史；Harness Engineering 再把权限、沙箱和工具环境纳入系统；Loop Engineering 是我们对触发、验证、记录和恢复的方案归纳。最后一步是办公交付：业务成果、来源、人工决定和未执行边界都可复核。需要强调，这些阶段名不是学界统一年表，而是为了说明系统责任为什么不断外扩。</a:t>
            </a:r>
          </a:p>
          <a:p/>
          <a:p>
            <a:r>
              <a:t>转场：先把商业产品、邻近工具和底层协议分开。</a:t>
            </a:r>
          </a:p>
          <a:p/>
          <a:p>
            <a:r>
              <a:t>证据/边界：https://arxiv.org/abs/2005.14165 ；https://arxiv.org/abs/2210.03629 ；https://www.anthropic.com/engineering/effective-context-engineering-for-ai-agents ；https://docs.langchain.com/oss/javascript/langgraph/persistence</a:t>
            </a:r>
          </a:p>
          <a:p/>
          <a:p>
            <a:r>
              <a:t>预期问题：Loop Engineering 是正式术语还是本方案的归纳？</a:t>
            </a:r>
          </a:p>
          <a:p/>
          <a:p/>
          <a:p>
            <a:r>
              <a:t>[Sources]</a:t>
            </a:r>
          </a:p>
          <a:p>
            <a:r>
              <a:t>- https://arxiv.org/abs/2005.14165</a:t>
            </a:r>
          </a:p>
          <a:p>
            <a:r>
              <a:t>- https://arxiv.org/abs/2210.03629</a:t>
            </a:r>
          </a:p>
          <a:p>
            <a:r>
              <a:t>- https://www.anthropic.com/engineering/effective-context-engineering-for-ai-agents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这一页先纠正原稿最大的比较问题：Microsoft 365 Copilot、Glean、Atlassian Rovo、ChatGPT、Codex App、OpenClaw 和 ReAct 不是同一层对象。</a:t>
            </a:r>
          </a:p>
          <a:p/>
          <a:p>
            <a:r>
              <a:t>市场至少要分成办公套件内嵌、企业知识与智能体平台、通用研究工作台、任务执行工作台、方法与协议五类。真正可比的是用户要审查什么对象，以及状态、证据、成果、人工门和动作事实如何衔接。</a:t>
            </a:r>
          </a:p>
          <a:p/>
          <a:p>
            <a:r>
              <a:t>因此，本页不是竞品排名，也不据官方资料的缺失推断某个产品做不到某事。</a:t>
            </a:r>
          </a:p>
          <a:p/>
          <a:p>
            <a:r>
              <a:t>转场：第一组直接竞品是原生办公套件。</a:t>
            </a:r>
          </a:p>
          <a:p/>
          <a:p>
            <a:r>
              <a:t>[Sources]</a:t>
            </a:r>
          </a:p>
          <a:p>
            <a:r>
              <a:t>- https://learn.microsoft.com/en-us/microsoft-365/copilot/researcher-agent</a:t>
            </a:r>
          </a:p>
          <a:p>
            <a:r>
              <a:t>- https://workspace.google.com/blog/product-announcements/introducing-google-workspace-studio-agents-for-everyday-work</a:t>
            </a:r>
          </a:p>
          <a:p>
            <a:r>
              <a:t>- https://www.glean.com/platform</a:t>
            </a:r>
          </a:p>
          <a:p>
            <a:r>
              <a:t>- https://docs.glean.com/user-guide/assistant/deep-research</a:t>
            </a:r>
          </a:p>
          <a:p>
            <a:r>
              <a:t>- https://www.atlassian.com/software/rovo/features</a:t>
            </a:r>
          </a:p>
          <a:p>
            <a:r>
              <a:t>- https://www.notion.com/help/enterprise-search</a:t>
            </a:r>
          </a:p>
          <a:p>
            <a:r>
              <a:t>- https://help.openai.com/en/articles/10500283-deep-research</a:t>
            </a:r>
          </a:p>
          <a:p>
            <a:r>
              <a:t>- https://support.claude.com/en/articles/11088861-use-research-on-claude</a:t>
            </a:r>
          </a:p>
          <a:p>
            <a:r>
              <a:t>- https://openai.com/index/introducing-the-codex-app/</a:t>
            </a:r>
          </a:p>
          <a:p>
            <a:r>
              <a:t>- https://code.claude.com/docs/en/how-claude-code-works</a:t>
            </a:r>
          </a:p>
          <a:p>
            <a:r>
              <a:t>- https://docs.openclaw.ai/</a:t>
            </a:r>
          </a:p>
          <a:p>
            <a:r>
              <a:t>- https://react-lm.github.io/</a:t>
            </a:r>
          </a:p>
          <a:p>
            <a:r>
              <a:t>- https://modelcontextprotocol.io/specification/</a:t>
            </a:r>
          </a:p>
          <a:p>
            <a:r>
              <a:t>- https://a2a-protocol.org/latest/specification/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这一页讲直接办公套件竞争。Microsoft 的强项是与 Microsoft 365 工作内容和权限体系相连，Researcher with Computer Use 还能在安全虚拟环境里操作网站和应用。Google 的强项是 Workspace 原生上下文和 Workspace Studio 的跨应用自动化。</a:t>
            </a:r>
          </a:p>
          <a:p/>
          <a:p>
            <a:r>
              <a:t>这意味着 Office Agent 不能用“多来源”“整库”“有引用”来定义独占差异。当前更准确的说法是：Office Agent 正在验证服务端冻结范围、分支证据门、成果校验和人工控制是否能在一条办公链路里闭合。</a:t>
            </a:r>
          </a:p>
          <a:p/>
          <a:p>
            <a:r>
              <a:t>转场：第二组看企业知识与智能体平台。</a:t>
            </a:r>
          </a:p>
          <a:p/>
          <a:p>
            <a:r>
              <a:t>[Sources]</a:t>
            </a:r>
          </a:p>
          <a:p>
            <a:r>
              <a:t>- https://support.microsoft.com/en-us/microsoft-365-copilot/get-started-using-researcher-with-computer-use-in-microsoft-365-copilot-frontier</a:t>
            </a:r>
          </a:p>
          <a:p>
            <a:r>
              <a:t>- https://learn.microsoft.com/en-us/microsoft-365/copilot/researcher-agent</a:t>
            </a:r>
          </a:p>
          <a:p>
            <a:r>
              <a:t>- https://support.microsoft.com/en-us/microsoft-365-copilot/get-started-with-analyst-in-microsoft-copilot</a:t>
            </a:r>
          </a:p>
          <a:p>
            <a:r>
              <a:t>- https://workspace.google.com/blog/product-announcements/introducing-google-workspace-studio-agents-for-everyday-work</a:t>
            </a:r>
          </a:p>
          <a:p>
            <a:r>
              <a:t>- https://workspace.google.com/blog/product-announcements/introducing-workspace-intelligence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Notion AI 是原稿遗漏的重要直接竞品。它把工作空间、连接应用和互联网放进统一入口，支持收窄范围、引用回开和研究模式；官方文档还说明，部分连接器能在连接应用中采取动作。</a:t>
            </a:r>
          </a:p>
          <a:p/>
          <a:p>
            <a:r>
              <a:t>同一赛道还包括 Glean 与 Atlassian Rovo。Glean 以权限感知的企业搜索和知识图谱为底座，向深度研究、智能体和动作扩展；Rovo 把搜索、对话、深度研究、智能体与自动化嵌入 Jira 和 Confluence。这里用 Notion 的界面作为日常知识工作入口的可视例子，不代表只研究了 Notion。</a:t>
            </a:r>
          </a:p>
          <a:p/>
          <a:p>
            <a:r>
              <a:t>因此，Office Agent 不能把全源检索、企业连接或引用回开本身写成独占能力。可以继续验证的，是服务端证据准入、模型采用、分支缺口、确定性办公成果与动作事实是否能形成更严格的合同。</a:t>
            </a:r>
          </a:p>
          <a:p/>
          <a:p>
            <a:r>
              <a:t>转场：第三组看跨来源研究工作台。</a:t>
            </a:r>
          </a:p>
          <a:p/>
          <a:p>
            <a:r>
              <a:t>[Sources]</a:t>
            </a:r>
          </a:p>
          <a:p>
            <a:r>
              <a:t>- https://www.notion.com/help/enterprise-search</a:t>
            </a:r>
          </a:p>
          <a:p>
            <a:r>
              <a:t>- https://www.notion.com/help/notion-ai-faqs</a:t>
            </a:r>
          </a:p>
          <a:p>
            <a:r>
              <a:t>- https://www.notion.com/help/notion-ai-connectors</a:t>
            </a:r>
          </a:p>
          <a:p>
            <a:r>
              <a:t>- https://www.glean.com/platform</a:t>
            </a:r>
          </a:p>
          <a:p>
            <a:r>
              <a:t>- https://docs.glean.com/user-guide/assistant/deep-research</a:t>
            </a:r>
          </a:p>
          <a:p>
            <a:r>
              <a:t>- https://www.atlassian.com/software/rovo/features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ChatGPT 深度研究已经覆盖来源选择、计划审阅、进度展示、运行中中断、引用报告和多格式下载。Claude Research 也会在内部上下文和 Web 上开展多步研究，并输出可检查引用。</a:t>
            </a:r>
          </a:p>
          <a:p/>
          <a:p>
            <a:r>
              <a:t>所以 Office Agent 的市场表达不能停留在“会研究、有来源、能暂停”。更值得验证的是：每条业务结论是否经过服务端来源准入；部分采用能否保留；证据缺口是否能单分支恢复；成果是否由独立 Verifier 证明已经生成。</a:t>
            </a:r>
          </a:p>
          <a:p/>
          <a:p>
            <a:r>
              <a:t>转场：第四组看长期任务执行工作台。</a:t>
            </a:r>
          </a:p>
          <a:p/>
          <a:p>
            <a:r>
              <a:t>[Sources]</a:t>
            </a:r>
          </a:p>
          <a:p>
            <a:r>
              <a:t>- https://help.openai.com/en/articles/10500283-deep-research</a:t>
            </a:r>
          </a:p>
          <a:p>
            <a:r>
              <a:t>- https://openai.com/index/introducing-deep-research/</a:t>
            </a:r>
          </a:p>
          <a:p>
            <a:r>
              <a:t>- https://help.openai.com/en/articles/11487775-apps-in-chatgpt</a:t>
            </a:r>
          </a:p>
          <a:p>
            <a:r>
              <a:t>- https://support.claude.com/en/articles/11088861-use-research-on-claude</a:t>
            </a:r>
          </a:p>
          <a:p>
            <a:r>
              <a:t>- https://www.anthropic.com/news/integrations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Codex App 和 Claude Code 不是 Office Agent 的直接办公套件竞品，但它们定义了长任务执行工作台的用户预期：任务有独立状态，执行有隔离环境，变更有 Diff，验证有命令回执，人工可以中断、批准和恢复。</a:t>
            </a:r>
          </a:p>
          <a:p/>
          <a:p>
            <a:r>
              <a:t>Office Agent 的候选差异不在于“也能跑长任务”，而在于把办公来源、业务 Finding、Evidence Gate、办公 Artifact、人工 Decision 和未执行边界放进同一条事实链。</a:t>
            </a:r>
          </a:p>
          <a:p/>
          <a:p>
            <a:r>
              <a:t>转场：把这些产品压缩成五个真正可比的审查对象。</a:t>
            </a:r>
          </a:p>
          <a:p/>
          <a:p>
            <a:r>
              <a:t>[Sources]</a:t>
            </a:r>
          </a:p>
          <a:p>
            <a:r>
              <a:t>- https://openai.com/index/introducing-the-codex-app/</a:t>
            </a:r>
          </a:p>
          <a:p>
            <a:r>
              <a:t>- https://code.claude.com/docs/en/how-claude-code-works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这一页把前面的产品叙事收敛为五个可审查对象。</a:t>
            </a:r>
          </a:p>
          <a:p/>
          <a:p>
            <a:r>
              <a:t>办公套件强在原生上下文和平台动作；研究工作台强在来源、计划、进度和报告；代码执行工作台强在任务、隔离环境、变更和验证。Office Agent 当前尝试把冻结资料库、Task / Run / Branch、Evidence Gate、办公成果与 Verifier 回执放在同一条链路里。</a:t>
            </a:r>
          </a:p>
          <a:p/>
          <a:p>
            <a:r>
              <a:t>这仍然只是结构上的候选差异，不能替代固定配置的同场实测。</a:t>
            </a:r>
          </a:p>
          <a:p/>
          <a:p>
            <a:r>
              <a:t>转场：再据此说明 Office Agent 可以主张什么、不能主张什么。</a:t>
            </a:r>
          </a:p>
          <a:p/>
          <a:p>
            <a:r>
              <a:t>[Sources]</a:t>
            </a:r>
          </a:p>
          <a:p>
            <a:r>
              <a:t>- https://learn.microsoft.com/en-us/microsoft-365/copilot/researcher-agent</a:t>
            </a:r>
          </a:p>
          <a:p>
            <a:r>
              <a:t>- https://workspace.google.com/blog/product-announcements/introducing-google-workspace-studio-agents-for-everyday-work</a:t>
            </a:r>
          </a:p>
          <a:p>
            <a:r>
              <a:t>- https://www.notion.com/help/enterprise-search</a:t>
            </a:r>
          </a:p>
          <a:p>
            <a:r>
              <a:t>- https://help.openai.com/en/articles/10500283-deep-research</a:t>
            </a:r>
          </a:p>
          <a:p>
            <a:r>
              <a:t>- https://support.claude.com/en/articles/11088861-use-research-on-claude</a:t>
            </a:r>
          </a:p>
          <a:p>
            <a:r>
              <a:t>- https://openai.com/index/introducing-the-codex-app/</a:t>
            </a:r>
          </a:p>
          <a:p>
            <a:r>
              <a:t>- https://code.claude.com/docs/en/how-claude-code-works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这一页给出最重要的结论。Office Agent 当前可以陈述的是“可证伪的合同集成差异候选”，不是已经胜过竞品。</a:t>
            </a:r>
          </a:p>
          <a:p/>
          <a:p>
            <a:r>
              <a:t>已有证据：整库索引冻结，计划进入服务端 Branch / Topology，Finding 绑定批准来源与 Anchor，模型返回和采用分开，隔离 Artifact 有 Verifier 和历史版本。</a:t>
            </a:r>
          </a:p>
          <a:p/>
          <a:p>
            <a:r>
              <a:t>未有证据：原生办公套件 Connector、源文件写回、远端 Worker、分布式 lease、多实例协调、生产认证和用户研究。</a:t>
            </a:r>
          </a:p>
          <a:p/>
          <a:p>
            <a:r>
              <a:t>下一步应做固定配置同场实测，至少回答四个问题：结论能否定位，暂停后能否只补一支，成果是否真写出，计划、批准和执行是否严格分开。</a:t>
            </a:r>
          </a:p>
          <a:p/>
          <a:p>
            <a:r>
              <a:t>转场：候选差异最终必须落实到用户流程。</a:t>
            </a:r>
          </a:p>
          <a:p/>
          <a:p>
            <a:r>
              <a:t>[Sources]</a:t>
            </a:r>
          </a:p>
          <a:p>
            <a:r>
              <a:t>- E:/Project/Lenovo CAAI AI Agent/README.md</a:t>
            </a:r>
          </a:p>
          <a:p>
            <a:r>
              <a:t>- E:/Project/Lenovo CAAI AI Agent/docs/ARCHITECTURE.md</a:t>
            </a:r>
          </a:p>
          <a:p>
            <a:r>
              <a:t>- E:/Project/Lenovo CAAI AI Agent/docs/contracts/UI_SERVER_FACT_MATRIX.md</a:t>
            </a:r>
          </a:p>
          <a:p>
            <a:r>
              <a:t>- E:/Project/Lenovo CAAI AI Agent/docs/research/DEMO1-DEMO2-DURABLE-TASK-AND-ADAPTIVE-ORCHESTRATION-RESEARCH-20260830.md</a:t>
            </a:r>
          </a:p>
          <a:p>
            <a:r>
              <a:t>- E:/Project/Lenovo CAAI AI Agent/docs/decisions/DR-0053-durable-task-lineage-and-explainable-topology-admission.md</a:t>
            </a:r>
          </a:p>
          <a:p>
            <a:r>
              <a:t>- E:/Project/Lenovo CAAI AI Agent/docs/decisions/DR-0055-durable-workunit-and-contribution-ledger.md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用户先说目标，服务端冻结完整允许范围，而不是要求用户提前猜文件；Planner 提议计划，服务端再校验预算、依赖、工具和禁止动作；模型被调用与模型输出被采用是两个事实；证据定位多义时只处理受影响 Branch；最后把 Artifact、说明和外部动作分层。于是前台每一步都能回答用户动作、反馈和后端事实。这个设计与 deep research 的来源控制、MCP Elicitation 的结构化补充请求、HAI Guidelines 的纠正与控制原则相互呼应，但当前实测仍局限于固定公开数据。</a:t>
            </a:r>
          </a:p>
          <a:p/>
          <a:p>
            <a:r>
              <a:t>转场：流程变化背后，还要关注六个正在改变交互方式的技术方向。</a:t>
            </a:r>
          </a:p>
          <a:p/>
          <a:p>
            <a:r>
              <a:t>证据/边界：https://help.openai.com/en/articles/10500283-deep-research ；https://modelcontextprotocol.io/specification/draft/client/elicitation ；https://www.microsoft.com/en-us/research/publication/guidelines-for-human-ai-interaction/</a:t>
            </a:r>
          </a:p>
          <a:p/>
          <a:p>
            <a:r>
              <a:t>预期问题：为什么不让模型自己判断哪些输出可信？</a:t>
            </a:r>
          </a:p>
          <a:p/>
          <a:p/>
          <a:p>
            <a:r>
              <a:t>[Sources]</a:t>
            </a:r>
          </a:p>
          <a:p>
            <a:r>
              <a:t>- https://www.microsoft.com/en-us/research/publication/guidelines-for-human-ai-interaction/</a:t>
            </a:r>
          </a:p>
          <a:p>
            <a:r>
              <a:t>- https://help.openai.com/en/articles/10500283-deep-research</a:t>
            </a:r>
          </a:p>
          <a:p>
            <a:r>
              <a:t>- https://modelcontextprotocol.io/specification/draft/client/elicitation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这页不是再列一组后台名词，而是说明六个技术方向怎样改变用户与 AI 的关系。</a:t>
            </a:r>
          </a:p>
          <a:p/>
          <a:p>
            <a:r>
              <a:t>第一，持久状态和检查点把交互对象从聊天历史变成任务状态，用户需要看版本、恢复点和分叉。第二，证据锚点与确定性校验要求前台分开模型返回、服务端采用和可验证结果。第三，受治理的多执行单元把多个会话变成依赖、批次、贡献门和统一成果。第四，工具连接和权限标准化扩大可用上下文，也迫使界面说明可读范围、授权和数据去向。第五，动作许可和幂等回执把“确认”扩展为影响预览、风险级别、审批和实际执行事实。第六，MCP 与 A2A 让工具和智能体更容易发现与通信，但协议不替产品决定怎样呈现风险、纠偏和接管。</a:t>
            </a:r>
          </a:p>
          <a:p/>
          <a:p>
            <a:r>
              <a:t>这些来源支持方向判断，不证明当前方案更好。尤其目标用户是否更容易理解结果、是否降低纠偏成本，仍需任务测试。</a:t>
            </a:r>
          </a:p>
          <a:p/>
          <a:p>
            <a:r>
              <a:t>转场：这些技术方向最后都要翻译成前台的阅读顺序和反馈。</a:t>
            </a:r>
          </a:p>
          <a:p/>
          <a:p>
            <a:r>
              <a:t>证据/边界：协议定义连接和运行语义，不规定完整产品交互；用户价值尚未验证。</a:t>
            </a:r>
          </a:p>
          <a:p/>
          <a:p>
            <a:r>
              <a:t>[Sources]</a:t>
            </a:r>
          </a:p>
          <a:p>
            <a:r>
              <a:t>- https://docs.langchain.com/oss/python/langgraph/persistence</a:t>
            </a:r>
          </a:p>
          <a:p>
            <a:r>
              <a:t>- https://openai.github.io/openai-agents-python/human_in_the_loop/</a:t>
            </a:r>
          </a:p>
          <a:p>
            <a:r>
              <a:t>- https://modelcontextprotocol.io/specification/draft/client/elicitation</a:t>
            </a:r>
          </a:p>
          <a:p>
            <a:r>
              <a:t>- https://a2a-protocol.org/latest/specification/</a:t>
            </a:r>
          </a:p>
          <a:p>
            <a:r>
              <a:t>- https://www.microsoft.com/en-us/research/publication/guidelines-for-human-ai-interaction/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业务用户首先要知道五件事：完成了什么、依据是什么、为什么停、确认后会改变什么、什么绝不会发生。首屏只放当前结论、成果、复核状态和未执行边界；展开层解释来源、校验、模型说明采用和局部决定；审计层再放 Snapshot、version、named SSE 和 DecisionRecord。这样技术事实没有消失，只是不抢占业务阅读顺序。现在的截图和现场反馈还不是正式用户研究。下一步要让目标用户无引导说出结果、来源、影响和下一步，并用 HEART 记录理解、负担与任务成功。</a:t>
            </a:r>
          </a:p>
          <a:p/>
          <a:p>
            <a:r>
              <a:t>转场：最后用一套证据计划约束下一阶段结论。</a:t>
            </a:r>
          </a:p>
          <a:p/>
          <a:p>
            <a:r>
              <a:t>证据/边界：https://www.microsoft.com/en-us/research/publication/guidelines-for-human-ai-interaction/ ；https://www.w3.org/WAI/WCAG21/Understanding/status-messages ；https://www.w3.org/WAI/WCAG21/Understanding/target-size ；https://research.google/pubs/measuring-the-user-experience-on-a-large-scale-user-centered-metrics-for-web-applications/</a:t>
            </a:r>
          </a:p>
          <a:p/>
          <a:p>
            <a:r>
              <a:t>预期问题：怎样证明界面真的更清晰？需要目标用户任务测试，不是更多截图。</a:t>
            </a:r>
          </a:p>
          <a:p/>
          <a:p/>
          <a:p>
            <a:r>
              <a:t>[Sources]</a:t>
            </a:r>
          </a:p>
          <a:p>
            <a:r>
              <a:t>- https://www.microsoft.com/en-us/research/publication/guidelines-for-human-ai-interaction/</a:t>
            </a:r>
          </a:p>
          <a:p>
            <a:r>
              <a:t>- https://www.w3.org/WAI/WCAG21/Understanding/status-messages</a:t>
            </a:r>
          </a:p>
          <a:p>
            <a:r>
              <a:t>- https://research.google/pubs/measuring-the-user-experience-on-a-large-scale-user-centered-metrics-for-web-applications/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最后把方案设计依据和下一阶段验证放在同一页。</a:t>
            </a:r>
          </a:p>
          <a:p/>
          <a:p>
            <a:r>
              <a:t>第一类是工程实测：当前系统在固定公开资料上产生的任务状态、成果文件和回执。第二类是竞品同测：不能只读官方文档，要冻结同一任务、模型、来源和预算比较用户究竟审什么。第三类是文献与标准：ReAct、Human-AI Interaction Guidelines、MCP、A2A、持久执行和人工审批说明可采用的机制与设计原则。第四类是目标用户研究：让真实办公用户在无引导条件下说明当前结果、依据、影响和下一步，并记录理解、纠偏负担、接管效率与任务成功。</a:t>
            </a:r>
          </a:p>
          <a:p/>
          <a:p>
            <a:r>
              <a:t>任何一类都不能单独证明优势。只有工程结果可复现、竞品同测可对照、来源可追溯、目标用户能够理解，而且失败和未实现边界保持可见，差异候选才可以升级为对外结论。</a:t>
            </a:r>
          </a:p>
          <a:p/>
          <a:p>
            <a:r>
              <a:t>转场：本次汇报到这里，评审重点是是否同意按这四类证据继续验证。</a:t>
            </a:r>
          </a:p>
          <a:p/>
          <a:p>
            <a:r>
              <a:t>证据/边界：当前没有目标用户研究，不承诺全面领先、生产 SLA 或用户价值提升。</a:t>
            </a:r>
          </a:p>
          <a:p/>
          <a:p>
            <a:r>
              <a:t>[Sources]</a:t>
            </a:r>
          </a:p>
          <a:p>
            <a:r>
              <a:t>- https://www.microsoft.com/en-us/research/publication/guidelines-for-human-ai-interaction/</a:t>
            </a:r>
          </a:p>
          <a:p>
            <a:r>
              <a:t>- https://modelcontextprotocol.io/specification/draft/client/elicitation</a:t>
            </a:r>
          </a:p>
          <a:p>
            <a:r>
              <a:t>- https://a2a-protocol.org/latest/specification/</a:t>
            </a:r>
          </a:p>
          <a:p>
            <a:r>
              <a:t>- https://www.w3.org/TR/prov-o/</a:t>
            </a:r>
          </a:p>
          <a:p>
            <a:r>
              <a:t>- https://research.google/pubs/measuring-the-user-experience-on-a-large-scale-user-centered-metrics-for-web-applications/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docs.langchain.com/oss/javascript/langgraph/persistence" TargetMode="External"/><Relationship Id="rId1" Type="http://schemas.openxmlformats.org/officeDocument/2006/relationships/hyperlink" Target="https://arxiv.org/abs/2210.03629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openai.github.io/openai-agents-python/human_in_the_loop/" TargetMode="External"/><Relationship Id="rId1" Type="http://schemas.openxmlformats.org/officeDocument/2006/relationships/hyperlink" Target="https://docs.langchain.com/oss/javascript/langgraph/persistenc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openai.github.io/openai-agents-python/human_in_the_loop/" TargetMode="External"/><Relationship Id="rId1" Type="http://schemas.openxmlformats.org/officeDocument/2006/relationships/hyperlink" Target="https://docs.langchain.com/oss/javascript/langgraph/persistence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modelcontextprotocol.io/specification/draft/client/elicitation" TargetMode="External"/><Relationship Id="rId2" Type="http://schemas.openxmlformats.org/officeDocument/2006/relationships/hyperlink" Target="https://openai.github.io/openai-agents-python/human_in_the_loop/" TargetMode="Externa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arxiv.org/abs/2210.03629" TargetMode="External"/><Relationship Id="rId1" Type="http://schemas.openxmlformats.org/officeDocument/2006/relationships/hyperlink" Target="https://arxiv.org/abs/2005.14165" TargetMode="Externa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.xml"/><Relationship Id="rId7" Type="http://schemas.openxmlformats.org/officeDocument/2006/relationships/hyperlink" Target="https://support.claude.com/en/articles/11088861-use-research-on-claude" TargetMode="External"/><Relationship Id="rId6" Type="http://schemas.openxmlformats.org/officeDocument/2006/relationships/hyperlink" Target="https://help.openai.com/en/articles/10500283-deep-research" TargetMode="External"/><Relationship Id="rId5" Type="http://schemas.openxmlformats.org/officeDocument/2006/relationships/hyperlink" Target="https://www.notion.com/help/enterprise-search" TargetMode="External"/><Relationship Id="rId4" Type="http://schemas.openxmlformats.org/officeDocument/2006/relationships/hyperlink" Target="https://www.atlassian.com/software/rovo/features" TargetMode="External"/><Relationship Id="rId3" Type="http://schemas.openxmlformats.org/officeDocument/2006/relationships/hyperlink" Target="https://www.glean.com/platform" TargetMode="External"/><Relationship Id="rId2" Type="http://schemas.openxmlformats.org/officeDocument/2006/relationships/hyperlink" Target="https://workspace.google.com/blog/product-announcements/introducing-google-workspace-studio-agents-for-everyday-work" TargetMode="External"/><Relationship Id="rId1" Type="http://schemas.openxmlformats.org/officeDocument/2006/relationships/hyperlink" Target="https://learn.microsoft.com/en-us/microsoft-365/copilot/researcher-agent" TargetMode="Externa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workspace.google.com/blog/product-announcements/introducing-google-workspace-studio-agents-for-everyday-work" TargetMode="External"/><Relationship Id="rId3" Type="http://schemas.openxmlformats.org/officeDocument/2006/relationships/hyperlink" Target="https://support.microsoft.com/en-us/microsoft-365-copilot/get-started-using-researcher-with-computer-use-in-microsoft-365-copilot-frontier" TargetMode="Externa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notion.com/help/notion-ai-connectors" TargetMode="External"/><Relationship Id="rId2" Type="http://schemas.openxmlformats.org/officeDocument/2006/relationships/hyperlink" Target="https://www.notion.com/help/enterprise-search" TargetMode="Externa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support.claude.com/en/articles/11088861-use-research-on-claude" TargetMode="External"/><Relationship Id="rId3" Type="http://schemas.openxmlformats.org/officeDocument/2006/relationships/hyperlink" Target="https://help.openai.com/en/articles/10500283-deep-research" TargetMode="External"/><Relationship Id="rId2" Type="http://schemas.openxmlformats.org/officeDocument/2006/relationships/image" Target="../media/image12.png"/><Relationship Id="rId1" Type="http://schemas.openxmlformats.org/officeDocument/2006/relationships/image" Target="../media/image11.webp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code.claude.com/docs/en/how-claude-code-works" TargetMode="External"/><Relationship Id="rId3" Type="http://schemas.openxmlformats.org/officeDocument/2006/relationships/hyperlink" Target="https://openai.com/index/introducing-the-codex-app/" TargetMode="External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hyperlink" Target="https://code.claude.com/docs/en/how-claude-code-works" TargetMode="External"/><Relationship Id="rId4" Type="http://schemas.openxmlformats.org/officeDocument/2006/relationships/hyperlink" Target="https://help.openai.com/en/articles/10500283-deep-research" TargetMode="External"/><Relationship Id="rId3" Type="http://schemas.openxmlformats.org/officeDocument/2006/relationships/hyperlink" Target="https://www.notion.com/help/enterprise-search" TargetMode="External"/><Relationship Id="rId2" Type="http://schemas.openxmlformats.org/officeDocument/2006/relationships/hyperlink" Target="https://workspace.google.com/blog/product-announcements/introducing-google-workspace-studio-agents-for-everyday-work" TargetMode="External"/><Relationship Id="rId1" Type="http://schemas.openxmlformats.org/officeDocument/2006/relationships/hyperlink" Target="https://learn.microsoft.com/en-us/microsoft-365/copilot/researcher-agent" TargetMode="Externa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github.com/Dickey007s/lenovo_agent" TargetMode="Externa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modelcontextprotocol.io/specification/draft/client/elicitation" TargetMode="External"/><Relationship Id="rId1" Type="http://schemas.openxmlformats.org/officeDocument/2006/relationships/hyperlink" Target="https://www.microsoft.com/en-us/research/publication/guidelines-for-human-ai-interaction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research.google/pubs/measuring-the-user-experience-on-a-large-scale-user-centered-metrics-for-web-applications/" TargetMode="External"/><Relationship Id="rId1" Type="http://schemas.openxmlformats.org/officeDocument/2006/relationships/hyperlink" Target="https://www.microsoft.com/en-us/research/publication/guidelines-for-human-ai-interaction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Rectangle 3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7" name="TextBox 7"/>
          <p:cNvSpPr>
            <a:spLocks noGrp="1"/>
          </p:cNvSpPr>
          <p:nvPr/>
        </p:nvSpPr>
        <p:spPr>
          <a:xfrm>
            <a:off x="590550" y="1625918"/>
            <a:ext cx="4422056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43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未来办公智能体</a:t>
            </a:r>
            <a:endParaRPr sz="43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590550" y="2311718"/>
            <a:ext cx="3727361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435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当前实现与</a:t>
            </a:r>
            <a:endParaRPr sz="4350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590550" y="2997518"/>
            <a:ext cx="4342238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435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交互影响</a:t>
            </a:r>
            <a:endParaRPr sz="4350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1" name="Rectangle 21"/>
          <p:cNvSpPr>
            <a:spLocks noGrp="1"/>
          </p:cNvSpPr>
          <p:nvPr/>
        </p:nvSpPr>
        <p:spPr>
          <a:xfrm>
            <a:off x="5905500" y="857250"/>
            <a:ext cx="5791200" cy="47625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pic>
        <p:nvPicPr>
          <p:cNvPr id="41" name="Imag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109" y="1333500"/>
            <a:ext cx="5049982" cy="3857625"/>
          </a:xfrm>
          <a:prstGeom prst="rect">
            <a:avLst/>
          </a:prstGeom>
        </p:spPr>
      </p:pic>
      <p:sp>
        <p:nvSpPr>
          <p:cNvPr id="31" name="TextBox 31"/>
          <p:cNvSpPr>
            <a:spLocks noGrp="1"/>
          </p:cNvSpPr>
          <p:nvPr/>
        </p:nvSpPr>
        <p:spPr>
          <a:xfrm>
            <a:off x="11217840" y="64398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/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19050">
            <a:solidFill>
              <a:srgbClr val="CBD5DF"/>
            </a:solidFill>
          </a:ln>
        </p:spPr>
      </p:sp>
      <p:sp>
        <p:nvSpPr>
          <p:cNvPr id="5" name="TextBox 5"/>
          <p:cNvSpPr>
            <a:spLocks noGrp="1"/>
          </p:cNvSpPr>
          <p:nvPr/>
        </p:nvSpPr>
        <p:spPr>
          <a:xfrm>
            <a:off x="477774" y="370522"/>
            <a:ext cx="5399322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先讲落地：07-16 设计如何进入系统</a:t>
            </a:r>
            <a:endParaRPr sz="34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484632" y="1278255"/>
            <a:ext cx="750163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底座与控制循环形成纵切；协作有限实现，治理执行仍是目标</a:t>
            </a:r>
            <a:endParaRPr sz="21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2" name="Rectangle 12"/>
          <p:cNvSpPr>
            <a:spLocks noGrp="1"/>
          </p:cNvSpPr>
          <p:nvPr/>
        </p:nvSpPr>
        <p:spPr>
          <a:xfrm>
            <a:off x="495300" y="2286000"/>
            <a:ext cx="339090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13" name="Rectangle 13"/>
          <p:cNvSpPr>
            <a:spLocks noGrp="1"/>
          </p:cNvSpPr>
          <p:nvPr/>
        </p:nvSpPr>
        <p:spPr>
          <a:xfrm>
            <a:off x="495300" y="2286000"/>
            <a:ext cx="3390900" cy="76200"/>
          </a:xfrm>
          <a:prstGeom prst="rect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4" name="Freeform 14"/>
          <p:cNvSpPr>
            <a:spLocks noGrp="1"/>
          </p:cNvSpPr>
          <p:nvPr/>
        </p:nvSpPr>
        <p:spPr>
          <a:xfrm>
            <a:off x="866775" y="2667000"/>
            <a:ext cx="23812" cy="71438"/>
          </a:xfrm>
          <a:custGeom>
            <a:avLst/>
            <a:gdLst/>
            <a:ahLst/>
            <a:cxnLst/>
            <a:rect l="l" t="t" r="r" b="b"/>
            <a:pathLst>
              <a:path w="23812" h="71438">
                <a:moveTo>
                  <a:pt x="0" y="0"/>
                </a:moveTo>
                <a:lnTo>
                  <a:pt x="0" y="47625"/>
                </a:lnTo>
                <a:lnTo>
                  <a:pt x="23812" y="71438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15" name="Freeform 15"/>
          <p:cNvSpPr>
            <a:spLocks noGrp="1"/>
          </p:cNvSpPr>
          <p:nvPr/>
        </p:nvSpPr>
        <p:spPr>
          <a:xfrm>
            <a:off x="760214" y="2605806"/>
            <a:ext cx="219694" cy="224739"/>
          </a:xfrm>
          <a:custGeom>
            <a:avLst/>
            <a:gdLst/>
            <a:ahLst/>
            <a:cxnLst/>
            <a:rect l="l" t="t" r="r" b="b"/>
            <a:pathLst>
              <a:path w="219694" h="224739">
                <a:moveTo>
                  <a:pt x="0" y="96913"/>
                </a:moveTo>
                <a:cubicBezTo>
                  <a:pt x="5524" y="42685"/>
                  <a:pt x="50876" y="1245"/>
                  <a:pt x="105381" y="623"/>
                </a:cubicBezTo>
                <a:cubicBezTo>
                  <a:pt x="159885" y="0"/>
                  <a:pt x="206172" y="40393"/>
                  <a:pt x="212933" y="94481"/>
                </a:cubicBezTo>
                <a:cubicBezTo>
                  <a:pt x="219694" y="148568"/>
                  <a:pt x="184774" y="199112"/>
                  <a:pt x="131794" y="211925"/>
                </a:cubicBezTo>
                <a:cubicBezTo>
                  <a:pt x="78813" y="224739"/>
                  <a:pt x="24655" y="195737"/>
                  <a:pt x="5953" y="144538"/>
                </a:cubicBezTo>
                <a:moveTo>
                  <a:pt x="0" y="204069"/>
                </a:moveTo>
                <a:lnTo>
                  <a:pt x="0" y="144538"/>
                </a:lnTo>
                <a:lnTo>
                  <a:pt x="59531" y="144538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17" name="TextBox 17"/>
          <p:cNvSpPr>
            <a:spLocks noGrp="1"/>
          </p:cNvSpPr>
          <p:nvPr/>
        </p:nvSpPr>
        <p:spPr>
          <a:xfrm>
            <a:off x="1151382" y="2573655"/>
            <a:ext cx="194797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Demo 1 · 已实现</a:t>
            </a:r>
            <a:endParaRPr sz="21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8" name="TextBox 18"/>
          <p:cNvSpPr>
            <a:spLocks noGrp="1"/>
          </p:cNvSpPr>
          <p:nvPr/>
        </p:nvSpPr>
        <p:spPr>
          <a:xfrm>
            <a:off x="714756" y="304419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跨轮推进与恢复</a:t>
            </a:r>
            <a:endParaRPr sz="180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" name="TextBox 21"/>
          <p:cNvSpPr>
            <a:spLocks noGrp="1"/>
          </p:cNvSpPr>
          <p:nvPr/>
        </p:nvSpPr>
        <p:spPr>
          <a:xfrm>
            <a:off x="717423" y="4129564"/>
            <a:ext cx="23558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分支、版本与局部恢复</a:t>
            </a:r>
            <a:endParaRPr sz="1280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2" name="Rectangle 22"/>
          <p:cNvSpPr>
            <a:spLocks noGrp="1"/>
          </p:cNvSpPr>
          <p:nvPr/>
        </p:nvSpPr>
        <p:spPr>
          <a:xfrm>
            <a:off x="4171950" y="2286000"/>
            <a:ext cx="339090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23" name="Rectangle 23"/>
          <p:cNvSpPr>
            <a:spLocks noGrp="1"/>
          </p:cNvSpPr>
          <p:nvPr/>
        </p:nvSpPr>
        <p:spPr>
          <a:xfrm>
            <a:off x="4171950" y="2286000"/>
            <a:ext cx="33909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4" name="Freeform 24"/>
          <p:cNvSpPr>
            <a:spLocks noGrp="1"/>
          </p:cNvSpPr>
          <p:nvPr/>
        </p:nvSpPr>
        <p:spPr>
          <a:xfrm>
            <a:off x="4460081" y="27622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2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2" y="0"/>
                </a:cubicBezTo>
                <a:cubicBezTo>
                  <a:pt x="10661" y="0"/>
                  <a:pt x="0" y="10661"/>
                  <a:pt x="0" y="23812"/>
                </a:cubicBez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25" name="Freeform 25"/>
          <p:cNvSpPr>
            <a:spLocks noGrp="1"/>
          </p:cNvSpPr>
          <p:nvPr/>
        </p:nvSpPr>
        <p:spPr>
          <a:xfrm>
            <a:off x="4460081" y="26193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2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2" y="0"/>
                </a:cubicBezTo>
                <a:cubicBezTo>
                  <a:pt x="10661" y="0"/>
                  <a:pt x="0" y="10661"/>
                  <a:pt x="0" y="23812"/>
                </a:cubicBez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26" name="Freeform 26"/>
          <p:cNvSpPr>
            <a:spLocks noGrp="1"/>
          </p:cNvSpPr>
          <p:nvPr/>
        </p:nvSpPr>
        <p:spPr>
          <a:xfrm>
            <a:off x="4579144" y="26193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2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2" y="0"/>
                </a:cubicBezTo>
                <a:cubicBezTo>
                  <a:pt x="10661" y="0"/>
                  <a:pt x="0" y="10661"/>
                  <a:pt x="0" y="23812"/>
                </a:cubicBez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27" name="Freeform 27"/>
          <p:cNvSpPr>
            <a:spLocks noGrp="1"/>
          </p:cNvSpPr>
          <p:nvPr/>
        </p:nvSpPr>
        <p:spPr>
          <a:xfrm>
            <a:off x="4483894" y="2667000"/>
            <a:ext cx="9525" cy="95250"/>
          </a:xfrm>
          <a:custGeom>
            <a:avLst/>
            <a:gdLst/>
            <a:ahLst/>
            <a:cxnLst/>
            <a:rect l="l" t="t" r="r" b="b"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28" name="Freeform 28"/>
          <p:cNvSpPr>
            <a:spLocks noGrp="1"/>
          </p:cNvSpPr>
          <p:nvPr/>
        </p:nvSpPr>
        <p:spPr>
          <a:xfrm>
            <a:off x="4507706" y="2702719"/>
            <a:ext cx="95250" cy="83344"/>
          </a:xfrm>
          <a:custGeom>
            <a:avLst/>
            <a:gdLst/>
            <a:ahLst/>
            <a:cxnLst/>
            <a:rect l="l" t="t" r="r" b="b"/>
            <a:pathLst>
              <a:path w="95250" h="83344">
                <a:moveTo>
                  <a:pt x="0" y="83344"/>
                </a:moveTo>
                <a:lnTo>
                  <a:pt x="71438" y="83344"/>
                </a:lnTo>
                <a:cubicBezTo>
                  <a:pt x="84589" y="83344"/>
                  <a:pt x="95250" y="72683"/>
                  <a:pt x="95250" y="59531"/>
                </a:cubicBezTo>
                <a:lnTo>
                  <a:pt x="95250" y="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29" name="Freeform 29"/>
          <p:cNvSpPr>
            <a:spLocks noGrp="1"/>
          </p:cNvSpPr>
          <p:nvPr/>
        </p:nvSpPr>
        <p:spPr>
          <a:xfrm>
            <a:off x="4567238" y="2702719"/>
            <a:ext cx="71438" cy="35719"/>
          </a:xfrm>
          <a:custGeom>
            <a:avLst/>
            <a:gdLst/>
            <a:ahLst/>
            <a:cxnLst/>
            <a:rect l="l" t="t" r="r" b="b"/>
            <a:pathLst>
              <a:path w="71438" h="35719">
                <a:moveTo>
                  <a:pt x="0" y="35719"/>
                </a:moveTo>
                <a:lnTo>
                  <a:pt x="35719" y="0"/>
                </a:lnTo>
                <a:lnTo>
                  <a:pt x="71438" y="35719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31" name="TextBox 31"/>
          <p:cNvSpPr>
            <a:spLocks noGrp="1"/>
          </p:cNvSpPr>
          <p:nvPr/>
        </p:nvSpPr>
        <p:spPr>
          <a:xfrm>
            <a:off x="4828032" y="2573655"/>
            <a:ext cx="194797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Demo 2 · 有限实现</a:t>
            </a:r>
            <a:endParaRPr sz="21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2" name="TextBox 32"/>
          <p:cNvSpPr>
            <a:spLocks noGrp="1"/>
          </p:cNvSpPr>
          <p:nvPr/>
        </p:nvSpPr>
        <p:spPr>
          <a:xfrm>
            <a:off x="4391406" y="304419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依赖拆解与收敛</a:t>
            </a:r>
            <a:endParaRPr sz="180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5" name="TextBox 35"/>
          <p:cNvSpPr>
            <a:spLocks noGrp="1"/>
          </p:cNvSpPr>
          <p:nvPr/>
        </p:nvSpPr>
        <p:spPr>
          <a:xfrm>
            <a:off x="4394073" y="4129564"/>
            <a:ext cx="23558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依赖分波与贡献采用</a:t>
            </a:r>
            <a:endParaRPr sz="1280" b="1">
              <a:solidFill>
                <a:srgbClr val="2E7D32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6" name="Rectangle 36"/>
          <p:cNvSpPr>
            <a:spLocks noGrp="1"/>
          </p:cNvSpPr>
          <p:nvPr/>
        </p:nvSpPr>
        <p:spPr>
          <a:xfrm>
            <a:off x="7848600" y="2286000"/>
            <a:ext cx="384810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37" name="Rectangle 37"/>
          <p:cNvSpPr>
            <a:spLocks noGrp="1"/>
          </p:cNvSpPr>
          <p:nvPr/>
        </p:nvSpPr>
        <p:spPr>
          <a:xfrm>
            <a:off x="7848600" y="2286000"/>
            <a:ext cx="384810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8" name="Freeform 38"/>
          <p:cNvSpPr>
            <a:spLocks noGrp="1"/>
          </p:cNvSpPr>
          <p:nvPr/>
        </p:nvSpPr>
        <p:spPr>
          <a:xfrm>
            <a:off x="8096851" y="2607469"/>
            <a:ext cx="232508" cy="212479"/>
          </a:xfrm>
          <a:custGeom>
            <a:avLst/>
            <a:gdLst/>
            <a:ahLst/>
            <a:cxnLst/>
            <a:rect l="l" t="t" r="r" b="b"/>
            <a:pathLst>
              <a:path w="232508" h="212479">
                <a:moveTo>
                  <a:pt x="116795" y="212479"/>
                </a:moveTo>
                <a:cubicBezTo>
                  <a:pt x="42208" y="189358"/>
                  <a:pt x="0" y="110638"/>
                  <a:pt x="22021" y="35719"/>
                </a:cubicBezTo>
                <a:cubicBezTo>
                  <a:pt x="59115" y="37416"/>
                  <a:pt x="95413" y="24605"/>
                  <a:pt x="123224" y="0"/>
                </a:cubicBezTo>
                <a:cubicBezTo>
                  <a:pt x="151035" y="24605"/>
                  <a:pt x="187333" y="37416"/>
                  <a:pt x="224427" y="35719"/>
                </a:cubicBezTo>
                <a:cubicBezTo>
                  <a:pt x="232508" y="63212"/>
                  <a:pt x="232135" y="92499"/>
                  <a:pt x="223356" y="119777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39" name="Freeform 39"/>
          <p:cNvSpPr>
            <a:spLocks noGrp="1"/>
          </p:cNvSpPr>
          <p:nvPr/>
        </p:nvSpPr>
        <p:spPr>
          <a:xfrm>
            <a:off x="8255794" y="2774156"/>
            <a:ext cx="71438" cy="47625"/>
          </a:xfrm>
          <a:custGeom>
            <a:avLst/>
            <a:gdLst/>
            <a:ahLst/>
            <a:cxnLst/>
            <a:rect l="l" t="t" r="r" b="b"/>
            <a:pathLst>
              <a:path w="71438" h="47625">
                <a:moveTo>
                  <a:pt x="0" y="23812"/>
                </a:moveTo>
                <a:lnTo>
                  <a:pt x="23812" y="47625"/>
                </a:lnTo>
                <a:lnTo>
                  <a:pt x="71438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41" name="TextBox 41"/>
          <p:cNvSpPr>
            <a:spLocks noGrp="1"/>
          </p:cNvSpPr>
          <p:nvPr/>
        </p:nvSpPr>
        <p:spPr>
          <a:xfrm>
            <a:off x="8504682" y="2573655"/>
            <a:ext cx="194797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Demo 3 · 目标能力</a:t>
            </a:r>
            <a:endParaRPr sz="21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2" name="TextBox 42"/>
          <p:cNvSpPr>
            <a:spLocks noGrp="1"/>
          </p:cNvSpPr>
          <p:nvPr/>
        </p:nvSpPr>
        <p:spPr>
          <a:xfrm>
            <a:off x="8068056" y="3044190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动作前风险治理</a:t>
            </a:r>
            <a:endParaRPr sz="180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5" name="TextBox 45"/>
          <p:cNvSpPr>
            <a:spLocks noGrp="1"/>
          </p:cNvSpPr>
          <p:nvPr/>
        </p:nvSpPr>
        <p:spPr>
          <a:xfrm>
            <a:off x="8070723" y="4129564"/>
            <a:ext cx="271629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生产许可与动作回执</a:t>
            </a:r>
            <a:endParaRPr sz="1280" b="1">
              <a:solidFill>
                <a:srgbClr val="B54708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7" name="Freeform 47"/>
          <p:cNvSpPr>
            <a:spLocks noGrp="1"/>
          </p:cNvSpPr>
          <p:nvPr/>
        </p:nvSpPr>
        <p:spPr>
          <a:xfrm>
            <a:off x="1123950" y="5181600"/>
            <a:ext cx="9944100" cy="9525"/>
          </a:xfrm>
          <a:custGeom>
            <a:avLst/>
            <a:gdLst/>
            <a:ahLst/>
            <a:cxnLst/>
            <a:rect l="l" t="t" r="r" b="b"/>
            <a:pathLst>
              <a:path w="9944100" h="9525">
                <a:moveTo>
                  <a:pt x="0" y="0"/>
                </a:moveTo>
                <a:lnTo>
                  <a:pt x="9944100" y="0"/>
                </a:lnTo>
              </a:path>
            </a:pathLst>
          </a:custGeom>
          <a:noFill/>
          <a:ln w="38100">
            <a:solidFill>
              <a:srgbClr val="1769E0"/>
            </a:solidFill>
          </a:ln>
        </p:spPr>
      </p:sp>
      <p:sp>
        <p:nvSpPr>
          <p:cNvPr id="48" name="Ellipse 48"/>
          <p:cNvSpPr>
            <a:spLocks noGrp="1"/>
          </p:cNvSpPr>
          <p:nvPr/>
        </p:nvSpPr>
        <p:spPr>
          <a:xfrm>
            <a:off x="971550" y="5029200"/>
            <a:ext cx="304800" cy="3048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49" name="TextBox 49"/>
          <p:cNvSpPr>
            <a:spLocks noGrp="1"/>
          </p:cNvSpPr>
          <p:nvPr/>
        </p:nvSpPr>
        <p:spPr>
          <a:xfrm>
            <a:off x="1456182" y="4878705"/>
            <a:ext cx="694088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当前已形成可恢复、可核对的只读任务纵切</a:t>
            </a:r>
            <a:endParaRPr sz="21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2" name="TextBox 52"/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依据：当前系统实测 · 07-16 设计连续性 · Microsoft HAI</a:t>
            </a:r>
            <a:endParaRPr sz="1165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3" name="TextBox 53"/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02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/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19050">
            <a:solidFill>
              <a:srgbClr val="CBD5DF"/>
            </a:solidFill>
          </a:ln>
        </p:spPr>
      </p:sp>
      <p:sp>
        <p:nvSpPr>
          <p:cNvPr id="5" name="TextBox 5"/>
          <p:cNvSpPr>
            <a:spLocks noGrp="1"/>
          </p:cNvSpPr>
          <p:nvPr/>
        </p:nvSpPr>
        <p:spPr>
          <a:xfrm>
            <a:off x="477774" y="370522"/>
            <a:ext cx="6862305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一个底座、两层增强、三类控制</a:t>
            </a:r>
            <a:endParaRPr sz="34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0" name="TextBox 10"/>
          <p:cNvSpPr>
            <a:spLocks noGrp="1"/>
          </p:cNvSpPr>
          <p:nvPr/>
        </p:nvSpPr>
        <p:spPr>
          <a:xfrm>
            <a:off x="486156" y="1596390"/>
            <a:ext cx="335134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三类控制：决定“能不能继续”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1" name="Rectangle 11"/>
          <p:cNvSpPr>
            <a:spLocks noGrp="1"/>
          </p:cNvSpPr>
          <p:nvPr/>
        </p:nvSpPr>
        <p:spPr>
          <a:xfrm>
            <a:off x="495300" y="2000250"/>
            <a:ext cx="259080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1769E0"/>
            </a:solidFill>
          </a:ln>
        </p:spPr>
      </p:sp>
      <p:sp>
        <p:nvSpPr>
          <p:cNvPr id="12" name="Freeform 12"/>
          <p:cNvSpPr>
            <a:spLocks noGrp="1"/>
          </p:cNvSpPr>
          <p:nvPr/>
        </p:nvSpPr>
        <p:spPr>
          <a:xfrm>
            <a:off x="780256" y="2304256"/>
            <a:ext cx="20637" cy="20637"/>
          </a:xfrm>
          <a:custGeom>
            <a:avLst/>
            <a:gdLst/>
            <a:ahLst/>
            <a:cxnLst/>
            <a:rect l="l" t="t" r="r" b="b"/>
            <a:pathLst>
              <a:path w="20637" h="20637">
                <a:moveTo>
                  <a:pt x="0" y="10319"/>
                </a:moveTo>
                <a:cubicBezTo>
                  <a:pt x="0" y="16018"/>
                  <a:pt x="4620" y="20637"/>
                  <a:pt x="10319" y="20637"/>
                </a:cubicBezTo>
                <a:cubicBezTo>
                  <a:pt x="16018" y="20637"/>
                  <a:pt x="20637" y="16018"/>
                  <a:pt x="20637" y="10319"/>
                </a:cubicBezTo>
                <a:cubicBezTo>
                  <a:pt x="20637" y="4620"/>
                  <a:pt x="16018" y="0"/>
                  <a:pt x="10319" y="0"/>
                </a:cubicBezTo>
                <a:cubicBezTo>
                  <a:pt x="4620" y="0"/>
                  <a:pt x="0" y="4620"/>
                  <a:pt x="0" y="10319"/>
                </a:cubicBez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13" name="Freeform 13"/>
          <p:cNvSpPr>
            <a:spLocks noGrp="1"/>
          </p:cNvSpPr>
          <p:nvPr/>
        </p:nvSpPr>
        <p:spPr>
          <a:xfrm>
            <a:off x="738981" y="2262981"/>
            <a:ext cx="103187" cy="103187"/>
          </a:xfrm>
          <a:custGeom>
            <a:avLst/>
            <a:gdLst/>
            <a:ahLst/>
            <a:cxnLst/>
            <a:rect l="l" t="t" r="r" b="b"/>
            <a:pathLst>
              <a:path w="103187" h="103187">
                <a:moveTo>
                  <a:pt x="51594" y="0"/>
                </a:moveTo>
                <a:cubicBezTo>
                  <a:pt x="23099" y="0"/>
                  <a:pt x="0" y="23099"/>
                  <a:pt x="0" y="51594"/>
                </a:cubicBezTo>
                <a:cubicBezTo>
                  <a:pt x="0" y="80088"/>
                  <a:pt x="23099" y="103187"/>
                  <a:pt x="51594" y="103187"/>
                </a:cubicBezTo>
                <a:cubicBezTo>
                  <a:pt x="80088" y="103187"/>
                  <a:pt x="103187" y="80088"/>
                  <a:pt x="103187" y="51594"/>
                </a:cubicBez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14" name="Freeform 14"/>
          <p:cNvSpPr>
            <a:spLocks noGrp="1"/>
          </p:cNvSpPr>
          <p:nvPr/>
        </p:nvSpPr>
        <p:spPr>
          <a:xfrm>
            <a:off x="689749" y="2217875"/>
            <a:ext cx="197464" cy="197481"/>
          </a:xfrm>
          <a:custGeom>
            <a:avLst/>
            <a:gdLst/>
            <a:ahLst/>
            <a:cxnLst/>
            <a:rect l="l" t="t" r="r" b="b"/>
            <a:pathLst>
              <a:path w="197464" h="197481">
                <a:moveTo>
                  <a:pt x="111144" y="4399"/>
                </a:moveTo>
                <a:cubicBezTo>
                  <a:pt x="71936" y="0"/>
                  <a:pt x="34229" y="20855"/>
                  <a:pt x="17114" y="56404"/>
                </a:cubicBezTo>
                <a:cubicBezTo>
                  <a:pt x="0" y="91952"/>
                  <a:pt x="7215" y="134434"/>
                  <a:pt x="35106" y="162340"/>
                </a:cubicBezTo>
                <a:cubicBezTo>
                  <a:pt x="62997" y="190245"/>
                  <a:pt x="105476" y="197481"/>
                  <a:pt x="141033" y="180385"/>
                </a:cubicBezTo>
                <a:cubicBezTo>
                  <a:pt x="176590" y="163288"/>
                  <a:pt x="197464" y="125591"/>
                  <a:pt x="193085" y="86381"/>
                </a:cubicBez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15" name="Freeform 15"/>
          <p:cNvSpPr>
            <a:spLocks noGrp="1"/>
          </p:cNvSpPr>
          <p:nvPr/>
        </p:nvSpPr>
        <p:spPr>
          <a:xfrm>
            <a:off x="821531" y="2221706"/>
            <a:ext cx="61912" cy="61912"/>
          </a:xfrm>
          <a:custGeom>
            <a:avLst/>
            <a:gdLst/>
            <a:ahLst/>
            <a:cxnLst/>
            <a:rect l="l" t="t" r="r" b="b"/>
            <a:pathLst>
              <a:path w="61912" h="61912">
                <a:moveTo>
                  <a:pt x="0" y="30956"/>
                </a:moveTo>
                <a:lnTo>
                  <a:pt x="0" y="61912"/>
                </a:lnTo>
                <a:lnTo>
                  <a:pt x="30956" y="61912"/>
                </a:lnTo>
                <a:lnTo>
                  <a:pt x="61912" y="30956"/>
                </a:lnTo>
                <a:lnTo>
                  <a:pt x="30956" y="30956"/>
                </a:lnTo>
                <a:lnTo>
                  <a:pt x="30956" y="0"/>
                </a:lnTo>
                <a:lnTo>
                  <a:pt x="0" y="30956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16" name="Freeform 16"/>
          <p:cNvSpPr>
            <a:spLocks noGrp="1"/>
          </p:cNvSpPr>
          <p:nvPr/>
        </p:nvSpPr>
        <p:spPr>
          <a:xfrm>
            <a:off x="790575" y="2283618"/>
            <a:ext cx="30956" cy="30956"/>
          </a:xfrm>
          <a:custGeom>
            <a:avLst/>
            <a:gdLst/>
            <a:ahLst/>
            <a:cxnLst/>
            <a:rect l="l" t="t" r="r" b="b"/>
            <a:pathLst>
              <a:path w="30956" h="30956">
                <a:moveTo>
                  <a:pt x="30956" y="0"/>
                </a:moveTo>
                <a:lnTo>
                  <a:pt x="0" y="30956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18" name="TextBox 18"/>
          <p:cNvSpPr>
            <a:spLocks noGrp="1"/>
          </p:cNvSpPr>
          <p:nvPr/>
        </p:nvSpPr>
        <p:spPr>
          <a:xfrm>
            <a:off x="1019556" y="2186940"/>
            <a:ext cx="158629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任务控制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9" name="TextBox 19"/>
          <p:cNvSpPr>
            <a:spLocks noGrp="1"/>
          </p:cNvSpPr>
          <p:nvPr/>
        </p:nvSpPr>
        <p:spPr>
          <a:xfrm>
            <a:off x="660273" y="25293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目标、范围、预算、暂停、停止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" name="Rectangle 21"/>
          <p:cNvSpPr>
            <a:spLocks noGrp="1"/>
          </p:cNvSpPr>
          <p:nvPr/>
        </p:nvSpPr>
        <p:spPr>
          <a:xfrm>
            <a:off x="495300" y="3219450"/>
            <a:ext cx="259080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</p:sp>
      <p:sp>
        <p:nvSpPr>
          <p:cNvPr id="22" name="Freeform 22"/>
          <p:cNvSpPr>
            <a:spLocks noGrp="1"/>
          </p:cNvSpPr>
          <p:nvPr/>
        </p:nvSpPr>
        <p:spPr>
          <a:xfrm>
            <a:off x="759618" y="3502818"/>
            <a:ext cx="61912" cy="61912"/>
          </a:xfrm>
          <a:custGeom>
            <a:avLst/>
            <a:gdLst/>
            <a:ahLst/>
            <a:cxnLst/>
            <a:rect l="l" t="t" r="r" b="b"/>
            <a:pathLst>
              <a:path w="61912" h="61912">
                <a:moveTo>
                  <a:pt x="0" y="61912"/>
                </a:moveTo>
                <a:lnTo>
                  <a:pt x="61912" y="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23" name="Freeform 23"/>
          <p:cNvSpPr>
            <a:spLocks noGrp="1"/>
          </p:cNvSpPr>
          <p:nvPr/>
        </p:nvSpPr>
        <p:spPr>
          <a:xfrm>
            <a:off x="780256" y="3446183"/>
            <a:ext cx="97895" cy="97910"/>
          </a:xfrm>
          <a:custGeom>
            <a:avLst/>
            <a:gdLst/>
            <a:ahLst/>
            <a:cxnLst/>
            <a:rect l="l" t="t" r="r" b="b"/>
            <a:pathLst>
              <a:path w="97895" h="97910">
                <a:moveTo>
                  <a:pt x="0" y="25679"/>
                </a:moveTo>
                <a:lnTo>
                  <a:pt x="4778" y="20148"/>
                </a:lnTo>
                <a:cubicBezTo>
                  <a:pt x="24929" y="0"/>
                  <a:pt x="57598" y="2"/>
                  <a:pt x="77746" y="20154"/>
                </a:cubicBezTo>
                <a:cubicBezTo>
                  <a:pt x="97895" y="40305"/>
                  <a:pt x="97892" y="72974"/>
                  <a:pt x="77741" y="93122"/>
                </a:cubicBezTo>
                <a:lnTo>
                  <a:pt x="72231" y="9791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24" name="Freeform 24"/>
          <p:cNvSpPr>
            <a:spLocks noGrp="1"/>
          </p:cNvSpPr>
          <p:nvPr/>
        </p:nvSpPr>
        <p:spPr>
          <a:xfrm>
            <a:off x="708023" y="3523456"/>
            <a:ext cx="92870" cy="97889"/>
          </a:xfrm>
          <a:custGeom>
            <a:avLst/>
            <a:gdLst/>
            <a:ahLst/>
            <a:cxnLst/>
            <a:rect l="l" t="t" r="r" b="b"/>
            <a:pathLst>
              <a:path w="92870" h="97889">
                <a:moveTo>
                  <a:pt x="92870" y="72231"/>
                </a:moveTo>
                <a:lnTo>
                  <a:pt x="88773" y="77741"/>
                </a:lnTo>
                <a:cubicBezTo>
                  <a:pt x="68399" y="97889"/>
                  <a:pt x="35606" y="97889"/>
                  <a:pt x="15232" y="77741"/>
                </a:cubicBezTo>
                <a:cubicBezTo>
                  <a:pt x="5485" y="68104"/>
                  <a:pt x="0" y="54966"/>
                  <a:pt x="0" y="41259"/>
                </a:cubicBezTo>
                <a:cubicBezTo>
                  <a:pt x="0" y="27552"/>
                  <a:pt x="5485" y="14415"/>
                  <a:pt x="15232" y="4778"/>
                </a:cubicBezTo>
                <a:lnTo>
                  <a:pt x="20639" y="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26" name="TextBox 26"/>
          <p:cNvSpPr>
            <a:spLocks noGrp="1"/>
          </p:cNvSpPr>
          <p:nvPr/>
        </p:nvSpPr>
        <p:spPr>
          <a:xfrm>
            <a:off x="1019556" y="3406140"/>
            <a:ext cx="208192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证据控制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7" name="TextBox 27"/>
          <p:cNvSpPr>
            <a:spLocks noGrp="1"/>
          </p:cNvSpPr>
          <p:nvPr/>
        </p:nvSpPr>
        <p:spPr>
          <a:xfrm>
            <a:off x="660273" y="37485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来源、冲突、验证、采用与拒绝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9" name="Rectangle 29"/>
          <p:cNvSpPr>
            <a:spLocks noGrp="1"/>
          </p:cNvSpPr>
          <p:nvPr/>
        </p:nvSpPr>
        <p:spPr>
          <a:xfrm>
            <a:off x="495300" y="4438650"/>
            <a:ext cx="259080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</p:sp>
      <p:sp>
        <p:nvSpPr>
          <p:cNvPr id="30" name="Freeform 30"/>
          <p:cNvSpPr>
            <a:spLocks noGrp="1"/>
          </p:cNvSpPr>
          <p:nvPr/>
        </p:nvSpPr>
        <p:spPr>
          <a:xfrm>
            <a:off x="683781" y="4660106"/>
            <a:ext cx="201506" cy="184148"/>
          </a:xfrm>
          <a:custGeom>
            <a:avLst/>
            <a:gdLst/>
            <a:ahLst/>
            <a:cxnLst/>
            <a:rect l="l" t="t" r="r" b="b"/>
            <a:pathLst>
              <a:path w="201506" h="184148">
                <a:moveTo>
                  <a:pt x="101222" y="184148"/>
                </a:moveTo>
                <a:cubicBezTo>
                  <a:pt x="36580" y="164110"/>
                  <a:pt x="0" y="95886"/>
                  <a:pt x="19085" y="30956"/>
                </a:cubicBezTo>
                <a:cubicBezTo>
                  <a:pt x="51233" y="32427"/>
                  <a:pt x="82691" y="21324"/>
                  <a:pt x="106794" y="0"/>
                </a:cubicBezTo>
                <a:cubicBezTo>
                  <a:pt x="130897" y="21324"/>
                  <a:pt x="162355" y="32427"/>
                  <a:pt x="194503" y="30956"/>
                </a:cubicBezTo>
                <a:cubicBezTo>
                  <a:pt x="201506" y="54783"/>
                  <a:pt x="201183" y="80166"/>
                  <a:pt x="193575" y="103806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31" name="Freeform 31"/>
          <p:cNvSpPr>
            <a:spLocks noGrp="1"/>
          </p:cNvSpPr>
          <p:nvPr/>
        </p:nvSpPr>
        <p:spPr>
          <a:xfrm>
            <a:off x="821531" y="4804568"/>
            <a:ext cx="61912" cy="41275"/>
          </a:xfrm>
          <a:custGeom>
            <a:avLst/>
            <a:gdLst/>
            <a:ahLst/>
            <a:cxnLst/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33" name="TextBox 33"/>
          <p:cNvSpPr>
            <a:spLocks noGrp="1"/>
          </p:cNvSpPr>
          <p:nvPr/>
        </p:nvSpPr>
        <p:spPr>
          <a:xfrm>
            <a:off x="1019556" y="4625340"/>
            <a:ext cx="180198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动作控制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4" name="TextBox 34"/>
          <p:cNvSpPr>
            <a:spLocks noGrp="1"/>
          </p:cNvSpPr>
          <p:nvPr/>
        </p:nvSpPr>
        <p:spPr>
          <a:xfrm>
            <a:off x="660273" y="4967764"/>
            <a:ext cx="24819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风险、审批、执行许可、动作回执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7" name="TextBox 37"/>
          <p:cNvSpPr>
            <a:spLocks noGrp="1"/>
          </p:cNvSpPr>
          <p:nvPr/>
        </p:nvSpPr>
        <p:spPr>
          <a:xfrm>
            <a:off x="3381756" y="1596390"/>
            <a:ext cx="408919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两层增强：任务越复杂，运行时越强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8" name="Rectangle 38"/>
          <p:cNvSpPr>
            <a:spLocks noGrp="1"/>
          </p:cNvSpPr>
          <p:nvPr/>
        </p:nvSpPr>
        <p:spPr>
          <a:xfrm>
            <a:off x="3390900" y="2000250"/>
            <a:ext cx="5124450" cy="100965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</p:sp>
      <p:sp>
        <p:nvSpPr>
          <p:cNvPr id="39" name="Freeform 39"/>
          <p:cNvSpPr>
            <a:spLocks noGrp="1"/>
          </p:cNvSpPr>
          <p:nvPr/>
        </p:nvSpPr>
        <p:spPr>
          <a:xfrm>
            <a:off x="3636963" y="2387601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40" name="Freeform 40"/>
          <p:cNvSpPr>
            <a:spLocks noGrp="1"/>
          </p:cNvSpPr>
          <p:nvPr/>
        </p:nvSpPr>
        <p:spPr>
          <a:xfrm>
            <a:off x="3636963" y="2254250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41" name="Freeform 41"/>
          <p:cNvSpPr>
            <a:spLocks noGrp="1"/>
          </p:cNvSpPr>
          <p:nvPr/>
        </p:nvSpPr>
        <p:spPr>
          <a:xfrm>
            <a:off x="3748088" y="2254250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42" name="Freeform 42"/>
          <p:cNvSpPr>
            <a:spLocks noGrp="1"/>
          </p:cNvSpPr>
          <p:nvPr/>
        </p:nvSpPr>
        <p:spPr>
          <a:xfrm>
            <a:off x="3659188" y="2298700"/>
            <a:ext cx="9525" cy="88900"/>
          </a:xfrm>
          <a:custGeom>
            <a:avLst/>
            <a:gdLst/>
            <a:ahLst/>
            <a:cxnLst/>
            <a:rect l="l" t="t" r="r" b="b"/>
            <a:pathLst>
              <a:path w="952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43" name="Freeform 43"/>
          <p:cNvSpPr>
            <a:spLocks noGrp="1"/>
          </p:cNvSpPr>
          <p:nvPr/>
        </p:nvSpPr>
        <p:spPr>
          <a:xfrm>
            <a:off x="3681413" y="2332038"/>
            <a:ext cx="88900" cy="77788"/>
          </a:xfrm>
          <a:custGeom>
            <a:avLst/>
            <a:gdLst/>
            <a:ahLst/>
            <a:cxnLst/>
            <a:rect l="l" t="t" r="r" b="b"/>
            <a:pathLst>
              <a:path w="88900" h="77788">
                <a:moveTo>
                  <a:pt x="0" y="77788"/>
                </a:moveTo>
                <a:lnTo>
                  <a:pt x="66675" y="77788"/>
                </a:lnTo>
                <a:cubicBezTo>
                  <a:pt x="78950" y="77788"/>
                  <a:pt x="88900" y="67837"/>
                  <a:pt x="88900" y="55563"/>
                </a:cubicBezTo>
                <a:lnTo>
                  <a:pt x="88900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44" name="Freeform 44"/>
          <p:cNvSpPr>
            <a:spLocks noGrp="1"/>
          </p:cNvSpPr>
          <p:nvPr/>
        </p:nvSpPr>
        <p:spPr>
          <a:xfrm>
            <a:off x="3736975" y="2332038"/>
            <a:ext cx="66675" cy="33338"/>
          </a:xfrm>
          <a:custGeom>
            <a:avLst/>
            <a:gdLst/>
            <a:ahLst/>
            <a:cxnLst/>
            <a:rect l="l" t="t" r="r" b="b"/>
            <a:pathLst>
              <a:path w="66675" h="33338">
                <a:moveTo>
                  <a:pt x="0" y="33338"/>
                </a:moveTo>
                <a:lnTo>
                  <a:pt x="33338" y="0"/>
                </a:lnTo>
                <a:lnTo>
                  <a:pt x="66675" y="33338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46" name="TextBox 46"/>
          <p:cNvSpPr>
            <a:spLocks noGrp="1"/>
          </p:cNvSpPr>
          <p:nvPr/>
        </p:nvSpPr>
        <p:spPr>
          <a:xfrm>
            <a:off x="3973449" y="2192179"/>
            <a:ext cx="364051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5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增强 2：受治理的自适应协作</a:t>
            </a:r>
            <a:endParaRPr sz="15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8" name="TextBox 48"/>
          <p:cNvSpPr>
            <a:spLocks noGrp="1"/>
          </p:cNvSpPr>
          <p:nvPr/>
        </p:nvSpPr>
        <p:spPr>
          <a:xfrm>
            <a:off x="3576447" y="2742724"/>
            <a:ext cx="40506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980">
                <a:solidFill>
                  <a:srgbClr val="B54708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下一步：持久队列、远程执行与多实例调度</a:t>
            </a:r>
            <a:endParaRPr sz="980">
              <a:solidFill>
                <a:srgbClr val="B54708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1" name="Freeform 51"/>
          <p:cNvSpPr>
            <a:spLocks noGrp="1"/>
          </p:cNvSpPr>
          <p:nvPr/>
        </p:nvSpPr>
        <p:spPr>
          <a:xfrm>
            <a:off x="5953125" y="300990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8575">
            <a:solidFill>
              <a:srgbClr val="CBD5DF"/>
            </a:solidFill>
          </a:ln>
        </p:spPr>
      </p:sp>
      <p:sp>
        <p:nvSpPr>
          <p:cNvPr id="52" name="Rectangle 52"/>
          <p:cNvSpPr>
            <a:spLocks noGrp="1"/>
          </p:cNvSpPr>
          <p:nvPr/>
        </p:nvSpPr>
        <p:spPr>
          <a:xfrm>
            <a:off x="3390900" y="3219450"/>
            <a:ext cx="5124450" cy="1009650"/>
          </a:xfrm>
          <a:prstGeom prst="roundRect">
            <a:avLst>
              <a:gd name="adj" fmla="val 5660"/>
            </a:avLst>
          </a:prstGeom>
          <a:solidFill>
            <a:srgbClr val="EDF1F4"/>
          </a:solidFill>
          <a:ln w="19050">
            <a:solidFill>
              <a:srgbClr val="1769E0"/>
            </a:solidFill>
          </a:ln>
        </p:spPr>
      </p:sp>
      <p:sp>
        <p:nvSpPr>
          <p:cNvPr id="53" name="Freeform 53"/>
          <p:cNvSpPr>
            <a:spLocks noGrp="1"/>
          </p:cNvSpPr>
          <p:nvPr/>
        </p:nvSpPr>
        <p:spPr>
          <a:xfrm>
            <a:off x="3625850" y="3469163"/>
            <a:ext cx="177801" cy="82075"/>
          </a:xfrm>
          <a:custGeom>
            <a:avLst/>
            <a:gdLst/>
            <a:ahLst/>
            <a:cxnLst/>
            <a:rect l="l" t="t" r="r" b="b"/>
            <a:pathLst>
              <a:path w="177801" h="82075">
                <a:moveTo>
                  <a:pt x="177801" y="82075"/>
                </a:moveTo>
                <a:cubicBezTo>
                  <a:pt x="172214" y="41876"/>
                  <a:pt x="140416" y="10388"/>
                  <a:pt x="100165" y="5194"/>
                </a:cubicBezTo>
                <a:cubicBezTo>
                  <a:pt x="59913" y="0"/>
                  <a:pt x="21164" y="22386"/>
                  <a:pt x="5556" y="59850"/>
                </a:cubicBezTo>
                <a:moveTo>
                  <a:pt x="0" y="15400"/>
                </a:moveTo>
                <a:lnTo>
                  <a:pt x="0" y="59850"/>
                </a:lnTo>
                <a:lnTo>
                  <a:pt x="44450" y="59850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54" name="Freeform 54"/>
          <p:cNvSpPr>
            <a:spLocks noGrp="1"/>
          </p:cNvSpPr>
          <p:nvPr/>
        </p:nvSpPr>
        <p:spPr>
          <a:xfrm>
            <a:off x="3625850" y="3573463"/>
            <a:ext cx="177801" cy="82075"/>
          </a:xfrm>
          <a:custGeom>
            <a:avLst/>
            <a:gdLst/>
            <a:ahLst/>
            <a:cxnLst/>
            <a:rect l="l" t="t" r="r" b="b"/>
            <a:pathLst>
              <a:path w="177801" h="82075">
                <a:moveTo>
                  <a:pt x="0" y="0"/>
                </a:moveTo>
                <a:cubicBezTo>
                  <a:pt x="5587" y="40199"/>
                  <a:pt x="37384" y="71688"/>
                  <a:pt x="77636" y="76881"/>
                </a:cubicBezTo>
                <a:cubicBezTo>
                  <a:pt x="117888" y="82075"/>
                  <a:pt x="156637" y="59689"/>
                  <a:pt x="172244" y="22225"/>
                </a:cubicBezTo>
                <a:moveTo>
                  <a:pt x="177801" y="66675"/>
                </a:moveTo>
                <a:lnTo>
                  <a:pt x="177801" y="22225"/>
                </a:lnTo>
                <a:lnTo>
                  <a:pt x="133350" y="22225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56" name="TextBox 56"/>
          <p:cNvSpPr>
            <a:spLocks noGrp="1"/>
          </p:cNvSpPr>
          <p:nvPr/>
        </p:nvSpPr>
        <p:spPr>
          <a:xfrm>
            <a:off x="3972306" y="3425190"/>
            <a:ext cx="33610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增强 1：智能体控制循环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7" name="TextBox 57"/>
          <p:cNvSpPr>
            <a:spLocks noGrp="1"/>
          </p:cNvSpPr>
          <p:nvPr/>
        </p:nvSpPr>
        <p:spPr>
          <a:xfrm>
            <a:off x="3574923" y="3767614"/>
            <a:ext cx="51432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长任务按轮推进，受影响分支单独补证，历史成果可恢复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0" name="Freeform 60"/>
          <p:cNvSpPr>
            <a:spLocks noGrp="1"/>
          </p:cNvSpPr>
          <p:nvPr/>
        </p:nvSpPr>
        <p:spPr>
          <a:xfrm>
            <a:off x="5953125" y="422910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8575">
            <a:solidFill>
              <a:srgbClr val="CBD5DF"/>
            </a:solidFill>
          </a:ln>
        </p:spPr>
      </p:sp>
      <p:sp>
        <p:nvSpPr>
          <p:cNvPr id="61" name="Rectangle 61"/>
          <p:cNvSpPr>
            <a:spLocks noGrp="1"/>
          </p:cNvSpPr>
          <p:nvPr/>
        </p:nvSpPr>
        <p:spPr>
          <a:xfrm>
            <a:off x="3390900" y="4438650"/>
            <a:ext cx="5124450" cy="1066800"/>
          </a:xfrm>
          <a:prstGeom prst="roundRect">
            <a:avLst>
              <a:gd name="adj" fmla="val 5357"/>
            </a:avLst>
          </a:prstGeom>
          <a:solidFill>
            <a:srgbClr val="132A3A"/>
          </a:solidFill>
          <a:ln>
            <a:noFill/>
          </a:ln>
        </p:spPr>
      </p:sp>
      <p:sp>
        <p:nvSpPr>
          <p:cNvPr id="62" name="Freeform 62"/>
          <p:cNvSpPr>
            <a:spLocks noGrp="1"/>
          </p:cNvSpPr>
          <p:nvPr/>
        </p:nvSpPr>
        <p:spPr>
          <a:xfrm>
            <a:off x="3617119" y="4695825"/>
            <a:ext cx="214312" cy="95250"/>
          </a:xfrm>
          <a:custGeom>
            <a:avLst/>
            <a:gdLst/>
            <a:ahLst/>
            <a:cxnLst/>
            <a:rect l="l" t="t" r="r" b="b"/>
            <a:pathLst>
              <a:path w="214312" h="95250">
                <a:moveTo>
                  <a:pt x="0" y="35719"/>
                </a:moveTo>
                <a:cubicBezTo>
                  <a:pt x="0" y="15992"/>
                  <a:pt x="15992" y="0"/>
                  <a:pt x="35719" y="0"/>
                </a:cubicBezTo>
                <a:lnTo>
                  <a:pt x="178594" y="0"/>
                </a:lnTo>
                <a:cubicBezTo>
                  <a:pt x="198321" y="0"/>
                  <a:pt x="214312" y="15992"/>
                  <a:pt x="214312" y="35719"/>
                </a:cubicBezTo>
                <a:lnTo>
                  <a:pt x="214312" y="59531"/>
                </a:lnTo>
                <a:cubicBezTo>
                  <a:pt x="214312" y="79258"/>
                  <a:pt x="198321" y="95250"/>
                  <a:pt x="178594" y="95250"/>
                </a:cubicBezTo>
                <a:lnTo>
                  <a:pt x="35719" y="95250"/>
                </a:lnTo>
                <a:cubicBezTo>
                  <a:pt x="15992" y="95250"/>
                  <a:pt x="0" y="79258"/>
                  <a:pt x="0" y="59531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3" name="Freeform 63"/>
          <p:cNvSpPr>
            <a:spLocks noGrp="1"/>
          </p:cNvSpPr>
          <p:nvPr/>
        </p:nvSpPr>
        <p:spPr>
          <a:xfrm>
            <a:off x="3617119" y="4791075"/>
            <a:ext cx="214312" cy="95250"/>
          </a:xfrm>
          <a:custGeom>
            <a:avLst/>
            <a:gdLst/>
            <a:ahLst/>
            <a:cxnLst/>
            <a:rect l="l" t="t" r="r" b="b"/>
            <a:pathLst>
              <a:path w="214312" h="95250">
                <a:moveTo>
                  <a:pt x="0" y="35719"/>
                </a:moveTo>
                <a:cubicBezTo>
                  <a:pt x="0" y="15992"/>
                  <a:pt x="15992" y="0"/>
                  <a:pt x="35719" y="0"/>
                </a:cubicBezTo>
                <a:lnTo>
                  <a:pt x="178594" y="0"/>
                </a:lnTo>
                <a:cubicBezTo>
                  <a:pt x="198321" y="0"/>
                  <a:pt x="214312" y="15992"/>
                  <a:pt x="214312" y="35719"/>
                </a:cubicBezTo>
                <a:lnTo>
                  <a:pt x="214312" y="59531"/>
                </a:lnTo>
                <a:cubicBezTo>
                  <a:pt x="214312" y="79258"/>
                  <a:pt x="198321" y="95250"/>
                  <a:pt x="178594" y="95250"/>
                </a:cubicBezTo>
                <a:lnTo>
                  <a:pt x="35719" y="95250"/>
                </a:lnTo>
                <a:cubicBezTo>
                  <a:pt x="15992" y="95250"/>
                  <a:pt x="0" y="79258"/>
                  <a:pt x="0" y="59531"/>
                </a:cubicBezTo>
                <a:lnTo>
                  <a:pt x="0" y="35719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4" name="Freeform 64"/>
          <p:cNvSpPr>
            <a:spLocks noGrp="1"/>
          </p:cNvSpPr>
          <p:nvPr/>
        </p:nvSpPr>
        <p:spPr>
          <a:xfrm>
            <a:off x="3664744" y="4743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0" y="119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5" name="Freeform 65"/>
          <p:cNvSpPr>
            <a:spLocks noGrp="1"/>
          </p:cNvSpPr>
          <p:nvPr/>
        </p:nvSpPr>
        <p:spPr>
          <a:xfrm>
            <a:off x="3664744" y="4838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0" y="119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7" name="TextBox 67"/>
          <p:cNvSpPr>
            <a:spLocks noGrp="1"/>
          </p:cNvSpPr>
          <p:nvPr/>
        </p:nvSpPr>
        <p:spPr>
          <a:xfrm>
            <a:off x="4008882" y="4650105"/>
            <a:ext cx="40644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底座：统一任务运行底座</a:t>
            </a:r>
            <a:endParaRPr sz="210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8" name="TextBox 68"/>
          <p:cNvSpPr>
            <a:spLocks noGrp="1"/>
          </p:cNvSpPr>
          <p:nvPr/>
        </p:nvSpPr>
        <p:spPr>
          <a:xfrm>
            <a:off x="3574923" y="5043964"/>
            <a:ext cx="46805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稳定承接任务状态、执行能力、证据、策略与历史记录</a:t>
            </a:r>
            <a:endParaRPr sz="128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1" name="TextBox 71"/>
          <p:cNvSpPr>
            <a:spLocks noGrp="1"/>
          </p:cNvSpPr>
          <p:nvPr/>
        </p:nvSpPr>
        <p:spPr>
          <a:xfrm>
            <a:off x="8811006" y="15963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前台最终只回答三件事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72" name="Rectangle 72"/>
          <p:cNvSpPr>
            <a:spLocks noGrp="1"/>
          </p:cNvSpPr>
          <p:nvPr/>
        </p:nvSpPr>
        <p:spPr>
          <a:xfrm>
            <a:off x="8820150" y="2000250"/>
            <a:ext cx="2876550" cy="3505200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73" name="Ellipse 73"/>
          <p:cNvSpPr>
            <a:spLocks noGrp="1"/>
          </p:cNvSpPr>
          <p:nvPr/>
        </p:nvSpPr>
        <p:spPr>
          <a:xfrm>
            <a:off x="8953500" y="2247900"/>
            <a:ext cx="342900" cy="3429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74" name="TextBox 74"/>
          <p:cNvSpPr>
            <a:spLocks noGrp="1"/>
          </p:cNvSpPr>
          <p:nvPr/>
        </p:nvSpPr>
        <p:spPr>
          <a:xfrm>
            <a:off x="9068912" y="233886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5" name="TextBox 75"/>
          <p:cNvSpPr>
            <a:spLocks noGrp="1"/>
          </p:cNvSpPr>
          <p:nvPr/>
        </p:nvSpPr>
        <p:spPr>
          <a:xfrm>
            <a:off x="9423273" y="2224564"/>
            <a:ext cx="12745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任务现在走到哪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77" name="Freeform 77"/>
          <p:cNvSpPr>
            <a:spLocks noGrp="1"/>
          </p:cNvSpPr>
          <p:nvPr/>
        </p:nvSpPr>
        <p:spPr>
          <a:xfrm>
            <a:off x="9048750" y="2895600"/>
            <a:ext cx="2419350" cy="9525"/>
          </a:xfrm>
          <a:custGeom>
            <a:avLst/>
            <a:gdLst/>
            <a:ahLst/>
            <a:cxnLst/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/>
          <a:ln w="19050">
            <a:solidFill>
              <a:srgbClr val="E3E8ED"/>
            </a:solidFill>
          </a:ln>
        </p:spPr>
      </p:sp>
      <p:sp>
        <p:nvSpPr>
          <p:cNvPr id="78" name="Ellipse 78"/>
          <p:cNvSpPr>
            <a:spLocks noGrp="1"/>
          </p:cNvSpPr>
          <p:nvPr/>
        </p:nvSpPr>
        <p:spPr>
          <a:xfrm>
            <a:off x="8953500" y="3143250"/>
            <a:ext cx="342900" cy="3429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79" name="TextBox 79"/>
          <p:cNvSpPr>
            <a:spLocks noGrp="1"/>
          </p:cNvSpPr>
          <p:nvPr/>
        </p:nvSpPr>
        <p:spPr>
          <a:xfrm>
            <a:off x="9068912" y="323421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0" name="TextBox 80"/>
          <p:cNvSpPr>
            <a:spLocks noGrp="1"/>
          </p:cNvSpPr>
          <p:nvPr/>
        </p:nvSpPr>
        <p:spPr>
          <a:xfrm>
            <a:off x="9423273" y="3119914"/>
            <a:ext cx="16349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当前结论凭什么成立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82" name="Freeform 82"/>
          <p:cNvSpPr>
            <a:spLocks noGrp="1"/>
          </p:cNvSpPr>
          <p:nvPr/>
        </p:nvSpPr>
        <p:spPr>
          <a:xfrm>
            <a:off x="9048750" y="3790950"/>
            <a:ext cx="2419350" cy="9525"/>
          </a:xfrm>
          <a:custGeom>
            <a:avLst/>
            <a:gdLst/>
            <a:ahLst/>
            <a:cxnLst/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/>
          <a:ln w="19050">
            <a:solidFill>
              <a:srgbClr val="E3E8ED"/>
            </a:solidFill>
          </a:ln>
        </p:spPr>
      </p:sp>
      <p:sp>
        <p:nvSpPr>
          <p:cNvPr id="83" name="Ellipse 83"/>
          <p:cNvSpPr>
            <a:spLocks noGrp="1"/>
          </p:cNvSpPr>
          <p:nvPr/>
        </p:nvSpPr>
        <p:spPr>
          <a:xfrm>
            <a:off x="8953500" y="4038600"/>
            <a:ext cx="342900" cy="3429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84" name="TextBox 84"/>
          <p:cNvSpPr>
            <a:spLocks noGrp="1"/>
          </p:cNvSpPr>
          <p:nvPr/>
        </p:nvSpPr>
        <p:spPr>
          <a:xfrm>
            <a:off x="9068912" y="412956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5" name="TextBox 85"/>
          <p:cNvSpPr>
            <a:spLocks noGrp="1"/>
          </p:cNvSpPr>
          <p:nvPr/>
        </p:nvSpPr>
        <p:spPr>
          <a:xfrm>
            <a:off x="9423273" y="4015264"/>
            <a:ext cx="12745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哪些动作发生了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95" name="TextBox 95"/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依据：</a:t>
            </a:r>
            <a:r>
              <a:rPr sz="1165" u="sng">
                <a:solidFill>
                  <a:srgbClr val="1769D2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1"/>
              </a:rPr>
              <a:t>arxiv.org/abs/2210.03629</a:t>
            </a: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 ·  </a:t>
            </a:r>
            <a:r>
              <a:rPr sz="1165" u="sng">
                <a:solidFill>
                  <a:srgbClr val="1769D2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2"/>
              </a:rPr>
              <a:t>docs.langchain.com/.../langgraph/persistence</a:t>
            </a:r>
            <a:endParaRPr sz="1165" u="sng">
              <a:solidFill>
                <a:srgbClr val="1769D2"/>
              </a:solidFill>
              <a:latin typeface="Segoe UI" panose="020B0502040204020203"/>
              <a:ea typeface="Segoe UI" panose="020B0502040204020203"/>
              <a:cs typeface="Segoe UI" panose="020B0502040204020203"/>
              <a:hlinkClick r:id="rId2"/>
            </a:endParaRPr>
          </a:p>
        </p:txBody>
      </p:sp>
      <p:sp>
        <p:nvSpPr>
          <p:cNvPr id="96" name="TextBox 96"/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03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/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19050">
            <a:solidFill>
              <a:srgbClr val="CBD5DF"/>
            </a:solidFill>
          </a:ln>
        </p:spPr>
      </p:sp>
      <p:sp>
        <p:nvSpPr>
          <p:cNvPr id="5" name="TextBox 5"/>
          <p:cNvSpPr>
            <a:spLocks noGrp="1"/>
          </p:cNvSpPr>
          <p:nvPr/>
        </p:nvSpPr>
        <p:spPr>
          <a:xfrm>
            <a:off x="477774" y="370522"/>
            <a:ext cx="745743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智能体最小运行时：八个稳定职责</a:t>
            </a:r>
            <a:endParaRPr sz="34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0" name="Ellipse 10"/>
          <p:cNvSpPr>
            <a:spLocks noGrp="1"/>
          </p:cNvSpPr>
          <p:nvPr/>
        </p:nvSpPr>
        <p:spPr>
          <a:xfrm>
            <a:off x="8639175" y="1285875"/>
            <a:ext cx="133350" cy="13335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2" name="Ellipse 12"/>
          <p:cNvSpPr>
            <a:spLocks noGrp="1"/>
          </p:cNvSpPr>
          <p:nvPr/>
        </p:nvSpPr>
        <p:spPr>
          <a:xfrm>
            <a:off x="9667875" y="1285875"/>
            <a:ext cx="133350" cy="1333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4" name="Ellipse 14"/>
          <p:cNvSpPr>
            <a:spLocks noGrp="1"/>
          </p:cNvSpPr>
          <p:nvPr/>
        </p:nvSpPr>
        <p:spPr>
          <a:xfrm>
            <a:off x="10791825" y="1285875"/>
            <a:ext cx="133350" cy="133350"/>
          </a:xfrm>
          <a:prstGeom prst="ellipse">
            <a:avLst/>
          </a:prstGeom>
          <a:solidFill>
            <a:srgbClr val="7C8A98"/>
          </a:solidFill>
          <a:ln>
            <a:noFill/>
          </a:ln>
        </p:spPr>
      </p:sp>
      <p:sp>
        <p:nvSpPr>
          <p:cNvPr id="17" name="TextBox 17"/>
          <p:cNvSpPr>
            <a:spLocks noGrp="1"/>
          </p:cNvSpPr>
          <p:nvPr/>
        </p:nvSpPr>
        <p:spPr>
          <a:xfrm>
            <a:off x="661416" y="16392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责任阶段</a:t>
            </a:r>
            <a:endParaRPr sz="1050" b="1">
              <a:solidFill>
                <a:srgbClr val="7C8A98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8" name="TextBox 18"/>
          <p:cNvSpPr>
            <a:spLocks noGrp="1"/>
          </p:cNvSpPr>
          <p:nvPr/>
        </p:nvSpPr>
        <p:spPr>
          <a:xfrm>
            <a:off x="2033016" y="1639252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两个稳定模块</a:t>
            </a:r>
            <a:endParaRPr sz="1050" b="1">
              <a:solidFill>
                <a:srgbClr val="7C8A98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9" name="TextBox 19"/>
          <p:cNvSpPr>
            <a:spLocks noGrp="1"/>
          </p:cNvSpPr>
          <p:nvPr/>
        </p:nvSpPr>
        <p:spPr>
          <a:xfrm>
            <a:off x="6814566" y="1639252"/>
            <a:ext cx="11980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后端必须负责什么</a:t>
            </a:r>
            <a:endParaRPr sz="1050" b="1">
              <a:solidFill>
                <a:srgbClr val="7C8A98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0" name="TextBox 20"/>
          <p:cNvSpPr>
            <a:spLocks noGrp="1"/>
          </p:cNvSpPr>
          <p:nvPr/>
        </p:nvSpPr>
        <p:spPr>
          <a:xfrm>
            <a:off x="9614916" y="1639252"/>
            <a:ext cx="10495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前台要回答什么</a:t>
            </a:r>
            <a:endParaRPr sz="1050" b="1">
              <a:solidFill>
                <a:srgbClr val="7C8A98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2" name="Rectangle 22"/>
          <p:cNvSpPr>
            <a:spLocks noGrp="1"/>
          </p:cNvSpPr>
          <p:nvPr/>
        </p:nvSpPr>
        <p:spPr>
          <a:xfrm>
            <a:off x="495300" y="1885950"/>
            <a:ext cx="112014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23" name="Rectangle 23"/>
          <p:cNvSpPr>
            <a:spLocks noGrp="1"/>
          </p:cNvSpPr>
          <p:nvPr/>
        </p:nvSpPr>
        <p:spPr>
          <a:xfrm>
            <a:off x="495300" y="1885950"/>
            <a:ext cx="1276350" cy="876300"/>
          </a:xfrm>
          <a:prstGeom prst="roundRect">
            <a:avLst>
              <a:gd name="adj" fmla="val 6522"/>
            </a:avLst>
          </a:prstGeom>
          <a:solidFill>
            <a:srgbClr val="1769E0"/>
          </a:solidFill>
          <a:ln>
            <a:noFill/>
          </a:ln>
        </p:spPr>
      </p:sp>
      <p:sp>
        <p:nvSpPr>
          <p:cNvPr id="24" name="TextBox 24"/>
          <p:cNvSpPr>
            <a:spLocks noGrp="1"/>
          </p:cNvSpPr>
          <p:nvPr/>
        </p:nvSpPr>
        <p:spPr>
          <a:xfrm>
            <a:off x="679323" y="20721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676656" y="23202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定范围</a:t>
            </a:r>
            <a:endParaRPr sz="180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6" name="Freeform 26"/>
          <p:cNvSpPr>
            <a:spLocks noGrp="1"/>
          </p:cNvSpPr>
          <p:nvPr/>
        </p:nvSpPr>
        <p:spPr>
          <a:xfrm>
            <a:off x="2072481" y="2107406"/>
            <a:ext cx="144462" cy="134143"/>
          </a:xfrm>
          <a:custGeom>
            <a:avLst/>
            <a:gdLst/>
            <a:ahLst/>
            <a:cxnLst/>
            <a:rect l="l" t="t" r="r" b="b"/>
            <a:pathLst>
              <a:path w="144462" h="134143">
                <a:moveTo>
                  <a:pt x="20637" y="0"/>
                </a:moveTo>
                <a:lnTo>
                  <a:pt x="51594" y="0"/>
                </a:lnTo>
                <a:lnTo>
                  <a:pt x="72231" y="20637"/>
                </a:lnTo>
                <a:lnTo>
                  <a:pt x="123825" y="20637"/>
                </a:lnTo>
                <a:cubicBezTo>
                  <a:pt x="135222" y="20637"/>
                  <a:pt x="144462" y="29877"/>
                  <a:pt x="144462" y="41275"/>
                </a:cubicBezTo>
                <a:lnTo>
                  <a:pt x="144462" y="113506"/>
                </a:lnTo>
                <a:cubicBezTo>
                  <a:pt x="144462" y="124904"/>
                  <a:pt x="135222" y="134143"/>
                  <a:pt x="123825" y="134143"/>
                </a:cubicBezTo>
                <a:lnTo>
                  <a:pt x="20637" y="134143"/>
                </a:lnTo>
                <a:cubicBezTo>
                  <a:pt x="9240" y="134143"/>
                  <a:pt x="0" y="124904"/>
                  <a:pt x="0" y="113506"/>
                </a:cubicBezTo>
                <a:lnTo>
                  <a:pt x="0" y="20637"/>
                </a:lnTo>
                <a:cubicBezTo>
                  <a:pt x="0" y="9240"/>
                  <a:pt x="9240" y="0"/>
                  <a:pt x="20637" y="0"/>
                </a:cubicBez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27" name="Freeform 27"/>
          <p:cNvSpPr>
            <a:spLocks noGrp="1"/>
          </p:cNvSpPr>
          <p:nvPr/>
        </p:nvSpPr>
        <p:spPr>
          <a:xfrm>
            <a:off x="2031206" y="2148681"/>
            <a:ext cx="144462" cy="134143"/>
          </a:xfrm>
          <a:custGeom>
            <a:avLst/>
            <a:gdLst/>
            <a:ahLst/>
            <a:cxnLst/>
            <a:rect l="l" t="t" r="r" b="b"/>
            <a:pathLst>
              <a:path w="144462" h="134143">
                <a:moveTo>
                  <a:pt x="144462" y="92868"/>
                </a:moveTo>
                <a:lnTo>
                  <a:pt x="144462" y="113506"/>
                </a:lnTo>
                <a:cubicBezTo>
                  <a:pt x="144462" y="124904"/>
                  <a:pt x="135222" y="134143"/>
                  <a:pt x="123825" y="134143"/>
                </a:cubicBezTo>
                <a:lnTo>
                  <a:pt x="20637" y="134143"/>
                </a:lnTo>
                <a:cubicBezTo>
                  <a:pt x="9240" y="134143"/>
                  <a:pt x="0" y="124904"/>
                  <a:pt x="0" y="113506"/>
                </a:cubicBezTo>
                <a:lnTo>
                  <a:pt x="0" y="20637"/>
                </a:lnTo>
                <a:cubicBezTo>
                  <a:pt x="0" y="9240"/>
                  <a:pt x="9240" y="0"/>
                  <a:pt x="20637" y="0"/>
                </a:cubicBezTo>
                <a:lnTo>
                  <a:pt x="41275" y="0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29" name="TextBox 29"/>
          <p:cNvSpPr>
            <a:spLocks noGrp="1"/>
          </p:cNvSpPr>
          <p:nvPr/>
        </p:nvSpPr>
        <p:spPr>
          <a:xfrm>
            <a:off x="2336673" y="2129314"/>
            <a:ext cx="3011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Workspace Catalog &amp; Safe Preview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0" name="Freeform 30"/>
          <p:cNvSpPr>
            <a:spLocks noGrp="1"/>
          </p:cNvSpPr>
          <p:nvPr/>
        </p:nvSpPr>
        <p:spPr>
          <a:xfrm>
            <a:off x="2051844" y="2451894"/>
            <a:ext cx="144462" cy="165099"/>
          </a:xfrm>
          <a:custGeom>
            <a:avLst/>
            <a:gdLst/>
            <a:ahLst/>
            <a:cxnLst/>
            <a:rect l="l" t="t" r="r" b="b"/>
            <a:pathLst>
              <a:path w="144462" h="165099">
                <a:moveTo>
                  <a:pt x="41275" y="0"/>
                </a:moveTo>
                <a:lnTo>
                  <a:pt x="20637" y="0"/>
                </a:lnTo>
                <a:cubicBezTo>
                  <a:pt x="9240" y="0"/>
                  <a:pt x="0" y="9240"/>
                  <a:pt x="0" y="20637"/>
                </a:cubicBezTo>
                <a:lnTo>
                  <a:pt x="0" y="144462"/>
                </a:lnTo>
                <a:cubicBezTo>
                  <a:pt x="0" y="155860"/>
                  <a:pt x="9240" y="165099"/>
                  <a:pt x="20637" y="165099"/>
                </a:cubicBezTo>
                <a:lnTo>
                  <a:pt x="123825" y="165099"/>
                </a:lnTo>
                <a:cubicBezTo>
                  <a:pt x="135222" y="165099"/>
                  <a:pt x="144462" y="155860"/>
                  <a:pt x="144462" y="144462"/>
                </a:cubicBezTo>
                <a:lnTo>
                  <a:pt x="144462" y="20637"/>
                </a:lnTo>
                <a:cubicBezTo>
                  <a:pt x="144462" y="9240"/>
                  <a:pt x="135222" y="0"/>
                  <a:pt x="123825" y="0"/>
                </a:cubicBezTo>
                <a:lnTo>
                  <a:pt x="103187" y="0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31" name="Freeform 31"/>
          <p:cNvSpPr>
            <a:spLocks noGrp="1"/>
          </p:cNvSpPr>
          <p:nvPr/>
        </p:nvSpPr>
        <p:spPr>
          <a:xfrm>
            <a:off x="2093118" y="2431256"/>
            <a:ext cx="61912" cy="41275"/>
          </a:xfrm>
          <a:custGeom>
            <a:avLst/>
            <a:gdLst/>
            <a:ahLst/>
            <a:cxnLst/>
            <a:rect l="l" t="t" r="r" b="b"/>
            <a:pathLst>
              <a:path w="61912" h="41275">
                <a:moveTo>
                  <a:pt x="0" y="20637"/>
                </a:moveTo>
                <a:cubicBezTo>
                  <a:pt x="0" y="9240"/>
                  <a:pt x="9240" y="0"/>
                  <a:pt x="20637" y="0"/>
                </a:cubicBezTo>
                <a:lnTo>
                  <a:pt x="41275" y="0"/>
                </a:lnTo>
                <a:cubicBezTo>
                  <a:pt x="52673" y="0"/>
                  <a:pt x="61912" y="9240"/>
                  <a:pt x="61912" y="20637"/>
                </a:cubicBezTo>
                <a:cubicBezTo>
                  <a:pt x="61912" y="32035"/>
                  <a:pt x="52673" y="41275"/>
                  <a:pt x="41275" y="41275"/>
                </a:cubicBezTo>
                <a:lnTo>
                  <a:pt x="20637" y="41275"/>
                </a:lnTo>
                <a:cubicBezTo>
                  <a:pt x="9240" y="41275"/>
                  <a:pt x="0" y="32035"/>
                  <a:pt x="0" y="20637"/>
                </a:cubicBez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32" name="Freeform 32"/>
          <p:cNvSpPr>
            <a:spLocks noGrp="1"/>
          </p:cNvSpPr>
          <p:nvPr/>
        </p:nvSpPr>
        <p:spPr>
          <a:xfrm>
            <a:off x="2093118" y="2524125"/>
            <a:ext cx="61912" cy="41275"/>
          </a:xfrm>
          <a:custGeom>
            <a:avLst/>
            <a:gdLst/>
            <a:ahLst/>
            <a:cxnLst/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34" name="TextBox 34"/>
          <p:cNvSpPr>
            <a:spLocks noGrp="1"/>
          </p:cNvSpPr>
          <p:nvPr/>
        </p:nvSpPr>
        <p:spPr>
          <a:xfrm>
            <a:off x="2336673" y="2453164"/>
            <a:ext cx="12682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Task Contract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5" name="TextBox 35"/>
          <p:cNvSpPr>
            <a:spLocks noGrp="1"/>
          </p:cNvSpPr>
          <p:nvPr/>
        </p:nvSpPr>
        <p:spPr>
          <a:xfrm>
            <a:off x="6813423" y="2072164"/>
            <a:ext cx="27592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限定能读的资料；冻结目标、范围、</a:t>
            </a:r>
            <a:endParaRPr sz="128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6" name="TextBox 36"/>
          <p:cNvSpPr>
            <a:spLocks noGrp="1"/>
          </p:cNvSpPr>
          <p:nvPr/>
        </p:nvSpPr>
        <p:spPr>
          <a:xfrm>
            <a:off x="6813423" y="2319814"/>
            <a:ext cx="17293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完成条件和禁止事项。</a:t>
            </a:r>
            <a:endParaRPr sz="128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7" name="TextBox 37"/>
          <p:cNvSpPr>
            <a:spLocks noGrp="1"/>
          </p:cNvSpPr>
          <p:nvPr/>
        </p:nvSpPr>
        <p:spPr>
          <a:xfrm>
            <a:off x="9613773" y="2072164"/>
            <a:ext cx="165297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“你读了哪些资料？”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8" name="TextBox 38"/>
          <p:cNvSpPr>
            <a:spLocks noGrp="1"/>
          </p:cNvSpPr>
          <p:nvPr/>
        </p:nvSpPr>
        <p:spPr>
          <a:xfrm>
            <a:off x="9614916" y="2363152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目录、来源范围、任务自述</a:t>
            </a:r>
            <a:endParaRPr sz="105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0" name="Rectangle 40"/>
          <p:cNvSpPr>
            <a:spLocks noGrp="1"/>
          </p:cNvSpPr>
          <p:nvPr/>
        </p:nvSpPr>
        <p:spPr>
          <a:xfrm>
            <a:off x="495300" y="2876550"/>
            <a:ext cx="11201400" cy="876300"/>
          </a:xfrm>
          <a:prstGeom prst="roundRect">
            <a:avLst>
              <a:gd name="adj" fmla="val 6522"/>
            </a:avLst>
          </a:prstGeom>
          <a:solidFill>
            <a:srgbClr val="EDF1F4"/>
          </a:solidFill>
          <a:ln w="19050">
            <a:solidFill>
              <a:srgbClr val="CBD5DF"/>
            </a:solidFill>
          </a:ln>
        </p:spPr>
      </p:sp>
      <p:sp>
        <p:nvSpPr>
          <p:cNvPr id="41" name="Rectangle 41"/>
          <p:cNvSpPr>
            <a:spLocks noGrp="1"/>
          </p:cNvSpPr>
          <p:nvPr/>
        </p:nvSpPr>
        <p:spPr>
          <a:xfrm>
            <a:off x="495300" y="2876550"/>
            <a:ext cx="1276350" cy="876300"/>
          </a:xfrm>
          <a:prstGeom prst="roundRect">
            <a:avLst>
              <a:gd name="adj" fmla="val 6522"/>
            </a:avLst>
          </a:prstGeom>
          <a:solidFill>
            <a:srgbClr val="1769E0"/>
          </a:solidFill>
          <a:ln>
            <a:noFill/>
          </a:ln>
        </p:spPr>
      </p:sp>
      <p:sp>
        <p:nvSpPr>
          <p:cNvPr id="42" name="TextBox 42"/>
          <p:cNvSpPr>
            <a:spLocks noGrp="1"/>
          </p:cNvSpPr>
          <p:nvPr/>
        </p:nvSpPr>
        <p:spPr>
          <a:xfrm>
            <a:off x="679323" y="30627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02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3" name="TextBox 43"/>
          <p:cNvSpPr>
            <a:spLocks noGrp="1"/>
          </p:cNvSpPr>
          <p:nvPr/>
        </p:nvSpPr>
        <p:spPr>
          <a:xfrm>
            <a:off x="676656" y="33108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定计划</a:t>
            </a:r>
            <a:endParaRPr sz="180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4" name="Freeform 44"/>
          <p:cNvSpPr>
            <a:spLocks noGrp="1"/>
          </p:cNvSpPr>
          <p:nvPr/>
        </p:nvSpPr>
        <p:spPr>
          <a:xfrm>
            <a:off x="2031206" y="3242468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45" name="Freeform 45"/>
          <p:cNvSpPr>
            <a:spLocks noGrp="1"/>
          </p:cNvSpPr>
          <p:nvPr/>
        </p:nvSpPr>
        <p:spPr>
          <a:xfrm>
            <a:off x="2175668" y="3098006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0637" y="41275"/>
                </a:move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  <a:cubicBezTo>
                  <a:pt x="0" y="32035"/>
                  <a:pt x="9240" y="41275"/>
                  <a:pt x="20637" y="41275"/>
                </a:cubicBez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46" name="Freeform 46"/>
          <p:cNvSpPr>
            <a:spLocks noGrp="1"/>
          </p:cNvSpPr>
          <p:nvPr/>
        </p:nvSpPr>
        <p:spPr>
          <a:xfrm>
            <a:off x="2051844" y="3118644"/>
            <a:ext cx="154781" cy="144462"/>
          </a:xfrm>
          <a:custGeom>
            <a:avLst/>
            <a:gdLst/>
            <a:ahLst/>
            <a:cxnLst/>
            <a:rect l="l" t="t" r="r" b="b"/>
            <a:pathLst>
              <a:path w="154781" h="144462">
                <a:moveTo>
                  <a:pt x="61912" y="144462"/>
                </a:moveTo>
                <a:lnTo>
                  <a:pt x="118665" y="144462"/>
                </a:lnTo>
                <a:cubicBezTo>
                  <a:pt x="138611" y="144462"/>
                  <a:pt x="154781" y="128293"/>
                  <a:pt x="154781" y="108347"/>
                </a:cubicBezTo>
                <a:cubicBezTo>
                  <a:pt x="154781" y="88400"/>
                  <a:pt x="138611" y="72231"/>
                  <a:pt x="118665" y="72231"/>
                </a:cubicBezTo>
                <a:lnTo>
                  <a:pt x="36116" y="72231"/>
                </a:lnTo>
                <a:cubicBezTo>
                  <a:pt x="16169" y="72231"/>
                  <a:pt x="0" y="56062"/>
                  <a:pt x="0" y="36116"/>
                </a:cubicBezTo>
                <a:cubicBezTo>
                  <a:pt x="0" y="16169"/>
                  <a:pt x="16169" y="0"/>
                  <a:pt x="36116" y="0"/>
                </a:cubicBezTo>
                <a:lnTo>
                  <a:pt x="82550" y="0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48" name="TextBox 48"/>
          <p:cNvSpPr>
            <a:spLocks noGrp="1"/>
          </p:cNvSpPr>
          <p:nvPr/>
        </p:nvSpPr>
        <p:spPr>
          <a:xfrm>
            <a:off x="2336673" y="3119914"/>
            <a:ext cx="66700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Planner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9" name="Freeform 49"/>
          <p:cNvSpPr>
            <a:spLocks noGrp="1"/>
          </p:cNvSpPr>
          <p:nvPr/>
        </p:nvSpPr>
        <p:spPr>
          <a:xfrm>
            <a:off x="2017281" y="3421856"/>
            <a:ext cx="201506" cy="184148"/>
          </a:xfrm>
          <a:custGeom>
            <a:avLst/>
            <a:gdLst/>
            <a:ahLst/>
            <a:cxnLst/>
            <a:rect l="l" t="t" r="r" b="b"/>
            <a:pathLst>
              <a:path w="201506" h="184148">
                <a:moveTo>
                  <a:pt x="101222" y="184148"/>
                </a:moveTo>
                <a:cubicBezTo>
                  <a:pt x="36580" y="164110"/>
                  <a:pt x="0" y="95886"/>
                  <a:pt x="19085" y="30956"/>
                </a:cubicBezTo>
                <a:cubicBezTo>
                  <a:pt x="51233" y="32427"/>
                  <a:pt x="82691" y="21324"/>
                  <a:pt x="106794" y="0"/>
                </a:cubicBezTo>
                <a:cubicBezTo>
                  <a:pt x="130897" y="21324"/>
                  <a:pt x="162355" y="32427"/>
                  <a:pt x="194503" y="30956"/>
                </a:cubicBezTo>
                <a:cubicBezTo>
                  <a:pt x="201506" y="54783"/>
                  <a:pt x="201183" y="80166"/>
                  <a:pt x="193575" y="103806"/>
                </a:cubicBez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50" name="Freeform 50"/>
          <p:cNvSpPr>
            <a:spLocks noGrp="1"/>
          </p:cNvSpPr>
          <p:nvPr/>
        </p:nvSpPr>
        <p:spPr>
          <a:xfrm>
            <a:off x="2155031" y="3566318"/>
            <a:ext cx="61912" cy="41275"/>
          </a:xfrm>
          <a:custGeom>
            <a:avLst/>
            <a:gdLst/>
            <a:ahLst/>
            <a:cxnLst/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52" name="TextBox 52"/>
          <p:cNvSpPr>
            <a:spLocks noGrp="1"/>
          </p:cNvSpPr>
          <p:nvPr/>
        </p:nvSpPr>
        <p:spPr>
          <a:xfrm>
            <a:off x="2336673" y="3443764"/>
            <a:ext cx="37456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Admission, Policy Compiler &amp; Plan Validator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3" name="TextBox 53"/>
          <p:cNvSpPr>
            <a:spLocks noGrp="1"/>
          </p:cNvSpPr>
          <p:nvPr/>
        </p:nvSpPr>
        <p:spPr>
          <a:xfrm>
            <a:off x="6813423" y="3062764"/>
            <a:ext cx="29308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模型先提议路线；服务端再校验预算、</a:t>
            </a:r>
            <a:endParaRPr sz="128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4" name="TextBox 54"/>
          <p:cNvSpPr>
            <a:spLocks noGrp="1"/>
          </p:cNvSpPr>
          <p:nvPr/>
        </p:nvSpPr>
        <p:spPr>
          <a:xfrm>
            <a:off x="6813423" y="3310414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依赖、资料范围和副作用。</a:t>
            </a:r>
            <a:endParaRPr sz="128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5" name="TextBox 55"/>
          <p:cNvSpPr>
            <a:spLocks noGrp="1"/>
          </p:cNvSpPr>
          <p:nvPr/>
        </p:nvSpPr>
        <p:spPr>
          <a:xfrm>
            <a:off x="9613773" y="3062764"/>
            <a:ext cx="147275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“为什么这样拆？”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6" name="TextBox 56"/>
          <p:cNvSpPr>
            <a:spLocks noGrp="1"/>
          </p:cNvSpPr>
          <p:nvPr/>
        </p:nvSpPr>
        <p:spPr>
          <a:xfrm>
            <a:off x="9614916" y="3353752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分支、依赖、驳回与修复原因</a:t>
            </a:r>
            <a:endParaRPr sz="105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8" name="Rectangle 58"/>
          <p:cNvSpPr>
            <a:spLocks noGrp="1"/>
          </p:cNvSpPr>
          <p:nvPr/>
        </p:nvSpPr>
        <p:spPr>
          <a:xfrm>
            <a:off x="495300" y="3867150"/>
            <a:ext cx="112014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59" name="Rectangle 59"/>
          <p:cNvSpPr>
            <a:spLocks noGrp="1"/>
          </p:cNvSpPr>
          <p:nvPr/>
        </p:nvSpPr>
        <p:spPr>
          <a:xfrm>
            <a:off x="495300" y="3867150"/>
            <a:ext cx="1276350" cy="876300"/>
          </a:xfrm>
          <a:prstGeom prst="roundRect">
            <a:avLst>
              <a:gd name="adj" fmla="val 6522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60" name="TextBox 60"/>
          <p:cNvSpPr>
            <a:spLocks noGrp="1"/>
          </p:cNvSpPr>
          <p:nvPr/>
        </p:nvSpPr>
        <p:spPr>
          <a:xfrm>
            <a:off x="679323" y="40533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03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1" name="TextBox 61"/>
          <p:cNvSpPr>
            <a:spLocks noGrp="1"/>
          </p:cNvSpPr>
          <p:nvPr/>
        </p:nvSpPr>
        <p:spPr>
          <a:xfrm>
            <a:off x="676656" y="43014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推进执行</a:t>
            </a:r>
            <a:endParaRPr sz="180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2" name="Freeform 62"/>
          <p:cNvSpPr>
            <a:spLocks noGrp="1"/>
          </p:cNvSpPr>
          <p:nvPr/>
        </p:nvSpPr>
        <p:spPr>
          <a:xfrm>
            <a:off x="2051844" y="4222749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63" name="Freeform 63"/>
          <p:cNvSpPr>
            <a:spLocks noGrp="1"/>
          </p:cNvSpPr>
          <p:nvPr/>
        </p:nvSpPr>
        <p:spPr>
          <a:xfrm>
            <a:off x="2051844" y="4098925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64" name="Freeform 64"/>
          <p:cNvSpPr>
            <a:spLocks noGrp="1"/>
          </p:cNvSpPr>
          <p:nvPr/>
        </p:nvSpPr>
        <p:spPr>
          <a:xfrm>
            <a:off x="2155031" y="4098925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65" name="Freeform 65"/>
          <p:cNvSpPr>
            <a:spLocks noGrp="1"/>
          </p:cNvSpPr>
          <p:nvPr/>
        </p:nvSpPr>
        <p:spPr>
          <a:xfrm>
            <a:off x="2072481" y="4140200"/>
            <a:ext cx="9525" cy="82550"/>
          </a:xfrm>
          <a:custGeom>
            <a:avLst/>
            <a:gdLst/>
            <a:ahLst/>
            <a:cxnLst/>
            <a:rect l="l" t="t" r="r" b="b"/>
            <a:pathLst>
              <a:path w="9525" h="82550">
                <a:moveTo>
                  <a:pt x="0" y="0"/>
                </a:moveTo>
                <a:lnTo>
                  <a:pt x="0" y="8255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66" name="Freeform 66"/>
          <p:cNvSpPr>
            <a:spLocks noGrp="1"/>
          </p:cNvSpPr>
          <p:nvPr/>
        </p:nvSpPr>
        <p:spPr>
          <a:xfrm>
            <a:off x="2093118" y="4171156"/>
            <a:ext cx="82550" cy="72231"/>
          </a:xfrm>
          <a:custGeom>
            <a:avLst/>
            <a:gdLst/>
            <a:ahLst/>
            <a:cxnLst/>
            <a:rect l="l" t="t" r="r" b="b"/>
            <a:pathLst>
              <a:path w="82550" h="72231">
                <a:moveTo>
                  <a:pt x="0" y="72231"/>
                </a:moveTo>
                <a:lnTo>
                  <a:pt x="61912" y="72231"/>
                </a:lnTo>
                <a:cubicBezTo>
                  <a:pt x="73310" y="72231"/>
                  <a:pt x="82550" y="62991"/>
                  <a:pt x="82550" y="51594"/>
                </a:cubicBezTo>
                <a:lnTo>
                  <a:pt x="82550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67" name="Freeform 67"/>
          <p:cNvSpPr>
            <a:spLocks noGrp="1"/>
          </p:cNvSpPr>
          <p:nvPr/>
        </p:nvSpPr>
        <p:spPr>
          <a:xfrm>
            <a:off x="2144712" y="4171156"/>
            <a:ext cx="61912" cy="30956"/>
          </a:xfrm>
          <a:custGeom>
            <a:avLst/>
            <a:gdLst/>
            <a:ahLst/>
            <a:cxnLst/>
            <a:rect l="l" t="t" r="r" b="b"/>
            <a:pathLst>
              <a:path w="61912" h="30956">
                <a:moveTo>
                  <a:pt x="0" y="30956"/>
                </a:moveTo>
                <a:lnTo>
                  <a:pt x="30956" y="0"/>
                </a:lnTo>
                <a:lnTo>
                  <a:pt x="61912" y="30956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69" name="TextBox 69"/>
          <p:cNvSpPr>
            <a:spLocks noGrp="1"/>
          </p:cNvSpPr>
          <p:nvPr/>
        </p:nvSpPr>
        <p:spPr>
          <a:xfrm>
            <a:off x="2336673" y="4110514"/>
            <a:ext cx="250106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Scheduler &amp; Worker Manager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70" name="Freeform 70"/>
          <p:cNvSpPr>
            <a:spLocks noGrp="1"/>
          </p:cNvSpPr>
          <p:nvPr/>
        </p:nvSpPr>
        <p:spPr>
          <a:xfrm>
            <a:off x="2058088" y="4443412"/>
            <a:ext cx="127898" cy="127898"/>
          </a:xfrm>
          <a:custGeom>
            <a:avLst/>
            <a:gdLst/>
            <a:ahLst/>
            <a:cxnLst/>
            <a:rect l="l" t="t" r="r" b="b"/>
            <a:pathLst>
              <a:path w="127898" h="127898">
                <a:moveTo>
                  <a:pt x="43130" y="0"/>
                </a:moveTo>
                <a:lnTo>
                  <a:pt x="127898" y="84768"/>
                </a:lnTo>
                <a:lnTo>
                  <a:pt x="106704" y="105963"/>
                </a:lnTo>
                <a:cubicBezTo>
                  <a:pt x="91664" y="121604"/>
                  <a:pt x="69346" y="127898"/>
                  <a:pt x="48350" y="122419"/>
                </a:cubicBezTo>
                <a:cubicBezTo>
                  <a:pt x="27355" y="116941"/>
                  <a:pt x="10958" y="100544"/>
                  <a:pt x="5479" y="79548"/>
                </a:cubicBezTo>
                <a:cubicBezTo>
                  <a:pt x="0" y="58552"/>
                  <a:pt x="6294" y="36234"/>
                  <a:pt x="21936" y="21195"/>
                </a:cubicBezTo>
                <a:lnTo>
                  <a:pt x="43130" y="0"/>
                </a:lnTo>
              </a:path>
            </a:pathLst>
          </a:custGeom>
          <a:noFill/>
          <a:ln w="19050">
            <a:solidFill>
              <a:srgbClr val="7C8A98"/>
            </a:solidFill>
          </a:ln>
        </p:spPr>
      </p:sp>
      <p:sp>
        <p:nvSpPr>
          <p:cNvPr id="71" name="Freeform 71"/>
          <p:cNvSpPr>
            <a:spLocks noGrp="1"/>
          </p:cNvSpPr>
          <p:nvPr/>
        </p:nvSpPr>
        <p:spPr>
          <a:xfrm>
            <a:off x="2041525" y="4551759"/>
            <a:ext cx="36116" cy="36116"/>
          </a:xfrm>
          <a:custGeom>
            <a:avLst/>
            <a:gdLst/>
            <a:ahLst/>
            <a:cxnLst/>
            <a:rect l="l" t="t" r="r" b="b"/>
            <a:pathLst>
              <a:path w="36116" h="36116">
                <a:moveTo>
                  <a:pt x="0" y="36116"/>
                </a:moveTo>
                <a:lnTo>
                  <a:pt x="36116" y="0"/>
                </a:lnTo>
              </a:path>
            </a:pathLst>
          </a:custGeom>
          <a:noFill/>
          <a:ln w="19050">
            <a:solidFill>
              <a:srgbClr val="7C8A98"/>
            </a:solidFill>
          </a:ln>
        </p:spPr>
      </p:sp>
      <p:sp>
        <p:nvSpPr>
          <p:cNvPr id="72" name="Freeform 72"/>
          <p:cNvSpPr>
            <a:spLocks noGrp="1"/>
          </p:cNvSpPr>
          <p:nvPr/>
        </p:nvSpPr>
        <p:spPr>
          <a:xfrm>
            <a:off x="2118915" y="4422775"/>
            <a:ext cx="36116" cy="36116"/>
          </a:xfrm>
          <a:custGeom>
            <a:avLst/>
            <a:gdLst/>
            <a:ahLst/>
            <a:cxnLst/>
            <a:rect l="l" t="t" r="r" b="b"/>
            <a:pathLst>
              <a:path w="36116" h="36116">
                <a:moveTo>
                  <a:pt x="36116" y="0"/>
                </a:moveTo>
                <a:lnTo>
                  <a:pt x="0" y="36116"/>
                </a:lnTo>
              </a:path>
            </a:pathLst>
          </a:custGeom>
          <a:noFill/>
          <a:ln w="19050">
            <a:solidFill>
              <a:srgbClr val="7C8A98"/>
            </a:solidFill>
          </a:ln>
        </p:spPr>
      </p:sp>
      <p:sp>
        <p:nvSpPr>
          <p:cNvPr id="73" name="Freeform 73"/>
          <p:cNvSpPr>
            <a:spLocks noGrp="1"/>
          </p:cNvSpPr>
          <p:nvPr/>
        </p:nvSpPr>
        <p:spPr>
          <a:xfrm>
            <a:off x="2170509" y="4474368"/>
            <a:ext cx="36116" cy="36116"/>
          </a:xfrm>
          <a:custGeom>
            <a:avLst/>
            <a:gdLst/>
            <a:ahLst/>
            <a:cxnLst/>
            <a:rect l="l" t="t" r="r" b="b"/>
            <a:pathLst>
              <a:path w="36116" h="36116">
                <a:moveTo>
                  <a:pt x="36116" y="0"/>
                </a:moveTo>
                <a:lnTo>
                  <a:pt x="0" y="36116"/>
                </a:lnTo>
              </a:path>
            </a:pathLst>
          </a:custGeom>
          <a:noFill/>
          <a:ln w="19050">
            <a:solidFill>
              <a:srgbClr val="7C8A98"/>
            </a:solidFill>
          </a:ln>
        </p:spPr>
      </p:sp>
      <p:sp>
        <p:nvSpPr>
          <p:cNvPr id="75" name="TextBox 75"/>
          <p:cNvSpPr>
            <a:spLocks noGrp="1"/>
          </p:cNvSpPr>
          <p:nvPr/>
        </p:nvSpPr>
        <p:spPr>
          <a:xfrm>
            <a:off x="2336673" y="4434364"/>
            <a:ext cx="116004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Tool Gateway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76" name="TextBox 76"/>
          <p:cNvSpPr>
            <a:spLocks noGrp="1"/>
          </p:cNvSpPr>
          <p:nvPr/>
        </p:nvSpPr>
        <p:spPr>
          <a:xfrm>
            <a:off x="6813423" y="40533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决定分支顺序、依赖、谁来做；</a:t>
            </a:r>
            <a:endParaRPr sz="128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7" name="TextBox 77"/>
          <p:cNvSpPr>
            <a:spLocks noGrp="1"/>
          </p:cNvSpPr>
          <p:nvPr/>
        </p:nvSpPr>
        <p:spPr>
          <a:xfrm>
            <a:off x="6813423" y="4301014"/>
            <a:ext cx="309697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当前支持显式批次与受限只读执行单元。</a:t>
            </a:r>
            <a:endParaRPr sz="128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8" name="TextBox 78"/>
          <p:cNvSpPr>
            <a:spLocks noGrp="1"/>
          </p:cNvSpPr>
          <p:nvPr/>
        </p:nvSpPr>
        <p:spPr>
          <a:xfrm>
            <a:off x="9613773" y="4053364"/>
            <a:ext cx="165297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“现在做到哪一步？”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79" name="TextBox 79"/>
          <p:cNvSpPr>
            <a:spLocks noGrp="1"/>
          </p:cNvSpPr>
          <p:nvPr/>
        </p:nvSpPr>
        <p:spPr>
          <a:xfrm>
            <a:off x="9614916" y="4325302"/>
            <a:ext cx="18694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当前：单进程，每波最多 3 个</a:t>
            </a:r>
            <a:endParaRPr sz="105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0" name="TextBox 80"/>
          <p:cNvSpPr>
            <a:spLocks noGrp="1"/>
          </p:cNvSpPr>
          <p:nvPr/>
        </p:nvSpPr>
        <p:spPr>
          <a:xfrm>
            <a:off x="9614916" y="4515802"/>
            <a:ext cx="152440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Tool Gateway 仍是目标</a:t>
            </a:r>
            <a:endParaRPr sz="105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2" name="Rectangle 82"/>
          <p:cNvSpPr>
            <a:spLocks noGrp="1"/>
          </p:cNvSpPr>
          <p:nvPr/>
        </p:nvSpPr>
        <p:spPr>
          <a:xfrm>
            <a:off x="495300" y="4857750"/>
            <a:ext cx="11201400" cy="876300"/>
          </a:xfrm>
          <a:prstGeom prst="roundRect">
            <a:avLst>
              <a:gd name="adj" fmla="val 6522"/>
            </a:avLst>
          </a:prstGeom>
          <a:solidFill>
            <a:srgbClr val="EDF1F4"/>
          </a:solidFill>
          <a:ln w="19050">
            <a:solidFill>
              <a:srgbClr val="CBD5DF"/>
            </a:solidFill>
          </a:ln>
        </p:spPr>
      </p:sp>
      <p:sp>
        <p:nvSpPr>
          <p:cNvPr id="83" name="Rectangle 83"/>
          <p:cNvSpPr>
            <a:spLocks noGrp="1"/>
          </p:cNvSpPr>
          <p:nvPr/>
        </p:nvSpPr>
        <p:spPr>
          <a:xfrm>
            <a:off x="495300" y="4857750"/>
            <a:ext cx="1276350" cy="876300"/>
          </a:xfrm>
          <a:prstGeom prst="roundRect">
            <a:avLst>
              <a:gd name="adj" fmla="val 6522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84" name="TextBox 84"/>
          <p:cNvSpPr>
            <a:spLocks noGrp="1"/>
          </p:cNvSpPr>
          <p:nvPr/>
        </p:nvSpPr>
        <p:spPr>
          <a:xfrm>
            <a:off x="679323" y="50439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04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5" name="TextBox 85"/>
          <p:cNvSpPr>
            <a:spLocks noGrp="1"/>
          </p:cNvSpPr>
          <p:nvPr/>
        </p:nvSpPr>
        <p:spPr>
          <a:xfrm>
            <a:off x="676656" y="5292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成果恢复</a:t>
            </a:r>
            <a:endParaRPr sz="180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86" name="Freeform 86"/>
          <p:cNvSpPr>
            <a:spLocks noGrp="1"/>
          </p:cNvSpPr>
          <p:nvPr/>
        </p:nvSpPr>
        <p:spPr>
          <a:xfrm>
            <a:off x="2144712" y="5079206"/>
            <a:ext cx="51594" cy="51594"/>
          </a:xfrm>
          <a:custGeom>
            <a:avLst/>
            <a:gdLst/>
            <a:ahLst/>
            <a:cxnLst/>
            <a:rect l="l" t="t" r="r" b="b"/>
            <a:pathLst>
              <a:path w="51594" h="51594">
                <a:moveTo>
                  <a:pt x="0" y="0"/>
                </a:moveTo>
                <a:lnTo>
                  <a:pt x="0" y="41275"/>
                </a:lnTo>
                <a:cubicBezTo>
                  <a:pt x="0" y="46974"/>
                  <a:pt x="4620" y="51594"/>
                  <a:pt x="10319" y="51594"/>
                </a:cubicBezTo>
                <a:lnTo>
                  <a:pt x="51594" y="51594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87" name="Freeform 87"/>
          <p:cNvSpPr>
            <a:spLocks noGrp="1"/>
          </p:cNvSpPr>
          <p:nvPr/>
        </p:nvSpPr>
        <p:spPr>
          <a:xfrm>
            <a:off x="2051844" y="5079206"/>
            <a:ext cx="144462" cy="185737"/>
          </a:xfrm>
          <a:custGeom>
            <a:avLst/>
            <a:gdLst/>
            <a:ahLst/>
            <a:cxnLst/>
            <a:rect l="l" t="t" r="r" b="b"/>
            <a:pathLst>
              <a:path w="144462" h="185737">
                <a:moveTo>
                  <a:pt x="123825" y="185737"/>
                </a:moveTo>
                <a:lnTo>
                  <a:pt x="20637" y="185737"/>
                </a:lnTo>
                <a:cubicBezTo>
                  <a:pt x="9240" y="185737"/>
                  <a:pt x="0" y="176497"/>
                  <a:pt x="0" y="165099"/>
                </a:cubicBezTo>
                <a:lnTo>
                  <a:pt x="0" y="20637"/>
                </a:lnTo>
                <a:cubicBezTo>
                  <a:pt x="0" y="9240"/>
                  <a:pt x="9240" y="0"/>
                  <a:pt x="20637" y="0"/>
                </a:cubicBezTo>
                <a:lnTo>
                  <a:pt x="92868" y="0"/>
                </a:lnTo>
                <a:lnTo>
                  <a:pt x="144462" y="51594"/>
                </a:lnTo>
                <a:lnTo>
                  <a:pt x="144462" y="165099"/>
                </a:lnTo>
                <a:cubicBezTo>
                  <a:pt x="144462" y="176497"/>
                  <a:pt x="135222" y="185737"/>
                  <a:pt x="123825" y="185737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88" name="Freeform 88"/>
          <p:cNvSpPr>
            <a:spLocks noGrp="1"/>
          </p:cNvSpPr>
          <p:nvPr/>
        </p:nvSpPr>
        <p:spPr>
          <a:xfrm>
            <a:off x="2082800" y="5161756"/>
            <a:ext cx="82550" cy="72231"/>
          </a:xfrm>
          <a:custGeom>
            <a:avLst/>
            <a:gdLst/>
            <a:ahLst/>
            <a:cxnLst/>
            <a:rect l="l" t="t" r="r" b="b"/>
            <a:pathLst>
              <a:path w="82550" h="72231">
                <a:moveTo>
                  <a:pt x="0" y="0"/>
                </a:moveTo>
                <a:lnTo>
                  <a:pt x="82550" y="0"/>
                </a:lnTo>
                <a:lnTo>
                  <a:pt x="82550" y="72231"/>
                </a:lnTo>
                <a:lnTo>
                  <a:pt x="0" y="72231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89" name="Freeform 89"/>
          <p:cNvSpPr>
            <a:spLocks noGrp="1"/>
          </p:cNvSpPr>
          <p:nvPr/>
        </p:nvSpPr>
        <p:spPr>
          <a:xfrm>
            <a:off x="2082800" y="5203031"/>
            <a:ext cx="82550" cy="9525"/>
          </a:xfrm>
          <a:custGeom>
            <a:avLst/>
            <a:gdLst/>
            <a:ahLst/>
            <a:cxnLst/>
            <a:rect l="l" t="t" r="r" b="b"/>
            <a:pathLst>
              <a:path w="82550" h="9525">
                <a:moveTo>
                  <a:pt x="0" y="0"/>
                </a:moveTo>
                <a:lnTo>
                  <a:pt x="82550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90" name="Freeform 90"/>
          <p:cNvSpPr>
            <a:spLocks noGrp="1"/>
          </p:cNvSpPr>
          <p:nvPr/>
        </p:nvSpPr>
        <p:spPr>
          <a:xfrm>
            <a:off x="2113756" y="5161756"/>
            <a:ext cx="9525" cy="72231"/>
          </a:xfrm>
          <a:custGeom>
            <a:avLst/>
            <a:gdLst/>
            <a:ahLst/>
            <a:cxnLst/>
            <a:rect l="l" t="t" r="r" b="b"/>
            <a:pathLst>
              <a:path w="9525" h="72231">
                <a:moveTo>
                  <a:pt x="0" y="0"/>
                </a:moveTo>
                <a:lnTo>
                  <a:pt x="0" y="72231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92" name="TextBox 92"/>
          <p:cNvSpPr>
            <a:spLocks noGrp="1"/>
          </p:cNvSpPr>
          <p:nvPr/>
        </p:nvSpPr>
        <p:spPr>
          <a:xfrm>
            <a:off x="2336673" y="5101114"/>
            <a:ext cx="26711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Artifact Workspace &amp; Verifier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93" name="Freeform 93"/>
          <p:cNvSpPr>
            <a:spLocks noGrp="1"/>
          </p:cNvSpPr>
          <p:nvPr/>
        </p:nvSpPr>
        <p:spPr>
          <a:xfrm>
            <a:off x="2041525" y="5403056"/>
            <a:ext cx="165099" cy="61912"/>
          </a:xfrm>
          <a:custGeom>
            <a:avLst/>
            <a:gdLst/>
            <a:ahLst/>
            <a:cxnLst/>
            <a:rect l="l" t="t" r="r" b="b"/>
            <a:pathLst>
              <a:path w="165099" h="61912">
                <a:moveTo>
                  <a:pt x="0" y="30956"/>
                </a:moveTo>
                <a:cubicBezTo>
                  <a:pt x="0" y="48053"/>
                  <a:pt x="36959" y="61912"/>
                  <a:pt x="82550" y="61912"/>
                </a:cubicBezTo>
                <a:cubicBezTo>
                  <a:pt x="128141" y="61912"/>
                  <a:pt x="165099" y="48053"/>
                  <a:pt x="165099" y="30956"/>
                </a:cubicBezTo>
                <a:cubicBezTo>
                  <a:pt x="165099" y="13860"/>
                  <a:pt x="128141" y="0"/>
                  <a:pt x="82550" y="0"/>
                </a:cubicBezTo>
                <a:cubicBezTo>
                  <a:pt x="36959" y="0"/>
                  <a:pt x="0" y="13860"/>
                  <a:pt x="0" y="30956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94" name="Freeform 94"/>
          <p:cNvSpPr>
            <a:spLocks noGrp="1"/>
          </p:cNvSpPr>
          <p:nvPr/>
        </p:nvSpPr>
        <p:spPr>
          <a:xfrm>
            <a:off x="2041525" y="5434012"/>
            <a:ext cx="165099" cy="92868"/>
          </a:xfrm>
          <a:custGeom>
            <a:avLst/>
            <a:gdLst/>
            <a:ahLst/>
            <a:cxnLst/>
            <a:rect l="l" t="t" r="r" b="b"/>
            <a:pathLst>
              <a:path w="165099" h="92868">
                <a:moveTo>
                  <a:pt x="0" y="0"/>
                </a:moveTo>
                <a:lnTo>
                  <a:pt x="0" y="61912"/>
                </a:lnTo>
                <a:cubicBezTo>
                  <a:pt x="0" y="79009"/>
                  <a:pt x="36959" y="92868"/>
                  <a:pt x="82550" y="92868"/>
                </a:cubicBezTo>
                <a:cubicBezTo>
                  <a:pt x="128141" y="92868"/>
                  <a:pt x="165099" y="79009"/>
                  <a:pt x="165099" y="61912"/>
                </a:cubicBezTo>
                <a:lnTo>
                  <a:pt x="165099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95" name="Freeform 95"/>
          <p:cNvSpPr>
            <a:spLocks noGrp="1"/>
          </p:cNvSpPr>
          <p:nvPr/>
        </p:nvSpPr>
        <p:spPr>
          <a:xfrm>
            <a:off x="2041525" y="5495925"/>
            <a:ext cx="165099" cy="92868"/>
          </a:xfrm>
          <a:custGeom>
            <a:avLst/>
            <a:gdLst/>
            <a:ahLst/>
            <a:cxnLst/>
            <a:rect l="l" t="t" r="r" b="b"/>
            <a:pathLst>
              <a:path w="165099" h="92868">
                <a:moveTo>
                  <a:pt x="0" y="0"/>
                </a:moveTo>
                <a:lnTo>
                  <a:pt x="0" y="61912"/>
                </a:lnTo>
                <a:cubicBezTo>
                  <a:pt x="0" y="79009"/>
                  <a:pt x="36959" y="92868"/>
                  <a:pt x="82550" y="92868"/>
                </a:cubicBezTo>
                <a:cubicBezTo>
                  <a:pt x="128141" y="92868"/>
                  <a:pt x="165099" y="79009"/>
                  <a:pt x="165099" y="61912"/>
                </a:cubicBezTo>
                <a:lnTo>
                  <a:pt x="165099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97" name="TextBox 97"/>
          <p:cNvSpPr>
            <a:spLocks noGrp="1"/>
          </p:cNvSpPr>
          <p:nvPr/>
        </p:nvSpPr>
        <p:spPr>
          <a:xfrm>
            <a:off x="2336673" y="5424964"/>
            <a:ext cx="353400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Checkpoint, Event &amp; Governance Control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98" name="TextBox 98"/>
          <p:cNvSpPr>
            <a:spLocks noGrp="1"/>
          </p:cNvSpPr>
          <p:nvPr/>
        </p:nvSpPr>
        <p:spPr>
          <a:xfrm>
            <a:off x="6813423" y="5043964"/>
            <a:ext cx="31243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保存成果版本与校验；让 Snapshot 成为</a:t>
            </a:r>
            <a:endParaRPr sz="128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9" name="TextBox 99"/>
          <p:cNvSpPr>
            <a:spLocks noGrp="1"/>
          </p:cNvSpPr>
          <p:nvPr/>
        </p:nvSpPr>
        <p:spPr>
          <a:xfrm>
            <a:off x="6813423" y="5291614"/>
            <a:ext cx="2587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状态权威，事件只负责有序投影。</a:t>
            </a:r>
            <a:endParaRPr sz="128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0" name="TextBox 100"/>
          <p:cNvSpPr>
            <a:spLocks noGrp="1"/>
          </p:cNvSpPr>
          <p:nvPr/>
        </p:nvSpPr>
        <p:spPr>
          <a:xfrm>
            <a:off x="9613773" y="5043964"/>
            <a:ext cx="255409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“结果能否下载、核对、恢复？”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01" name="TextBox 101"/>
          <p:cNvSpPr>
            <a:spLocks noGrp="1"/>
          </p:cNvSpPr>
          <p:nvPr/>
        </p:nvSpPr>
        <p:spPr>
          <a:xfrm>
            <a:off x="9614916" y="5334952"/>
            <a:ext cx="24136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固定成果校验、版本、审计与重启恢复</a:t>
            </a:r>
            <a:endParaRPr sz="105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7" name="TextBox 107"/>
          <p:cNvSpPr>
            <a:spLocks noGrp="1"/>
          </p:cNvSpPr>
          <p:nvPr/>
        </p:nvSpPr>
        <p:spPr>
          <a:xfrm>
            <a:off x="109511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04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/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/>
          <p:cNvSpPr>
            <a:spLocks noGrp="1"/>
          </p:cNvSpPr>
          <p:nvPr/>
        </p:nvSpPr>
        <p:spPr>
          <a:xfrm>
            <a:off x="477774" y="370522"/>
            <a:ext cx="8487200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智能体控制循环：当前实现与缺口</a:t>
            </a:r>
            <a:endParaRPr sz="34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6" name="Freeform 16"/>
          <p:cNvSpPr>
            <a:spLocks noGrp="1"/>
          </p:cNvSpPr>
          <p:nvPr/>
        </p:nvSpPr>
        <p:spPr>
          <a:xfrm>
            <a:off x="1200150" y="2647950"/>
            <a:ext cx="8610600" cy="9525"/>
          </a:xfrm>
          <a:custGeom>
            <a:avLst/>
            <a:gdLst/>
            <a:ahLst/>
            <a:cxnLst/>
            <a:rect l="l" t="t" r="r" b="b"/>
            <a:pathLst>
              <a:path w="8610600" h="9525">
                <a:moveTo>
                  <a:pt x="0" y="0"/>
                </a:moveTo>
                <a:lnTo>
                  <a:pt x="861060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CBD5DF"/>
            </a:solidFill>
          </a:ln>
        </p:spPr>
      </p:sp>
      <p:sp>
        <p:nvSpPr>
          <p:cNvPr id="17" name="Ellipse 17"/>
          <p:cNvSpPr>
            <a:spLocks noGrp="1"/>
          </p:cNvSpPr>
          <p:nvPr/>
        </p:nvSpPr>
        <p:spPr>
          <a:xfrm>
            <a:off x="1219200" y="2133600"/>
            <a:ext cx="1028700" cy="10287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8" name="Freeform 18"/>
          <p:cNvSpPr>
            <a:spLocks noGrp="1"/>
          </p:cNvSpPr>
          <p:nvPr/>
        </p:nvSpPr>
        <p:spPr>
          <a:xfrm>
            <a:off x="1701800" y="248285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31750"/>
                </a:moveTo>
                <a:cubicBezTo>
                  <a:pt x="0" y="49285"/>
                  <a:pt x="14215" y="63500"/>
                  <a:pt x="31750" y="63500"/>
                </a:cubicBezTo>
                <a:cubicBezTo>
                  <a:pt x="49285" y="63500"/>
                  <a:pt x="63500" y="49285"/>
                  <a:pt x="63500" y="31750"/>
                </a:cubicBezTo>
                <a:cubicBezTo>
                  <a:pt x="63500" y="14215"/>
                  <a:pt x="49285" y="0"/>
                  <a:pt x="31750" y="0"/>
                </a:cubicBezTo>
                <a:cubicBezTo>
                  <a:pt x="14215" y="0"/>
                  <a:pt x="0" y="14215"/>
                  <a:pt x="0" y="3175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19" name="Freeform 19"/>
          <p:cNvSpPr>
            <a:spLocks noGrp="1"/>
          </p:cNvSpPr>
          <p:nvPr/>
        </p:nvSpPr>
        <p:spPr>
          <a:xfrm>
            <a:off x="1590675" y="2419350"/>
            <a:ext cx="285751" cy="190500"/>
          </a:xfrm>
          <a:custGeom>
            <a:avLst/>
            <a:gdLst/>
            <a:ahLst/>
            <a:cxnLst/>
            <a:rect l="l" t="t" r="r" b="b"/>
            <a:pathLst>
              <a:path w="285751" h="190500">
                <a:moveTo>
                  <a:pt x="285751" y="95250"/>
                </a:moveTo>
                <a:cubicBezTo>
                  <a:pt x="247650" y="158750"/>
                  <a:pt x="200025" y="190500"/>
                  <a:pt x="142875" y="190500"/>
                </a:cubicBezTo>
                <a:cubicBezTo>
                  <a:pt x="85725" y="190500"/>
                  <a:pt x="38100" y="158750"/>
                  <a:pt x="0" y="95250"/>
                </a:cubicBezTo>
                <a:cubicBezTo>
                  <a:pt x="38100" y="31750"/>
                  <a:pt x="85725" y="0"/>
                  <a:pt x="142875" y="0"/>
                </a:cubicBezTo>
                <a:cubicBezTo>
                  <a:pt x="200025" y="0"/>
                  <a:pt x="247650" y="31750"/>
                  <a:pt x="285751" y="9525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21" name="TextBox 21"/>
          <p:cNvSpPr>
            <a:spLocks noGrp="1"/>
          </p:cNvSpPr>
          <p:nvPr/>
        </p:nvSpPr>
        <p:spPr>
          <a:xfrm>
            <a:off x="1359171" y="2872264"/>
            <a:ext cx="7487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观察</a:t>
            </a:r>
            <a:endParaRPr sz="128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2" name="Ellipse 22"/>
          <p:cNvSpPr>
            <a:spLocks noGrp="1"/>
          </p:cNvSpPr>
          <p:nvPr/>
        </p:nvSpPr>
        <p:spPr>
          <a:xfrm>
            <a:off x="3124200" y="2133600"/>
            <a:ext cx="1028700" cy="10287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23" name="Freeform 23"/>
          <p:cNvSpPr>
            <a:spLocks noGrp="1"/>
          </p:cNvSpPr>
          <p:nvPr/>
        </p:nvSpPr>
        <p:spPr>
          <a:xfrm>
            <a:off x="3495675" y="2593976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31750"/>
                </a:moveTo>
                <a:cubicBezTo>
                  <a:pt x="0" y="49285"/>
                  <a:pt x="14215" y="63500"/>
                  <a:pt x="31750" y="63500"/>
                </a:cubicBezTo>
                <a:cubicBezTo>
                  <a:pt x="49285" y="63500"/>
                  <a:pt x="63500" y="49285"/>
                  <a:pt x="63500" y="31750"/>
                </a:cubicBezTo>
                <a:cubicBezTo>
                  <a:pt x="63500" y="14215"/>
                  <a:pt x="49285" y="0"/>
                  <a:pt x="31750" y="0"/>
                </a:cubicBezTo>
                <a:cubicBezTo>
                  <a:pt x="14215" y="0"/>
                  <a:pt x="0" y="14215"/>
                  <a:pt x="0" y="3175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24" name="Freeform 24"/>
          <p:cNvSpPr>
            <a:spLocks noGrp="1"/>
          </p:cNvSpPr>
          <p:nvPr/>
        </p:nvSpPr>
        <p:spPr>
          <a:xfrm>
            <a:off x="3717926" y="23717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cubicBezTo>
                  <a:pt x="49285" y="63500"/>
                  <a:pt x="63500" y="49285"/>
                  <a:pt x="63500" y="31750"/>
                </a:cubicBezTo>
                <a:cubicBezTo>
                  <a:pt x="63500" y="14215"/>
                  <a:pt x="49285" y="0"/>
                  <a:pt x="31750" y="0"/>
                </a:cubicBezTo>
                <a:cubicBezTo>
                  <a:pt x="14215" y="0"/>
                  <a:pt x="0" y="14215"/>
                  <a:pt x="0" y="31750"/>
                </a:cubicBezTo>
                <a:cubicBezTo>
                  <a:pt x="0" y="49285"/>
                  <a:pt x="14215" y="63500"/>
                  <a:pt x="31750" y="6350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25" name="Freeform 25"/>
          <p:cNvSpPr>
            <a:spLocks noGrp="1"/>
          </p:cNvSpPr>
          <p:nvPr/>
        </p:nvSpPr>
        <p:spPr>
          <a:xfrm>
            <a:off x="3527425" y="2403475"/>
            <a:ext cx="238125" cy="222250"/>
          </a:xfrm>
          <a:custGeom>
            <a:avLst/>
            <a:gdLst/>
            <a:ahLst/>
            <a:cxnLst/>
            <a:rect l="l" t="t" r="r" b="b"/>
            <a:pathLst>
              <a:path w="238125" h="222250">
                <a:moveTo>
                  <a:pt x="95250" y="222250"/>
                </a:moveTo>
                <a:lnTo>
                  <a:pt x="182563" y="222250"/>
                </a:lnTo>
                <a:cubicBezTo>
                  <a:pt x="213249" y="222250"/>
                  <a:pt x="238125" y="197374"/>
                  <a:pt x="238125" y="166688"/>
                </a:cubicBezTo>
                <a:cubicBezTo>
                  <a:pt x="238125" y="136001"/>
                  <a:pt x="213249" y="111125"/>
                  <a:pt x="182563" y="111125"/>
                </a:cubicBezTo>
                <a:lnTo>
                  <a:pt x="55563" y="111125"/>
                </a:lnTo>
                <a:cubicBezTo>
                  <a:pt x="24876" y="111125"/>
                  <a:pt x="0" y="86249"/>
                  <a:pt x="0" y="55563"/>
                </a:cubicBezTo>
                <a:cubicBezTo>
                  <a:pt x="0" y="24876"/>
                  <a:pt x="24876" y="0"/>
                  <a:pt x="55563" y="0"/>
                </a:cubicBezTo>
                <a:lnTo>
                  <a:pt x="12700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27" name="TextBox 27"/>
          <p:cNvSpPr>
            <a:spLocks noGrp="1"/>
          </p:cNvSpPr>
          <p:nvPr/>
        </p:nvSpPr>
        <p:spPr>
          <a:xfrm>
            <a:off x="3453869" y="2872264"/>
            <a:ext cx="3693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规划</a:t>
            </a:r>
            <a:endParaRPr sz="128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8" name="Ellipse 28"/>
          <p:cNvSpPr>
            <a:spLocks noGrp="1"/>
          </p:cNvSpPr>
          <p:nvPr/>
        </p:nvSpPr>
        <p:spPr>
          <a:xfrm>
            <a:off x="5029200" y="2133600"/>
            <a:ext cx="1028700" cy="1028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9" name="Freeform 29"/>
          <p:cNvSpPr>
            <a:spLocks noGrp="1"/>
          </p:cNvSpPr>
          <p:nvPr/>
        </p:nvSpPr>
        <p:spPr>
          <a:xfrm>
            <a:off x="5442033" y="2419350"/>
            <a:ext cx="196768" cy="196768"/>
          </a:xfrm>
          <a:custGeom>
            <a:avLst/>
            <a:gdLst/>
            <a:ahLst/>
            <a:cxnLst/>
            <a:rect l="l" t="t" r="r" b="b"/>
            <a:pathLst>
              <a:path w="196768" h="196768">
                <a:moveTo>
                  <a:pt x="66354" y="0"/>
                </a:moveTo>
                <a:lnTo>
                  <a:pt x="196768" y="130413"/>
                </a:lnTo>
                <a:lnTo>
                  <a:pt x="164160" y="163021"/>
                </a:lnTo>
                <a:cubicBezTo>
                  <a:pt x="141022" y="187085"/>
                  <a:pt x="106687" y="196768"/>
                  <a:pt x="74386" y="188339"/>
                </a:cubicBezTo>
                <a:cubicBezTo>
                  <a:pt x="42084" y="179909"/>
                  <a:pt x="16858" y="154684"/>
                  <a:pt x="8429" y="122382"/>
                </a:cubicBezTo>
                <a:cubicBezTo>
                  <a:pt x="0" y="90081"/>
                  <a:pt x="9683" y="55745"/>
                  <a:pt x="33747" y="32607"/>
                </a:cubicBezTo>
                <a:lnTo>
                  <a:pt x="66354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30" name="Freeform 30"/>
          <p:cNvSpPr>
            <a:spLocks noGrp="1"/>
          </p:cNvSpPr>
          <p:nvPr/>
        </p:nvSpPr>
        <p:spPr>
          <a:xfrm>
            <a:off x="5416550" y="2586038"/>
            <a:ext cx="55563" cy="55563"/>
          </a:xfrm>
          <a:custGeom>
            <a:avLst/>
            <a:gdLst/>
            <a:ahLst/>
            <a:cxnLst/>
            <a:rect l="l" t="t" r="r" b="b"/>
            <a:pathLst>
              <a:path w="55563" h="55563">
                <a:moveTo>
                  <a:pt x="0" y="55563"/>
                </a:moveTo>
                <a:lnTo>
                  <a:pt x="55563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31" name="Freeform 31"/>
          <p:cNvSpPr>
            <a:spLocks noGrp="1"/>
          </p:cNvSpPr>
          <p:nvPr/>
        </p:nvSpPr>
        <p:spPr>
          <a:xfrm>
            <a:off x="5535613" y="2387600"/>
            <a:ext cx="55563" cy="55563"/>
          </a:xfrm>
          <a:custGeom>
            <a:avLst/>
            <a:gdLst/>
            <a:ahLst/>
            <a:cxnLst/>
            <a:rect l="l" t="t" r="r" b="b"/>
            <a:pathLst>
              <a:path w="55563" h="55563">
                <a:moveTo>
                  <a:pt x="55563" y="0"/>
                </a:moveTo>
                <a:lnTo>
                  <a:pt x="0" y="55563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32" name="Freeform 32"/>
          <p:cNvSpPr>
            <a:spLocks noGrp="1"/>
          </p:cNvSpPr>
          <p:nvPr/>
        </p:nvSpPr>
        <p:spPr>
          <a:xfrm>
            <a:off x="5614988" y="2466975"/>
            <a:ext cx="55563" cy="55563"/>
          </a:xfrm>
          <a:custGeom>
            <a:avLst/>
            <a:gdLst/>
            <a:ahLst/>
            <a:cxnLst/>
            <a:rect l="l" t="t" r="r" b="b"/>
            <a:pathLst>
              <a:path w="55563" h="55563">
                <a:moveTo>
                  <a:pt x="55563" y="0"/>
                </a:moveTo>
                <a:lnTo>
                  <a:pt x="0" y="55563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34" name="TextBox 34"/>
          <p:cNvSpPr>
            <a:spLocks noGrp="1"/>
          </p:cNvSpPr>
          <p:nvPr/>
        </p:nvSpPr>
        <p:spPr>
          <a:xfrm>
            <a:off x="5385584" y="2872264"/>
            <a:ext cx="3159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执行</a:t>
            </a:r>
            <a:endParaRPr sz="128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5" name="Ellipse 35"/>
          <p:cNvSpPr>
            <a:spLocks noGrp="1"/>
          </p:cNvSpPr>
          <p:nvPr/>
        </p:nvSpPr>
        <p:spPr>
          <a:xfrm>
            <a:off x="6934200" y="2133600"/>
            <a:ext cx="1028700" cy="1028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6" name="Freeform 36"/>
          <p:cNvSpPr>
            <a:spLocks noGrp="1"/>
          </p:cNvSpPr>
          <p:nvPr/>
        </p:nvSpPr>
        <p:spPr>
          <a:xfrm>
            <a:off x="7284251" y="2371725"/>
            <a:ext cx="310011" cy="283306"/>
          </a:xfrm>
          <a:custGeom>
            <a:avLst/>
            <a:gdLst/>
            <a:ahLst/>
            <a:cxnLst/>
            <a:rect l="l" t="t" r="r" b="b"/>
            <a:pathLst>
              <a:path w="310011" h="283306">
                <a:moveTo>
                  <a:pt x="155727" y="283306"/>
                </a:moveTo>
                <a:cubicBezTo>
                  <a:pt x="56277" y="252479"/>
                  <a:pt x="0" y="147517"/>
                  <a:pt x="29362" y="47625"/>
                </a:cubicBezTo>
                <a:cubicBezTo>
                  <a:pt x="78821" y="49888"/>
                  <a:pt x="127218" y="32807"/>
                  <a:pt x="164299" y="0"/>
                </a:cubicBezTo>
                <a:cubicBezTo>
                  <a:pt x="201381" y="32807"/>
                  <a:pt x="249778" y="49888"/>
                  <a:pt x="299237" y="47625"/>
                </a:cubicBezTo>
                <a:cubicBezTo>
                  <a:pt x="310011" y="84282"/>
                  <a:pt x="309513" y="123332"/>
                  <a:pt x="297808" y="159703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37" name="Freeform 37"/>
          <p:cNvSpPr>
            <a:spLocks noGrp="1"/>
          </p:cNvSpPr>
          <p:nvPr/>
        </p:nvSpPr>
        <p:spPr>
          <a:xfrm>
            <a:off x="7496175" y="2593976"/>
            <a:ext cx="95250" cy="63500"/>
          </a:xfrm>
          <a:custGeom>
            <a:avLst/>
            <a:gdLst/>
            <a:ahLst/>
            <a:cxnLst/>
            <a:rect l="l" t="t" r="r" b="b"/>
            <a:pathLst>
              <a:path w="95250" h="63500">
                <a:moveTo>
                  <a:pt x="0" y="31750"/>
                </a:moveTo>
                <a:lnTo>
                  <a:pt x="31750" y="63500"/>
                </a:lnTo>
                <a:lnTo>
                  <a:pt x="9525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39" name="TextBox 39"/>
          <p:cNvSpPr>
            <a:spLocks noGrp="1"/>
          </p:cNvSpPr>
          <p:nvPr/>
        </p:nvSpPr>
        <p:spPr>
          <a:xfrm>
            <a:off x="7164641" y="2872264"/>
            <a:ext cx="56781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核验</a:t>
            </a:r>
            <a:endParaRPr sz="128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0" name="Ellipse 40"/>
          <p:cNvSpPr>
            <a:spLocks noGrp="1"/>
          </p:cNvSpPr>
          <p:nvPr/>
        </p:nvSpPr>
        <p:spPr>
          <a:xfrm>
            <a:off x="8839200" y="2133600"/>
            <a:ext cx="1028700" cy="1028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1" name="Freeform 41"/>
          <p:cNvSpPr>
            <a:spLocks noGrp="1"/>
          </p:cNvSpPr>
          <p:nvPr/>
        </p:nvSpPr>
        <p:spPr>
          <a:xfrm>
            <a:off x="9321800" y="2403475"/>
            <a:ext cx="158750" cy="222250"/>
          </a:xfrm>
          <a:custGeom>
            <a:avLst/>
            <a:gdLst/>
            <a:ahLst/>
            <a:cxnLst/>
            <a:rect l="l" t="t" r="r" b="b"/>
            <a:pathLst>
              <a:path w="158750" h="222250">
                <a:moveTo>
                  <a:pt x="0" y="31750"/>
                </a:moveTo>
                <a:cubicBezTo>
                  <a:pt x="0" y="14215"/>
                  <a:pt x="14215" y="0"/>
                  <a:pt x="31750" y="0"/>
                </a:cubicBezTo>
                <a:lnTo>
                  <a:pt x="127000" y="0"/>
                </a:lnTo>
                <a:cubicBezTo>
                  <a:pt x="144535" y="0"/>
                  <a:pt x="158750" y="14215"/>
                  <a:pt x="158750" y="31750"/>
                </a:cubicBezTo>
                <a:lnTo>
                  <a:pt x="158750" y="190500"/>
                </a:lnTo>
                <a:cubicBezTo>
                  <a:pt x="158750" y="208035"/>
                  <a:pt x="144535" y="222250"/>
                  <a:pt x="127000" y="222250"/>
                </a:cubicBezTo>
                <a:lnTo>
                  <a:pt x="31750" y="222250"/>
                </a:lnTo>
                <a:cubicBezTo>
                  <a:pt x="14215" y="222250"/>
                  <a:pt x="0" y="208035"/>
                  <a:pt x="0" y="190500"/>
                </a:cubicBezTo>
                <a:lnTo>
                  <a:pt x="0" y="3175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2" name="Freeform 42"/>
          <p:cNvSpPr>
            <a:spLocks noGrp="1"/>
          </p:cNvSpPr>
          <p:nvPr/>
        </p:nvSpPr>
        <p:spPr>
          <a:xfrm>
            <a:off x="9274175" y="2435225"/>
            <a:ext cx="9525" cy="158750"/>
          </a:xfrm>
          <a:custGeom>
            <a:avLst/>
            <a:gdLst/>
            <a:ahLst/>
            <a:cxnLst/>
            <a:rect l="l" t="t" r="r" b="b"/>
            <a:pathLst>
              <a:path w="9525" h="158750">
                <a:moveTo>
                  <a:pt x="0" y="0"/>
                </a:moveTo>
                <a:lnTo>
                  <a:pt x="0" y="15875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3" name="Freeform 43"/>
          <p:cNvSpPr>
            <a:spLocks noGrp="1"/>
          </p:cNvSpPr>
          <p:nvPr/>
        </p:nvSpPr>
        <p:spPr>
          <a:xfrm>
            <a:off x="9226550" y="2451100"/>
            <a:ext cx="9525" cy="127000"/>
          </a:xfrm>
          <a:custGeom>
            <a:avLst/>
            <a:gdLst/>
            <a:ahLst/>
            <a:cxnLst/>
            <a:rect l="l" t="t" r="r" b="b"/>
            <a:pathLst>
              <a:path w="9525" h="127000">
                <a:moveTo>
                  <a:pt x="0" y="0"/>
                </a:moveTo>
                <a:lnTo>
                  <a:pt x="0" y="1270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5" name="TextBox 45"/>
          <p:cNvSpPr>
            <a:spLocks noGrp="1"/>
          </p:cNvSpPr>
          <p:nvPr/>
        </p:nvSpPr>
        <p:spPr>
          <a:xfrm>
            <a:off x="9033256" y="2872264"/>
            <a:ext cx="64058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提交</a:t>
            </a:r>
            <a:endParaRPr sz="128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6" name="Freeform 46"/>
          <p:cNvSpPr>
            <a:spLocks noGrp="1"/>
          </p:cNvSpPr>
          <p:nvPr/>
        </p:nvSpPr>
        <p:spPr>
          <a:xfrm>
            <a:off x="1733550" y="1981200"/>
            <a:ext cx="8934450" cy="666750"/>
          </a:xfrm>
          <a:custGeom>
            <a:avLst/>
            <a:gdLst/>
            <a:ahLst/>
            <a:cxnLst/>
            <a:rect l="l" t="t" r="r" b="b"/>
            <a:pathLst>
              <a:path w="8934450" h="666750">
                <a:moveTo>
                  <a:pt x="8134350" y="666750"/>
                </a:moveTo>
                <a:lnTo>
                  <a:pt x="8934450" y="666750"/>
                </a:lnTo>
                <a:lnTo>
                  <a:pt x="8934450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7706"/>
            </a:solidFill>
          </a:ln>
        </p:spPr>
      </p:sp>
      <p:sp>
        <p:nvSpPr>
          <p:cNvPr id="47" name="TextBox 47"/>
          <p:cNvSpPr>
            <a:spLocks noGrp="1"/>
          </p:cNvSpPr>
          <p:nvPr/>
        </p:nvSpPr>
        <p:spPr>
          <a:xfrm>
            <a:off x="10075164" y="22869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>
                <a:solidFill>
                  <a:srgbClr val="B54708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默认 12 轮，上限 24 轮</a:t>
            </a:r>
            <a:endParaRPr sz="1050">
              <a:solidFill>
                <a:srgbClr val="B54708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9" name="Rectangle 49"/>
          <p:cNvSpPr>
            <a:spLocks noGrp="1"/>
          </p:cNvSpPr>
          <p:nvPr/>
        </p:nvSpPr>
        <p:spPr>
          <a:xfrm>
            <a:off x="495300" y="3600450"/>
            <a:ext cx="11201400" cy="18859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50" name="TextBox 50"/>
          <p:cNvSpPr>
            <a:spLocks noGrp="1"/>
          </p:cNvSpPr>
          <p:nvPr/>
        </p:nvSpPr>
        <p:spPr>
          <a:xfrm>
            <a:off x="714756" y="374904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外围控制与状态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1" name="Freeform 51"/>
          <p:cNvSpPr>
            <a:spLocks noGrp="1"/>
          </p:cNvSpPr>
          <p:nvPr/>
        </p:nvSpPr>
        <p:spPr>
          <a:xfrm>
            <a:off x="723900" y="4171950"/>
            <a:ext cx="10744200" cy="1123950"/>
          </a:xfrm>
          <a:custGeom>
            <a:avLst/>
            <a:gdLst/>
            <a:ahLst/>
            <a:cxnLst/>
            <a:rect l="l" t="t" r="r" b="b"/>
            <a:pathLst>
              <a:path w="10744200" h="1123950">
                <a:moveTo>
                  <a:pt x="0" y="0"/>
                </a:moveTo>
                <a:lnTo>
                  <a:pt x="10744200" y="0"/>
                </a:lnTo>
                <a:moveTo>
                  <a:pt x="1790700" y="0"/>
                </a:moveTo>
                <a:lnTo>
                  <a:pt x="1790700" y="1123950"/>
                </a:lnTo>
                <a:moveTo>
                  <a:pt x="3581400" y="0"/>
                </a:moveTo>
                <a:lnTo>
                  <a:pt x="3581400" y="1123950"/>
                </a:lnTo>
                <a:moveTo>
                  <a:pt x="5372100" y="0"/>
                </a:moveTo>
                <a:lnTo>
                  <a:pt x="5372100" y="1123950"/>
                </a:lnTo>
                <a:moveTo>
                  <a:pt x="7162800" y="0"/>
                </a:moveTo>
                <a:lnTo>
                  <a:pt x="7162800" y="1123950"/>
                </a:lnTo>
                <a:moveTo>
                  <a:pt x="8953500" y="0"/>
                </a:moveTo>
                <a:lnTo>
                  <a:pt x="8953500" y="1123950"/>
                </a:lnTo>
              </a:path>
            </a:pathLst>
          </a:custGeom>
          <a:solidFill>
            <a:srgbClr val="000000"/>
          </a:solidFill>
          <a:ln w="19050">
            <a:solidFill>
              <a:srgbClr val="E3E8ED"/>
            </a:solidFill>
          </a:ln>
        </p:spPr>
      </p:sp>
      <p:sp>
        <p:nvSpPr>
          <p:cNvPr id="52" name="TextBox 52"/>
          <p:cNvSpPr>
            <a:spLocks noGrp="1"/>
          </p:cNvSpPr>
          <p:nvPr/>
        </p:nvSpPr>
        <p:spPr>
          <a:xfrm>
            <a:off x="850773" y="4358164"/>
            <a:ext cx="12682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任务约束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3" name="TextBox 53"/>
          <p:cNvSpPr>
            <a:spLocks noGrp="1"/>
          </p:cNvSpPr>
          <p:nvPr/>
        </p:nvSpPr>
        <p:spPr>
          <a:xfrm>
            <a:off x="851916" y="4725352"/>
            <a:ext cx="13605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当前：目标/范围冻结</a:t>
            </a:r>
            <a:endParaRPr sz="1050">
              <a:solidFill>
                <a:srgbClr val="1769E0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4" name="TextBox 54"/>
          <p:cNvSpPr>
            <a:spLocks noGrp="1"/>
          </p:cNvSpPr>
          <p:nvPr/>
        </p:nvSpPr>
        <p:spPr>
          <a:xfrm>
            <a:off x="2641473" y="4358164"/>
            <a:ext cx="12227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证据门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5" name="TextBox 55"/>
          <p:cNvSpPr>
            <a:spLocks noGrp="1"/>
          </p:cNvSpPr>
          <p:nvPr/>
        </p:nvSpPr>
        <p:spPr>
          <a:xfrm>
            <a:off x="2642616" y="4725352"/>
            <a:ext cx="12377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当前：分支级证据门</a:t>
            </a:r>
            <a:endParaRPr sz="1050">
              <a:solidFill>
                <a:srgbClr val="1769E0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6" name="TextBox 56"/>
          <p:cNvSpPr>
            <a:spLocks noGrp="1"/>
          </p:cNvSpPr>
          <p:nvPr/>
        </p:nvSpPr>
        <p:spPr>
          <a:xfrm>
            <a:off x="4432173" y="4358164"/>
            <a:ext cx="122500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预算与停止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7" name="TextBox 57"/>
          <p:cNvSpPr>
            <a:spLocks noGrp="1"/>
          </p:cNvSpPr>
          <p:nvPr/>
        </p:nvSpPr>
        <p:spPr>
          <a:xfrm>
            <a:off x="4433316" y="4725352"/>
            <a:ext cx="14383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B54708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部分：轮次/调用/期限</a:t>
            </a:r>
            <a:endParaRPr sz="1050">
              <a:solidFill>
                <a:srgbClr val="B54708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8" name="TextBox 58"/>
          <p:cNvSpPr>
            <a:spLocks noGrp="1"/>
          </p:cNvSpPr>
          <p:nvPr/>
        </p:nvSpPr>
        <p:spPr>
          <a:xfrm>
            <a:off x="6222873" y="4358164"/>
            <a:ext cx="122500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纠偏与暂停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9" name="TextBox 59"/>
          <p:cNvSpPr>
            <a:spLocks noGrp="1"/>
          </p:cNvSpPr>
          <p:nvPr/>
        </p:nvSpPr>
        <p:spPr>
          <a:xfrm>
            <a:off x="6224016" y="4725352"/>
            <a:ext cx="18185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B54708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部分：在安全点生效</a:t>
            </a:r>
            <a:endParaRPr sz="1050">
              <a:solidFill>
                <a:srgbClr val="B54708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0" name="TextBox 60"/>
          <p:cNvSpPr>
            <a:spLocks noGrp="1"/>
          </p:cNvSpPr>
          <p:nvPr/>
        </p:nvSpPr>
        <p:spPr>
          <a:xfrm>
            <a:off x="8013573" y="4358164"/>
            <a:ext cx="12227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持久状态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1" name="TextBox 61"/>
          <p:cNvSpPr>
            <a:spLocks noGrp="1"/>
          </p:cNvSpPr>
          <p:nvPr/>
        </p:nvSpPr>
        <p:spPr>
          <a:xfrm>
            <a:off x="8014716" y="4725352"/>
            <a:ext cx="16087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B54708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部分：可选数据库重启恢复</a:t>
            </a:r>
            <a:endParaRPr sz="1050">
              <a:solidFill>
                <a:srgbClr val="B54708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2" name="TextBox 62"/>
          <p:cNvSpPr>
            <a:spLocks noGrp="1"/>
          </p:cNvSpPr>
          <p:nvPr/>
        </p:nvSpPr>
        <p:spPr>
          <a:xfrm>
            <a:off x="9804273" y="4358164"/>
            <a:ext cx="51417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执行记录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3" name="TextBox 63"/>
          <p:cNvSpPr>
            <a:spLocks noGrp="1"/>
          </p:cNvSpPr>
          <p:nvPr/>
        </p:nvSpPr>
        <p:spPr>
          <a:xfrm>
            <a:off x="9805416" y="4725352"/>
            <a:ext cx="19387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当前：有序事件与状态快照</a:t>
            </a:r>
            <a:endParaRPr sz="1050">
              <a:solidFill>
                <a:srgbClr val="1769E0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5" name="TextBox 65"/>
          <p:cNvSpPr>
            <a:spLocks noGrp="1"/>
          </p:cNvSpPr>
          <p:nvPr/>
        </p:nvSpPr>
        <p:spPr>
          <a:xfrm>
            <a:off x="486156" y="57111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当前本质：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6" name="TextBox 66"/>
          <p:cNvSpPr>
            <a:spLocks noGrp="1"/>
          </p:cNvSpPr>
          <p:nvPr/>
        </p:nvSpPr>
        <p:spPr>
          <a:xfrm>
            <a:off x="1667256" y="5711190"/>
            <a:ext cx="583387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有反馈与恢复的只读办公任务纵切，不是完整执行器。</a:t>
            </a:r>
            <a:endParaRPr sz="180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9" name="TextBox 69"/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依据：</a:t>
            </a:r>
            <a:r>
              <a:rPr sz="1165" u="sng">
                <a:solidFill>
                  <a:srgbClr val="1769D2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1"/>
              </a:rPr>
              <a:t>docs.langchain.com/.../langgraph/persistence</a:t>
            </a: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 ·  </a:t>
            </a:r>
            <a:r>
              <a:rPr sz="1165" u="sng">
                <a:solidFill>
                  <a:srgbClr val="1769D2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2"/>
              </a:rPr>
              <a:t>openai.github.io/.../human_in_the_loop/</a:t>
            </a:r>
            <a:endParaRPr sz="1165" u="sng">
              <a:solidFill>
                <a:srgbClr val="1769D2"/>
              </a:solidFill>
              <a:latin typeface="Segoe UI" panose="020B0502040204020203"/>
              <a:ea typeface="Segoe UI" panose="020B0502040204020203"/>
              <a:cs typeface="Segoe UI" panose="020B0502040204020203"/>
              <a:hlinkClick r:id="rId2"/>
            </a:endParaRPr>
          </a:p>
        </p:txBody>
      </p:sp>
      <p:sp>
        <p:nvSpPr>
          <p:cNvPr id="70" name="TextBox 70"/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05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/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/>
          <p:cNvSpPr>
            <a:spLocks noGrp="1"/>
          </p:cNvSpPr>
          <p:nvPr/>
        </p:nvSpPr>
        <p:spPr>
          <a:xfrm>
            <a:off x="477774" y="370522"/>
            <a:ext cx="8325288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我们到底做了什么：跑通办公任务纵切</a:t>
            </a:r>
            <a:endParaRPr sz="34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484632" y="1221105"/>
            <a:ext cx="447389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不是回答页，而是一条可复核链路</a:t>
            </a:r>
            <a:endParaRPr sz="21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0" name="Freeform 10"/>
          <p:cNvSpPr>
            <a:spLocks noGrp="1"/>
          </p:cNvSpPr>
          <p:nvPr/>
        </p:nvSpPr>
        <p:spPr>
          <a:xfrm>
            <a:off x="742950" y="1943100"/>
            <a:ext cx="9525" cy="2876550"/>
          </a:xfrm>
          <a:custGeom>
            <a:avLst/>
            <a:gdLst/>
            <a:ahLst/>
            <a:cxnLst/>
            <a:rect l="l" t="t" r="r" b="b"/>
            <a:pathLst>
              <a:path w="9525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solidFill>
            <a:srgbClr val="000000"/>
          </a:solidFill>
          <a:ln w="38100">
            <a:solidFill>
              <a:srgbClr val="CBD5DF"/>
            </a:solidFill>
          </a:ln>
        </p:spPr>
      </p:sp>
      <p:sp>
        <p:nvSpPr>
          <p:cNvPr id="11" name="Ellipse 11"/>
          <p:cNvSpPr>
            <a:spLocks noGrp="1"/>
          </p:cNvSpPr>
          <p:nvPr/>
        </p:nvSpPr>
        <p:spPr>
          <a:xfrm>
            <a:off x="552450" y="1847850"/>
            <a:ext cx="381000" cy="3810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2" name="TextBox 12"/>
          <p:cNvSpPr>
            <a:spLocks noGrp="1"/>
          </p:cNvSpPr>
          <p:nvPr/>
        </p:nvSpPr>
        <p:spPr>
          <a:xfrm>
            <a:off x="686912" y="19673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TextBox 13"/>
          <p:cNvSpPr>
            <a:spLocks noGrp="1"/>
          </p:cNvSpPr>
          <p:nvPr/>
        </p:nvSpPr>
        <p:spPr>
          <a:xfrm>
            <a:off x="1095756" y="1786890"/>
            <a:ext cx="13368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资料库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4" name="TextBox 14"/>
          <p:cNvSpPr>
            <a:spLocks noGrp="1"/>
          </p:cNvSpPr>
          <p:nvPr/>
        </p:nvSpPr>
        <p:spPr>
          <a:xfrm>
            <a:off x="1098423" y="2110264"/>
            <a:ext cx="206405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15 个目录 · 96 份安全预览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Ellipse 15"/>
          <p:cNvSpPr>
            <a:spLocks noGrp="1"/>
          </p:cNvSpPr>
          <p:nvPr/>
        </p:nvSpPr>
        <p:spPr>
          <a:xfrm>
            <a:off x="552450" y="2533650"/>
            <a:ext cx="381000" cy="3810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6" name="TextBox 16"/>
          <p:cNvSpPr>
            <a:spLocks noGrp="1"/>
          </p:cNvSpPr>
          <p:nvPr/>
        </p:nvSpPr>
        <p:spPr>
          <a:xfrm>
            <a:off x="686912" y="26531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TextBox 17"/>
          <p:cNvSpPr>
            <a:spLocks noGrp="1"/>
          </p:cNvSpPr>
          <p:nvPr/>
        </p:nvSpPr>
        <p:spPr>
          <a:xfrm>
            <a:off x="1095756" y="2472690"/>
            <a:ext cx="179042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任务约束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8" name="TextBox 18"/>
          <p:cNvSpPr>
            <a:spLocks noGrp="1"/>
          </p:cNvSpPr>
          <p:nvPr/>
        </p:nvSpPr>
        <p:spPr>
          <a:xfrm>
            <a:off x="1098423" y="27960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目标、范围、预算由服务端冻结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" name="Ellipse 19"/>
          <p:cNvSpPr>
            <a:spLocks noGrp="1"/>
          </p:cNvSpPr>
          <p:nvPr/>
        </p:nvSpPr>
        <p:spPr>
          <a:xfrm>
            <a:off x="552450" y="3219450"/>
            <a:ext cx="381000" cy="3810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20" name="TextBox 20"/>
          <p:cNvSpPr>
            <a:spLocks noGrp="1"/>
          </p:cNvSpPr>
          <p:nvPr/>
        </p:nvSpPr>
        <p:spPr>
          <a:xfrm>
            <a:off x="686912" y="33389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TextBox 21"/>
          <p:cNvSpPr>
            <a:spLocks noGrp="1"/>
          </p:cNvSpPr>
          <p:nvPr/>
        </p:nvSpPr>
        <p:spPr>
          <a:xfrm>
            <a:off x="1095756" y="3158490"/>
            <a:ext cx="215997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规划与分析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2" name="TextBox 22"/>
          <p:cNvSpPr>
            <a:spLocks noGrp="1"/>
          </p:cNvSpPr>
          <p:nvPr/>
        </p:nvSpPr>
        <p:spPr>
          <a:xfrm>
            <a:off x="1098423" y="348186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调用、校验、采用分别留回执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3" name="Ellipse 23"/>
          <p:cNvSpPr>
            <a:spLocks noGrp="1"/>
          </p:cNvSpPr>
          <p:nvPr/>
        </p:nvSpPr>
        <p:spPr>
          <a:xfrm>
            <a:off x="552450" y="3905250"/>
            <a:ext cx="381000" cy="381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4" name="TextBox 24"/>
          <p:cNvSpPr>
            <a:spLocks noGrp="1"/>
          </p:cNvSpPr>
          <p:nvPr/>
        </p:nvSpPr>
        <p:spPr>
          <a:xfrm>
            <a:off x="686912" y="40247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1095756" y="3844290"/>
            <a:ext cx="265081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分支证据门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6" name="TextBox 26"/>
          <p:cNvSpPr>
            <a:spLocks noGrp="1"/>
          </p:cNvSpPr>
          <p:nvPr/>
        </p:nvSpPr>
        <p:spPr>
          <a:xfrm>
            <a:off x="1098423" y="4167664"/>
            <a:ext cx="27592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局部停、局部补证、保留已完成成果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7" name="Ellipse 27"/>
          <p:cNvSpPr>
            <a:spLocks noGrp="1"/>
          </p:cNvSpPr>
          <p:nvPr/>
        </p:nvSpPr>
        <p:spPr>
          <a:xfrm>
            <a:off x="552450" y="459105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8" name="TextBox 28"/>
          <p:cNvSpPr>
            <a:spLocks noGrp="1"/>
          </p:cNvSpPr>
          <p:nvPr/>
        </p:nvSpPr>
        <p:spPr>
          <a:xfrm>
            <a:off x="686912" y="47105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5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" name="TextBox 29"/>
          <p:cNvSpPr>
            <a:spLocks noGrp="1"/>
          </p:cNvSpPr>
          <p:nvPr/>
        </p:nvSpPr>
        <p:spPr>
          <a:xfrm>
            <a:off x="1095756" y="4530090"/>
            <a:ext cx="22998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成果与回执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0" name="TextBox 30"/>
          <p:cNvSpPr>
            <a:spLocks noGrp="1"/>
          </p:cNvSpPr>
          <p:nvPr/>
        </p:nvSpPr>
        <p:spPr>
          <a:xfrm>
            <a:off x="1098423" y="4853464"/>
            <a:ext cx="343237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真实文件、确定性检查、状态快照与执行记录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1" name="Rectangle 31"/>
          <p:cNvSpPr>
            <a:spLocks noGrp="1"/>
          </p:cNvSpPr>
          <p:nvPr/>
        </p:nvSpPr>
        <p:spPr>
          <a:xfrm>
            <a:off x="495300" y="5257800"/>
            <a:ext cx="3733800" cy="800100"/>
          </a:xfrm>
          <a:prstGeom prst="roundRect">
            <a:avLst>
              <a:gd name="adj" fmla="val 7143"/>
            </a:avLst>
          </a:prstGeom>
          <a:solidFill>
            <a:srgbClr val="132A3A"/>
          </a:solidFill>
          <a:ln>
            <a:noFill/>
          </a:ln>
        </p:spPr>
      </p:sp>
      <p:sp>
        <p:nvSpPr>
          <p:cNvPr id="32" name="TextBox 32"/>
          <p:cNvSpPr>
            <a:spLocks noGrp="1"/>
          </p:cNvSpPr>
          <p:nvPr/>
        </p:nvSpPr>
        <p:spPr>
          <a:xfrm>
            <a:off x="714756" y="5387340"/>
            <a:ext cx="309691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用户得到的不是一句“完成”</a:t>
            </a:r>
            <a:endParaRPr sz="180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3" name="TextBox 33"/>
          <p:cNvSpPr>
            <a:spLocks noGrp="1"/>
          </p:cNvSpPr>
          <p:nvPr/>
        </p:nvSpPr>
        <p:spPr>
          <a:xfrm>
            <a:off x="717423" y="5729764"/>
            <a:ext cx="2587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而是成果、依据、影响和下一步。</a:t>
            </a:r>
            <a:endParaRPr sz="128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5" name="Rectangle 35"/>
          <p:cNvSpPr>
            <a:spLocks noGrp="1"/>
          </p:cNvSpPr>
          <p:nvPr/>
        </p:nvSpPr>
        <p:spPr>
          <a:xfrm>
            <a:off x="4457700" y="1333500"/>
            <a:ext cx="7239000" cy="50292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pic>
        <p:nvPicPr>
          <p:cNvPr id="72" name="Imag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2950" y="1428750"/>
            <a:ext cx="7048500" cy="4895850"/>
          </a:xfrm>
          <a:prstGeom prst="rect">
            <a:avLst/>
          </a:prstGeom>
        </p:spPr>
      </p:pic>
      <p:sp>
        <p:nvSpPr>
          <p:cNvPr id="41" name="TextBox 41"/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06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/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/>
          <p:cNvSpPr>
            <a:spLocks noGrp="1"/>
          </p:cNvSpPr>
          <p:nvPr/>
        </p:nvSpPr>
        <p:spPr>
          <a:xfrm>
            <a:off x="477774" y="370522"/>
            <a:ext cx="9849367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实操 1：用户只说目标，智能体自主选择资料</a:t>
            </a:r>
            <a:endParaRPr sz="34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" name="Rectangle 6"/>
          <p:cNvSpPr>
            <a:spLocks noGrp="1"/>
          </p:cNvSpPr>
          <p:nvPr/>
        </p:nvSpPr>
        <p:spPr>
          <a:xfrm>
            <a:off x="495300" y="1333500"/>
            <a:ext cx="7543800" cy="50292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pic>
        <p:nvPicPr>
          <p:cNvPr id="41" name="Imag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36" y="1428750"/>
            <a:ext cx="6967728" cy="4838700"/>
          </a:xfrm>
          <a:prstGeom prst="rect">
            <a:avLst/>
          </a:prstGeom>
        </p:spPr>
      </p:pic>
      <p:sp>
        <p:nvSpPr>
          <p:cNvPr id="11" name="Rectangle 11"/>
          <p:cNvSpPr>
            <a:spLocks noGrp="1"/>
          </p:cNvSpPr>
          <p:nvPr/>
        </p:nvSpPr>
        <p:spPr>
          <a:xfrm>
            <a:off x="8305800" y="1333500"/>
            <a:ext cx="33909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1769E0"/>
            </a:solidFill>
          </a:ln>
        </p:spPr>
      </p:sp>
      <p:sp>
        <p:nvSpPr>
          <p:cNvPr id="12" name="Ellipse 12"/>
          <p:cNvSpPr>
            <a:spLocks noGrp="1"/>
          </p:cNvSpPr>
          <p:nvPr/>
        </p:nvSpPr>
        <p:spPr>
          <a:xfrm>
            <a:off x="8420100" y="1485900"/>
            <a:ext cx="342900" cy="3429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3" name="TextBox 13"/>
          <p:cNvSpPr>
            <a:spLocks noGrp="1"/>
          </p:cNvSpPr>
          <p:nvPr/>
        </p:nvSpPr>
        <p:spPr>
          <a:xfrm>
            <a:off x="8535512" y="15863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TextBox 14"/>
          <p:cNvSpPr>
            <a:spLocks noGrp="1"/>
          </p:cNvSpPr>
          <p:nvPr/>
        </p:nvSpPr>
        <p:spPr>
          <a:xfrm>
            <a:off x="8868156" y="152971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用户动作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5" name="TextBox 15"/>
          <p:cNvSpPr>
            <a:spLocks noGrp="1"/>
          </p:cNvSpPr>
          <p:nvPr/>
        </p:nvSpPr>
        <p:spPr>
          <a:xfrm>
            <a:off x="8527923" y="1976914"/>
            <a:ext cx="2587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只写自然语言目标，不先猜文件。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7" name="Rectangle 17"/>
          <p:cNvSpPr>
            <a:spLocks noGrp="1"/>
          </p:cNvSpPr>
          <p:nvPr/>
        </p:nvSpPr>
        <p:spPr>
          <a:xfrm>
            <a:off x="8305800" y="2743200"/>
            <a:ext cx="3390900" cy="14478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1769E0"/>
            </a:solidFill>
          </a:ln>
        </p:spPr>
      </p:sp>
      <p:sp>
        <p:nvSpPr>
          <p:cNvPr id="18" name="Ellipse 18"/>
          <p:cNvSpPr>
            <a:spLocks noGrp="1"/>
          </p:cNvSpPr>
          <p:nvPr/>
        </p:nvSpPr>
        <p:spPr>
          <a:xfrm>
            <a:off x="8420100" y="2895600"/>
            <a:ext cx="342900" cy="3429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9" name="TextBox 19"/>
          <p:cNvSpPr>
            <a:spLocks noGrp="1"/>
          </p:cNvSpPr>
          <p:nvPr/>
        </p:nvSpPr>
        <p:spPr>
          <a:xfrm>
            <a:off x="8535512" y="29960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TextBox 20"/>
          <p:cNvSpPr>
            <a:spLocks noGrp="1"/>
          </p:cNvSpPr>
          <p:nvPr/>
        </p:nvSpPr>
        <p:spPr>
          <a:xfrm>
            <a:off x="8868156" y="2939415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服务端事实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1" name="TextBox 21"/>
          <p:cNvSpPr>
            <a:spLocks noGrp="1"/>
          </p:cNvSpPr>
          <p:nvPr/>
        </p:nvSpPr>
        <p:spPr>
          <a:xfrm>
            <a:off x="8527923" y="3386614"/>
            <a:ext cx="221853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冻结完整安全资料索引；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2" name="TextBox 22"/>
          <p:cNvSpPr>
            <a:spLocks noGrp="1"/>
          </p:cNvSpPr>
          <p:nvPr/>
        </p:nvSpPr>
        <p:spPr>
          <a:xfrm>
            <a:off x="8527923" y="3653314"/>
            <a:ext cx="32831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规划器只看安全元数据，提出本轮所需证据。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4" name="Rectangle 24"/>
          <p:cNvSpPr>
            <a:spLocks noGrp="1"/>
          </p:cNvSpPr>
          <p:nvPr/>
        </p:nvSpPr>
        <p:spPr>
          <a:xfrm>
            <a:off x="8305800" y="4343400"/>
            <a:ext cx="33909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</p:sp>
      <p:sp>
        <p:nvSpPr>
          <p:cNvPr id="25" name="Ellipse 25"/>
          <p:cNvSpPr>
            <a:spLocks noGrp="1"/>
          </p:cNvSpPr>
          <p:nvPr/>
        </p:nvSpPr>
        <p:spPr>
          <a:xfrm>
            <a:off x="8420100" y="4495800"/>
            <a:ext cx="342900" cy="3429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6" name="TextBox 26"/>
          <p:cNvSpPr>
            <a:spLocks noGrp="1"/>
          </p:cNvSpPr>
          <p:nvPr/>
        </p:nvSpPr>
        <p:spPr>
          <a:xfrm>
            <a:off x="8535512" y="45962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TextBox 27"/>
          <p:cNvSpPr>
            <a:spLocks noGrp="1"/>
          </p:cNvSpPr>
          <p:nvPr/>
        </p:nvSpPr>
        <p:spPr>
          <a:xfrm>
            <a:off x="8868156" y="453961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前台反馈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8" name="TextBox 28"/>
          <p:cNvSpPr>
            <a:spLocks noGrp="1"/>
          </p:cNvSpPr>
          <p:nvPr/>
        </p:nvSpPr>
        <p:spPr>
          <a:xfrm>
            <a:off x="8527923" y="4986814"/>
            <a:ext cx="27592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展示资料依据、模型采用、剩余预算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9" name="TextBox 29"/>
          <p:cNvSpPr>
            <a:spLocks noGrp="1"/>
          </p:cNvSpPr>
          <p:nvPr/>
        </p:nvSpPr>
        <p:spPr>
          <a:xfrm>
            <a:off x="8527923" y="5253514"/>
            <a:ext cx="175746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以及实时有序执行记录。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0" name="Rectangle 30"/>
          <p:cNvSpPr>
            <a:spLocks noGrp="1"/>
          </p:cNvSpPr>
          <p:nvPr/>
        </p:nvSpPr>
        <p:spPr>
          <a:xfrm>
            <a:off x="8305800" y="5753100"/>
            <a:ext cx="3390900" cy="609600"/>
          </a:xfrm>
          <a:prstGeom prst="roundRect">
            <a:avLst>
              <a:gd name="adj" fmla="val 9375"/>
            </a:avLst>
          </a:prstGeom>
          <a:solidFill>
            <a:srgbClr val="EDF1F4"/>
          </a:solidFill>
          <a:ln>
            <a:noFill/>
          </a:ln>
        </p:spPr>
      </p:sp>
      <p:sp>
        <p:nvSpPr>
          <p:cNvPr id="31" name="TextBox 31"/>
          <p:cNvSpPr>
            <a:spLocks noGrp="1"/>
          </p:cNvSpPr>
          <p:nvPr/>
        </p:nvSpPr>
        <p:spPr>
          <a:xfrm>
            <a:off x="8527923" y="5872639"/>
            <a:ext cx="3733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边界</a:t>
            </a:r>
            <a:endParaRPr sz="1280" b="1">
              <a:solidFill>
                <a:srgbClr val="B54708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2" name="TextBox 32"/>
          <p:cNvSpPr>
            <a:spLocks noGrp="1"/>
          </p:cNvSpPr>
          <p:nvPr/>
        </p:nvSpPr>
        <p:spPr>
          <a:xfrm>
            <a:off x="8529066" y="6125528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自主选资料不等于穷举正确，仍需复核。</a:t>
            </a:r>
            <a:endParaRPr sz="105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5" name="TextBox 35"/>
          <p:cNvSpPr>
            <a:spLocks noGrp="1"/>
          </p:cNvSpPr>
          <p:nvPr/>
        </p:nvSpPr>
        <p:spPr>
          <a:xfrm>
            <a:off x="110273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07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/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/>
          <p:cNvSpPr>
            <a:spLocks noGrp="1"/>
          </p:cNvSpPr>
          <p:nvPr/>
        </p:nvSpPr>
        <p:spPr>
          <a:xfrm>
            <a:off x="477774" y="370522"/>
            <a:ext cx="9227461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实操 2：证据有歧义，只恢复受影响的分支</a:t>
            </a:r>
            <a:endParaRPr sz="34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" name="Rectangle 6"/>
          <p:cNvSpPr>
            <a:spLocks noGrp="1"/>
          </p:cNvSpPr>
          <p:nvPr/>
        </p:nvSpPr>
        <p:spPr>
          <a:xfrm>
            <a:off x="495300" y="1333500"/>
            <a:ext cx="7543800" cy="50292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pic>
        <p:nvPicPr>
          <p:cNvPr id="35" name="Imag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320" y="1428750"/>
            <a:ext cx="6869759" cy="4838700"/>
          </a:xfrm>
          <a:prstGeom prst="rect">
            <a:avLst/>
          </a:prstGeom>
        </p:spPr>
      </p:pic>
      <p:sp>
        <p:nvSpPr>
          <p:cNvPr id="11" name="Rectangle 11"/>
          <p:cNvSpPr>
            <a:spLocks noGrp="1"/>
          </p:cNvSpPr>
          <p:nvPr/>
        </p:nvSpPr>
        <p:spPr>
          <a:xfrm>
            <a:off x="8305800" y="1333500"/>
            <a:ext cx="3390900" cy="12001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</p:sp>
      <p:sp>
        <p:nvSpPr>
          <p:cNvPr id="12" name="TextBox 12"/>
          <p:cNvSpPr>
            <a:spLocks noGrp="1"/>
          </p:cNvSpPr>
          <p:nvPr/>
        </p:nvSpPr>
        <p:spPr>
          <a:xfrm>
            <a:off x="8525256" y="14820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先解释发生了什么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3" name="TextBox 13"/>
          <p:cNvSpPr>
            <a:spLocks noGrp="1"/>
          </p:cNvSpPr>
          <p:nvPr/>
        </p:nvSpPr>
        <p:spPr>
          <a:xfrm>
            <a:off x="8527923" y="1881664"/>
            <a:ext cx="27592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同一逐字片段出现多次，服务端无法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" name="TextBox 14"/>
          <p:cNvSpPr>
            <a:spLocks noGrp="1"/>
          </p:cNvSpPr>
          <p:nvPr/>
        </p:nvSpPr>
        <p:spPr>
          <a:xfrm>
            <a:off x="8527923" y="214836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唯一决定该回开哪一处原文。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Rectangle 15"/>
          <p:cNvSpPr>
            <a:spLocks noGrp="1"/>
          </p:cNvSpPr>
          <p:nvPr/>
        </p:nvSpPr>
        <p:spPr>
          <a:xfrm>
            <a:off x="8305800" y="2686050"/>
            <a:ext cx="3390900" cy="12001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1769E0"/>
            </a:solidFill>
          </a:ln>
        </p:spPr>
      </p:sp>
      <p:sp>
        <p:nvSpPr>
          <p:cNvPr id="16" name="TextBox 16"/>
          <p:cNvSpPr>
            <a:spLocks noGrp="1"/>
          </p:cNvSpPr>
          <p:nvPr/>
        </p:nvSpPr>
        <p:spPr>
          <a:xfrm>
            <a:off x="8525256" y="283464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再让用户决定位置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7" name="TextBox 17"/>
          <p:cNvSpPr>
            <a:spLocks noGrp="1"/>
          </p:cNvSpPr>
          <p:nvPr/>
        </p:nvSpPr>
        <p:spPr>
          <a:xfrm>
            <a:off x="8527923" y="3234214"/>
            <a:ext cx="27592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界面同时给出事实、影响、下一步，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" name="TextBox 18"/>
          <p:cNvSpPr>
            <a:spLocks noGrp="1"/>
          </p:cNvSpPr>
          <p:nvPr/>
        </p:nvSpPr>
        <p:spPr>
          <a:xfrm>
            <a:off x="8527923" y="350091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并在安全预览中高亮候选原文。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" name="Rectangle 19"/>
          <p:cNvSpPr>
            <a:spLocks noGrp="1"/>
          </p:cNvSpPr>
          <p:nvPr/>
        </p:nvSpPr>
        <p:spPr>
          <a:xfrm>
            <a:off x="8305800" y="4038600"/>
            <a:ext cx="33909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pic>
        <p:nvPicPr>
          <p:cNvPr id="45" name="Imag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968" y="4133850"/>
            <a:ext cx="3192564" cy="1514475"/>
          </a:xfrm>
          <a:prstGeom prst="rect">
            <a:avLst/>
          </a:prstGeom>
        </p:spPr>
      </p:pic>
      <p:sp>
        <p:nvSpPr>
          <p:cNvPr id="23" name="Rectangle 23"/>
          <p:cNvSpPr>
            <a:spLocks noGrp="1"/>
          </p:cNvSpPr>
          <p:nvPr/>
        </p:nvSpPr>
        <p:spPr>
          <a:xfrm>
            <a:off x="8305800" y="5791200"/>
            <a:ext cx="3390900" cy="571500"/>
          </a:xfrm>
          <a:prstGeom prst="roundRect">
            <a:avLst>
              <a:gd name="adj" fmla="val 10000"/>
            </a:avLst>
          </a:prstGeom>
          <a:solidFill>
            <a:srgbClr val="EDF1F4"/>
          </a:solidFill>
          <a:ln>
            <a:noFill/>
          </a:ln>
        </p:spPr>
      </p:sp>
      <p:sp>
        <p:nvSpPr>
          <p:cNvPr id="24" name="TextBox 24"/>
          <p:cNvSpPr>
            <a:spLocks noGrp="1"/>
          </p:cNvSpPr>
          <p:nvPr/>
        </p:nvSpPr>
        <p:spPr>
          <a:xfrm>
            <a:off x="8527923" y="5901214"/>
            <a:ext cx="157749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只改变目标分支</a:t>
            </a:r>
            <a:endParaRPr sz="1280" b="1">
              <a:solidFill>
                <a:srgbClr val="2E7D32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8529066" y="6135052"/>
            <a:ext cx="21309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已完成成果和其他分支继续保留。</a:t>
            </a:r>
            <a:endParaRPr sz="105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8" name="TextBox 28"/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08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/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/>
          <p:cNvSpPr>
            <a:spLocks noGrp="1"/>
          </p:cNvSpPr>
          <p:nvPr/>
        </p:nvSpPr>
        <p:spPr>
          <a:xfrm>
            <a:off x="477774" y="370522"/>
            <a:ext cx="1912547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实操 3：</a:t>
            </a:r>
            <a:endParaRPr sz="34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2173224" y="370522"/>
            <a:ext cx="734996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成果可检查，模型说明不覆盖事实</a:t>
            </a:r>
            <a:endParaRPr sz="34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8" name="Rectangle 8"/>
          <p:cNvSpPr>
            <a:spLocks noGrp="1"/>
          </p:cNvSpPr>
          <p:nvPr/>
        </p:nvSpPr>
        <p:spPr>
          <a:xfrm>
            <a:off x="495300" y="1333500"/>
            <a:ext cx="5219700" cy="4838700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</p:sp>
      <p:sp>
        <p:nvSpPr>
          <p:cNvPr id="9" name="TextBox 9"/>
          <p:cNvSpPr>
            <a:spLocks noGrp="1"/>
          </p:cNvSpPr>
          <p:nvPr/>
        </p:nvSpPr>
        <p:spPr>
          <a:xfrm>
            <a:off x="714756" y="1501140"/>
            <a:ext cx="281415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A. 成果与业务效果分层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pic>
        <p:nvPicPr>
          <p:cNvPr id="38" name="Imag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1869281"/>
            <a:ext cx="4953000" cy="2786062"/>
          </a:xfrm>
          <a:prstGeom prst="rect">
            <a:avLst/>
          </a:prstGeom>
        </p:spPr>
      </p:pic>
      <p:sp>
        <p:nvSpPr>
          <p:cNvPr id="11" name="Rectangle 11"/>
          <p:cNvSpPr>
            <a:spLocks noGrp="1"/>
          </p:cNvSpPr>
          <p:nvPr/>
        </p:nvSpPr>
        <p:spPr>
          <a:xfrm>
            <a:off x="723900" y="4857750"/>
            <a:ext cx="4762500" cy="1104900"/>
          </a:xfrm>
          <a:prstGeom prst="roundRect">
            <a:avLst>
              <a:gd name="adj" fmla="val 5172"/>
            </a:avLst>
          </a:prstGeom>
          <a:solidFill>
            <a:srgbClr val="EDF1F4"/>
          </a:solidFill>
          <a:ln>
            <a:noFill/>
          </a:ln>
        </p:spPr>
      </p:sp>
      <p:sp>
        <p:nvSpPr>
          <p:cNvPr id="12" name="Ellipse 12"/>
          <p:cNvSpPr>
            <a:spLocks noGrp="1"/>
          </p:cNvSpPr>
          <p:nvPr/>
        </p:nvSpPr>
        <p:spPr>
          <a:xfrm>
            <a:off x="857250" y="5048250"/>
            <a:ext cx="190500" cy="1905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3" name="TextBox 13"/>
          <p:cNvSpPr>
            <a:spLocks noGrp="1"/>
          </p:cNvSpPr>
          <p:nvPr/>
        </p:nvSpPr>
        <p:spPr>
          <a:xfrm>
            <a:off x="1155573" y="5063014"/>
            <a:ext cx="320449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真实文件写入隔离工作区，可下载。</a:t>
            </a:r>
            <a:endParaRPr sz="128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" name="Ellipse 14"/>
          <p:cNvSpPr>
            <a:spLocks noGrp="1"/>
          </p:cNvSpPr>
          <p:nvPr/>
        </p:nvSpPr>
        <p:spPr>
          <a:xfrm>
            <a:off x="857250" y="5381625"/>
            <a:ext cx="190500" cy="1905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5" name="TextBox 15"/>
          <p:cNvSpPr>
            <a:spLocks noGrp="1"/>
          </p:cNvSpPr>
          <p:nvPr/>
        </p:nvSpPr>
        <p:spPr>
          <a:xfrm>
            <a:off x="1155573" y="5396389"/>
            <a:ext cx="338909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具名确定性检查与效果回执可追溯。</a:t>
            </a:r>
            <a:endParaRPr sz="128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6" name="Ellipse 16"/>
          <p:cNvSpPr>
            <a:spLocks noGrp="1"/>
          </p:cNvSpPr>
          <p:nvPr/>
        </p:nvSpPr>
        <p:spPr>
          <a:xfrm>
            <a:off x="857250" y="5715000"/>
            <a:ext cx="190500" cy="1905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7" name="TextBox 17"/>
          <p:cNvSpPr>
            <a:spLocks noGrp="1"/>
          </p:cNvSpPr>
          <p:nvPr/>
        </p:nvSpPr>
        <p:spPr>
          <a:xfrm>
            <a:off x="1155573" y="5729764"/>
            <a:ext cx="327412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未付款、未核销等动作继续明确为未发生。</a:t>
            </a:r>
            <a:endParaRPr sz="128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" name="Rectangle 19"/>
          <p:cNvSpPr>
            <a:spLocks noGrp="1"/>
          </p:cNvSpPr>
          <p:nvPr/>
        </p:nvSpPr>
        <p:spPr>
          <a:xfrm>
            <a:off x="5981700" y="1333500"/>
            <a:ext cx="5715000" cy="4838700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9050">
            <a:solidFill>
              <a:srgbClr val="C0362C"/>
            </a:solidFill>
          </a:ln>
        </p:spPr>
      </p:sp>
      <p:sp>
        <p:nvSpPr>
          <p:cNvPr id="20" name="TextBox 20"/>
          <p:cNvSpPr>
            <a:spLocks noGrp="1"/>
          </p:cNvSpPr>
          <p:nvPr/>
        </p:nvSpPr>
        <p:spPr>
          <a:xfrm>
            <a:off x="6201156" y="1501140"/>
            <a:ext cx="41583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B. 模型被调用，不代表说明被采用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pic>
        <p:nvPicPr>
          <p:cNvPr id="48" name="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0" y="1866900"/>
            <a:ext cx="5448300" cy="4162425"/>
          </a:xfrm>
          <a:prstGeom prst="rect">
            <a:avLst/>
          </a:prstGeom>
        </p:spPr>
      </p:pic>
      <p:sp>
        <p:nvSpPr>
          <p:cNvPr id="22" name="Rectangle 22"/>
          <p:cNvSpPr>
            <a:spLocks noGrp="1"/>
          </p:cNvSpPr>
          <p:nvPr/>
        </p:nvSpPr>
        <p:spPr>
          <a:xfrm>
            <a:off x="6229350" y="1962150"/>
            <a:ext cx="2209800" cy="304800"/>
          </a:xfrm>
          <a:prstGeom prst="roundRect">
            <a:avLst>
              <a:gd name="adj" fmla="val 18750"/>
            </a:avLst>
          </a:prstGeom>
          <a:solidFill>
            <a:srgbClr val="C0362C"/>
          </a:solidFill>
          <a:ln>
            <a:noFill/>
          </a:ln>
        </p:spPr>
      </p:sp>
      <p:sp>
        <p:nvSpPr>
          <p:cNvPr id="23" name="TextBox 23"/>
          <p:cNvSpPr>
            <a:spLocks noGrp="1"/>
          </p:cNvSpPr>
          <p:nvPr/>
        </p:nvSpPr>
        <p:spPr>
          <a:xfrm>
            <a:off x="5904015" y="2034064"/>
            <a:ext cx="286047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模型已调用 · 说明未采用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488823" y="628221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当前边界：</a:t>
            </a:r>
            <a:endParaRPr sz="1280" b="1">
              <a:solidFill>
                <a:srgbClr val="B54708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6" name="TextBox 26"/>
          <p:cNvSpPr>
            <a:spLocks noGrp="1"/>
          </p:cNvSpPr>
          <p:nvPr/>
        </p:nvSpPr>
        <p:spPr>
          <a:xfrm>
            <a:off x="1384173" y="6282214"/>
            <a:ext cx="61920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固定检查证明特定字段与效果，不是通用语义真值证明器；前台仍要求人工复核。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9" name="TextBox 29"/>
          <p:cNvSpPr>
            <a:spLocks noGrp="1"/>
          </p:cNvSpPr>
          <p:nvPr/>
        </p:nvSpPr>
        <p:spPr>
          <a:xfrm>
            <a:off x="11217840" y="65922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09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/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19050">
            <a:solidFill>
              <a:srgbClr val="CBD5DF"/>
            </a:solidFill>
          </a:ln>
        </p:spPr>
      </p:sp>
      <p:sp>
        <p:nvSpPr>
          <p:cNvPr id="5" name="TextBox 5"/>
          <p:cNvSpPr>
            <a:spLocks noGrp="1"/>
          </p:cNvSpPr>
          <p:nvPr/>
        </p:nvSpPr>
        <p:spPr>
          <a:xfrm>
            <a:off x="477774" y="370522"/>
            <a:ext cx="10544491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Demo 1：时间维连续性，单个任务如何持续推进</a:t>
            </a:r>
            <a:endParaRPr sz="34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488823" y="1253014"/>
            <a:ext cx="829865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核心不是让智能体一直运行，而是让同一任务在证据冲突、用户纠偏和服务重启后仍能从可信状态继续。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" name="Rectangle 10"/>
          <p:cNvSpPr>
            <a:spLocks noGrp="1"/>
          </p:cNvSpPr>
          <p:nvPr/>
        </p:nvSpPr>
        <p:spPr>
          <a:xfrm>
            <a:off x="495300" y="1657350"/>
            <a:ext cx="11201400" cy="12001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11" name="Ellipse 11"/>
          <p:cNvSpPr>
            <a:spLocks noGrp="1"/>
          </p:cNvSpPr>
          <p:nvPr/>
        </p:nvSpPr>
        <p:spPr>
          <a:xfrm>
            <a:off x="628650" y="1771650"/>
            <a:ext cx="342900" cy="3429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2" name="TextBox 12"/>
          <p:cNvSpPr>
            <a:spLocks noGrp="1"/>
          </p:cNvSpPr>
          <p:nvPr/>
        </p:nvSpPr>
        <p:spPr>
          <a:xfrm>
            <a:off x="744062" y="186261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TextBox 13"/>
          <p:cNvSpPr>
            <a:spLocks noGrp="1"/>
          </p:cNvSpPr>
          <p:nvPr/>
        </p:nvSpPr>
        <p:spPr>
          <a:xfrm>
            <a:off x="565023" y="2186464"/>
            <a:ext cx="12682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任务约束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4" name="TextBox 14"/>
          <p:cNvSpPr>
            <a:spLocks noGrp="1"/>
          </p:cNvSpPr>
          <p:nvPr/>
        </p:nvSpPr>
        <p:spPr>
          <a:xfrm>
            <a:off x="566166" y="2458402"/>
            <a:ext cx="14241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目标、交付、完成条件</a:t>
            </a:r>
            <a:endParaRPr sz="105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6" name="Freeform 16"/>
          <p:cNvSpPr>
            <a:spLocks noGrp="1"/>
          </p:cNvSpPr>
          <p:nvPr/>
        </p:nvSpPr>
        <p:spPr>
          <a:xfrm>
            <a:off x="2228850" y="222885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28575">
            <a:solidFill>
              <a:srgbClr val="1769E0"/>
            </a:solidFill>
          </a:ln>
        </p:spPr>
      </p:sp>
      <p:sp>
        <p:nvSpPr>
          <p:cNvPr id="17" name="Freeform 17"/>
          <p:cNvSpPr>
            <a:spLocks noGrp="1"/>
          </p:cNvSpPr>
          <p:nvPr/>
        </p:nvSpPr>
        <p:spPr>
          <a:xfrm>
            <a:off x="2381250" y="21717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9E0"/>
          </a:solidFill>
          <a:ln>
            <a:noFill/>
          </a:ln>
        </p:spPr>
      </p:sp>
      <p:sp>
        <p:nvSpPr>
          <p:cNvPr id="18" name="Ellipse 18"/>
          <p:cNvSpPr>
            <a:spLocks noGrp="1"/>
          </p:cNvSpPr>
          <p:nvPr/>
        </p:nvSpPr>
        <p:spPr>
          <a:xfrm>
            <a:off x="2628900" y="1771650"/>
            <a:ext cx="342900" cy="3429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9" name="TextBox 19"/>
          <p:cNvSpPr>
            <a:spLocks noGrp="1"/>
          </p:cNvSpPr>
          <p:nvPr/>
        </p:nvSpPr>
        <p:spPr>
          <a:xfrm>
            <a:off x="2744312" y="186261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TextBox 20"/>
          <p:cNvSpPr>
            <a:spLocks noGrp="1"/>
          </p:cNvSpPr>
          <p:nvPr/>
        </p:nvSpPr>
        <p:spPr>
          <a:xfrm>
            <a:off x="2603373" y="2186464"/>
            <a:ext cx="7487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观察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1" name="TextBox 21"/>
          <p:cNvSpPr>
            <a:spLocks noGrp="1"/>
          </p:cNvSpPr>
          <p:nvPr/>
        </p:nvSpPr>
        <p:spPr>
          <a:xfrm>
            <a:off x="2604516" y="24584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读事件、状态、来源</a:t>
            </a:r>
            <a:endParaRPr sz="105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3" name="Freeform 23"/>
          <p:cNvSpPr>
            <a:spLocks noGrp="1"/>
          </p:cNvSpPr>
          <p:nvPr/>
        </p:nvSpPr>
        <p:spPr>
          <a:xfrm>
            <a:off x="3905250" y="222885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28575">
            <a:solidFill>
              <a:srgbClr val="1769E0"/>
            </a:solidFill>
          </a:ln>
        </p:spPr>
      </p:sp>
      <p:sp>
        <p:nvSpPr>
          <p:cNvPr id="24" name="Freeform 24"/>
          <p:cNvSpPr>
            <a:spLocks noGrp="1"/>
          </p:cNvSpPr>
          <p:nvPr/>
        </p:nvSpPr>
        <p:spPr>
          <a:xfrm>
            <a:off x="4057650" y="21717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9E0"/>
          </a:solidFill>
          <a:ln>
            <a:noFill/>
          </a:ln>
        </p:spPr>
      </p:sp>
      <p:sp>
        <p:nvSpPr>
          <p:cNvPr id="25" name="Ellipse 25"/>
          <p:cNvSpPr>
            <a:spLocks noGrp="1"/>
          </p:cNvSpPr>
          <p:nvPr/>
        </p:nvSpPr>
        <p:spPr>
          <a:xfrm>
            <a:off x="4305300" y="1771650"/>
            <a:ext cx="342900" cy="3429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26" name="TextBox 26"/>
          <p:cNvSpPr>
            <a:spLocks noGrp="1"/>
          </p:cNvSpPr>
          <p:nvPr/>
        </p:nvSpPr>
        <p:spPr>
          <a:xfrm>
            <a:off x="4420712" y="186261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TextBox 27"/>
          <p:cNvSpPr>
            <a:spLocks noGrp="1"/>
          </p:cNvSpPr>
          <p:nvPr/>
        </p:nvSpPr>
        <p:spPr>
          <a:xfrm>
            <a:off x="4279773" y="2186464"/>
            <a:ext cx="3693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规划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8" name="TextBox 28"/>
          <p:cNvSpPr>
            <a:spLocks noGrp="1"/>
          </p:cNvSpPr>
          <p:nvPr/>
        </p:nvSpPr>
        <p:spPr>
          <a:xfrm>
            <a:off x="4280916" y="24584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拆分支、依赖、预算</a:t>
            </a:r>
            <a:endParaRPr sz="105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0" name="Freeform 30"/>
          <p:cNvSpPr>
            <a:spLocks noGrp="1"/>
          </p:cNvSpPr>
          <p:nvPr/>
        </p:nvSpPr>
        <p:spPr>
          <a:xfrm>
            <a:off x="5581650" y="222885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28575">
            <a:solidFill>
              <a:srgbClr val="1769E0"/>
            </a:solidFill>
          </a:ln>
        </p:spPr>
      </p:sp>
      <p:sp>
        <p:nvSpPr>
          <p:cNvPr id="31" name="Freeform 31"/>
          <p:cNvSpPr>
            <a:spLocks noGrp="1"/>
          </p:cNvSpPr>
          <p:nvPr/>
        </p:nvSpPr>
        <p:spPr>
          <a:xfrm>
            <a:off x="5734050" y="21717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9E0"/>
          </a:solidFill>
          <a:ln>
            <a:noFill/>
          </a:ln>
        </p:spPr>
      </p:sp>
      <p:sp>
        <p:nvSpPr>
          <p:cNvPr id="32" name="Ellipse 32"/>
          <p:cNvSpPr>
            <a:spLocks noGrp="1"/>
          </p:cNvSpPr>
          <p:nvPr/>
        </p:nvSpPr>
        <p:spPr>
          <a:xfrm>
            <a:off x="5981700" y="1771650"/>
            <a:ext cx="342900" cy="3429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33" name="TextBox 33"/>
          <p:cNvSpPr>
            <a:spLocks noGrp="1"/>
          </p:cNvSpPr>
          <p:nvPr/>
        </p:nvSpPr>
        <p:spPr>
          <a:xfrm>
            <a:off x="6097112" y="186261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4" name="TextBox 34"/>
          <p:cNvSpPr>
            <a:spLocks noGrp="1"/>
          </p:cNvSpPr>
          <p:nvPr/>
        </p:nvSpPr>
        <p:spPr>
          <a:xfrm>
            <a:off x="5956173" y="2186464"/>
            <a:ext cx="3159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执行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5" name="TextBox 35"/>
          <p:cNvSpPr>
            <a:spLocks noGrp="1"/>
          </p:cNvSpPr>
          <p:nvPr/>
        </p:nvSpPr>
        <p:spPr>
          <a:xfrm>
            <a:off x="5957316" y="24584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产出候选工件</a:t>
            </a:r>
            <a:endParaRPr sz="105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7" name="Freeform 37"/>
          <p:cNvSpPr>
            <a:spLocks noGrp="1"/>
          </p:cNvSpPr>
          <p:nvPr/>
        </p:nvSpPr>
        <p:spPr>
          <a:xfrm>
            <a:off x="7258050" y="222885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28575">
            <a:solidFill>
              <a:srgbClr val="D97706"/>
            </a:solidFill>
          </a:ln>
        </p:spPr>
      </p:sp>
      <p:sp>
        <p:nvSpPr>
          <p:cNvPr id="38" name="Freeform 38"/>
          <p:cNvSpPr>
            <a:spLocks noGrp="1"/>
          </p:cNvSpPr>
          <p:nvPr/>
        </p:nvSpPr>
        <p:spPr>
          <a:xfrm>
            <a:off x="7410450" y="21717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39" name="Ellipse 39"/>
          <p:cNvSpPr>
            <a:spLocks noGrp="1"/>
          </p:cNvSpPr>
          <p:nvPr/>
        </p:nvSpPr>
        <p:spPr>
          <a:xfrm>
            <a:off x="7658100" y="1771650"/>
            <a:ext cx="342900" cy="3429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0" name="TextBox 40"/>
          <p:cNvSpPr>
            <a:spLocks noGrp="1"/>
          </p:cNvSpPr>
          <p:nvPr/>
        </p:nvSpPr>
        <p:spPr>
          <a:xfrm>
            <a:off x="7773512" y="186261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5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1" name="TextBox 41"/>
          <p:cNvSpPr>
            <a:spLocks noGrp="1"/>
          </p:cNvSpPr>
          <p:nvPr/>
        </p:nvSpPr>
        <p:spPr>
          <a:xfrm>
            <a:off x="7632573" y="2186464"/>
            <a:ext cx="56781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核验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2" name="TextBox 42"/>
          <p:cNvSpPr>
            <a:spLocks noGrp="1"/>
          </p:cNvSpPr>
          <p:nvPr/>
        </p:nvSpPr>
        <p:spPr>
          <a:xfrm>
            <a:off x="7633716" y="2458402"/>
            <a:ext cx="1395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C0362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2,400 万 vs 2,680 万</a:t>
            </a:r>
            <a:endParaRPr sz="1050">
              <a:solidFill>
                <a:srgbClr val="C0362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4" name="Freeform 44"/>
          <p:cNvSpPr>
            <a:spLocks noGrp="1"/>
          </p:cNvSpPr>
          <p:nvPr/>
        </p:nvSpPr>
        <p:spPr>
          <a:xfrm>
            <a:off x="9201150" y="222885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sp>
        <p:nvSpPr>
          <p:cNvPr id="45" name="Freeform 45"/>
          <p:cNvSpPr>
            <a:spLocks noGrp="1"/>
          </p:cNvSpPr>
          <p:nvPr/>
        </p:nvSpPr>
        <p:spPr>
          <a:xfrm>
            <a:off x="9353550" y="21717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46" name="Ellipse 46"/>
          <p:cNvSpPr>
            <a:spLocks noGrp="1"/>
          </p:cNvSpPr>
          <p:nvPr/>
        </p:nvSpPr>
        <p:spPr>
          <a:xfrm>
            <a:off x="9601200" y="1771650"/>
            <a:ext cx="342900" cy="3429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47" name="TextBox 47"/>
          <p:cNvSpPr>
            <a:spLocks noGrp="1"/>
          </p:cNvSpPr>
          <p:nvPr/>
        </p:nvSpPr>
        <p:spPr>
          <a:xfrm>
            <a:off x="9716612" y="186261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8" name="TextBox 48"/>
          <p:cNvSpPr>
            <a:spLocks noGrp="1"/>
          </p:cNvSpPr>
          <p:nvPr/>
        </p:nvSpPr>
        <p:spPr>
          <a:xfrm>
            <a:off x="9575673" y="2186464"/>
            <a:ext cx="64058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提交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9" name="TextBox 49"/>
          <p:cNvSpPr>
            <a:spLocks noGrp="1"/>
          </p:cNvSpPr>
          <p:nvPr/>
        </p:nvSpPr>
        <p:spPr>
          <a:xfrm>
            <a:off x="9576816" y="2458402"/>
            <a:ext cx="12614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版本、来源、执行记录</a:t>
            </a:r>
            <a:endParaRPr sz="105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2" name="TextBox 52"/>
          <p:cNvSpPr>
            <a:spLocks noGrp="1"/>
          </p:cNvSpPr>
          <p:nvPr/>
        </p:nvSpPr>
        <p:spPr>
          <a:xfrm>
            <a:off x="486156" y="3025140"/>
            <a:ext cx="38579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证据门只暂停受影响分支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3" name="Rectangle 53"/>
          <p:cNvSpPr>
            <a:spLocks noGrp="1"/>
          </p:cNvSpPr>
          <p:nvPr/>
        </p:nvSpPr>
        <p:spPr>
          <a:xfrm>
            <a:off x="495300" y="3409950"/>
            <a:ext cx="737235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54" name="Rectangle 54"/>
          <p:cNvSpPr>
            <a:spLocks noGrp="1"/>
          </p:cNvSpPr>
          <p:nvPr/>
        </p:nvSpPr>
        <p:spPr>
          <a:xfrm>
            <a:off x="666750" y="3638550"/>
            <a:ext cx="2133600" cy="723900"/>
          </a:xfrm>
          <a:prstGeom prst="roundRect">
            <a:avLst>
              <a:gd name="adj" fmla="val 7895"/>
            </a:avLst>
          </a:prstGeom>
          <a:solidFill>
            <a:srgbClr val="EDF1F4"/>
          </a:solidFill>
          <a:ln w="19050">
            <a:solidFill>
              <a:srgbClr val="2E7D32"/>
            </a:solidFill>
          </a:ln>
        </p:spPr>
      </p:sp>
      <p:sp>
        <p:nvSpPr>
          <p:cNvPr id="55" name="Freeform 55"/>
          <p:cNvSpPr>
            <a:spLocks noGrp="1"/>
          </p:cNvSpPr>
          <p:nvPr/>
        </p:nvSpPr>
        <p:spPr>
          <a:xfrm>
            <a:off x="869156" y="3860006"/>
            <a:ext cx="185737" cy="185737"/>
          </a:xfrm>
          <a:custGeom>
            <a:avLst/>
            <a:gdLst/>
            <a:ahLst/>
            <a:cxnLst/>
            <a:rect l="l" t="t" r="r" b="b"/>
            <a:pathLst>
              <a:path w="185737" h="185737">
                <a:moveTo>
                  <a:pt x="0" y="92868"/>
                </a:moveTo>
                <a:cubicBezTo>
                  <a:pt x="0" y="144158"/>
                  <a:pt x="41579" y="185737"/>
                  <a:pt x="92868" y="185737"/>
                </a:cubicBezTo>
                <a:cubicBezTo>
                  <a:pt x="144158" y="185737"/>
                  <a:pt x="185737" y="144158"/>
                  <a:pt x="185737" y="92868"/>
                </a:cubicBezTo>
                <a:cubicBezTo>
                  <a:pt x="185737" y="41579"/>
                  <a:pt x="144158" y="0"/>
                  <a:pt x="92868" y="0"/>
                </a:cubicBezTo>
                <a:cubicBezTo>
                  <a:pt x="41579" y="0"/>
                  <a:pt x="0" y="41579"/>
                  <a:pt x="0" y="92868"/>
                </a:cubicBez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56" name="Freeform 56"/>
          <p:cNvSpPr>
            <a:spLocks noGrp="1"/>
          </p:cNvSpPr>
          <p:nvPr/>
        </p:nvSpPr>
        <p:spPr>
          <a:xfrm>
            <a:off x="931068" y="3932237"/>
            <a:ext cx="61912" cy="41275"/>
          </a:xfrm>
          <a:custGeom>
            <a:avLst/>
            <a:gdLst/>
            <a:ahLst/>
            <a:cxnLst/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58" name="TextBox 58"/>
          <p:cNvSpPr>
            <a:spLocks noGrp="1"/>
          </p:cNvSpPr>
          <p:nvPr/>
        </p:nvSpPr>
        <p:spPr>
          <a:xfrm>
            <a:off x="1193673" y="3862864"/>
            <a:ext cx="14367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客户事实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9" name="TextBox 59"/>
          <p:cNvSpPr>
            <a:spLocks noGrp="1"/>
          </p:cNvSpPr>
          <p:nvPr/>
        </p:nvSpPr>
        <p:spPr>
          <a:xfrm>
            <a:off x="832866" y="41157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2E7D32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继续产出并保留</a:t>
            </a:r>
            <a:endParaRPr sz="1050">
              <a:solidFill>
                <a:srgbClr val="2E7D32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0" name="Rectangle 60"/>
          <p:cNvSpPr>
            <a:spLocks noGrp="1"/>
          </p:cNvSpPr>
          <p:nvPr/>
        </p:nvSpPr>
        <p:spPr>
          <a:xfrm>
            <a:off x="2952750" y="3638550"/>
            <a:ext cx="2133600" cy="723900"/>
          </a:xfrm>
          <a:prstGeom prst="roundRect">
            <a:avLst>
              <a:gd name="adj" fmla="val 7895"/>
            </a:avLst>
          </a:prstGeom>
          <a:solidFill>
            <a:srgbClr val="EDF1F4"/>
          </a:solidFill>
          <a:ln w="19050">
            <a:solidFill>
              <a:srgbClr val="2E7D32"/>
            </a:solidFill>
          </a:ln>
        </p:spPr>
      </p:sp>
      <p:sp>
        <p:nvSpPr>
          <p:cNvPr id="61" name="Freeform 61"/>
          <p:cNvSpPr>
            <a:spLocks noGrp="1"/>
          </p:cNvSpPr>
          <p:nvPr/>
        </p:nvSpPr>
        <p:spPr>
          <a:xfrm>
            <a:off x="3155156" y="3860006"/>
            <a:ext cx="185737" cy="185737"/>
          </a:xfrm>
          <a:custGeom>
            <a:avLst/>
            <a:gdLst/>
            <a:ahLst/>
            <a:cxnLst/>
            <a:rect l="l" t="t" r="r" b="b"/>
            <a:pathLst>
              <a:path w="185737" h="185737">
                <a:moveTo>
                  <a:pt x="0" y="92868"/>
                </a:moveTo>
                <a:cubicBezTo>
                  <a:pt x="0" y="144158"/>
                  <a:pt x="41579" y="185737"/>
                  <a:pt x="92868" y="185737"/>
                </a:cubicBezTo>
                <a:cubicBezTo>
                  <a:pt x="144158" y="185737"/>
                  <a:pt x="185737" y="144158"/>
                  <a:pt x="185737" y="92868"/>
                </a:cubicBezTo>
                <a:cubicBezTo>
                  <a:pt x="185737" y="41579"/>
                  <a:pt x="144158" y="0"/>
                  <a:pt x="92868" y="0"/>
                </a:cubicBezTo>
                <a:cubicBezTo>
                  <a:pt x="41579" y="0"/>
                  <a:pt x="0" y="41579"/>
                  <a:pt x="0" y="92868"/>
                </a:cubicBez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62" name="Freeform 62"/>
          <p:cNvSpPr>
            <a:spLocks noGrp="1"/>
          </p:cNvSpPr>
          <p:nvPr/>
        </p:nvSpPr>
        <p:spPr>
          <a:xfrm>
            <a:off x="3217068" y="3932237"/>
            <a:ext cx="61912" cy="41275"/>
          </a:xfrm>
          <a:custGeom>
            <a:avLst/>
            <a:gdLst/>
            <a:ahLst/>
            <a:cxnLst/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64" name="TextBox 64"/>
          <p:cNvSpPr>
            <a:spLocks noGrp="1"/>
          </p:cNvSpPr>
          <p:nvPr/>
        </p:nvSpPr>
        <p:spPr>
          <a:xfrm>
            <a:off x="3479673" y="3862864"/>
            <a:ext cx="11123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项目风险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5" name="TextBox 65"/>
          <p:cNvSpPr>
            <a:spLocks noGrp="1"/>
          </p:cNvSpPr>
          <p:nvPr/>
        </p:nvSpPr>
        <p:spPr>
          <a:xfrm>
            <a:off x="3118866" y="41157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2E7D32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继续产出并保留</a:t>
            </a:r>
            <a:endParaRPr sz="1050">
              <a:solidFill>
                <a:srgbClr val="2E7D32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6" name="Rectangle 66"/>
          <p:cNvSpPr>
            <a:spLocks noGrp="1"/>
          </p:cNvSpPr>
          <p:nvPr/>
        </p:nvSpPr>
        <p:spPr>
          <a:xfrm>
            <a:off x="5238750" y="3638550"/>
            <a:ext cx="245745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</p:sp>
      <p:sp>
        <p:nvSpPr>
          <p:cNvPr id="67" name="Freeform 67"/>
          <p:cNvSpPr>
            <a:spLocks noGrp="1"/>
          </p:cNvSpPr>
          <p:nvPr/>
        </p:nvSpPr>
        <p:spPr>
          <a:xfrm>
            <a:off x="5472112" y="3880644"/>
            <a:ext cx="41275" cy="144462"/>
          </a:xfrm>
          <a:custGeom>
            <a:avLst/>
            <a:gdLst/>
            <a:ahLst/>
            <a:cxnLst/>
            <a:rect l="l" t="t" r="r" b="b"/>
            <a:pathLst>
              <a:path w="41275" h="144462">
                <a:moveTo>
                  <a:pt x="0" y="10319"/>
                </a:moveTo>
                <a:cubicBezTo>
                  <a:pt x="0" y="4620"/>
                  <a:pt x="4620" y="0"/>
                  <a:pt x="10319" y="0"/>
                </a:cubicBezTo>
                <a:lnTo>
                  <a:pt x="30956" y="0"/>
                </a:lnTo>
                <a:cubicBezTo>
                  <a:pt x="36655" y="0"/>
                  <a:pt x="41275" y="4620"/>
                  <a:pt x="41275" y="10319"/>
                </a:cubicBezTo>
                <a:lnTo>
                  <a:pt x="41275" y="134143"/>
                </a:lnTo>
                <a:cubicBezTo>
                  <a:pt x="41275" y="139842"/>
                  <a:pt x="36655" y="144462"/>
                  <a:pt x="30956" y="144462"/>
                </a:cubicBezTo>
                <a:lnTo>
                  <a:pt x="10319" y="144462"/>
                </a:lnTo>
                <a:cubicBezTo>
                  <a:pt x="4620" y="144462"/>
                  <a:pt x="0" y="139842"/>
                  <a:pt x="0" y="134143"/>
                </a:cubicBezTo>
                <a:lnTo>
                  <a:pt x="0" y="10319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68" name="Freeform 68"/>
          <p:cNvSpPr>
            <a:spLocks noGrp="1"/>
          </p:cNvSpPr>
          <p:nvPr/>
        </p:nvSpPr>
        <p:spPr>
          <a:xfrm>
            <a:off x="5554662" y="3880644"/>
            <a:ext cx="41275" cy="144462"/>
          </a:xfrm>
          <a:custGeom>
            <a:avLst/>
            <a:gdLst/>
            <a:ahLst/>
            <a:cxnLst/>
            <a:rect l="l" t="t" r="r" b="b"/>
            <a:pathLst>
              <a:path w="41275" h="144462">
                <a:moveTo>
                  <a:pt x="0" y="10319"/>
                </a:moveTo>
                <a:cubicBezTo>
                  <a:pt x="0" y="4620"/>
                  <a:pt x="4620" y="0"/>
                  <a:pt x="10319" y="0"/>
                </a:cubicBezTo>
                <a:lnTo>
                  <a:pt x="30956" y="0"/>
                </a:lnTo>
                <a:cubicBezTo>
                  <a:pt x="36655" y="0"/>
                  <a:pt x="41275" y="4620"/>
                  <a:pt x="41275" y="10319"/>
                </a:cubicBezTo>
                <a:lnTo>
                  <a:pt x="41275" y="134143"/>
                </a:lnTo>
                <a:cubicBezTo>
                  <a:pt x="41275" y="139842"/>
                  <a:pt x="36655" y="144462"/>
                  <a:pt x="30956" y="144462"/>
                </a:cubicBezTo>
                <a:lnTo>
                  <a:pt x="10319" y="144462"/>
                </a:lnTo>
                <a:cubicBezTo>
                  <a:pt x="4620" y="144462"/>
                  <a:pt x="0" y="139842"/>
                  <a:pt x="0" y="134143"/>
                </a:cubicBezTo>
                <a:lnTo>
                  <a:pt x="0" y="10319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70" name="TextBox 70"/>
          <p:cNvSpPr>
            <a:spLocks noGrp="1"/>
          </p:cNvSpPr>
          <p:nvPr/>
        </p:nvSpPr>
        <p:spPr>
          <a:xfrm>
            <a:off x="5765673" y="3862864"/>
            <a:ext cx="150880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收入基线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71" name="TextBox 71"/>
          <p:cNvSpPr>
            <a:spLocks noGrp="1"/>
          </p:cNvSpPr>
          <p:nvPr/>
        </p:nvSpPr>
        <p:spPr>
          <a:xfrm>
            <a:off x="5404866" y="4115752"/>
            <a:ext cx="19330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B54708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等待输入：需要确认口径</a:t>
            </a:r>
            <a:endParaRPr sz="1050">
              <a:solidFill>
                <a:srgbClr val="B54708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2" name="Freeform 72"/>
          <p:cNvSpPr>
            <a:spLocks noGrp="1"/>
          </p:cNvSpPr>
          <p:nvPr/>
        </p:nvSpPr>
        <p:spPr>
          <a:xfrm>
            <a:off x="6457950" y="4362450"/>
            <a:ext cx="9525" cy="247650"/>
          </a:xfrm>
          <a:custGeom>
            <a:avLst/>
            <a:gdLst/>
            <a:ahLst/>
            <a:cxnLst/>
            <a:rect l="l" t="t" r="r" b="b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28575">
            <a:solidFill>
              <a:srgbClr val="D97706"/>
            </a:solidFill>
          </a:ln>
        </p:spPr>
      </p:sp>
      <p:sp>
        <p:nvSpPr>
          <p:cNvPr id="73" name="Freeform 73"/>
          <p:cNvSpPr>
            <a:spLocks noGrp="1"/>
          </p:cNvSpPr>
          <p:nvPr/>
        </p:nvSpPr>
        <p:spPr>
          <a:xfrm>
            <a:off x="6400800" y="4514850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57150" y="9525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74" name="Rectangle 74"/>
          <p:cNvSpPr>
            <a:spLocks noGrp="1"/>
          </p:cNvSpPr>
          <p:nvPr/>
        </p:nvSpPr>
        <p:spPr>
          <a:xfrm>
            <a:off x="2952750" y="4667250"/>
            <a:ext cx="4743450" cy="590550"/>
          </a:xfrm>
          <a:prstGeom prst="roundRect">
            <a:avLst>
              <a:gd name="adj" fmla="val 9677"/>
            </a:avLst>
          </a:prstGeom>
          <a:solidFill>
            <a:srgbClr val="EDF1F4"/>
          </a:solidFill>
          <a:ln w="19050">
            <a:solidFill>
              <a:srgbClr val="1769E0"/>
            </a:solidFill>
          </a:ln>
        </p:spPr>
      </p:sp>
      <p:sp>
        <p:nvSpPr>
          <p:cNvPr id="75" name="Freeform 75"/>
          <p:cNvSpPr>
            <a:spLocks noGrp="1"/>
          </p:cNvSpPr>
          <p:nvPr/>
        </p:nvSpPr>
        <p:spPr>
          <a:xfrm>
            <a:off x="3163640" y="4862453"/>
            <a:ext cx="206003" cy="182610"/>
          </a:xfrm>
          <a:custGeom>
            <a:avLst/>
            <a:gdLst/>
            <a:ahLst/>
            <a:cxnLst/>
            <a:rect l="l" t="t" r="r" b="b"/>
            <a:pathLst>
              <a:path w="206003" h="182610">
                <a:moveTo>
                  <a:pt x="10566" y="173096"/>
                </a:moveTo>
                <a:lnTo>
                  <a:pt x="23981" y="132853"/>
                </a:lnTo>
                <a:cubicBezTo>
                  <a:pt x="0" y="97388"/>
                  <a:pt x="9266" y="51625"/>
                  <a:pt x="45650" y="25807"/>
                </a:cubicBezTo>
                <a:cubicBezTo>
                  <a:pt x="82034" y="0"/>
                  <a:pt x="134288" y="2115"/>
                  <a:pt x="167875" y="30760"/>
                </a:cubicBezTo>
                <a:cubicBezTo>
                  <a:pt x="201463" y="59415"/>
                  <a:pt x="206003" y="105736"/>
                  <a:pt x="178493" y="139117"/>
                </a:cubicBezTo>
                <a:cubicBezTo>
                  <a:pt x="150983" y="172498"/>
                  <a:pt x="99916" y="182610"/>
                  <a:pt x="59064" y="162778"/>
                </a:cubicBezTo>
                <a:lnTo>
                  <a:pt x="10566" y="173096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76" name="TextBox 76"/>
          <p:cNvSpPr>
            <a:spLocks noGrp="1"/>
          </p:cNvSpPr>
          <p:nvPr/>
        </p:nvSpPr>
        <p:spPr>
          <a:xfrm>
            <a:off x="3517773" y="4758214"/>
            <a:ext cx="34303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纠偏：采用正式口径，保留预测差异说明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77" name="TextBox 77"/>
          <p:cNvSpPr>
            <a:spLocks noGrp="1"/>
          </p:cNvSpPr>
          <p:nvPr/>
        </p:nvSpPr>
        <p:spPr>
          <a:xfrm>
            <a:off x="3518916" y="5011102"/>
            <a:ext cx="26963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只恢复该分支；已完成工件和版本不被覆盖</a:t>
            </a:r>
            <a:endParaRPr sz="105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9" name="TextBox 79"/>
          <p:cNvSpPr>
            <a:spLocks noGrp="1"/>
          </p:cNvSpPr>
          <p:nvPr/>
        </p:nvSpPr>
        <p:spPr>
          <a:xfrm>
            <a:off x="8144256" y="3025140"/>
            <a:ext cx="290608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从 07-16 目标到当前事实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80" name="Rectangle 80"/>
          <p:cNvSpPr>
            <a:spLocks noGrp="1"/>
          </p:cNvSpPr>
          <p:nvPr/>
        </p:nvSpPr>
        <p:spPr>
          <a:xfrm>
            <a:off x="8153400" y="3409950"/>
            <a:ext cx="354330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81" name="Rectangle 81"/>
          <p:cNvSpPr>
            <a:spLocks noGrp="1"/>
          </p:cNvSpPr>
          <p:nvPr/>
        </p:nvSpPr>
        <p:spPr>
          <a:xfrm>
            <a:off x="8343900" y="3600450"/>
            <a:ext cx="895350" cy="247650"/>
          </a:xfrm>
          <a:prstGeom prst="roundRect">
            <a:avLst>
              <a:gd name="adj" fmla="val 19231"/>
            </a:avLst>
          </a:prstGeom>
          <a:solidFill>
            <a:srgbClr val="EDF1F4"/>
          </a:solidFill>
          <a:ln>
            <a:noFill/>
          </a:ln>
        </p:spPr>
      </p:sp>
      <p:sp>
        <p:nvSpPr>
          <p:cNvPr id="82" name="TextBox 82"/>
          <p:cNvSpPr>
            <a:spLocks noGrp="1"/>
          </p:cNvSpPr>
          <p:nvPr/>
        </p:nvSpPr>
        <p:spPr>
          <a:xfrm>
            <a:off x="8415195" y="3668078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当前已落地</a:t>
            </a:r>
            <a:endParaRPr sz="1050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83" name="TextBox 83"/>
          <p:cNvSpPr>
            <a:spLocks noGrp="1"/>
          </p:cNvSpPr>
          <p:nvPr/>
        </p:nvSpPr>
        <p:spPr>
          <a:xfrm>
            <a:off x="8337423" y="3958114"/>
            <a:ext cx="310564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服务端分支与分支级证据门</a:t>
            </a:r>
            <a:endParaRPr sz="128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4" name="TextBox 84"/>
          <p:cNvSpPr>
            <a:spLocks noGrp="1"/>
          </p:cNvSpPr>
          <p:nvPr/>
        </p:nvSpPr>
        <p:spPr>
          <a:xfrm>
            <a:off x="8337423" y="4205764"/>
            <a:ext cx="35802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追加式成果版本与任务提交</a:t>
            </a:r>
            <a:endParaRPr sz="128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5" name="TextBox 85"/>
          <p:cNvSpPr>
            <a:spLocks noGrp="1"/>
          </p:cNvSpPr>
          <p:nvPr/>
        </p:nvSpPr>
        <p:spPr>
          <a:xfrm>
            <a:off x="8337423" y="4453414"/>
            <a:ext cx="30495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局部恢复与可选数据库重启恢复</a:t>
            </a:r>
            <a:endParaRPr sz="128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6" name="Freeform 86"/>
          <p:cNvSpPr>
            <a:spLocks noGrp="1"/>
          </p:cNvSpPr>
          <p:nvPr/>
        </p:nvSpPr>
        <p:spPr>
          <a:xfrm>
            <a:off x="8343900" y="4762500"/>
            <a:ext cx="3162300" cy="9525"/>
          </a:xfrm>
          <a:custGeom>
            <a:avLst/>
            <a:gdLst/>
            <a:ahLst/>
            <a:cxnLst/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/>
          <a:ln w="19050">
            <a:solidFill>
              <a:srgbClr val="E3E8ED"/>
            </a:solidFill>
          </a:ln>
        </p:spPr>
      </p:sp>
      <p:sp>
        <p:nvSpPr>
          <p:cNvPr id="87" name="TextBox 87"/>
          <p:cNvSpPr>
            <a:spLocks noGrp="1"/>
          </p:cNvSpPr>
          <p:nvPr/>
        </p:nvSpPr>
        <p:spPr>
          <a:xfrm>
            <a:off x="8338566" y="4896802"/>
            <a:ext cx="43254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B54708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仍是目标：生产身份、通用可写办公成果、长期后台执行</a:t>
            </a:r>
            <a:endParaRPr sz="1050" b="1">
              <a:solidFill>
                <a:srgbClr val="B54708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89" name="Rectangle 89"/>
          <p:cNvSpPr>
            <a:spLocks noGrp="1"/>
          </p:cNvSpPr>
          <p:nvPr/>
        </p:nvSpPr>
        <p:spPr>
          <a:xfrm>
            <a:off x="495300" y="5715000"/>
            <a:ext cx="11201400" cy="514350"/>
          </a:xfrm>
          <a:prstGeom prst="roundRect">
            <a:avLst>
              <a:gd name="adj" fmla="val 11111"/>
            </a:avLst>
          </a:prstGeom>
          <a:solidFill>
            <a:srgbClr val="132A3A"/>
          </a:solidFill>
          <a:ln>
            <a:noFill/>
          </a:ln>
        </p:spPr>
      </p:sp>
      <p:sp>
        <p:nvSpPr>
          <p:cNvPr id="90" name="TextBox 90"/>
          <p:cNvSpPr>
            <a:spLocks noGrp="1"/>
          </p:cNvSpPr>
          <p:nvPr/>
        </p:nvSpPr>
        <p:spPr>
          <a:xfrm>
            <a:off x="717423" y="5891689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交互变化：</a:t>
            </a:r>
            <a:endParaRPr sz="128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91" name="TextBox 91"/>
          <p:cNvSpPr>
            <a:spLocks noGrp="1"/>
          </p:cNvSpPr>
          <p:nvPr/>
        </p:nvSpPr>
        <p:spPr>
          <a:xfrm>
            <a:off x="1593723" y="5891689"/>
            <a:ext cx="687857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用户不再重开对话、重讲背景，而是在同一任务里查看分支、处理冲突、恢复受影响部分。</a:t>
            </a:r>
            <a:endParaRPr sz="128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3" name="TextBox 93"/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依据：</a:t>
            </a:r>
            <a:r>
              <a:rPr sz="1165" u="sng">
                <a:solidFill>
                  <a:srgbClr val="1769D2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1"/>
              </a:rPr>
              <a:t>docs.langchain.com/.../langgraph/persistence</a:t>
            </a: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 ·  </a:t>
            </a:r>
            <a:r>
              <a:rPr sz="1165" u="sng">
                <a:solidFill>
                  <a:srgbClr val="1769D2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2"/>
              </a:rPr>
              <a:t>openai.github.io/.../human_in_the_loop/</a:t>
            </a:r>
            <a:endParaRPr sz="1165" u="sng">
              <a:solidFill>
                <a:srgbClr val="1769D2"/>
              </a:solidFill>
              <a:latin typeface="Segoe UI" panose="020B0502040204020203"/>
              <a:ea typeface="Segoe UI" panose="020B0502040204020203"/>
              <a:cs typeface="Segoe UI" panose="020B0502040204020203"/>
              <a:hlinkClick r:id="rId2"/>
            </a:endParaRPr>
          </a:p>
        </p:txBody>
      </p:sp>
      <p:sp>
        <p:nvSpPr>
          <p:cNvPr id="94" name="TextBox 94"/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10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/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19050">
            <a:solidFill>
              <a:srgbClr val="CBD5DF"/>
            </a:solidFill>
          </a:ln>
        </p:spPr>
      </p:sp>
      <p:sp>
        <p:nvSpPr>
          <p:cNvPr id="5" name="TextBox 5"/>
          <p:cNvSpPr>
            <a:spLocks noGrp="1"/>
          </p:cNvSpPr>
          <p:nvPr/>
        </p:nvSpPr>
        <p:spPr>
          <a:xfrm>
            <a:off x="477774" y="370522"/>
            <a:ext cx="7577120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Demo 2：复杂任务怎样拆解并收敛</a:t>
            </a:r>
            <a:endParaRPr sz="34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488823" y="1253014"/>
            <a:ext cx="757371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智能工作驾驶舱仍是目标；当前先验证复杂任务的拆解、依赖和成果汇合。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" name="Freeform 10"/>
          <p:cNvSpPr>
            <a:spLocks noGrp="1"/>
          </p:cNvSpPr>
          <p:nvPr/>
        </p:nvSpPr>
        <p:spPr>
          <a:xfrm>
            <a:off x="800100" y="1885950"/>
            <a:ext cx="9525" cy="3295650"/>
          </a:xfrm>
          <a:custGeom>
            <a:avLst/>
            <a:gdLst/>
            <a:ahLst/>
            <a:cxnLst/>
            <a:rect l="l" t="t" r="r" b="b"/>
            <a:pathLst>
              <a:path w="9525" h="3295650">
                <a:moveTo>
                  <a:pt x="0" y="0"/>
                </a:moveTo>
                <a:lnTo>
                  <a:pt x="0" y="3295650"/>
                </a:lnTo>
              </a:path>
            </a:pathLst>
          </a:custGeom>
          <a:noFill/>
          <a:ln w="38100">
            <a:solidFill>
              <a:srgbClr val="CBD5DF"/>
            </a:solidFill>
          </a:ln>
        </p:spPr>
      </p:sp>
      <p:sp>
        <p:nvSpPr>
          <p:cNvPr id="11" name="Ellipse 11"/>
          <p:cNvSpPr>
            <a:spLocks noGrp="1"/>
          </p:cNvSpPr>
          <p:nvPr/>
        </p:nvSpPr>
        <p:spPr>
          <a:xfrm>
            <a:off x="590550" y="1809750"/>
            <a:ext cx="419100" cy="4191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2" name="TextBox 12"/>
          <p:cNvSpPr>
            <a:spLocks noGrp="1"/>
          </p:cNvSpPr>
          <p:nvPr/>
        </p:nvSpPr>
        <p:spPr>
          <a:xfrm>
            <a:off x="740765" y="1940242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sz="135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TextBox 13"/>
          <p:cNvSpPr>
            <a:spLocks noGrp="1"/>
          </p:cNvSpPr>
          <p:nvPr/>
        </p:nvSpPr>
        <p:spPr>
          <a:xfrm>
            <a:off x="1171956" y="1777365"/>
            <a:ext cx="383476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输入：一个复杂但只读的办公任务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4" name="TextBox 14"/>
          <p:cNvSpPr>
            <a:spLocks noGrp="1"/>
          </p:cNvSpPr>
          <p:nvPr/>
        </p:nvSpPr>
        <p:spPr>
          <a:xfrm>
            <a:off x="1174623" y="2129314"/>
            <a:ext cx="37890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跨产品、算法、交互三条工作线核对风险与证据，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TextBox 15"/>
          <p:cNvSpPr>
            <a:spLocks noGrp="1"/>
          </p:cNvSpPr>
          <p:nvPr/>
        </p:nvSpPr>
        <p:spPr>
          <a:xfrm>
            <a:off x="1174623" y="23769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先独立核对，再形成统一简报。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6" name="Ellipse 16"/>
          <p:cNvSpPr>
            <a:spLocks noGrp="1"/>
          </p:cNvSpPr>
          <p:nvPr/>
        </p:nvSpPr>
        <p:spPr>
          <a:xfrm>
            <a:off x="590550" y="3048000"/>
            <a:ext cx="419100" cy="4191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7" name="TextBox 17"/>
          <p:cNvSpPr>
            <a:spLocks noGrp="1"/>
          </p:cNvSpPr>
          <p:nvPr/>
        </p:nvSpPr>
        <p:spPr>
          <a:xfrm>
            <a:off x="740765" y="3178492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</a:t>
            </a:r>
            <a:endParaRPr sz="135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TextBox 18"/>
          <p:cNvSpPr>
            <a:spLocks noGrp="1"/>
          </p:cNvSpPr>
          <p:nvPr/>
        </p:nvSpPr>
        <p:spPr>
          <a:xfrm>
            <a:off x="1171956" y="3015615"/>
            <a:ext cx="33259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过程：依赖关系决定执行批次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9" name="TextBox 19"/>
          <p:cNvSpPr>
            <a:spLocks noGrp="1"/>
          </p:cNvSpPr>
          <p:nvPr/>
        </p:nvSpPr>
        <p:spPr>
          <a:xfrm>
            <a:off x="1174623" y="3367564"/>
            <a:ext cx="35114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路线准入生成 5 个工作包：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0" name="TextBox 20"/>
          <p:cNvSpPr>
            <a:spLocks noGrp="1"/>
          </p:cNvSpPr>
          <p:nvPr/>
        </p:nvSpPr>
        <p:spPr>
          <a:xfrm>
            <a:off x="1174623" y="3615214"/>
            <a:ext cx="39091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 个根工作包先执行，2 个依赖工作包等待下一波。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" name="Ellipse 21"/>
          <p:cNvSpPr>
            <a:spLocks noGrp="1"/>
          </p:cNvSpPr>
          <p:nvPr/>
        </p:nvSpPr>
        <p:spPr>
          <a:xfrm>
            <a:off x="590550" y="4324350"/>
            <a:ext cx="419100" cy="4191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2" name="TextBox 22"/>
          <p:cNvSpPr>
            <a:spLocks noGrp="1"/>
          </p:cNvSpPr>
          <p:nvPr/>
        </p:nvSpPr>
        <p:spPr>
          <a:xfrm>
            <a:off x="740765" y="4454842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</a:t>
            </a:r>
            <a:endParaRPr sz="135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3" name="TextBox 23"/>
          <p:cNvSpPr>
            <a:spLocks noGrp="1"/>
          </p:cNvSpPr>
          <p:nvPr/>
        </p:nvSpPr>
        <p:spPr>
          <a:xfrm>
            <a:off x="1171956" y="4291965"/>
            <a:ext cx="358033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输出：统一成果与一个明确待办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4" name="TextBox 24"/>
          <p:cNvSpPr>
            <a:spLocks noGrp="1"/>
          </p:cNvSpPr>
          <p:nvPr/>
        </p:nvSpPr>
        <p:spPr>
          <a:xfrm>
            <a:off x="1175004" y="4652010"/>
            <a:ext cx="36178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 份贡献已采用，成果版本 1 已保留；</a:t>
            </a:r>
            <a:endParaRPr sz="120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1175004" y="4890135"/>
            <a:ext cx="19668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右侧只突出“继续下一批”，</a:t>
            </a:r>
            <a:endParaRPr sz="120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6" name="TextBox 26"/>
          <p:cNvSpPr>
            <a:spLocks noGrp="1"/>
          </p:cNvSpPr>
          <p:nvPr/>
        </p:nvSpPr>
        <p:spPr>
          <a:xfrm>
            <a:off x="1175004" y="51282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不要求用户管理多个会话。</a:t>
            </a:r>
            <a:endParaRPr sz="120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8" name="Rectangle 28"/>
          <p:cNvSpPr>
            <a:spLocks noGrp="1"/>
          </p:cNvSpPr>
          <p:nvPr/>
        </p:nvSpPr>
        <p:spPr>
          <a:xfrm>
            <a:off x="5314950" y="1581150"/>
            <a:ext cx="6381750" cy="434340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pic>
        <p:nvPicPr>
          <p:cNvPr id="66" name="Image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2501" y="1695450"/>
            <a:ext cx="5386647" cy="4114800"/>
          </a:xfrm>
          <a:prstGeom prst="rect">
            <a:avLst/>
          </a:prstGeom>
        </p:spPr>
      </p:pic>
      <p:sp>
        <p:nvSpPr>
          <p:cNvPr id="32" name="Freeform 32"/>
          <p:cNvSpPr>
            <a:spLocks noGrp="1"/>
          </p:cNvSpPr>
          <p:nvPr/>
        </p:nvSpPr>
        <p:spPr>
          <a:xfrm>
            <a:off x="7943850" y="381000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28575">
            <a:solidFill>
              <a:srgbClr val="D97706"/>
            </a:solidFill>
          </a:ln>
        </p:spPr>
      </p:sp>
      <p:sp>
        <p:nvSpPr>
          <p:cNvPr id="33" name="Freeform 33"/>
          <p:cNvSpPr>
            <a:spLocks noGrp="1"/>
          </p:cNvSpPr>
          <p:nvPr/>
        </p:nvSpPr>
        <p:spPr>
          <a:xfrm>
            <a:off x="9010650" y="3743325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300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37" name="Rectangle 37"/>
          <p:cNvSpPr>
            <a:spLocks noGrp="1"/>
          </p:cNvSpPr>
          <p:nvPr/>
        </p:nvSpPr>
        <p:spPr>
          <a:xfrm>
            <a:off x="495300" y="6115050"/>
            <a:ext cx="11201400" cy="381000"/>
          </a:xfrm>
          <a:prstGeom prst="roundRect">
            <a:avLst>
              <a:gd name="adj" fmla="val 15000"/>
            </a:avLst>
          </a:prstGeom>
          <a:solidFill>
            <a:srgbClr val="132A3A"/>
          </a:solidFill>
          <a:ln>
            <a:noFill/>
          </a:ln>
        </p:spPr>
      </p:sp>
      <p:sp>
        <p:nvSpPr>
          <p:cNvPr id="38" name="TextBox 38"/>
          <p:cNvSpPr>
            <a:spLocks noGrp="1"/>
          </p:cNvSpPr>
          <p:nvPr/>
        </p:nvSpPr>
        <p:spPr>
          <a:xfrm>
            <a:off x="717423" y="62250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当前边界：</a:t>
            </a:r>
            <a:endParaRPr sz="128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9" name="TextBox 39"/>
          <p:cNvSpPr>
            <a:spLocks noGrp="1"/>
          </p:cNvSpPr>
          <p:nvPr/>
        </p:nvSpPr>
        <p:spPr>
          <a:xfrm>
            <a:off x="1555623" y="6225064"/>
            <a:ext cx="813807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单服务进程、顺序批次、每批最多 3 个只读执行单元；不是分布式协作，也不是完整智能工作驾驶舱。</a:t>
            </a:r>
            <a:endParaRPr sz="1280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2" name="TextBox 42"/>
          <p:cNvSpPr>
            <a:spLocks noGrp="1"/>
          </p:cNvSpPr>
          <p:nvPr/>
        </p:nvSpPr>
        <p:spPr>
          <a:xfrm>
            <a:off x="11217840" y="66113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11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/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19050">
            <a:solidFill>
              <a:srgbClr val="CBD5DF"/>
            </a:solidFill>
          </a:ln>
        </p:spPr>
      </p:sp>
      <p:sp>
        <p:nvSpPr>
          <p:cNvPr id="5" name="TextBox 5"/>
          <p:cNvSpPr>
            <a:spLocks noGrp="1"/>
          </p:cNvSpPr>
          <p:nvPr/>
        </p:nvSpPr>
        <p:spPr>
          <a:xfrm>
            <a:off x="478536" y="386715"/>
            <a:ext cx="913991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3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Demo 3：动作维风险，方案与执行必须隔离</a:t>
            </a:r>
            <a:endParaRPr sz="33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488823" y="1253014"/>
            <a:ext cx="790841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生成建议、形成草稿和真实发送或付款是三种不同事实；风险越高，用户越需要在动作发生前看见影响。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" name="TextBox 10"/>
          <p:cNvSpPr>
            <a:spLocks noGrp="1"/>
          </p:cNvSpPr>
          <p:nvPr/>
        </p:nvSpPr>
        <p:spPr>
          <a:xfrm>
            <a:off x="486156" y="1596390"/>
            <a:ext cx="352656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L0-L5 把风险映射为不同交互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1" name="Rectangle 11"/>
          <p:cNvSpPr>
            <a:spLocks noGrp="1"/>
          </p:cNvSpPr>
          <p:nvPr/>
        </p:nvSpPr>
        <p:spPr>
          <a:xfrm>
            <a:off x="495300" y="1981200"/>
            <a:ext cx="1790700" cy="609600"/>
          </a:xfrm>
          <a:prstGeom prst="roundRect">
            <a:avLst>
              <a:gd name="adj" fmla="val 9375"/>
            </a:avLst>
          </a:prstGeom>
          <a:solidFill>
            <a:srgbClr val="EDF1F4"/>
          </a:solidFill>
          <a:ln w="19050">
            <a:solidFill>
              <a:srgbClr val="2E7D32"/>
            </a:solidFill>
          </a:ln>
        </p:spPr>
      </p:sp>
      <p:sp>
        <p:nvSpPr>
          <p:cNvPr id="12" name="TextBox 12"/>
          <p:cNvSpPr>
            <a:spLocks noGrp="1"/>
          </p:cNvSpPr>
          <p:nvPr/>
        </p:nvSpPr>
        <p:spPr>
          <a:xfrm>
            <a:off x="679323" y="2091214"/>
            <a:ext cx="22242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2E7D3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L0</a:t>
            </a:r>
            <a:endParaRPr sz="1280" b="1">
              <a:solidFill>
                <a:srgbClr val="2E7D3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TextBox 13"/>
          <p:cNvSpPr>
            <a:spLocks noGrp="1"/>
          </p:cNvSpPr>
          <p:nvPr/>
        </p:nvSpPr>
        <p:spPr>
          <a:xfrm>
            <a:off x="1060323" y="22626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自动执行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4" name="Rectangle 14"/>
          <p:cNvSpPr>
            <a:spLocks noGrp="1"/>
          </p:cNvSpPr>
          <p:nvPr/>
        </p:nvSpPr>
        <p:spPr>
          <a:xfrm>
            <a:off x="2381250" y="1981200"/>
            <a:ext cx="1790700" cy="609600"/>
          </a:xfrm>
          <a:prstGeom prst="roundRect">
            <a:avLst>
              <a:gd name="adj" fmla="val 9375"/>
            </a:avLst>
          </a:prstGeom>
          <a:solidFill>
            <a:srgbClr val="EDF1F4"/>
          </a:solidFill>
          <a:ln w="19050">
            <a:solidFill>
              <a:srgbClr val="2E7D32"/>
            </a:solidFill>
          </a:ln>
        </p:spPr>
      </p:sp>
      <p:sp>
        <p:nvSpPr>
          <p:cNvPr id="15" name="TextBox 15"/>
          <p:cNvSpPr>
            <a:spLocks noGrp="1"/>
          </p:cNvSpPr>
          <p:nvPr/>
        </p:nvSpPr>
        <p:spPr>
          <a:xfrm>
            <a:off x="2565273" y="2091214"/>
            <a:ext cx="22242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2E7D3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L1</a:t>
            </a:r>
            <a:endParaRPr sz="1280" b="1">
              <a:solidFill>
                <a:srgbClr val="2E7D3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TextBox 16"/>
          <p:cNvSpPr>
            <a:spLocks noGrp="1"/>
          </p:cNvSpPr>
          <p:nvPr/>
        </p:nvSpPr>
        <p:spPr>
          <a:xfrm>
            <a:off x="2946273" y="22626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执行并通知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7" name="Rectangle 17"/>
          <p:cNvSpPr>
            <a:spLocks noGrp="1"/>
          </p:cNvSpPr>
          <p:nvPr/>
        </p:nvSpPr>
        <p:spPr>
          <a:xfrm>
            <a:off x="4267200" y="1981200"/>
            <a:ext cx="17907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1769E0"/>
            </a:solidFill>
          </a:ln>
        </p:spPr>
      </p:sp>
      <p:sp>
        <p:nvSpPr>
          <p:cNvPr id="18" name="TextBox 18"/>
          <p:cNvSpPr>
            <a:spLocks noGrp="1"/>
          </p:cNvSpPr>
          <p:nvPr/>
        </p:nvSpPr>
        <p:spPr>
          <a:xfrm>
            <a:off x="4451223" y="2091214"/>
            <a:ext cx="22242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L2</a:t>
            </a:r>
            <a:endParaRPr sz="1280" b="1">
              <a:solidFill>
                <a:srgbClr val="1769E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TextBox 19"/>
          <p:cNvSpPr>
            <a:spLocks noGrp="1"/>
          </p:cNvSpPr>
          <p:nvPr/>
        </p:nvSpPr>
        <p:spPr>
          <a:xfrm>
            <a:off x="4832223" y="22626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只生成草稿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0" name="Rectangle 20"/>
          <p:cNvSpPr>
            <a:spLocks noGrp="1"/>
          </p:cNvSpPr>
          <p:nvPr/>
        </p:nvSpPr>
        <p:spPr>
          <a:xfrm>
            <a:off x="6153150" y="1981200"/>
            <a:ext cx="17907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</p:sp>
      <p:sp>
        <p:nvSpPr>
          <p:cNvPr id="21" name="TextBox 21"/>
          <p:cNvSpPr>
            <a:spLocks noGrp="1"/>
          </p:cNvSpPr>
          <p:nvPr/>
        </p:nvSpPr>
        <p:spPr>
          <a:xfrm>
            <a:off x="6337173" y="2091214"/>
            <a:ext cx="22242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L3</a:t>
            </a:r>
            <a:endParaRPr sz="1280" b="1">
              <a:solidFill>
                <a:srgbClr val="B5470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TextBox 22"/>
          <p:cNvSpPr>
            <a:spLocks noGrp="1"/>
          </p:cNvSpPr>
          <p:nvPr/>
        </p:nvSpPr>
        <p:spPr>
          <a:xfrm>
            <a:off x="6718173" y="22626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普通确认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3" name="Rectangle 23"/>
          <p:cNvSpPr>
            <a:spLocks noGrp="1"/>
          </p:cNvSpPr>
          <p:nvPr/>
        </p:nvSpPr>
        <p:spPr>
          <a:xfrm>
            <a:off x="8039100" y="1981200"/>
            <a:ext cx="17907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</p:sp>
      <p:sp>
        <p:nvSpPr>
          <p:cNvPr id="24" name="TextBox 24"/>
          <p:cNvSpPr>
            <a:spLocks noGrp="1"/>
          </p:cNvSpPr>
          <p:nvPr/>
        </p:nvSpPr>
        <p:spPr>
          <a:xfrm>
            <a:off x="8223123" y="2091214"/>
            <a:ext cx="22242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L4</a:t>
            </a:r>
            <a:endParaRPr sz="1280" b="1">
              <a:solidFill>
                <a:srgbClr val="B5470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8604123" y="2262664"/>
            <a:ext cx="5536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强确认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6" name="Rectangle 26"/>
          <p:cNvSpPr>
            <a:spLocks noGrp="1"/>
          </p:cNvSpPr>
          <p:nvPr/>
        </p:nvSpPr>
        <p:spPr>
          <a:xfrm>
            <a:off x="9925050" y="1981200"/>
            <a:ext cx="177165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C0362C"/>
            </a:solidFill>
          </a:ln>
        </p:spPr>
      </p:sp>
      <p:sp>
        <p:nvSpPr>
          <p:cNvPr id="27" name="TextBox 27"/>
          <p:cNvSpPr>
            <a:spLocks noGrp="1"/>
          </p:cNvSpPr>
          <p:nvPr/>
        </p:nvSpPr>
        <p:spPr>
          <a:xfrm>
            <a:off x="10109073" y="2091214"/>
            <a:ext cx="22242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C0362C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L5</a:t>
            </a:r>
            <a:endParaRPr sz="1280" b="1">
              <a:solidFill>
                <a:srgbClr val="C0362C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8" name="TextBox 28"/>
          <p:cNvSpPr>
            <a:spLocks noGrp="1"/>
          </p:cNvSpPr>
          <p:nvPr/>
        </p:nvSpPr>
        <p:spPr>
          <a:xfrm>
            <a:off x="10490073" y="22626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直接拒绝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0" name="TextBox 30"/>
          <p:cNvSpPr>
            <a:spLocks noGrp="1"/>
          </p:cNvSpPr>
          <p:nvPr/>
        </p:nvSpPr>
        <p:spPr>
          <a:xfrm>
            <a:off x="486156" y="2758440"/>
            <a:ext cx="6066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动作链：先让用户看见影响，再决定是否发放执行许可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1" name="Rectangle 31"/>
          <p:cNvSpPr>
            <a:spLocks noGrp="1"/>
          </p:cNvSpPr>
          <p:nvPr/>
        </p:nvSpPr>
        <p:spPr>
          <a:xfrm>
            <a:off x="495300" y="3143250"/>
            <a:ext cx="11201400" cy="800100"/>
          </a:xfrm>
          <a:prstGeom prst="roundRect">
            <a:avLst>
              <a:gd name="adj" fmla="val 7143"/>
            </a:avLst>
          </a:prstGeom>
          <a:solidFill>
            <a:srgbClr val="132A3A"/>
          </a:solidFill>
          <a:ln>
            <a:noFill/>
          </a:ln>
        </p:spPr>
      </p:sp>
      <p:sp>
        <p:nvSpPr>
          <p:cNvPr id="32" name="TextBox 32"/>
          <p:cNvSpPr>
            <a:spLocks noGrp="1"/>
          </p:cNvSpPr>
          <p:nvPr/>
        </p:nvSpPr>
        <p:spPr>
          <a:xfrm>
            <a:off x="736473" y="3481864"/>
            <a:ext cx="3733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方案</a:t>
            </a:r>
            <a:endParaRPr sz="128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3" name="Freeform 33"/>
          <p:cNvSpPr>
            <a:spLocks noGrp="1"/>
          </p:cNvSpPr>
          <p:nvPr/>
        </p:nvSpPr>
        <p:spPr>
          <a:xfrm>
            <a:off x="1219200" y="35433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CBD5DF"/>
            </a:solidFill>
          </a:ln>
        </p:spPr>
      </p:sp>
      <p:sp>
        <p:nvSpPr>
          <p:cNvPr id="34" name="Freeform 34"/>
          <p:cNvSpPr>
            <a:spLocks noGrp="1"/>
          </p:cNvSpPr>
          <p:nvPr/>
        </p:nvSpPr>
        <p:spPr>
          <a:xfrm>
            <a:off x="1466850" y="34861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CBD5DF"/>
          </a:solidFill>
          <a:ln>
            <a:noFill/>
          </a:ln>
        </p:spPr>
      </p:sp>
      <p:sp>
        <p:nvSpPr>
          <p:cNvPr id="35" name="TextBox 35"/>
          <p:cNvSpPr>
            <a:spLocks noGrp="1"/>
          </p:cNvSpPr>
          <p:nvPr/>
        </p:nvSpPr>
        <p:spPr>
          <a:xfrm>
            <a:off x="1727073" y="3481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影响预览</a:t>
            </a:r>
            <a:endParaRPr sz="128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6" name="Freeform 36"/>
          <p:cNvSpPr>
            <a:spLocks noGrp="1"/>
          </p:cNvSpPr>
          <p:nvPr/>
        </p:nvSpPr>
        <p:spPr>
          <a:xfrm>
            <a:off x="2628900" y="35433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CBD5DF"/>
            </a:solidFill>
          </a:ln>
        </p:spPr>
      </p:sp>
      <p:sp>
        <p:nvSpPr>
          <p:cNvPr id="37" name="Freeform 37"/>
          <p:cNvSpPr>
            <a:spLocks noGrp="1"/>
          </p:cNvSpPr>
          <p:nvPr/>
        </p:nvSpPr>
        <p:spPr>
          <a:xfrm>
            <a:off x="2876550" y="34861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CBD5DF"/>
          </a:solidFill>
          <a:ln>
            <a:noFill/>
          </a:ln>
        </p:spPr>
      </p:sp>
      <p:sp>
        <p:nvSpPr>
          <p:cNvPr id="38" name="TextBox 38"/>
          <p:cNvSpPr>
            <a:spLocks noGrp="1"/>
          </p:cNvSpPr>
          <p:nvPr/>
        </p:nvSpPr>
        <p:spPr>
          <a:xfrm>
            <a:off x="3136773" y="3481864"/>
            <a:ext cx="8262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风险评估</a:t>
            </a:r>
            <a:endParaRPr sz="128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9" name="Freeform 39"/>
          <p:cNvSpPr>
            <a:spLocks noGrp="1"/>
          </p:cNvSpPr>
          <p:nvPr/>
        </p:nvSpPr>
        <p:spPr>
          <a:xfrm>
            <a:off x="4019550" y="35433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CBD5DF"/>
            </a:solidFill>
          </a:ln>
        </p:spPr>
      </p:sp>
      <p:sp>
        <p:nvSpPr>
          <p:cNvPr id="40" name="Freeform 40"/>
          <p:cNvSpPr>
            <a:spLocks noGrp="1"/>
          </p:cNvSpPr>
          <p:nvPr/>
        </p:nvSpPr>
        <p:spPr>
          <a:xfrm>
            <a:off x="4267200" y="34861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CBD5DF"/>
          </a:solidFill>
          <a:ln>
            <a:noFill/>
          </a:ln>
        </p:spPr>
      </p:sp>
      <p:sp>
        <p:nvSpPr>
          <p:cNvPr id="41" name="TextBox 41"/>
          <p:cNvSpPr>
            <a:spLocks noGrp="1"/>
          </p:cNvSpPr>
          <p:nvPr/>
        </p:nvSpPr>
        <p:spPr>
          <a:xfrm>
            <a:off x="4527423" y="3481864"/>
            <a:ext cx="12227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证据门</a:t>
            </a:r>
            <a:endParaRPr sz="128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2" name="Freeform 42"/>
          <p:cNvSpPr>
            <a:spLocks noGrp="1"/>
          </p:cNvSpPr>
          <p:nvPr/>
        </p:nvSpPr>
        <p:spPr>
          <a:xfrm>
            <a:off x="5734050" y="35433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CBD5DF"/>
            </a:solidFill>
          </a:ln>
        </p:spPr>
      </p:sp>
      <p:sp>
        <p:nvSpPr>
          <p:cNvPr id="43" name="Freeform 43"/>
          <p:cNvSpPr>
            <a:spLocks noGrp="1"/>
          </p:cNvSpPr>
          <p:nvPr/>
        </p:nvSpPr>
        <p:spPr>
          <a:xfrm>
            <a:off x="5981700" y="34861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CBD5DF"/>
          </a:solidFill>
          <a:ln>
            <a:noFill/>
          </a:ln>
        </p:spPr>
      </p:sp>
      <p:sp>
        <p:nvSpPr>
          <p:cNvPr id="44" name="TextBox 44"/>
          <p:cNvSpPr>
            <a:spLocks noGrp="1"/>
          </p:cNvSpPr>
          <p:nvPr/>
        </p:nvSpPr>
        <p:spPr>
          <a:xfrm>
            <a:off x="6241923" y="3481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人工确认</a:t>
            </a:r>
            <a:endParaRPr sz="128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5" name="Freeform 45"/>
          <p:cNvSpPr>
            <a:spLocks noGrp="1"/>
          </p:cNvSpPr>
          <p:nvPr/>
        </p:nvSpPr>
        <p:spPr>
          <a:xfrm>
            <a:off x="7124700" y="35433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D97706"/>
            </a:solidFill>
          </a:ln>
        </p:spPr>
      </p:sp>
      <p:sp>
        <p:nvSpPr>
          <p:cNvPr id="46" name="Freeform 46"/>
          <p:cNvSpPr>
            <a:spLocks noGrp="1"/>
          </p:cNvSpPr>
          <p:nvPr/>
        </p:nvSpPr>
        <p:spPr>
          <a:xfrm>
            <a:off x="7372350" y="34861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47" name="TextBox 47"/>
          <p:cNvSpPr>
            <a:spLocks noGrp="1"/>
          </p:cNvSpPr>
          <p:nvPr/>
        </p:nvSpPr>
        <p:spPr>
          <a:xfrm>
            <a:off x="7632573" y="3481864"/>
            <a:ext cx="60420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执行许可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8" name="Freeform 48"/>
          <p:cNvSpPr>
            <a:spLocks noGrp="1"/>
          </p:cNvSpPr>
          <p:nvPr/>
        </p:nvSpPr>
        <p:spPr>
          <a:xfrm>
            <a:off x="8343900" y="35433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sp>
        <p:nvSpPr>
          <p:cNvPr id="49" name="Freeform 49"/>
          <p:cNvSpPr>
            <a:spLocks noGrp="1"/>
          </p:cNvSpPr>
          <p:nvPr/>
        </p:nvSpPr>
        <p:spPr>
          <a:xfrm>
            <a:off x="8591550" y="34861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50" name="TextBox 50"/>
          <p:cNvSpPr>
            <a:spLocks noGrp="1"/>
          </p:cNvSpPr>
          <p:nvPr/>
        </p:nvSpPr>
        <p:spPr>
          <a:xfrm>
            <a:off x="8851773" y="3481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执行回执</a:t>
            </a:r>
            <a:endParaRPr sz="128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1" name="TextBox 51"/>
          <p:cNvSpPr>
            <a:spLocks noGrp="1"/>
          </p:cNvSpPr>
          <p:nvPr/>
        </p:nvSpPr>
        <p:spPr>
          <a:xfrm>
            <a:off x="9995916" y="3506152"/>
            <a:ext cx="10142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或明确“未发生”</a:t>
            </a:r>
            <a:endParaRPr sz="105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3" name="Rectangle 53"/>
          <p:cNvSpPr>
            <a:spLocks noGrp="1"/>
          </p:cNvSpPr>
          <p:nvPr/>
        </p:nvSpPr>
        <p:spPr>
          <a:xfrm>
            <a:off x="495300" y="4191000"/>
            <a:ext cx="6457950" cy="184785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</p:sp>
      <p:pic>
        <p:nvPicPr>
          <p:cNvPr id="128" name="Image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1075" y="4286250"/>
            <a:ext cx="2946400" cy="1657350"/>
          </a:xfrm>
          <a:prstGeom prst="rect">
            <a:avLst/>
          </a:prstGeom>
        </p:spPr>
      </p:pic>
      <p:sp>
        <p:nvSpPr>
          <p:cNvPr id="58" name="Rectangle 58"/>
          <p:cNvSpPr>
            <a:spLocks noGrp="1"/>
          </p:cNvSpPr>
          <p:nvPr/>
        </p:nvSpPr>
        <p:spPr>
          <a:xfrm>
            <a:off x="7181850" y="4191000"/>
            <a:ext cx="4514850" cy="184785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59" name="TextBox 59"/>
          <p:cNvSpPr>
            <a:spLocks noGrp="1"/>
          </p:cNvSpPr>
          <p:nvPr/>
        </p:nvSpPr>
        <p:spPr>
          <a:xfrm>
            <a:off x="7401306" y="4339590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当前已经能证明什么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0" name="Freeform 60"/>
          <p:cNvSpPr>
            <a:spLocks noGrp="1"/>
          </p:cNvSpPr>
          <p:nvPr/>
        </p:nvSpPr>
        <p:spPr>
          <a:xfrm>
            <a:off x="7439025" y="4733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133070"/>
                  <a:pt x="38380" y="171450"/>
                  <a:pt x="85725" y="171450"/>
                </a:cubicBezTo>
                <a:cubicBezTo>
                  <a:pt x="133070" y="171450"/>
                  <a:pt x="171450" y="133070"/>
                  <a:pt x="171450" y="85725"/>
                </a:cubicBezTo>
                <a:cubicBezTo>
                  <a:pt x="171450" y="38380"/>
                  <a:pt x="133070" y="0"/>
                  <a:pt x="85725" y="0"/>
                </a:cubicBezTo>
                <a:cubicBezTo>
                  <a:pt x="38380" y="0"/>
                  <a:pt x="0" y="38380"/>
                  <a:pt x="0" y="85725"/>
                </a:cubicBez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61" name="Freeform 61"/>
          <p:cNvSpPr>
            <a:spLocks noGrp="1"/>
          </p:cNvSpPr>
          <p:nvPr/>
        </p:nvSpPr>
        <p:spPr>
          <a:xfrm>
            <a:off x="7496175" y="4800600"/>
            <a:ext cx="57150" cy="38100"/>
          </a:xfrm>
          <a:custGeom>
            <a:avLst/>
            <a:gdLst/>
            <a:ahLst/>
            <a:cxnLst/>
            <a:rect l="l" t="t" r="r" b="b"/>
            <a:pathLst>
              <a:path w="57150" h="38100">
                <a:moveTo>
                  <a:pt x="0" y="19050"/>
                </a:moveTo>
                <a:lnTo>
                  <a:pt x="19050" y="38100"/>
                </a:lnTo>
                <a:lnTo>
                  <a:pt x="57150" y="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63" name="TextBox 63"/>
          <p:cNvSpPr>
            <a:spLocks noGrp="1"/>
          </p:cNvSpPr>
          <p:nvPr/>
        </p:nvSpPr>
        <p:spPr>
          <a:xfrm>
            <a:off x="7746873" y="4739164"/>
            <a:ext cx="383483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实际成果、具名检查器与效果回执</a:t>
            </a:r>
            <a:endParaRPr sz="128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Freeform 64"/>
          <p:cNvSpPr>
            <a:spLocks noGrp="1"/>
          </p:cNvSpPr>
          <p:nvPr/>
        </p:nvSpPr>
        <p:spPr>
          <a:xfrm>
            <a:off x="7439025" y="5038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133070"/>
                  <a:pt x="38380" y="171450"/>
                  <a:pt x="85725" y="171450"/>
                </a:cubicBezTo>
                <a:cubicBezTo>
                  <a:pt x="133070" y="171450"/>
                  <a:pt x="171450" y="133070"/>
                  <a:pt x="171450" y="85725"/>
                </a:cubicBezTo>
                <a:cubicBezTo>
                  <a:pt x="171450" y="38380"/>
                  <a:pt x="133070" y="0"/>
                  <a:pt x="85725" y="0"/>
                </a:cubicBezTo>
                <a:cubicBezTo>
                  <a:pt x="38380" y="0"/>
                  <a:pt x="0" y="38380"/>
                  <a:pt x="0" y="85725"/>
                </a:cubicBez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65" name="Freeform 65"/>
          <p:cNvSpPr>
            <a:spLocks noGrp="1"/>
          </p:cNvSpPr>
          <p:nvPr/>
        </p:nvSpPr>
        <p:spPr>
          <a:xfrm>
            <a:off x="7496175" y="5105400"/>
            <a:ext cx="57150" cy="38100"/>
          </a:xfrm>
          <a:custGeom>
            <a:avLst/>
            <a:gdLst/>
            <a:ahLst/>
            <a:cxnLst/>
            <a:rect l="l" t="t" r="r" b="b"/>
            <a:pathLst>
              <a:path w="57150" h="38100">
                <a:moveTo>
                  <a:pt x="0" y="19050"/>
                </a:moveTo>
                <a:lnTo>
                  <a:pt x="19050" y="38100"/>
                </a:lnTo>
                <a:lnTo>
                  <a:pt x="57150" y="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67" name="TextBox 67"/>
          <p:cNvSpPr>
            <a:spLocks noGrp="1"/>
          </p:cNvSpPr>
          <p:nvPr/>
        </p:nvSpPr>
        <p:spPr>
          <a:xfrm>
            <a:off x="7746873" y="5043964"/>
            <a:ext cx="330845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前台明确展示“已生成”与“外部动作未发生”</a:t>
            </a:r>
            <a:endParaRPr sz="1280">
              <a:solidFill>
                <a:srgbClr val="1B2733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8" name="Freeform 68"/>
          <p:cNvSpPr>
            <a:spLocks noGrp="1"/>
          </p:cNvSpPr>
          <p:nvPr/>
        </p:nvSpPr>
        <p:spPr>
          <a:xfrm>
            <a:off x="7410450" y="5334000"/>
            <a:ext cx="4057650" cy="9525"/>
          </a:xfrm>
          <a:custGeom>
            <a:avLst/>
            <a:gdLst/>
            <a:ahLst/>
            <a:cxnLst/>
            <a:rect l="l" t="t" r="r" b="b"/>
            <a:pathLst>
              <a:path w="4057650" h="9525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/>
          <a:ln w="19050">
            <a:solidFill>
              <a:srgbClr val="E3E8ED"/>
            </a:solidFill>
          </a:ln>
        </p:spPr>
      </p:sp>
      <p:sp>
        <p:nvSpPr>
          <p:cNvPr id="69" name="Freeform 69"/>
          <p:cNvSpPr>
            <a:spLocks noGrp="1"/>
          </p:cNvSpPr>
          <p:nvPr/>
        </p:nvSpPr>
        <p:spPr>
          <a:xfrm>
            <a:off x="7524750" y="55530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70" name="Freeform 70"/>
          <p:cNvSpPr>
            <a:spLocks noGrp="1"/>
          </p:cNvSpPr>
          <p:nvPr/>
        </p:nvSpPr>
        <p:spPr>
          <a:xfrm>
            <a:off x="7428689" y="5492761"/>
            <a:ext cx="192114" cy="165051"/>
          </a:xfrm>
          <a:custGeom>
            <a:avLst/>
            <a:gdLst/>
            <a:ahLst/>
            <a:cxnLst/>
            <a:rect l="l" t="t" r="r" b="b"/>
            <a:pathLst>
              <a:path w="192114" h="165051">
                <a:moveTo>
                  <a:pt x="80468" y="8794"/>
                </a:moveTo>
                <a:lnTo>
                  <a:pt x="3259" y="137705"/>
                </a:lnTo>
                <a:cubicBezTo>
                  <a:pt x="20" y="143314"/>
                  <a:pt x="0" y="150220"/>
                  <a:pt x="3207" y="155848"/>
                </a:cubicBezTo>
                <a:cubicBezTo>
                  <a:pt x="6413" y="161475"/>
                  <a:pt x="12365" y="164979"/>
                  <a:pt x="18842" y="165051"/>
                </a:cubicBezTo>
                <a:lnTo>
                  <a:pt x="173280" y="165051"/>
                </a:lnTo>
                <a:cubicBezTo>
                  <a:pt x="179753" y="164977"/>
                  <a:pt x="185702" y="161474"/>
                  <a:pt x="188908" y="155850"/>
                </a:cubicBezTo>
                <a:cubicBezTo>
                  <a:pt x="192114" y="150226"/>
                  <a:pt x="192097" y="143323"/>
                  <a:pt x="188863" y="137715"/>
                </a:cubicBezTo>
                <a:lnTo>
                  <a:pt x="111653" y="8784"/>
                </a:lnTo>
                <a:cubicBezTo>
                  <a:pt x="108349" y="3331"/>
                  <a:pt x="102437" y="0"/>
                  <a:pt x="96061" y="0"/>
                </a:cubicBezTo>
                <a:cubicBezTo>
                  <a:pt x="89685" y="0"/>
                  <a:pt x="83772" y="3331"/>
                  <a:pt x="80468" y="8784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71" name="Freeform 71"/>
          <p:cNvSpPr>
            <a:spLocks noGrp="1"/>
          </p:cNvSpPr>
          <p:nvPr/>
        </p:nvSpPr>
        <p:spPr>
          <a:xfrm>
            <a:off x="7524750" y="5619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73" name="TextBox 73"/>
          <p:cNvSpPr>
            <a:spLocks noGrp="1"/>
          </p:cNvSpPr>
          <p:nvPr/>
        </p:nvSpPr>
        <p:spPr>
          <a:xfrm>
            <a:off x="7746873" y="5482114"/>
            <a:ext cx="412882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B54708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生产连接器、身份授权与许可防重放仍未实现</a:t>
            </a:r>
            <a:endParaRPr sz="1280">
              <a:solidFill>
                <a:srgbClr val="B54708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4" name="TextBox 74"/>
          <p:cNvSpPr>
            <a:spLocks noGrp="1"/>
          </p:cNvSpPr>
          <p:nvPr/>
        </p:nvSpPr>
        <p:spPr>
          <a:xfrm>
            <a:off x="7748016" y="5735002"/>
            <a:ext cx="34681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因此当前不执行真实付款、发送、CRM 或生产变更。</a:t>
            </a:r>
            <a:endParaRPr sz="105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6" name="Rectangle 76"/>
          <p:cNvSpPr>
            <a:spLocks noGrp="1"/>
          </p:cNvSpPr>
          <p:nvPr/>
        </p:nvSpPr>
        <p:spPr>
          <a:xfrm>
            <a:off x="495300" y="6153150"/>
            <a:ext cx="11201400" cy="266700"/>
          </a:xfrm>
          <a:prstGeom prst="roundRect">
            <a:avLst>
              <a:gd name="adj" fmla="val 21429"/>
            </a:avLst>
          </a:prstGeom>
          <a:solidFill>
            <a:srgbClr val="EDF1F4"/>
          </a:solidFill>
          <a:ln>
            <a:noFill/>
          </a:ln>
        </p:spPr>
      </p:sp>
      <p:sp>
        <p:nvSpPr>
          <p:cNvPr id="77" name="TextBox 77"/>
          <p:cNvSpPr>
            <a:spLocks noGrp="1"/>
          </p:cNvSpPr>
          <p:nvPr/>
        </p:nvSpPr>
        <p:spPr>
          <a:xfrm>
            <a:off x="2295839" y="6206014"/>
            <a:ext cx="76003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交互变化：按钮不再只写“确认”，而要说明对象、影响、可逆性、证据、风险级别和动作回执。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79" name="TextBox 79"/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依据：</a:t>
            </a:r>
            <a:r>
              <a:rPr sz="1165" u="sng">
                <a:solidFill>
                  <a:srgbClr val="1769D2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2"/>
              </a:rPr>
              <a:t>openai.github.io/.../human_in_the_loop/</a:t>
            </a: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 ·  </a:t>
            </a:r>
            <a:r>
              <a:rPr sz="1165" u="sng">
                <a:solidFill>
                  <a:srgbClr val="1769D2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3"/>
              </a:rPr>
              <a:t>modelcontextprotocol.io/.../elicitation</a:t>
            </a:r>
            <a:endParaRPr sz="1165" u="sng">
              <a:solidFill>
                <a:srgbClr val="1769D2"/>
              </a:solidFill>
              <a:latin typeface="Segoe UI" panose="020B0502040204020203"/>
              <a:ea typeface="Segoe UI" panose="020B0502040204020203"/>
              <a:cs typeface="Segoe UI" panose="020B0502040204020203"/>
              <a:hlinkClick r:id="rId3"/>
            </a:endParaRPr>
          </a:p>
        </p:txBody>
      </p:sp>
      <p:sp>
        <p:nvSpPr>
          <p:cNvPr id="80" name="TextBox 80"/>
          <p:cNvSpPr>
            <a:spLocks noGrp="1"/>
          </p:cNvSpPr>
          <p:nvPr/>
        </p:nvSpPr>
        <p:spPr>
          <a:xfrm>
            <a:off x="11217840" y="65922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12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/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/>
          <p:cNvSpPr>
            <a:spLocks noGrp="1"/>
          </p:cNvSpPr>
          <p:nvPr/>
        </p:nvSpPr>
        <p:spPr>
          <a:xfrm>
            <a:off x="477774" y="370522"/>
            <a:ext cx="6374644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技术演进：工程对象不断外扩</a:t>
            </a:r>
            <a:endParaRPr sz="34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484632" y="1259205"/>
            <a:ext cx="757130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不是模型突然变成智能体，而是系统逐步接管更多责任</a:t>
            </a:r>
            <a:endParaRPr sz="21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2" name="Freeform 12"/>
          <p:cNvSpPr>
            <a:spLocks noGrp="1"/>
          </p:cNvSpPr>
          <p:nvPr/>
        </p:nvSpPr>
        <p:spPr>
          <a:xfrm>
            <a:off x="495300" y="2362200"/>
            <a:ext cx="11201400" cy="2076450"/>
          </a:xfrm>
          <a:custGeom>
            <a:avLst/>
            <a:gdLst/>
            <a:ahLst/>
            <a:cxnLst/>
            <a:rect l="l" t="t" r="r" b="b"/>
            <a:pathLst>
              <a:path w="11201400" h="2076450">
                <a:moveTo>
                  <a:pt x="0" y="0"/>
                </a:moveTo>
                <a:lnTo>
                  <a:pt x="11201400" y="0"/>
                </a:lnTo>
                <a:lnTo>
                  <a:pt x="11201400" y="2076450"/>
                </a:lnTo>
                <a:lnTo>
                  <a:pt x="0" y="207645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13" name="Freeform 13"/>
          <p:cNvSpPr>
            <a:spLocks noGrp="1"/>
          </p:cNvSpPr>
          <p:nvPr/>
        </p:nvSpPr>
        <p:spPr>
          <a:xfrm>
            <a:off x="495300" y="2362200"/>
            <a:ext cx="2076450" cy="2076450"/>
          </a:xfrm>
          <a:custGeom>
            <a:avLst/>
            <a:gdLst/>
            <a:ahLst/>
            <a:cxnLst/>
            <a:rect l="l" t="t" r="r" b="b"/>
            <a:pathLst>
              <a:path w="2076450" h="2076450">
                <a:moveTo>
                  <a:pt x="0" y="0"/>
                </a:moveTo>
                <a:lnTo>
                  <a:pt x="1809750" y="0"/>
                </a:lnTo>
                <a:lnTo>
                  <a:pt x="2076450" y="1038225"/>
                </a:lnTo>
                <a:lnTo>
                  <a:pt x="1809750" y="2076450"/>
                </a:lnTo>
                <a:lnTo>
                  <a:pt x="0" y="2076450"/>
                </a:lnTo>
                <a:close/>
              </a:path>
            </a:pathLst>
          </a:custGeom>
          <a:solidFill>
            <a:srgbClr val="EDF1F4"/>
          </a:solidFill>
          <a:ln w="19050">
            <a:solidFill>
              <a:srgbClr val="1769E0"/>
            </a:solidFill>
          </a:ln>
        </p:spPr>
      </p:sp>
      <p:sp>
        <p:nvSpPr>
          <p:cNvPr id="14" name="TextBox 14"/>
          <p:cNvSpPr>
            <a:spLocks noGrp="1"/>
          </p:cNvSpPr>
          <p:nvPr/>
        </p:nvSpPr>
        <p:spPr>
          <a:xfrm>
            <a:off x="676656" y="2663190"/>
            <a:ext cx="9172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提示词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5" name="TextBox 15"/>
          <p:cNvSpPr>
            <a:spLocks noGrp="1"/>
          </p:cNvSpPr>
          <p:nvPr/>
        </p:nvSpPr>
        <p:spPr>
          <a:xfrm>
            <a:off x="676656" y="2948940"/>
            <a:ext cx="143765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工程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7" name="TextBox 17"/>
          <p:cNvSpPr>
            <a:spLocks noGrp="1"/>
          </p:cNvSpPr>
          <p:nvPr/>
        </p:nvSpPr>
        <p:spPr>
          <a:xfrm>
            <a:off x="679323" y="3767614"/>
            <a:ext cx="121443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单次指令与示例</a:t>
            </a:r>
            <a:endParaRPr sz="1280">
              <a:solidFill>
                <a:srgbClr val="1769E0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" name="Freeform 18"/>
          <p:cNvSpPr>
            <a:spLocks noGrp="1"/>
          </p:cNvSpPr>
          <p:nvPr/>
        </p:nvSpPr>
        <p:spPr>
          <a:xfrm>
            <a:off x="2571750" y="2362200"/>
            <a:ext cx="1905000" cy="2076450"/>
          </a:xfrm>
          <a:custGeom>
            <a:avLst/>
            <a:gdLst/>
            <a:ahLst/>
            <a:cxnLst/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769E0"/>
            </a:solidFill>
          </a:ln>
        </p:spPr>
      </p:sp>
      <p:sp>
        <p:nvSpPr>
          <p:cNvPr id="19" name="TextBox 19"/>
          <p:cNvSpPr>
            <a:spLocks noGrp="1"/>
          </p:cNvSpPr>
          <p:nvPr/>
        </p:nvSpPr>
        <p:spPr>
          <a:xfrm>
            <a:off x="2905506" y="2663190"/>
            <a:ext cx="137085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智能体循环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0" name="TextBox 20"/>
          <p:cNvSpPr>
            <a:spLocks noGrp="1"/>
          </p:cNvSpPr>
          <p:nvPr/>
        </p:nvSpPr>
        <p:spPr>
          <a:xfrm>
            <a:off x="2905506" y="2948940"/>
            <a:ext cx="73381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ReAct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2" name="TextBox 22"/>
          <p:cNvSpPr>
            <a:spLocks noGrp="1"/>
          </p:cNvSpPr>
          <p:nvPr/>
        </p:nvSpPr>
        <p:spPr>
          <a:xfrm>
            <a:off x="2908173" y="3767614"/>
            <a:ext cx="177534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行动与反馈</a:t>
            </a:r>
            <a:endParaRPr sz="1280">
              <a:solidFill>
                <a:srgbClr val="1769E0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3" name="Freeform 23"/>
          <p:cNvSpPr>
            <a:spLocks noGrp="1"/>
          </p:cNvSpPr>
          <p:nvPr/>
        </p:nvSpPr>
        <p:spPr>
          <a:xfrm>
            <a:off x="4476750" y="2362200"/>
            <a:ext cx="1905000" cy="2076450"/>
          </a:xfrm>
          <a:custGeom>
            <a:avLst/>
            <a:gdLst/>
            <a:ahLst/>
            <a:cxnLst/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>
            <a:srgbClr val="EDF1F4"/>
          </a:solidFill>
          <a:ln w="19050">
            <a:solidFill>
              <a:srgbClr val="1769E0"/>
            </a:solidFill>
          </a:ln>
        </p:spPr>
      </p:sp>
      <p:sp>
        <p:nvSpPr>
          <p:cNvPr id="24" name="TextBox 24"/>
          <p:cNvSpPr>
            <a:spLocks noGrp="1"/>
          </p:cNvSpPr>
          <p:nvPr/>
        </p:nvSpPr>
        <p:spPr>
          <a:xfrm>
            <a:off x="4810506" y="2663190"/>
            <a:ext cx="100577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上下文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4810506" y="2948940"/>
            <a:ext cx="143765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工程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7" name="TextBox 27"/>
          <p:cNvSpPr>
            <a:spLocks noGrp="1"/>
          </p:cNvSpPr>
          <p:nvPr/>
        </p:nvSpPr>
        <p:spPr>
          <a:xfrm>
            <a:off x="4813173" y="3767614"/>
            <a:ext cx="121443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状态与信息选择</a:t>
            </a:r>
            <a:endParaRPr sz="1280">
              <a:solidFill>
                <a:srgbClr val="1769E0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8" name="Freeform 28"/>
          <p:cNvSpPr>
            <a:spLocks noGrp="1"/>
          </p:cNvSpPr>
          <p:nvPr/>
        </p:nvSpPr>
        <p:spPr>
          <a:xfrm>
            <a:off x="6381750" y="2362200"/>
            <a:ext cx="1905000" cy="2076450"/>
          </a:xfrm>
          <a:custGeom>
            <a:avLst/>
            <a:gdLst/>
            <a:ahLst/>
            <a:cxnLst/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769E0"/>
            </a:solidFill>
          </a:ln>
        </p:spPr>
      </p:sp>
      <p:sp>
        <p:nvSpPr>
          <p:cNvPr id="29" name="TextBox 29"/>
          <p:cNvSpPr>
            <a:spLocks noGrp="1"/>
          </p:cNvSpPr>
          <p:nvPr/>
        </p:nvSpPr>
        <p:spPr>
          <a:xfrm>
            <a:off x="6715506" y="2663190"/>
            <a:ext cx="100577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运行框架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0" name="TextBox 30"/>
          <p:cNvSpPr>
            <a:spLocks noGrp="1"/>
          </p:cNvSpPr>
          <p:nvPr/>
        </p:nvSpPr>
        <p:spPr>
          <a:xfrm>
            <a:off x="6715506" y="2948940"/>
            <a:ext cx="143765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工程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2" name="TextBox 32"/>
          <p:cNvSpPr>
            <a:spLocks noGrp="1"/>
          </p:cNvSpPr>
          <p:nvPr/>
        </p:nvSpPr>
        <p:spPr>
          <a:xfrm>
            <a:off x="6718173" y="3767614"/>
            <a:ext cx="138607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工具、权限、沙箱</a:t>
            </a:r>
            <a:endParaRPr sz="1280">
              <a:solidFill>
                <a:srgbClr val="1769E0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3" name="Freeform 33"/>
          <p:cNvSpPr>
            <a:spLocks noGrp="1"/>
          </p:cNvSpPr>
          <p:nvPr/>
        </p:nvSpPr>
        <p:spPr>
          <a:xfrm>
            <a:off x="8286750" y="2362200"/>
            <a:ext cx="1905000" cy="2076450"/>
          </a:xfrm>
          <a:custGeom>
            <a:avLst/>
            <a:gdLst/>
            <a:ahLst/>
            <a:cxnLst/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>
            <a:srgbClr val="EDF1F4"/>
          </a:solidFill>
          <a:ln w="19050">
            <a:solidFill>
              <a:srgbClr val="1769E0"/>
            </a:solidFill>
          </a:ln>
        </p:spPr>
      </p:sp>
      <p:sp>
        <p:nvSpPr>
          <p:cNvPr id="34" name="TextBox 34"/>
          <p:cNvSpPr>
            <a:spLocks noGrp="1"/>
          </p:cNvSpPr>
          <p:nvPr/>
        </p:nvSpPr>
        <p:spPr>
          <a:xfrm>
            <a:off x="8620506" y="2663190"/>
            <a:ext cx="58595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循环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5" name="TextBox 35"/>
          <p:cNvSpPr>
            <a:spLocks noGrp="1"/>
          </p:cNvSpPr>
          <p:nvPr/>
        </p:nvSpPr>
        <p:spPr>
          <a:xfrm>
            <a:off x="8620506" y="2948940"/>
            <a:ext cx="143765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工程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7" name="TextBox 37"/>
          <p:cNvSpPr>
            <a:spLocks noGrp="1"/>
          </p:cNvSpPr>
          <p:nvPr/>
        </p:nvSpPr>
        <p:spPr>
          <a:xfrm>
            <a:off x="8623173" y="3767614"/>
            <a:ext cx="138607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触发、验证、恢复</a:t>
            </a:r>
            <a:endParaRPr sz="1280">
              <a:solidFill>
                <a:srgbClr val="1769E0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8" name="Freeform 38"/>
          <p:cNvSpPr>
            <a:spLocks noGrp="1"/>
          </p:cNvSpPr>
          <p:nvPr/>
        </p:nvSpPr>
        <p:spPr>
          <a:xfrm>
            <a:off x="10191750" y="2362200"/>
            <a:ext cx="1504950" cy="2076450"/>
          </a:xfrm>
          <a:custGeom>
            <a:avLst/>
            <a:gdLst/>
            <a:ahLst/>
            <a:cxnLst/>
            <a:rect l="l" t="t" r="r" b="b"/>
            <a:pathLst>
              <a:path w="1504950" h="2076450">
                <a:moveTo>
                  <a:pt x="0" y="0"/>
                </a:moveTo>
                <a:lnTo>
                  <a:pt x="1504950" y="0"/>
                </a:lnTo>
                <a:lnTo>
                  <a:pt x="150495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>
            <a:srgbClr val="132A3A"/>
          </a:solidFill>
          <a:ln>
            <a:noFill/>
          </a:ln>
        </p:spPr>
      </p:sp>
      <p:sp>
        <p:nvSpPr>
          <p:cNvPr id="39" name="TextBox 39"/>
          <p:cNvSpPr>
            <a:spLocks noGrp="1"/>
          </p:cNvSpPr>
          <p:nvPr/>
        </p:nvSpPr>
        <p:spPr>
          <a:xfrm>
            <a:off x="10563606" y="26631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办公交付</a:t>
            </a:r>
            <a:endParaRPr sz="180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0" name="TextBox 40"/>
          <p:cNvSpPr>
            <a:spLocks noGrp="1"/>
          </p:cNvSpPr>
          <p:nvPr/>
        </p:nvSpPr>
        <p:spPr>
          <a:xfrm>
            <a:off x="10566273" y="3100864"/>
            <a:ext cx="6995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业务成果</a:t>
            </a:r>
            <a:endParaRPr sz="128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1" name="TextBox 41"/>
          <p:cNvSpPr>
            <a:spLocks noGrp="1"/>
          </p:cNvSpPr>
          <p:nvPr/>
        </p:nvSpPr>
        <p:spPr>
          <a:xfrm>
            <a:off x="10566273" y="3386614"/>
            <a:ext cx="8711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证据与边界</a:t>
            </a:r>
            <a:endParaRPr sz="128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2" name="TextBox 42"/>
          <p:cNvSpPr>
            <a:spLocks noGrp="1"/>
          </p:cNvSpPr>
          <p:nvPr/>
        </p:nvSpPr>
        <p:spPr>
          <a:xfrm>
            <a:off x="10566273" y="376761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用户可复核</a:t>
            </a:r>
            <a:endParaRPr sz="128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4" name="Freeform 44"/>
          <p:cNvSpPr>
            <a:spLocks noGrp="1"/>
          </p:cNvSpPr>
          <p:nvPr/>
        </p:nvSpPr>
        <p:spPr>
          <a:xfrm>
            <a:off x="573088" y="5019675"/>
            <a:ext cx="155575" cy="44450"/>
          </a:xfrm>
          <a:custGeom>
            <a:avLst/>
            <a:gdLst/>
            <a:ahLst/>
            <a:cxnLst/>
            <a:rect l="l" t="t" r="r" b="b"/>
            <a:pathLst>
              <a:path w="155575" h="44450">
                <a:moveTo>
                  <a:pt x="0" y="44450"/>
                </a:moveTo>
                <a:lnTo>
                  <a:pt x="155575" y="44450"/>
                </a:lnTo>
                <a:lnTo>
                  <a:pt x="111125" y="0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45" name="Freeform 45"/>
          <p:cNvSpPr>
            <a:spLocks noGrp="1"/>
          </p:cNvSpPr>
          <p:nvPr/>
        </p:nvSpPr>
        <p:spPr>
          <a:xfrm>
            <a:off x="528638" y="5108575"/>
            <a:ext cx="155575" cy="44450"/>
          </a:xfrm>
          <a:custGeom>
            <a:avLst/>
            <a:gdLst/>
            <a:ahLst/>
            <a:cxnLst/>
            <a:rect l="l" t="t" r="r" b="b"/>
            <a:pathLst>
              <a:path w="155575" h="44450">
                <a:moveTo>
                  <a:pt x="155575" y="0"/>
                </a:moveTo>
                <a:lnTo>
                  <a:pt x="0" y="0"/>
                </a:lnTo>
                <a:lnTo>
                  <a:pt x="44450" y="44450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47" name="TextBox 47"/>
          <p:cNvSpPr>
            <a:spLocks noGrp="1"/>
          </p:cNvSpPr>
          <p:nvPr/>
        </p:nvSpPr>
        <p:spPr>
          <a:xfrm>
            <a:off x="903732" y="4935855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交互对象同步变化</a:t>
            </a:r>
            <a:endParaRPr sz="21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8" name="TextBox 48"/>
          <p:cNvSpPr>
            <a:spLocks noGrp="1"/>
          </p:cNvSpPr>
          <p:nvPr/>
        </p:nvSpPr>
        <p:spPr>
          <a:xfrm>
            <a:off x="907923" y="5386864"/>
            <a:ext cx="57305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从调整一句提示词，到审查任务状态、来源、成果、恢复点与动作后果。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0" name="TextBox 50"/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依据：</a:t>
            </a:r>
            <a:r>
              <a:rPr sz="1165" u="sng">
                <a:solidFill>
                  <a:srgbClr val="1769D2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1"/>
              </a:rPr>
              <a:t>arxiv.org/abs/2005.14165</a:t>
            </a: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 ·  </a:t>
            </a:r>
            <a:r>
              <a:rPr sz="1165" u="sng">
                <a:solidFill>
                  <a:srgbClr val="1769D2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2"/>
              </a:rPr>
              <a:t>arxiv.org/abs/2210.03629</a:t>
            </a:r>
            <a:endParaRPr sz="1165" u="sng">
              <a:solidFill>
                <a:srgbClr val="1769D2"/>
              </a:solidFill>
              <a:latin typeface="Segoe UI" panose="020B0502040204020203"/>
              <a:ea typeface="Segoe UI" panose="020B0502040204020203"/>
              <a:cs typeface="Segoe UI" panose="020B0502040204020203"/>
              <a:hlinkClick r:id="rId2"/>
            </a:endParaRPr>
          </a:p>
        </p:txBody>
      </p:sp>
      <p:sp>
        <p:nvSpPr>
          <p:cNvPr id="51" name="TextBox 51"/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13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矩形 38"/>
          <p:cNvSpPr>
            <a:spLocks noGrp="1"/>
          </p:cNvSpPr>
          <p:nvPr/>
        </p:nvSpPr>
        <p:spPr>
          <a:xfrm>
            <a:off x="476250" y="323850"/>
            <a:ext cx="11239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31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先分赛道：直接竞品、邻近工具与底层方法不能混比</a:t>
            </a:r>
            <a:endParaRPr sz="31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" y="1085850"/>
            <a:ext cx="11201400" cy="1905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95300" y="1228725"/>
            <a:ext cx="1114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对比应从“用户在审什么”出发，而不是把所有智能体功能堆进同一张表</a:t>
            </a:r>
            <a:endParaRPr sz="15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495300" y="1657350"/>
            <a:ext cx="112014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1657350"/>
            <a:ext cx="76200" cy="60960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174307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50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办公套件内嵌</a:t>
            </a:r>
            <a:endParaRPr sz="1500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914650" y="1724025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4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54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Microsoft 365 Copilot / Google Workspace with Gemini</a:t>
            </a:r>
            <a:endParaRPr sz="154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914650" y="2019300"/>
            <a:ext cx="676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8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审：邮件、文档、会议、企业资料与自动化</a:t>
            </a:r>
            <a:endParaRPr sz="1185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925050" y="1819275"/>
            <a:ext cx="140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275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直接竞品</a:t>
            </a:r>
            <a:endParaRPr sz="1275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0" name="矩形: 圆角 9"/>
          <p:cNvSpPr>
            <a:spLocks noGrp="1"/>
          </p:cNvSpPr>
          <p:nvPr/>
        </p:nvSpPr>
        <p:spPr>
          <a:xfrm>
            <a:off x="495300" y="2400300"/>
            <a:ext cx="112014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95300" y="2400300"/>
            <a:ext cx="76200" cy="609600"/>
          </a:xfrm>
          <a:prstGeom prst="rect">
            <a:avLst/>
          </a:prstGeom>
          <a:solidFill>
            <a:srgbClr val="2D8736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248602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2D8736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500" b="1">
                <a:solidFill>
                  <a:srgbClr val="2D8736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企业知识与智能体平台</a:t>
            </a:r>
            <a:endParaRPr sz="1500" b="1">
              <a:solidFill>
                <a:srgbClr val="2D8736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914650" y="2466975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4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54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Glean / Atlassian Rovo / Notion AI</a:t>
            </a:r>
            <a:endParaRPr sz="154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914650" y="2762250"/>
            <a:ext cx="676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8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审：权限化知识、连接应用、搜索、研究与业务动作</a:t>
            </a:r>
            <a:endParaRPr sz="1185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925050" y="2562225"/>
            <a:ext cx="140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2D8736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275" b="1">
                <a:solidFill>
                  <a:srgbClr val="2D8736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直接竞品</a:t>
            </a:r>
            <a:endParaRPr sz="1275" b="1">
              <a:solidFill>
                <a:srgbClr val="2D8736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495300" y="3143250"/>
            <a:ext cx="112014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95300" y="3143250"/>
            <a:ext cx="76200" cy="60960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322897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50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通用研究工作台</a:t>
            </a:r>
            <a:endParaRPr sz="1500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914650" y="3209925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4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54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ChatGPT 深度研究 / Claude Research</a:t>
            </a:r>
            <a:endParaRPr sz="154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914650" y="3505200"/>
            <a:ext cx="676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8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审：来源范围、研究计划、进度、引用与报告</a:t>
            </a:r>
            <a:endParaRPr sz="1185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925050" y="3305175"/>
            <a:ext cx="140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275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部分直接</a:t>
            </a:r>
            <a:endParaRPr sz="1275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2" name="矩形: 圆角 21"/>
          <p:cNvSpPr>
            <a:spLocks noGrp="1"/>
          </p:cNvSpPr>
          <p:nvPr/>
        </p:nvSpPr>
        <p:spPr>
          <a:xfrm>
            <a:off x="495300" y="3886200"/>
            <a:ext cx="112014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95300" y="3886200"/>
            <a:ext cx="76200" cy="609600"/>
          </a:xfrm>
          <a:prstGeom prst="rect">
            <a:avLst/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42950" y="397192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D86E0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500" b="1">
                <a:solidFill>
                  <a:srgbClr val="D86E0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任务执行工作台</a:t>
            </a:r>
            <a:endParaRPr sz="1500" b="1">
              <a:solidFill>
                <a:srgbClr val="D86E0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914650" y="3952875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4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54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Codex App / Claude Code / OpenClaw</a:t>
            </a:r>
            <a:endParaRPr sz="154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914650" y="4248150"/>
            <a:ext cx="676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8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审：任务线程、工作区、变更、命令与验证</a:t>
            </a:r>
            <a:endParaRPr sz="1185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925050" y="4048125"/>
            <a:ext cx="140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D86E0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275" b="1">
                <a:solidFill>
                  <a:srgbClr val="D86E0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邻近工具</a:t>
            </a:r>
            <a:endParaRPr sz="1275" b="1">
              <a:solidFill>
                <a:srgbClr val="D86E0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8" name="矩形: 圆角 27"/>
          <p:cNvSpPr>
            <a:spLocks noGrp="1"/>
          </p:cNvSpPr>
          <p:nvPr/>
        </p:nvSpPr>
        <p:spPr>
          <a:xfrm>
            <a:off x="495300" y="4629150"/>
            <a:ext cx="112014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95300" y="4629150"/>
            <a:ext cx="76200" cy="609600"/>
          </a:xfrm>
          <a:prstGeom prst="rect">
            <a:avLst/>
          </a:prstGeom>
          <a:solidFill>
            <a:srgbClr val="7C8A98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42950" y="471487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7C8A98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500" b="1">
                <a:solidFill>
                  <a:srgbClr val="7C8A98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方法与协议</a:t>
            </a:r>
            <a:endParaRPr sz="1500" b="1">
              <a:solidFill>
                <a:srgbClr val="7C8A98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914650" y="4695825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4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54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ReAct / MCP / A2A</a:t>
            </a:r>
            <a:endParaRPr sz="154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914650" y="4991100"/>
            <a:ext cx="676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8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定义循环、工具连接与智能体通信，不定义完整产品体验</a:t>
            </a:r>
            <a:endParaRPr sz="1185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925050" y="4791075"/>
            <a:ext cx="140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7C8A98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275" b="1">
                <a:solidFill>
                  <a:srgbClr val="7C8A98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不是竞品</a:t>
            </a:r>
            <a:endParaRPr sz="1275" b="1">
              <a:solidFill>
                <a:srgbClr val="7C8A98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4" name="矩形: 圆角 33"/>
          <p:cNvSpPr>
            <a:spLocks noGrp="1"/>
          </p:cNvSpPr>
          <p:nvPr/>
        </p:nvSpPr>
        <p:spPr>
          <a:xfrm>
            <a:off x="495300" y="5391150"/>
            <a:ext cx="11201400" cy="523875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95300" y="5391150"/>
            <a:ext cx="66675" cy="5238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04850" y="5467350"/>
            <a:ext cx="1081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575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Office Agent 应比较：工作对象 → 持久状态 → 证据 → 成果 → 人工门 → 动作事实</a:t>
            </a:r>
            <a:endParaRPr sz="1575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95300" y="632460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官方依据：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1"/>
              </a:rPr>
              <a:t>Microsoft</a:t>
            </a: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· 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2"/>
              </a:rPr>
              <a:t>Google</a:t>
            </a: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· 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3"/>
              </a:rPr>
              <a:t>Glean</a:t>
            </a: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· 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4"/>
              </a:rPr>
              <a:t>Rovo</a:t>
            </a: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· 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5"/>
              </a:rPr>
              <a:t>Notion</a:t>
            </a: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· 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6"/>
              </a:rPr>
              <a:t>OpenAI</a:t>
            </a: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· 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7"/>
              </a:rPr>
              <a:t>Anthropic</a:t>
            </a:r>
            <a:endParaRPr sz="1165" b="0" u="sng">
              <a:solidFill>
                <a:srgbClr val="1769E0"/>
              </a:solidFill>
              <a:latin typeface="Segoe UI" panose="020B0502040204020203"/>
              <a:ea typeface="Segoe UI" panose="020B0502040204020203"/>
              <a:cs typeface="Segoe UI" panose="020B0502040204020203"/>
              <a:hlinkClick r:id="rId7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1191875" y="64579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14 / 24</a:t>
            </a:r>
            <a:endParaRPr sz="1050" b="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476250" y="323850"/>
            <a:ext cx="11239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31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办公套件竞品：优势在原生上下文和真实应用动作</a:t>
            </a:r>
            <a:endParaRPr sz="31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" y="1085850"/>
            <a:ext cx="11201400" cy="1905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95300" y="1228725"/>
            <a:ext cx="1114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Microsoft 与 Google 都已把研究、内容和自动化嵌入日常办公面</a:t>
            </a:r>
            <a:endParaRPr sz="15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1581150"/>
            <a:ext cx="539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80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Microsoft 365 Copilot</a:t>
            </a:r>
            <a:endParaRPr sz="1800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305550" y="1581150"/>
            <a:ext cx="539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D86E0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800" b="1">
                <a:solidFill>
                  <a:srgbClr val="D86E0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Google Workspace with Gemini</a:t>
            </a:r>
            <a:endParaRPr sz="1800" b="1">
              <a:solidFill>
                <a:srgbClr val="D86E0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76950" y="1619250"/>
            <a:ext cx="19050" cy="411480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7" name="矩形: 圆角 6"/>
          <p:cNvSpPr>
            <a:spLocks noGrp="1"/>
          </p:cNvSpPr>
          <p:nvPr/>
        </p:nvSpPr>
        <p:spPr>
          <a:xfrm>
            <a:off x="495300" y="1924050"/>
            <a:ext cx="5391150" cy="2505075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560" y="1952625"/>
            <a:ext cx="4350630" cy="2447925"/>
          </a:xfrm>
          <a:prstGeom prst="roundRect">
            <a:avLst>
              <a:gd name="adj" fmla="val 1556"/>
            </a:avLst>
          </a:prstGeom>
        </p:spPr>
      </p:pic>
      <p:sp>
        <p:nvSpPr>
          <p:cNvPr id="9" name="矩形: 圆角 8"/>
          <p:cNvSpPr>
            <a:spLocks noGrp="1"/>
          </p:cNvSpPr>
          <p:nvPr/>
        </p:nvSpPr>
        <p:spPr>
          <a:xfrm>
            <a:off x="6305550" y="1924050"/>
            <a:ext cx="5391150" cy="2505075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592" y="1952625"/>
            <a:ext cx="4407066" cy="2447925"/>
          </a:xfrm>
          <a:prstGeom prst="roundRect">
            <a:avLst>
              <a:gd name="adj" fmla="val 1556"/>
            </a:avLst>
          </a:prstGeom>
        </p:spPr>
      </p:pic>
      <p:sp>
        <p:nvSpPr>
          <p:cNvPr id="11" name="矩形: 圆角 10"/>
          <p:cNvSpPr>
            <a:spLocks noGrp="1"/>
          </p:cNvSpPr>
          <p:nvPr/>
        </p:nvSpPr>
        <p:spPr>
          <a:xfrm>
            <a:off x="495300" y="468630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47700" y="4619625"/>
            <a:ext cx="5238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7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7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工作对象：工作内容与互联网；可查看来源范围和研究任务。</a:t>
            </a:r>
            <a:endParaRPr sz="1375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" name="矩形: 圆角 12"/>
          <p:cNvSpPr>
            <a:spLocks noGrp="1"/>
          </p:cNvSpPr>
          <p:nvPr/>
        </p:nvSpPr>
        <p:spPr>
          <a:xfrm>
            <a:off x="495300" y="513397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47700" y="5067300"/>
            <a:ext cx="52387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7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7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控制点：隔离环境使用网站或应用；动作前可请求确认。</a:t>
            </a:r>
            <a:endParaRPr sz="1375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矩形: 圆角 14"/>
          <p:cNvSpPr>
            <a:spLocks noGrp="1"/>
          </p:cNvSpPr>
          <p:nvPr/>
        </p:nvSpPr>
        <p:spPr>
          <a:xfrm>
            <a:off x="6305550" y="468630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57950" y="4619625"/>
            <a:ext cx="5238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7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7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工作对象：Gmail、Drive、Docs、Chat；统一理解办公上下文。</a:t>
            </a:r>
            <a:endParaRPr sz="1375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7" name="矩形: 圆角 16"/>
          <p:cNvSpPr>
            <a:spLocks noGrp="1"/>
          </p:cNvSpPr>
          <p:nvPr/>
        </p:nvSpPr>
        <p:spPr>
          <a:xfrm>
            <a:off x="6305550" y="513397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457950" y="5067300"/>
            <a:ext cx="52387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7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7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控制点：Workspace Studio 创建并分享跨应用智能体和自动化。</a:t>
            </a:r>
            <a:endParaRPr sz="1375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495300" y="5695950"/>
            <a:ext cx="11201400" cy="523875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95300" y="5695950"/>
            <a:ext cx="66675" cy="5238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04850" y="5772150"/>
            <a:ext cx="1081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65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465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Office Agent 现阶段不应把“多来源、整库、引用”写成独占；它尚缺原生套件集成与真实业务动作。</a:t>
            </a:r>
            <a:endParaRPr sz="1465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95300" y="632460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官方依据：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3"/>
              </a:rPr>
              <a:t>Microsoft Researcher</a:t>
            </a: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· 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4"/>
              </a:rPr>
              <a:t>Google Workspace Studio</a:t>
            </a:r>
            <a:endParaRPr sz="1165" b="0" u="sng">
              <a:solidFill>
                <a:srgbClr val="1769E0"/>
              </a:solidFill>
              <a:latin typeface="Segoe UI" panose="020B0502040204020203"/>
              <a:ea typeface="Segoe UI" panose="020B0502040204020203"/>
              <a:cs typeface="Segoe UI" panose="020B0502040204020203"/>
              <a:hlinkClick r:id="rId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191875" y="64579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15 / 24</a:t>
            </a:r>
            <a:endParaRPr sz="1050" b="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476250" y="323850"/>
            <a:ext cx="11239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31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知识工作台：Notion AI 已把“全源搜索”做成日常入口</a:t>
            </a:r>
            <a:endParaRPr sz="31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" y="1085850"/>
            <a:ext cx="11201400" cy="1905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95300" y="1228725"/>
            <a:ext cx="1114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Notion 空间、连接应用和互联网被统一成可选择的研究范围</a:t>
            </a:r>
            <a:endParaRPr sz="15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495300" y="1733550"/>
            <a:ext cx="6667500" cy="369570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334" y="1762125"/>
            <a:ext cx="5575432" cy="3638550"/>
          </a:xfrm>
          <a:prstGeom prst="roundRect">
            <a:avLst>
              <a:gd name="adj" fmla="val 1047"/>
            </a:avLst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7524750" y="17526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9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Notion AI</a:t>
            </a:r>
            <a:endParaRPr sz="19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7" name="矩形: 圆角 6"/>
          <p:cNvSpPr>
            <a:spLocks noGrp="1"/>
          </p:cNvSpPr>
          <p:nvPr/>
        </p:nvSpPr>
        <p:spPr>
          <a:xfrm>
            <a:off x="7524750" y="233362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77150" y="2266950"/>
            <a:ext cx="3848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6"/>
          </a:bodyPr>
          <a:lstStyle/>
          <a:p>
            <a:pPr algn="l">
              <a:lnSpc>
                <a:spcPct val="102000"/>
              </a:lnSpc>
              <a:buNone/>
              <a:defRPr sz="142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工作对象：Notion 页面、数据库、Slack、Drive、Jira 等连接源与互联网。</a:t>
            </a:r>
            <a:endParaRPr sz="1425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7524750" y="307657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677150" y="3009900"/>
            <a:ext cx="3848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2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用户可收窄来源范围，并从回答引用回到原始内容。</a:t>
            </a:r>
            <a:endParaRPr sz="1425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7524750" y="371475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677150" y="3648075"/>
            <a:ext cx="3848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2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研究模式面向开放问题；部分连接器还能执行动作。</a:t>
            </a:r>
            <a:endParaRPr sz="1425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" name="矩形: 圆角 12"/>
          <p:cNvSpPr>
            <a:spLocks noGrp="1"/>
          </p:cNvSpPr>
          <p:nvPr/>
        </p:nvSpPr>
        <p:spPr>
          <a:xfrm>
            <a:off x="7524750" y="435292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677150" y="4286250"/>
            <a:ext cx="38481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2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42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因此“全源搜索 + 引用”已经是市场基线，不是 Office Agent 独占点。</a:t>
            </a:r>
            <a:endParaRPr sz="1425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矩形: 圆角 14"/>
          <p:cNvSpPr>
            <a:spLocks noGrp="1"/>
          </p:cNvSpPr>
          <p:nvPr/>
        </p:nvSpPr>
        <p:spPr>
          <a:xfrm>
            <a:off x="495300" y="5619750"/>
            <a:ext cx="11201400" cy="523875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95300" y="5619750"/>
            <a:ext cx="66675" cy="5238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04850" y="5695950"/>
            <a:ext cx="1081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5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候选差异应落到：结论采用、分支缺口、办公成果校验和外部动作边界能否互相对账。</a:t>
            </a:r>
            <a:endParaRPr sz="15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95300" y="632460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官方依据：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2"/>
              </a:rPr>
              <a:t>Notion Enterprise Search</a:t>
            </a: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· 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3"/>
              </a:rPr>
              <a:t>Notion AI Connectors</a:t>
            </a:r>
            <a:endParaRPr sz="1165" b="0" u="sng">
              <a:solidFill>
                <a:srgbClr val="1769E0"/>
              </a:solidFill>
              <a:latin typeface="Segoe UI" panose="020B0502040204020203"/>
              <a:ea typeface="Segoe UI" panose="020B0502040204020203"/>
              <a:cs typeface="Segoe UI" panose="020B0502040204020203"/>
              <a:hlinkClick r:id="rId3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191875" y="64579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16 / 24</a:t>
            </a:r>
            <a:endParaRPr sz="1050" b="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476250" y="323850"/>
            <a:ext cx="11239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31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跨来源研究：用户已经在审计划、来源、进度与报告</a:t>
            </a:r>
            <a:endParaRPr sz="31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" y="1085850"/>
            <a:ext cx="11201400" cy="1905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95300" y="1228725"/>
            <a:ext cx="1114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ChatGPT 与 Claude 都把可中断研究和可检查引用放到了前台</a:t>
            </a:r>
            <a:endParaRPr sz="15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1581150"/>
            <a:ext cx="539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80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ChatGPT 深度研究</a:t>
            </a:r>
            <a:endParaRPr sz="1800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305550" y="1581150"/>
            <a:ext cx="539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D86E0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800" b="1">
                <a:solidFill>
                  <a:srgbClr val="D86E0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Claude Research</a:t>
            </a:r>
            <a:endParaRPr sz="1800" b="1">
              <a:solidFill>
                <a:srgbClr val="D86E0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76950" y="1619250"/>
            <a:ext cx="19050" cy="411480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7" name="矩形: 圆角 6"/>
          <p:cNvSpPr>
            <a:spLocks noGrp="1"/>
          </p:cNvSpPr>
          <p:nvPr/>
        </p:nvSpPr>
        <p:spPr>
          <a:xfrm>
            <a:off x="495300" y="1924050"/>
            <a:ext cx="539115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992" y="1952625"/>
            <a:ext cx="3861765" cy="2419350"/>
          </a:xfrm>
          <a:prstGeom prst="roundRect">
            <a:avLst>
              <a:gd name="adj" fmla="val 1575"/>
            </a:avLst>
          </a:prstGeom>
        </p:spPr>
      </p:pic>
      <p:sp>
        <p:nvSpPr>
          <p:cNvPr id="9" name="矩形: 圆角 8"/>
          <p:cNvSpPr>
            <a:spLocks noGrp="1"/>
          </p:cNvSpPr>
          <p:nvPr/>
        </p:nvSpPr>
        <p:spPr>
          <a:xfrm>
            <a:off x="6305550" y="1924050"/>
            <a:ext cx="539115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403" y="1952625"/>
            <a:ext cx="3931444" cy="2419350"/>
          </a:xfrm>
          <a:prstGeom prst="roundRect">
            <a:avLst>
              <a:gd name="adj" fmla="val 1575"/>
            </a:avLst>
          </a:prstGeom>
        </p:spPr>
      </p:pic>
      <p:sp>
        <p:nvSpPr>
          <p:cNvPr id="11" name="矩形: 圆角 10"/>
          <p:cNvSpPr>
            <a:spLocks noGrp="1"/>
          </p:cNvSpPr>
          <p:nvPr/>
        </p:nvSpPr>
        <p:spPr>
          <a:xfrm>
            <a:off x="495300" y="465772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47700" y="4591050"/>
            <a:ext cx="52387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7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7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可选互联网、文件、连接应用和指定网站；计划可审、运行可中断。</a:t>
            </a:r>
            <a:endParaRPr sz="1375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" name="矩形: 圆角 12"/>
          <p:cNvSpPr>
            <a:spLocks noGrp="1"/>
          </p:cNvSpPr>
          <p:nvPr/>
        </p:nvSpPr>
        <p:spPr>
          <a:xfrm>
            <a:off x="495300" y="520065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47700" y="5133975"/>
            <a:ext cx="523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7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7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最终报告带引用，并可下载为 Markdown、Word 或 PDF。</a:t>
            </a:r>
            <a:endParaRPr sz="1375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矩形: 圆角 14"/>
          <p:cNvSpPr>
            <a:spLocks noGrp="1"/>
          </p:cNvSpPr>
          <p:nvPr/>
        </p:nvSpPr>
        <p:spPr>
          <a:xfrm>
            <a:off x="6305550" y="465772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57950" y="4591050"/>
            <a:ext cx="52387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7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7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在互联网与已连接内部资料中开展多步研究，引用可检查。</a:t>
            </a:r>
            <a:endParaRPr sz="1375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7" name="矩形: 圆角 16"/>
          <p:cNvSpPr>
            <a:spLocks noGrp="1"/>
          </p:cNvSpPr>
          <p:nvPr/>
        </p:nvSpPr>
        <p:spPr>
          <a:xfrm>
            <a:off x="6305550" y="520065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457950" y="5133975"/>
            <a:ext cx="523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7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75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用户可开关研究模式、补充来源，并在过程中继续引导。</a:t>
            </a:r>
            <a:endParaRPr sz="1375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495300" y="5676900"/>
            <a:ext cx="11201400" cy="523875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95300" y="5676900"/>
            <a:ext cx="66675" cy="5238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04850" y="5753100"/>
            <a:ext cx="1081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65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465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“有来源、有进度、可中断”也是市场基线；Office Agent 必须用成果与治理合同继续拉开验证。</a:t>
            </a:r>
            <a:endParaRPr sz="1465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95300" y="632460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官方依据：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3"/>
              </a:rPr>
              <a:t>OpenAI 深度研究</a:t>
            </a: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· 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4"/>
              </a:rPr>
              <a:t>Claude Research</a:t>
            </a:r>
            <a:endParaRPr sz="1165" b="0" u="sng">
              <a:solidFill>
                <a:srgbClr val="1769E0"/>
              </a:solidFill>
              <a:latin typeface="Segoe UI" panose="020B0502040204020203"/>
              <a:ea typeface="Segoe UI" panose="020B0502040204020203"/>
              <a:cs typeface="Segoe UI" panose="020B0502040204020203"/>
              <a:hlinkClick r:id="rId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191875" y="64579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17 / 24</a:t>
            </a:r>
            <a:endParaRPr sz="1050" b="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476250" y="323850"/>
            <a:ext cx="11239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31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任务执行工作台：用户审“改了什么、验证了没有”</a:t>
            </a:r>
            <a:endParaRPr sz="31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" y="1085850"/>
            <a:ext cx="11201400" cy="1905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95300" y="1228725"/>
            <a:ext cx="1114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Codex App 与 Claude Code 是相邻执行范式，不是同一办公资料产品</a:t>
            </a:r>
            <a:endParaRPr sz="15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1581150"/>
            <a:ext cx="539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80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Codex App</a:t>
            </a:r>
            <a:endParaRPr sz="1800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305550" y="1581150"/>
            <a:ext cx="539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D86E0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800" b="1">
                <a:solidFill>
                  <a:srgbClr val="D86E0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Claude Code</a:t>
            </a:r>
            <a:endParaRPr sz="1800" b="1">
              <a:solidFill>
                <a:srgbClr val="D86E0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76950" y="1619250"/>
            <a:ext cx="19050" cy="411480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7" name="矩形: 圆角 6"/>
          <p:cNvSpPr>
            <a:spLocks noGrp="1"/>
          </p:cNvSpPr>
          <p:nvPr/>
        </p:nvSpPr>
        <p:spPr>
          <a:xfrm>
            <a:off x="495300" y="1924050"/>
            <a:ext cx="53911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rcRect t="11294" b="11294"/>
          <a:stretch>
            <a:fillRect/>
          </a:stretch>
        </p:blipFill>
        <p:spPr>
          <a:xfrm>
            <a:off x="523875" y="1952625"/>
            <a:ext cx="5334000" cy="2324100"/>
          </a:xfrm>
          <a:prstGeom prst="roundRect">
            <a:avLst>
              <a:gd name="adj" fmla="val 1639"/>
            </a:avLst>
          </a:prstGeom>
        </p:spPr>
      </p:pic>
      <p:sp>
        <p:nvSpPr>
          <p:cNvPr id="9" name="矩形: 圆角 8"/>
          <p:cNvSpPr>
            <a:spLocks noGrp="1"/>
          </p:cNvSpPr>
          <p:nvPr/>
        </p:nvSpPr>
        <p:spPr>
          <a:xfrm>
            <a:off x="6305550" y="1924050"/>
            <a:ext cx="53911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077508"/>
            <a:ext cx="5334000" cy="2074333"/>
          </a:xfrm>
          <a:prstGeom prst="roundRect">
            <a:avLst>
              <a:gd name="adj" fmla="val 1639"/>
            </a:avLst>
          </a:prstGeom>
        </p:spPr>
      </p:pic>
      <p:sp>
        <p:nvSpPr>
          <p:cNvPr id="11" name="矩形: 圆角 10"/>
          <p:cNvSpPr>
            <a:spLocks noGrp="1"/>
          </p:cNvSpPr>
          <p:nvPr/>
        </p:nvSpPr>
        <p:spPr>
          <a:xfrm>
            <a:off x="495300" y="459105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47700" y="4524375"/>
            <a:ext cx="523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任务按项目和线程组织；隔离工作树、差异审查、技能与自动化进入同一工作台。</a:t>
            </a:r>
            <a:endParaRPr sz="1350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" name="矩形: 圆角 12"/>
          <p:cNvSpPr>
            <a:spLocks noGrp="1"/>
          </p:cNvSpPr>
          <p:nvPr/>
        </p:nvSpPr>
        <p:spPr>
          <a:xfrm>
            <a:off x="495300" y="525780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47700" y="5191125"/>
            <a:ext cx="5238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沙箱和权限控制执行边界；结果进入可继续处理的审查队列。</a:t>
            </a:r>
            <a:endParaRPr sz="1350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矩形: 圆角 14"/>
          <p:cNvSpPr>
            <a:spLocks noGrp="1"/>
          </p:cNvSpPr>
          <p:nvPr/>
        </p:nvSpPr>
        <p:spPr>
          <a:xfrm>
            <a:off x="6305550" y="459105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57950" y="4524375"/>
            <a:ext cx="523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围绕项目、终端和版本库运行“收集上下文 → 行动 → 验证”的循环。</a:t>
            </a:r>
            <a:endParaRPr sz="1350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7" name="矩形: 圆角 16"/>
          <p:cNvSpPr>
            <a:spLocks noGrp="1"/>
          </p:cNvSpPr>
          <p:nvPr/>
        </p:nvSpPr>
        <p:spPr>
          <a:xfrm>
            <a:off x="6305550" y="525780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457950" y="5191125"/>
            <a:ext cx="5238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会话可恢复或分叉；检查点与权限模式承担人工控制。</a:t>
            </a:r>
            <a:endParaRPr sz="1350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495300" y="5676900"/>
            <a:ext cx="11201400" cy="523875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95300" y="5676900"/>
            <a:ext cx="66675" cy="5238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04850" y="5753100"/>
            <a:ext cx="1081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65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465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长任务连续、隔离执行和人工审查已在代码智能体中成熟；Office Agent 要证明的是办公事实链。</a:t>
            </a:r>
            <a:endParaRPr sz="1465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95300" y="632460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官方依据：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3"/>
              </a:rPr>
              <a:t>Codex App</a:t>
            </a: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· 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4"/>
              </a:rPr>
              <a:t>Claude Code</a:t>
            </a:r>
            <a:endParaRPr sz="1165" b="0" u="sng">
              <a:solidFill>
                <a:srgbClr val="1769E0"/>
              </a:solidFill>
              <a:latin typeface="Segoe UI" panose="020B0502040204020203"/>
              <a:ea typeface="Segoe UI" panose="020B0502040204020203"/>
              <a:cs typeface="Segoe UI" panose="020B0502040204020203"/>
              <a:hlinkClick r:id="rId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191875" y="64579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18 / 24</a:t>
            </a:r>
            <a:endParaRPr sz="1050" b="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9" name="矩形 68"/>
          <p:cNvSpPr>
            <a:spLocks noGrp="1"/>
          </p:cNvSpPr>
          <p:nvPr/>
        </p:nvSpPr>
        <p:spPr>
          <a:xfrm>
            <a:off x="476250" y="323850"/>
            <a:ext cx="11239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31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真正该比的，不是功能数量，而是五个可审查对象</a:t>
            </a:r>
            <a:endParaRPr sz="31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" y="1085850"/>
            <a:ext cx="11201400" cy="1905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95300" y="1228725"/>
            <a:ext cx="1114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以下为官方定位与当前实现的结构化归纳，不是同场实测结果</a:t>
            </a:r>
            <a:endParaRPr sz="15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495300" y="1657350"/>
            <a:ext cx="13144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743075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3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比较对象</a:t>
            </a:r>
            <a:endParaRPr sz="13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" name="矩形: 圆角 5"/>
          <p:cNvSpPr>
            <a:spLocks noGrp="1"/>
          </p:cNvSpPr>
          <p:nvPr/>
        </p:nvSpPr>
        <p:spPr>
          <a:xfrm>
            <a:off x="1809750" y="1657350"/>
            <a:ext cx="2286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885950" y="1743075"/>
            <a:ext cx="213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275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办公套件内嵌</a:t>
            </a:r>
            <a:endParaRPr sz="1275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4095750" y="1657350"/>
            <a:ext cx="2286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171950" y="1743075"/>
            <a:ext cx="213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275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研究工作台</a:t>
            </a:r>
            <a:endParaRPr sz="1275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0" name="矩形: 圆角 9"/>
          <p:cNvSpPr>
            <a:spLocks noGrp="1"/>
          </p:cNvSpPr>
          <p:nvPr/>
        </p:nvSpPr>
        <p:spPr>
          <a:xfrm>
            <a:off x="6381750" y="1657350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57950" y="174307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275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代码执行</a:t>
            </a:r>
            <a:endParaRPr sz="1275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2" name="矩形: 圆角 11"/>
          <p:cNvSpPr>
            <a:spLocks noGrp="1"/>
          </p:cNvSpPr>
          <p:nvPr/>
        </p:nvSpPr>
        <p:spPr>
          <a:xfrm>
            <a:off x="8572500" y="1657350"/>
            <a:ext cx="3124200" cy="400050"/>
          </a:xfrm>
          <a:prstGeom prst="roundRect">
            <a:avLst>
              <a:gd name="adj" fmla="val 19048"/>
            </a:avLst>
          </a:prstGeom>
          <a:solidFill>
            <a:srgbClr val="EAF2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648700" y="1743075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275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Office Agent 当前</a:t>
            </a:r>
            <a:endParaRPr sz="1275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95300" y="2057400"/>
            <a:ext cx="131445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81025" y="2152650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3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工作对象</a:t>
            </a:r>
            <a:endParaRPr sz="13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809750" y="2057400"/>
            <a:ext cx="228600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895475" y="215265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邮件、文档、会议、企业图谱</a:t>
            </a:r>
            <a:endParaRPr sz="12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095750" y="2057400"/>
            <a:ext cx="228600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181475" y="215265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网页、文件、连接应用</a:t>
            </a:r>
            <a:endParaRPr sz="12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81750" y="2057400"/>
            <a:ext cx="219075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67475" y="2152650"/>
            <a:ext cx="2019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仓库、终端、任务线程</a:t>
            </a:r>
            <a:endParaRPr sz="12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572500" y="2057400"/>
            <a:ext cx="3124200" cy="704850"/>
          </a:xfrm>
          <a:prstGeom prst="rect">
            <a:avLst/>
          </a:prstGeom>
          <a:solidFill>
            <a:srgbClr val="F7FA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658225" y="215265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24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冻结资料库、任务 / 运行 / 分支</a:t>
            </a:r>
            <a:endParaRPr sz="1240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95300" y="2762250"/>
            <a:ext cx="1314450" cy="704850"/>
          </a:xfrm>
          <a:prstGeom prst="rect">
            <a:avLst/>
          </a:prstGeom>
          <a:solidFill>
            <a:srgbClr val="F9FBFD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81025" y="2857500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3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持久状态</a:t>
            </a:r>
            <a:endParaRPr sz="13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809750" y="2762250"/>
            <a:ext cx="2286000" cy="704850"/>
          </a:xfrm>
          <a:prstGeom prst="rect">
            <a:avLst/>
          </a:prstGeom>
          <a:solidFill>
            <a:srgbClr val="F9FBFD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895475" y="285750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应用活动、自动化流程</a:t>
            </a:r>
            <a:endParaRPr sz="12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095750" y="2762250"/>
            <a:ext cx="2286000" cy="704850"/>
          </a:xfrm>
          <a:prstGeom prst="rect">
            <a:avLst/>
          </a:prstGeom>
          <a:solidFill>
            <a:srgbClr val="F9FBFD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181475" y="285750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研究计划、来源与报告</a:t>
            </a:r>
            <a:endParaRPr sz="12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381750" y="2762250"/>
            <a:ext cx="2190750" cy="704850"/>
          </a:xfrm>
          <a:prstGeom prst="rect">
            <a:avLst/>
          </a:prstGeom>
          <a:solidFill>
            <a:srgbClr val="F9FBFD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467475" y="2857500"/>
            <a:ext cx="2019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会话、工作区、检查点</a:t>
            </a:r>
            <a:endParaRPr sz="12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572500" y="2762250"/>
            <a:ext cx="3124200" cy="704850"/>
          </a:xfrm>
          <a:prstGeom prst="rect">
            <a:avLst/>
          </a:prstGeom>
          <a:solidFill>
            <a:srgbClr val="F7FA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658225" y="285750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24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双版本状态、分支与成果历史</a:t>
            </a:r>
            <a:endParaRPr sz="1240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95300" y="3467100"/>
            <a:ext cx="131445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81025" y="3562350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3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证据</a:t>
            </a:r>
            <a:endParaRPr sz="13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809750" y="3467100"/>
            <a:ext cx="228600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895475" y="356235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来源链接、应用上下文</a:t>
            </a:r>
            <a:endParaRPr sz="12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095750" y="3467100"/>
            <a:ext cx="228600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4181475" y="356235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引用、步骤、来源列表</a:t>
            </a:r>
            <a:endParaRPr sz="12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381750" y="3467100"/>
            <a:ext cx="219075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467475" y="3562350"/>
            <a:ext cx="2019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差异、命令与测试</a:t>
            </a:r>
            <a:endParaRPr sz="12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572500" y="3467100"/>
            <a:ext cx="3124200" cy="704850"/>
          </a:xfrm>
          <a:prstGeom prst="rect">
            <a:avLst/>
          </a:prstGeom>
          <a:solidFill>
            <a:srgbClr val="F7FA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658225" y="356235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24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文件引用 + 原文锚点 + 证据门</a:t>
            </a:r>
            <a:endParaRPr sz="1240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95300" y="4171950"/>
            <a:ext cx="1314450" cy="704850"/>
          </a:xfrm>
          <a:prstGeom prst="rect">
            <a:avLst/>
          </a:prstGeom>
          <a:solidFill>
            <a:srgbClr val="F9FBFD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581025" y="4267200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3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成果</a:t>
            </a:r>
            <a:endParaRPr sz="13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809750" y="4171950"/>
            <a:ext cx="2286000" cy="704850"/>
          </a:xfrm>
          <a:prstGeom prst="rect">
            <a:avLst/>
          </a:prstGeom>
          <a:solidFill>
            <a:srgbClr val="F9FBFD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895475" y="426720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文档、消息、图表、自动化</a:t>
            </a:r>
            <a:endParaRPr sz="12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4095750" y="4171950"/>
            <a:ext cx="2286000" cy="704850"/>
          </a:xfrm>
          <a:prstGeom prst="rect">
            <a:avLst/>
          </a:prstGeom>
          <a:solidFill>
            <a:srgbClr val="F9FBFD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4181475" y="426720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带引用报告与导出文件</a:t>
            </a:r>
            <a:endParaRPr sz="12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381750" y="4171950"/>
            <a:ext cx="2190750" cy="704850"/>
          </a:xfrm>
          <a:prstGeom prst="rect">
            <a:avLst/>
          </a:prstGeom>
          <a:solidFill>
            <a:srgbClr val="F9FBFD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6467475" y="4267200"/>
            <a:ext cx="2019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代码修改、分支、合并请求</a:t>
            </a:r>
            <a:endParaRPr sz="12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572500" y="4171950"/>
            <a:ext cx="3124200" cy="704850"/>
          </a:xfrm>
          <a:prstGeom prst="rect">
            <a:avLst/>
          </a:prstGeom>
          <a:solidFill>
            <a:srgbClr val="F7FA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8658225" y="426720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24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隔离办公成果 + 校验回执</a:t>
            </a:r>
            <a:endParaRPr sz="1240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495300" y="4876800"/>
            <a:ext cx="131445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581025" y="4972050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3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人工与动作</a:t>
            </a:r>
            <a:endParaRPr sz="13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809750" y="4876800"/>
            <a:ext cx="228600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1895475" y="497205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设置范围；动作受平台权限控制</a:t>
            </a:r>
            <a:endParaRPr sz="12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4095750" y="4876800"/>
            <a:ext cx="228600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4181475" y="497205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审计划、可中断；研究连接多为只读</a:t>
            </a:r>
            <a:endParaRPr sz="12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6381750" y="4876800"/>
            <a:ext cx="219075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6467475" y="4972050"/>
            <a:ext cx="2019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审权限、Diff 与命令</a:t>
            </a:r>
            <a:endParaRPr sz="12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572500" y="4876800"/>
            <a:ext cx="3124200" cy="704850"/>
          </a:xfrm>
          <a:prstGeom prst="rect">
            <a:avLst/>
          </a:prstGeom>
          <a:solidFill>
            <a:srgbClr val="F7FA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8658225" y="497205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4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24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选分支、决策、回滚；外部动作未实现</a:t>
            </a:r>
            <a:endParaRPr sz="1240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4" name="矩形: 圆角 63"/>
          <p:cNvSpPr>
            <a:spLocks noGrp="1"/>
          </p:cNvSpPr>
          <p:nvPr/>
        </p:nvSpPr>
        <p:spPr>
          <a:xfrm>
            <a:off x="495300" y="5715000"/>
            <a:ext cx="11201400" cy="523875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495300" y="5715000"/>
            <a:ext cx="66675" cy="5238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704850" y="5791200"/>
            <a:ext cx="1081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575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差异候选不是“能不能做”，而是这些事实能否在同一链路里相互对账。</a:t>
            </a:r>
            <a:endParaRPr sz="1575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495300" y="632460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官方依据：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1"/>
              </a:rPr>
              <a:t>Microsoft</a:t>
            </a: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· 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2"/>
              </a:rPr>
              <a:t>Google</a:t>
            </a: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· 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3"/>
              </a:rPr>
              <a:t>Notion</a:t>
            </a: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· 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4"/>
              </a:rPr>
              <a:t>OpenAI</a:t>
            </a: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· 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5"/>
              </a:rPr>
              <a:t>Anthropic</a:t>
            </a:r>
            <a:endParaRPr sz="1165" b="0" u="sng">
              <a:solidFill>
                <a:srgbClr val="1769E0"/>
              </a:solidFill>
              <a:latin typeface="Segoe UI" panose="020B0502040204020203"/>
              <a:ea typeface="Segoe UI" panose="020B0502040204020203"/>
              <a:cs typeface="Segoe UI" panose="020B0502040204020203"/>
              <a:hlinkClick r:id="rId5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11191875" y="64579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19 / 24</a:t>
            </a:r>
            <a:endParaRPr sz="1050" b="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476250" y="323850"/>
            <a:ext cx="11239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31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Office Agent 的候选差异：不是能力更多，而是证明链更完整</a:t>
            </a:r>
            <a:endParaRPr sz="31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95300" y="1085850"/>
            <a:ext cx="11201400" cy="1905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95300" y="1228725"/>
            <a:ext cx="1114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40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当前只验证了一条受控办公纵切；要成为市场差异，仍需固定配置同场实测</a:t>
            </a:r>
            <a:endParaRPr sz="1540" b="0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495300" y="1695450"/>
            <a:ext cx="54292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rcRect t="23308" b="23308"/>
          <a:stretch>
            <a:fillRect/>
          </a:stretch>
        </p:blipFill>
        <p:spPr>
          <a:xfrm>
            <a:off x="523875" y="1724025"/>
            <a:ext cx="5372100" cy="2190750"/>
          </a:xfrm>
          <a:prstGeom prst="roundRect">
            <a:avLst>
              <a:gd name="adj" fmla="val 1739"/>
            </a:avLst>
          </a:prstGeom>
        </p:spPr>
      </p:pic>
      <p:sp>
        <p:nvSpPr>
          <p:cNvPr id="6" name="矩形: 圆角 5"/>
          <p:cNvSpPr>
            <a:spLocks noGrp="1"/>
          </p:cNvSpPr>
          <p:nvPr/>
        </p:nvSpPr>
        <p:spPr>
          <a:xfrm>
            <a:off x="6267450" y="1695450"/>
            <a:ext cx="54292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rcRect t="23308" b="23308"/>
          <a:stretch>
            <a:fillRect/>
          </a:stretch>
        </p:blipFill>
        <p:spPr>
          <a:xfrm>
            <a:off x="6296025" y="1724025"/>
            <a:ext cx="5372100" cy="2190750"/>
          </a:xfrm>
          <a:prstGeom prst="roundRect">
            <a:avLst>
              <a:gd name="adj" fmla="val 1739"/>
            </a:avLst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495300" y="405765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2D8736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725" b="1">
                <a:solidFill>
                  <a:srgbClr val="2D8736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当前有证据</a:t>
            </a:r>
            <a:endParaRPr sz="1725" b="1">
              <a:solidFill>
                <a:srgbClr val="2D8736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495300" y="447675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2D8736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4410075"/>
            <a:ext cx="527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整库索引冻结；计划由服务端编译为分支与路线。</a:t>
            </a:r>
            <a:endParaRPr sz="1350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495300" y="488632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2D8736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47700" y="4819650"/>
            <a:ext cx="527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发现项绑定批准来源与原文锚点；模型返回与采用分开。</a:t>
            </a:r>
            <a:endParaRPr sz="1350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" name="矩形: 圆角 12"/>
          <p:cNvSpPr>
            <a:spLocks noGrp="1"/>
          </p:cNvSpPr>
          <p:nvPr/>
        </p:nvSpPr>
        <p:spPr>
          <a:xfrm>
            <a:off x="495300" y="529590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2D8736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47700" y="5229225"/>
            <a:ext cx="527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隔离成果 + 校验回执 + 版本 / 提交历史。</a:t>
            </a:r>
            <a:endParaRPr sz="1350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67450" y="405765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D86E0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725" b="1">
                <a:solidFill>
                  <a:srgbClr val="D86E0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仍没有证据</a:t>
            </a:r>
            <a:endParaRPr sz="1725" b="1">
              <a:solidFill>
                <a:srgbClr val="D86E0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6267450" y="447675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19850" y="4410075"/>
            <a:ext cx="527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微软 / 谷歌 / Notion 原生连接器与源文件写回。</a:t>
            </a:r>
            <a:endParaRPr sz="1350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" name="矩形: 圆角 17"/>
          <p:cNvSpPr>
            <a:spLocks noGrp="1"/>
          </p:cNvSpPr>
          <p:nvPr/>
        </p:nvSpPr>
        <p:spPr>
          <a:xfrm>
            <a:off x="6267450" y="488632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19850" y="4819650"/>
            <a:ext cx="527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远程执行单元、分布式租约、多实例协调与生产认证。</a:t>
            </a:r>
            <a:endParaRPr sz="1350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0" name="矩形: 圆角 19"/>
          <p:cNvSpPr>
            <a:spLocks noGrp="1"/>
          </p:cNvSpPr>
          <p:nvPr/>
        </p:nvSpPr>
        <p:spPr>
          <a:xfrm>
            <a:off x="6267450" y="529590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19850" y="5229225"/>
            <a:ext cx="527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1F29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用户研究与真实效率、信任、业务价值提升。</a:t>
            </a:r>
            <a:endParaRPr sz="1350" b="0">
              <a:solidFill>
                <a:srgbClr val="1F29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2" name="矩形: 圆角 21"/>
          <p:cNvSpPr>
            <a:spLocks noGrp="1"/>
          </p:cNvSpPr>
          <p:nvPr/>
        </p:nvSpPr>
        <p:spPr>
          <a:xfrm>
            <a:off x="495300" y="5676900"/>
            <a:ext cx="11201400" cy="523875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95300" y="5676900"/>
            <a:ext cx="66675" cy="5238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04850" y="5753100"/>
            <a:ext cx="1081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9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defRPr>
            </a:pPr>
            <a:r>
              <a:rPr sz="139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同场证伪四题：结论能否定位？能否只补一支？成果是否真写出？计划、批准、执行是否分开？</a:t>
            </a:r>
            <a:endParaRPr sz="139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95300" y="632460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65" b="0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系统与评测依据：</a:t>
            </a:r>
            <a:r>
              <a:rPr sz="1165" b="0" u="sng">
                <a:solidFill>
                  <a:srgbClr val="1769E0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3"/>
              </a:rPr>
              <a:t>当前产品仓库</a:t>
            </a:r>
            <a:endParaRPr sz="1165" b="0" u="sng">
              <a:solidFill>
                <a:srgbClr val="1769E0"/>
              </a:solidFill>
              <a:latin typeface="Segoe UI" panose="020B0502040204020203"/>
              <a:ea typeface="Segoe UI" panose="020B0502040204020203"/>
              <a:cs typeface="Segoe UI" panose="020B0502040204020203"/>
              <a:hlinkClick r:id="rId3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191875" y="64579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20 / 24</a:t>
            </a:r>
            <a:endParaRPr sz="1050" b="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/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/>
          <p:cNvSpPr>
            <a:spLocks noGrp="1"/>
          </p:cNvSpPr>
          <p:nvPr/>
        </p:nvSpPr>
        <p:spPr>
          <a:xfrm>
            <a:off x="477774" y="370522"/>
            <a:ext cx="734996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技术差异如何一步步改变用户流程</a:t>
            </a:r>
            <a:endParaRPr sz="34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9" name="TextBox 9"/>
          <p:cNvSpPr>
            <a:spLocks noGrp="1"/>
          </p:cNvSpPr>
          <p:nvPr/>
        </p:nvSpPr>
        <p:spPr>
          <a:xfrm>
            <a:off x="484632" y="1240155"/>
            <a:ext cx="628459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不是增加更多状态，而是重新分配“谁负责判断”</a:t>
            </a:r>
            <a:endParaRPr sz="21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1" name="Freeform 11"/>
          <p:cNvSpPr>
            <a:spLocks noGrp="1"/>
          </p:cNvSpPr>
          <p:nvPr/>
        </p:nvSpPr>
        <p:spPr>
          <a:xfrm>
            <a:off x="685800" y="24765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CBD5DF"/>
            </a:solidFill>
          </a:ln>
        </p:spPr>
      </p:sp>
      <p:sp>
        <p:nvSpPr>
          <p:cNvPr id="12" name="Ellipse 12"/>
          <p:cNvSpPr>
            <a:spLocks noGrp="1"/>
          </p:cNvSpPr>
          <p:nvPr/>
        </p:nvSpPr>
        <p:spPr>
          <a:xfrm>
            <a:off x="1200150" y="2247900"/>
            <a:ext cx="457200" cy="4572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3" name="TextBox 13"/>
          <p:cNvSpPr>
            <a:spLocks noGrp="1"/>
          </p:cNvSpPr>
          <p:nvPr/>
        </p:nvSpPr>
        <p:spPr>
          <a:xfrm>
            <a:off x="1372712" y="241506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Ellipse 14"/>
          <p:cNvSpPr>
            <a:spLocks noGrp="1"/>
          </p:cNvSpPr>
          <p:nvPr/>
        </p:nvSpPr>
        <p:spPr>
          <a:xfrm>
            <a:off x="3486150" y="2247900"/>
            <a:ext cx="457200" cy="4572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5" name="TextBox 15"/>
          <p:cNvSpPr>
            <a:spLocks noGrp="1"/>
          </p:cNvSpPr>
          <p:nvPr/>
        </p:nvSpPr>
        <p:spPr>
          <a:xfrm>
            <a:off x="3658712" y="241506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Ellipse 16"/>
          <p:cNvSpPr>
            <a:spLocks noGrp="1"/>
          </p:cNvSpPr>
          <p:nvPr/>
        </p:nvSpPr>
        <p:spPr>
          <a:xfrm>
            <a:off x="5772150" y="2247900"/>
            <a:ext cx="457200" cy="4572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7" name="TextBox 17"/>
          <p:cNvSpPr>
            <a:spLocks noGrp="1"/>
          </p:cNvSpPr>
          <p:nvPr/>
        </p:nvSpPr>
        <p:spPr>
          <a:xfrm>
            <a:off x="5944712" y="241506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Ellipse 18"/>
          <p:cNvSpPr>
            <a:spLocks noGrp="1"/>
          </p:cNvSpPr>
          <p:nvPr/>
        </p:nvSpPr>
        <p:spPr>
          <a:xfrm>
            <a:off x="8058150" y="2247900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TextBox 19"/>
          <p:cNvSpPr>
            <a:spLocks noGrp="1"/>
          </p:cNvSpPr>
          <p:nvPr/>
        </p:nvSpPr>
        <p:spPr>
          <a:xfrm>
            <a:off x="8230712" y="241506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Ellipse 20"/>
          <p:cNvSpPr>
            <a:spLocks noGrp="1"/>
          </p:cNvSpPr>
          <p:nvPr/>
        </p:nvSpPr>
        <p:spPr>
          <a:xfrm>
            <a:off x="10344150" y="22479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1" name="TextBox 21"/>
          <p:cNvSpPr>
            <a:spLocks noGrp="1"/>
          </p:cNvSpPr>
          <p:nvPr/>
        </p:nvSpPr>
        <p:spPr>
          <a:xfrm>
            <a:off x="10516712" y="241506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5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Rectangle 22"/>
          <p:cNvSpPr>
            <a:spLocks noGrp="1"/>
          </p:cNvSpPr>
          <p:nvPr/>
        </p:nvSpPr>
        <p:spPr>
          <a:xfrm>
            <a:off x="495300" y="2952750"/>
            <a:ext cx="1866900" cy="234315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23" name="TextBox 23"/>
          <p:cNvSpPr>
            <a:spLocks noGrp="1"/>
          </p:cNvSpPr>
          <p:nvPr/>
        </p:nvSpPr>
        <p:spPr>
          <a:xfrm>
            <a:off x="676656" y="3082290"/>
            <a:ext cx="192572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资料范围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679323" y="3805714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只说业务目标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7" name="TextBox 27"/>
          <p:cNvSpPr>
            <a:spLocks noGrp="1"/>
          </p:cNvSpPr>
          <p:nvPr/>
        </p:nvSpPr>
        <p:spPr>
          <a:xfrm>
            <a:off x="679323" y="4510564"/>
            <a:ext cx="121443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整库范围已冻结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9" name="Rectangle 29"/>
          <p:cNvSpPr>
            <a:spLocks noGrp="1"/>
          </p:cNvSpPr>
          <p:nvPr/>
        </p:nvSpPr>
        <p:spPr>
          <a:xfrm>
            <a:off x="2571750" y="2952750"/>
            <a:ext cx="1866900" cy="234315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30" name="TextBox 30"/>
          <p:cNvSpPr>
            <a:spLocks noGrp="1"/>
          </p:cNvSpPr>
          <p:nvPr/>
        </p:nvSpPr>
        <p:spPr>
          <a:xfrm>
            <a:off x="2753106" y="30822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计划编译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2" name="TextBox 32"/>
          <p:cNvSpPr>
            <a:spLocks noGrp="1"/>
          </p:cNvSpPr>
          <p:nvPr/>
        </p:nvSpPr>
        <p:spPr>
          <a:xfrm>
            <a:off x="2755773" y="3805714"/>
            <a:ext cx="121443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查看分支与依赖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4" name="TextBox 34"/>
          <p:cNvSpPr>
            <a:spLocks noGrp="1"/>
          </p:cNvSpPr>
          <p:nvPr/>
        </p:nvSpPr>
        <p:spPr>
          <a:xfrm>
            <a:off x="2755773" y="4510564"/>
            <a:ext cx="140324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显示资料与禁区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6" name="Rectangle 36"/>
          <p:cNvSpPr>
            <a:spLocks noGrp="1"/>
          </p:cNvSpPr>
          <p:nvPr/>
        </p:nvSpPr>
        <p:spPr>
          <a:xfrm>
            <a:off x="4648200" y="2952750"/>
            <a:ext cx="1866900" cy="234315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37" name="TextBox 37"/>
          <p:cNvSpPr>
            <a:spLocks noGrp="1"/>
          </p:cNvSpPr>
          <p:nvPr/>
        </p:nvSpPr>
        <p:spPr>
          <a:xfrm>
            <a:off x="4829556" y="30822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模型采用门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9" name="TextBox 39"/>
          <p:cNvSpPr>
            <a:spLocks noGrp="1"/>
          </p:cNvSpPr>
          <p:nvPr/>
        </p:nvSpPr>
        <p:spPr>
          <a:xfrm>
            <a:off x="4832223" y="3805714"/>
            <a:ext cx="15577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查看调用与采用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1" name="TextBox 41"/>
          <p:cNvSpPr>
            <a:spLocks noGrp="1"/>
          </p:cNvSpPr>
          <p:nvPr/>
        </p:nvSpPr>
        <p:spPr>
          <a:xfrm>
            <a:off x="4833366" y="4534852"/>
            <a:ext cx="14241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区分调用与采用</a:t>
            </a:r>
            <a:endParaRPr sz="1050">
              <a:solidFill>
                <a:srgbClr val="5A6B7C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3" name="Rectangle 43"/>
          <p:cNvSpPr>
            <a:spLocks noGrp="1"/>
          </p:cNvSpPr>
          <p:nvPr/>
        </p:nvSpPr>
        <p:spPr>
          <a:xfrm>
            <a:off x="6724650" y="2952750"/>
            <a:ext cx="1866900" cy="234315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</p:sp>
      <p:sp>
        <p:nvSpPr>
          <p:cNvPr id="44" name="TextBox 44"/>
          <p:cNvSpPr>
            <a:spLocks noGrp="1"/>
          </p:cNvSpPr>
          <p:nvPr/>
        </p:nvSpPr>
        <p:spPr>
          <a:xfrm>
            <a:off x="6906006" y="30822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局部恢复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6" name="TextBox 46"/>
          <p:cNvSpPr>
            <a:spLocks noGrp="1"/>
          </p:cNvSpPr>
          <p:nvPr/>
        </p:nvSpPr>
        <p:spPr>
          <a:xfrm>
            <a:off x="6908673" y="3805714"/>
            <a:ext cx="138607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只恢复受影响分支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8" name="TextBox 48"/>
          <p:cNvSpPr>
            <a:spLocks noGrp="1"/>
          </p:cNvSpPr>
          <p:nvPr/>
        </p:nvSpPr>
        <p:spPr>
          <a:xfrm>
            <a:off x="6908673" y="4510564"/>
            <a:ext cx="17293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说明影响与后果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0" name="Rectangle 50"/>
          <p:cNvSpPr>
            <a:spLocks noGrp="1"/>
          </p:cNvSpPr>
          <p:nvPr/>
        </p:nvSpPr>
        <p:spPr>
          <a:xfrm>
            <a:off x="8801100" y="2952750"/>
            <a:ext cx="2895600" cy="2343150"/>
          </a:xfrm>
          <a:prstGeom prst="roundRect">
            <a:avLst>
              <a:gd name="adj" fmla="val 2439"/>
            </a:avLst>
          </a:prstGeom>
          <a:solidFill>
            <a:srgbClr val="132A3A"/>
          </a:solidFill>
          <a:ln>
            <a:noFill/>
          </a:ln>
        </p:spPr>
      </p:sp>
      <p:sp>
        <p:nvSpPr>
          <p:cNvPr id="51" name="TextBox 51"/>
          <p:cNvSpPr>
            <a:spLocks noGrp="1"/>
          </p:cNvSpPr>
          <p:nvPr/>
        </p:nvSpPr>
        <p:spPr>
          <a:xfrm>
            <a:off x="9020556" y="30822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可核对办公结论</a:t>
            </a:r>
            <a:endParaRPr sz="180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3" name="TextBox 53"/>
          <p:cNvSpPr>
            <a:spLocks noGrp="1"/>
          </p:cNvSpPr>
          <p:nvPr/>
        </p:nvSpPr>
        <p:spPr>
          <a:xfrm>
            <a:off x="9023223" y="3805714"/>
            <a:ext cx="15577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下载成果，回开依据</a:t>
            </a:r>
            <a:endParaRPr sz="128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5" name="TextBox 55"/>
          <p:cNvSpPr>
            <a:spLocks noGrp="1"/>
          </p:cNvSpPr>
          <p:nvPr/>
        </p:nvSpPr>
        <p:spPr>
          <a:xfrm>
            <a:off x="9023223" y="4510564"/>
            <a:ext cx="2124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区分成果、模型说明与外部动作</a:t>
            </a:r>
            <a:endParaRPr sz="128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TextBox 64"/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依据：</a:t>
            </a:r>
            <a:r>
              <a:rPr sz="1165" u="sng">
                <a:solidFill>
                  <a:srgbClr val="1769D2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1"/>
              </a:rPr>
              <a:t>microsoft.com/research/.../human-ai-interaction</a:t>
            </a: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 ·  </a:t>
            </a:r>
            <a:r>
              <a:rPr sz="1165" u="sng">
                <a:solidFill>
                  <a:srgbClr val="1769D2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2"/>
              </a:rPr>
              <a:t>modelcontextprotocol.io/.../elicitation</a:t>
            </a:r>
            <a:endParaRPr sz="1165" u="sng">
              <a:solidFill>
                <a:srgbClr val="1769D2"/>
              </a:solidFill>
              <a:latin typeface="Segoe UI" panose="020B0502040204020203"/>
              <a:ea typeface="Segoe UI" panose="020B0502040204020203"/>
              <a:cs typeface="Segoe UI" panose="020B0502040204020203"/>
              <a:hlinkClick r:id="rId2"/>
            </a:endParaRPr>
          </a:p>
        </p:txBody>
      </p:sp>
      <p:sp>
        <p:nvSpPr>
          <p:cNvPr id="65" name="TextBox 65"/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21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/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/>
          <p:cNvSpPr>
            <a:spLocks noGrp="1"/>
          </p:cNvSpPr>
          <p:nvPr/>
        </p:nvSpPr>
        <p:spPr>
          <a:xfrm>
            <a:off x="477774" y="370522"/>
            <a:ext cx="8838252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六个技术方向，正在改变用户与 AI 的交互方式</a:t>
            </a:r>
            <a:endParaRPr sz="34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9" name="Rectangle 9"/>
          <p:cNvSpPr>
            <a:spLocks noGrp="1"/>
          </p:cNvSpPr>
          <p:nvPr/>
        </p:nvSpPr>
        <p:spPr>
          <a:xfrm>
            <a:off x="495300" y="1466850"/>
            <a:ext cx="7086600" cy="409575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10" name="TextBox 10"/>
          <p:cNvSpPr>
            <a:spLocks noGrp="1"/>
          </p:cNvSpPr>
          <p:nvPr/>
        </p:nvSpPr>
        <p:spPr>
          <a:xfrm>
            <a:off x="713232" y="162115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技术方向与用户影响</a:t>
            </a:r>
            <a:endParaRPr sz="21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1" name="Freeform 11"/>
          <p:cNvSpPr>
            <a:spLocks noGrp="1"/>
          </p:cNvSpPr>
          <p:nvPr/>
        </p:nvSpPr>
        <p:spPr>
          <a:xfrm>
            <a:off x="723900" y="2076450"/>
            <a:ext cx="6629400" cy="3238500"/>
          </a:xfrm>
          <a:custGeom>
            <a:avLst/>
            <a:gdLst/>
            <a:ahLst/>
            <a:cxnLst/>
            <a:rect l="l" t="t" r="r" b="b"/>
            <a:pathLst>
              <a:path w="6629400" h="3238500">
                <a:moveTo>
                  <a:pt x="0" y="0"/>
                </a:moveTo>
                <a:lnTo>
                  <a:pt x="6629400" y="0"/>
                </a:lnTo>
                <a:moveTo>
                  <a:pt x="3314700" y="0"/>
                </a:moveTo>
                <a:lnTo>
                  <a:pt x="3314700" y="3238500"/>
                </a:lnTo>
                <a:moveTo>
                  <a:pt x="0" y="1085850"/>
                </a:moveTo>
                <a:lnTo>
                  <a:pt x="6629400" y="1085850"/>
                </a:lnTo>
                <a:moveTo>
                  <a:pt x="0" y="2171700"/>
                </a:moveTo>
                <a:lnTo>
                  <a:pt x="6629400" y="2171700"/>
                </a:lnTo>
              </a:path>
            </a:pathLst>
          </a:custGeom>
          <a:solidFill>
            <a:srgbClr val="000000"/>
          </a:solidFill>
          <a:ln w="19050">
            <a:solidFill>
              <a:srgbClr val="E3E8ED"/>
            </a:solidFill>
          </a:ln>
        </p:spPr>
      </p:sp>
      <p:sp>
        <p:nvSpPr>
          <p:cNvPr id="12" name="Ellipse 12"/>
          <p:cNvSpPr>
            <a:spLocks noGrp="1"/>
          </p:cNvSpPr>
          <p:nvPr/>
        </p:nvSpPr>
        <p:spPr>
          <a:xfrm>
            <a:off x="781050" y="2305050"/>
            <a:ext cx="342900" cy="342900"/>
          </a:xfrm>
          <a:prstGeom prst="ellipse">
            <a:avLst/>
          </a:prstGeom>
          <a:solidFill>
            <a:srgbClr val="C0362C"/>
          </a:solidFill>
          <a:ln>
            <a:noFill/>
          </a:ln>
        </p:spPr>
      </p:sp>
      <p:sp>
        <p:nvSpPr>
          <p:cNvPr id="13" name="TextBox 13"/>
          <p:cNvSpPr>
            <a:spLocks noGrp="1"/>
          </p:cNvSpPr>
          <p:nvPr/>
        </p:nvSpPr>
        <p:spPr>
          <a:xfrm>
            <a:off x="906351" y="242982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sz="105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TextBox 14"/>
          <p:cNvSpPr>
            <a:spLocks noGrp="1"/>
          </p:cNvSpPr>
          <p:nvPr/>
        </p:nvSpPr>
        <p:spPr>
          <a:xfrm>
            <a:off x="1248156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持久状态与检查点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5" name="TextBox 15"/>
          <p:cNvSpPr>
            <a:spLocks noGrp="1"/>
          </p:cNvSpPr>
          <p:nvPr/>
        </p:nvSpPr>
        <p:spPr>
          <a:xfrm>
            <a:off x="1250823" y="2605564"/>
            <a:ext cx="26465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让任务可暂停、恢复、分叉和追溯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6" name="Ellipse 16"/>
          <p:cNvSpPr>
            <a:spLocks noGrp="1"/>
          </p:cNvSpPr>
          <p:nvPr/>
        </p:nvSpPr>
        <p:spPr>
          <a:xfrm>
            <a:off x="4095750" y="2305050"/>
            <a:ext cx="342900" cy="342900"/>
          </a:xfrm>
          <a:prstGeom prst="ellipse">
            <a:avLst/>
          </a:prstGeom>
          <a:solidFill>
            <a:srgbClr val="C0362C"/>
          </a:solidFill>
          <a:ln>
            <a:noFill/>
          </a:ln>
        </p:spPr>
      </p:sp>
      <p:sp>
        <p:nvSpPr>
          <p:cNvPr id="17" name="TextBox 17"/>
          <p:cNvSpPr>
            <a:spLocks noGrp="1"/>
          </p:cNvSpPr>
          <p:nvPr/>
        </p:nvSpPr>
        <p:spPr>
          <a:xfrm>
            <a:off x="4221051" y="242982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</a:t>
            </a:r>
            <a:endParaRPr sz="105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TextBox 18"/>
          <p:cNvSpPr>
            <a:spLocks noGrp="1"/>
          </p:cNvSpPr>
          <p:nvPr/>
        </p:nvSpPr>
        <p:spPr>
          <a:xfrm>
            <a:off x="4562856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证据锚点与校验回执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9" name="TextBox 19"/>
          <p:cNvSpPr>
            <a:spLocks noGrp="1"/>
          </p:cNvSpPr>
          <p:nvPr/>
        </p:nvSpPr>
        <p:spPr>
          <a:xfrm>
            <a:off x="4565523" y="260556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模型返回、采用与确定性结果分开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0" name="Ellipse 20"/>
          <p:cNvSpPr>
            <a:spLocks noGrp="1"/>
          </p:cNvSpPr>
          <p:nvPr/>
        </p:nvSpPr>
        <p:spPr>
          <a:xfrm>
            <a:off x="781050" y="3390900"/>
            <a:ext cx="342900" cy="3429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1" name="TextBox 21"/>
          <p:cNvSpPr>
            <a:spLocks noGrp="1"/>
          </p:cNvSpPr>
          <p:nvPr/>
        </p:nvSpPr>
        <p:spPr>
          <a:xfrm>
            <a:off x="906351" y="35156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</a:t>
            </a:r>
            <a:endParaRPr sz="105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TextBox 22"/>
          <p:cNvSpPr>
            <a:spLocks noGrp="1"/>
          </p:cNvSpPr>
          <p:nvPr/>
        </p:nvSpPr>
        <p:spPr>
          <a:xfrm>
            <a:off x="1248156" y="332994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受治理的多执行单元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3" name="TextBox 23"/>
          <p:cNvSpPr>
            <a:spLocks noGrp="1"/>
          </p:cNvSpPr>
          <p:nvPr/>
        </p:nvSpPr>
        <p:spPr>
          <a:xfrm>
            <a:off x="1250823" y="369141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按依赖分波，失败只影响对应工作包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4" name="Ellipse 24"/>
          <p:cNvSpPr>
            <a:spLocks noGrp="1"/>
          </p:cNvSpPr>
          <p:nvPr/>
        </p:nvSpPr>
        <p:spPr>
          <a:xfrm>
            <a:off x="4095750" y="3390900"/>
            <a:ext cx="342900" cy="3429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5" name="TextBox 25"/>
          <p:cNvSpPr>
            <a:spLocks noGrp="1"/>
          </p:cNvSpPr>
          <p:nvPr/>
        </p:nvSpPr>
        <p:spPr>
          <a:xfrm>
            <a:off x="4221051" y="35156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</a:t>
            </a:r>
            <a:endParaRPr sz="105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TextBox 26"/>
          <p:cNvSpPr>
            <a:spLocks noGrp="1"/>
          </p:cNvSpPr>
          <p:nvPr/>
        </p:nvSpPr>
        <p:spPr>
          <a:xfrm>
            <a:off x="4562856" y="332994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工具连接与权限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7" name="TextBox 27"/>
          <p:cNvSpPr>
            <a:spLocks noGrp="1"/>
          </p:cNvSpPr>
          <p:nvPr/>
        </p:nvSpPr>
        <p:spPr>
          <a:xfrm>
            <a:off x="4565523" y="3691414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连接资料和工具，显式说明权限边界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8" name="Ellipse 28"/>
          <p:cNvSpPr>
            <a:spLocks noGrp="1"/>
          </p:cNvSpPr>
          <p:nvPr/>
        </p:nvSpPr>
        <p:spPr>
          <a:xfrm>
            <a:off x="781050" y="4476750"/>
            <a:ext cx="342900" cy="342900"/>
          </a:xfrm>
          <a:prstGeom prst="ellipse">
            <a:avLst/>
          </a:prstGeom>
          <a:solidFill>
            <a:srgbClr val="B54708"/>
          </a:solidFill>
          <a:ln>
            <a:noFill/>
          </a:ln>
        </p:spPr>
      </p:sp>
      <p:sp>
        <p:nvSpPr>
          <p:cNvPr id="29" name="TextBox 29"/>
          <p:cNvSpPr>
            <a:spLocks noGrp="1"/>
          </p:cNvSpPr>
          <p:nvPr/>
        </p:nvSpPr>
        <p:spPr>
          <a:xfrm>
            <a:off x="906351" y="460152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5</a:t>
            </a:r>
            <a:endParaRPr sz="105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0" name="TextBox 30"/>
          <p:cNvSpPr>
            <a:spLocks noGrp="1"/>
          </p:cNvSpPr>
          <p:nvPr/>
        </p:nvSpPr>
        <p:spPr>
          <a:xfrm>
            <a:off x="1248156" y="44157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动作许可与幂等回执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1" name="TextBox 31"/>
          <p:cNvSpPr>
            <a:spLocks noGrp="1"/>
          </p:cNvSpPr>
          <p:nvPr/>
        </p:nvSpPr>
        <p:spPr>
          <a:xfrm>
            <a:off x="1250823" y="4777264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执行前审批，执行后证明发生或未发生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2" name="Ellipse 32"/>
          <p:cNvSpPr>
            <a:spLocks noGrp="1"/>
          </p:cNvSpPr>
          <p:nvPr/>
        </p:nvSpPr>
        <p:spPr>
          <a:xfrm>
            <a:off x="4095750" y="4476750"/>
            <a:ext cx="342900" cy="342900"/>
          </a:xfrm>
          <a:prstGeom prst="ellipse">
            <a:avLst/>
          </a:prstGeom>
          <a:solidFill>
            <a:srgbClr val="B54708"/>
          </a:solidFill>
          <a:ln>
            <a:noFill/>
          </a:ln>
        </p:spPr>
      </p:sp>
      <p:sp>
        <p:nvSpPr>
          <p:cNvPr id="33" name="TextBox 33"/>
          <p:cNvSpPr>
            <a:spLocks noGrp="1"/>
          </p:cNvSpPr>
          <p:nvPr/>
        </p:nvSpPr>
        <p:spPr>
          <a:xfrm>
            <a:off x="4221051" y="460152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</a:t>
            </a:r>
            <a:endParaRPr sz="105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4" name="TextBox 34"/>
          <p:cNvSpPr>
            <a:spLocks noGrp="1"/>
          </p:cNvSpPr>
          <p:nvPr/>
        </p:nvSpPr>
        <p:spPr>
          <a:xfrm>
            <a:off x="4562856" y="44157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协议化智能体通信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5" name="TextBox 35"/>
          <p:cNvSpPr>
            <a:spLocks noGrp="1"/>
          </p:cNvSpPr>
          <p:nvPr/>
        </p:nvSpPr>
        <p:spPr>
          <a:xfrm>
            <a:off x="4565523" y="4777264"/>
            <a:ext cx="2587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MCP 与 A2A 降低连接成本，不替代治理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7" name="Rectangle 37"/>
          <p:cNvSpPr>
            <a:spLocks noGrp="1"/>
          </p:cNvSpPr>
          <p:nvPr/>
        </p:nvSpPr>
        <p:spPr>
          <a:xfrm>
            <a:off x="7848600" y="1466850"/>
            <a:ext cx="3848100" cy="4095750"/>
          </a:xfrm>
          <a:prstGeom prst="roundRect">
            <a:avLst>
              <a:gd name="adj" fmla="val 1485"/>
            </a:avLst>
          </a:prstGeom>
          <a:solidFill>
            <a:srgbClr val="132A3A"/>
          </a:solidFill>
          <a:ln>
            <a:noFill/>
          </a:ln>
        </p:spPr>
      </p:sp>
      <p:sp>
        <p:nvSpPr>
          <p:cNvPr id="38" name="TextBox 38"/>
          <p:cNvSpPr>
            <a:spLocks noGrp="1"/>
          </p:cNvSpPr>
          <p:nvPr/>
        </p:nvSpPr>
        <p:spPr>
          <a:xfrm>
            <a:off x="8104632" y="1640205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对应的前台变化</a:t>
            </a:r>
            <a:endParaRPr sz="210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9" name="Freeform 39"/>
          <p:cNvSpPr>
            <a:spLocks noGrp="1"/>
          </p:cNvSpPr>
          <p:nvPr/>
        </p:nvSpPr>
        <p:spPr>
          <a:xfrm>
            <a:off x="8220075" y="2314575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0" y="9525"/>
                </a:moveTo>
                <a:cubicBezTo>
                  <a:pt x="0" y="14786"/>
                  <a:pt x="4264" y="19050"/>
                  <a:pt x="9525" y="19050"/>
                </a:cubicBezTo>
                <a:cubicBezTo>
                  <a:pt x="14786" y="19050"/>
                  <a:pt x="19050" y="14786"/>
                  <a:pt x="19050" y="9525"/>
                </a:cubicBezTo>
                <a:cubicBezTo>
                  <a:pt x="19050" y="4264"/>
                  <a:pt x="14786" y="0"/>
                  <a:pt x="9525" y="0"/>
                </a:cubicBezTo>
                <a:cubicBezTo>
                  <a:pt x="4264" y="0"/>
                  <a:pt x="0" y="4264"/>
                  <a:pt x="0" y="9525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0" name="Freeform 40"/>
          <p:cNvSpPr>
            <a:spLocks noGrp="1"/>
          </p:cNvSpPr>
          <p:nvPr/>
        </p:nvSpPr>
        <p:spPr>
          <a:xfrm>
            <a:off x="8181975" y="22764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cubicBezTo>
                  <a:pt x="21322" y="0"/>
                  <a:pt x="0" y="21322"/>
                  <a:pt x="0" y="47625"/>
                </a:cubicBezTo>
                <a:cubicBezTo>
                  <a:pt x="0" y="73928"/>
                  <a:pt x="21322" y="95250"/>
                  <a:pt x="47625" y="95250"/>
                </a:cubicBezTo>
                <a:cubicBezTo>
                  <a:pt x="73928" y="95250"/>
                  <a:pt x="95250" y="73928"/>
                  <a:pt x="95250" y="47625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1" name="Freeform 41"/>
          <p:cNvSpPr>
            <a:spLocks noGrp="1"/>
          </p:cNvSpPr>
          <p:nvPr/>
        </p:nvSpPr>
        <p:spPr>
          <a:xfrm>
            <a:off x="8136530" y="2234839"/>
            <a:ext cx="182275" cy="182291"/>
          </a:xfrm>
          <a:custGeom>
            <a:avLst/>
            <a:gdLst/>
            <a:ahLst/>
            <a:cxnLst/>
            <a:rect l="l" t="t" r="r" b="b"/>
            <a:pathLst>
              <a:path w="182275" h="182291">
                <a:moveTo>
                  <a:pt x="102595" y="4060"/>
                </a:moveTo>
                <a:cubicBezTo>
                  <a:pt x="66403" y="0"/>
                  <a:pt x="31596" y="19251"/>
                  <a:pt x="15798" y="52065"/>
                </a:cubicBezTo>
                <a:cubicBezTo>
                  <a:pt x="0" y="84879"/>
                  <a:pt x="6660" y="124094"/>
                  <a:pt x="32406" y="149852"/>
                </a:cubicBezTo>
                <a:cubicBezTo>
                  <a:pt x="58152" y="175611"/>
                  <a:pt x="97362" y="182291"/>
                  <a:pt x="130185" y="166509"/>
                </a:cubicBezTo>
                <a:cubicBezTo>
                  <a:pt x="163007" y="150728"/>
                  <a:pt x="182275" y="115931"/>
                  <a:pt x="178233" y="79736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2" name="Freeform 42"/>
          <p:cNvSpPr>
            <a:spLocks noGrp="1"/>
          </p:cNvSpPr>
          <p:nvPr/>
        </p:nvSpPr>
        <p:spPr>
          <a:xfrm>
            <a:off x="8258175" y="22383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lnTo>
                  <a:pt x="0" y="57150"/>
                </a:lnTo>
                <a:lnTo>
                  <a:pt x="28575" y="57150"/>
                </a:lnTo>
                <a:lnTo>
                  <a:pt x="57150" y="28575"/>
                </a:lnTo>
                <a:lnTo>
                  <a:pt x="28575" y="28575"/>
                </a:lnTo>
                <a:lnTo>
                  <a:pt x="28575" y="0"/>
                </a:lnTo>
                <a:lnTo>
                  <a:pt x="0" y="2857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3" name="Freeform 43"/>
          <p:cNvSpPr>
            <a:spLocks noGrp="1"/>
          </p:cNvSpPr>
          <p:nvPr/>
        </p:nvSpPr>
        <p:spPr>
          <a:xfrm>
            <a:off x="8229600" y="2295525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0"/>
                </a:moveTo>
                <a:lnTo>
                  <a:pt x="0" y="2857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5" name="TextBox 45"/>
          <p:cNvSpPr>
            <a:spLocks noGrp="1"/>
          </p:cNvSpPr>
          <p:nvPr/>
        </p:nvSpPr>
        <p:spPr>
          <a:xfrm>
            <a:off x="8489823" y="2243614"/>
            <a:ext cx="17293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任务状态、版本与恢复点</a:t>
            </a:r>
            <a:endParaRPr sz="128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6" name="Freeform 46"/>
          <p:cNvSpPr>
            <a:spLocks noGrp="1"/>
          </p:cNvSpPr>
          <p:nvPr/>
        </p:nvSpPr>
        <p:spPr>
          <a:xfrm>
            <a:off x="8248650" y="27146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0" y="38100"/>
                </a:lnTo>
                <a:cubicBezTo>
                  <a:pt x="0" y="43361"/>
                  <a:pt x="4264" y="47625"/>
                  <a:pt x="9525" y="47625"/>
                </a:cubicBezTo>
                <a:lnTo>
                  <a:pt x="47625" y="4762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7" name="Freeform 47"/>
          <p:cNvSpPr>
            <a:spLocks noGrp="1"/>
          </p:cNvSpPr>
          <p:nvPr/>
        </p:nvSpPr>
        <p:spPr>
          <a:xfrm>
            <a:off x="8162925" y="2714625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114300" y="171450"/>
                </a:move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lnTo>
                  <a:pt x="85725" y="0"/>
                </a:lnTo>
                <a:lnTo>
                  <a:pt x="133350" y="47625"/>
                </a:lnTo>
                <a:lnTo>
                  <a:pt x="133350" y="152400"/>
                </a:lnTo>
                <a:cubicBezTo>
                  <a:pt x="133350" y="162921"/>
                  <a:pt x="124821" y="171450"/>
                  <a:pt x="114300" y="17145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8" name="Freeform 48"/>
          <p:cNvSpPr>
            <a:spLocks noGrp="1"/>
          </p:cNvSpPr>
          <p:nvPr/>
        </p:nvSpPr>
        <p:spPr>
          <a:xfrm>
            <a:off x="8201025" y="277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9" name="Freeform 49"/>
          <p:cNvSpPr>
            <a:spLocks noGrp="1"/>
          </p:cNvSpPr>
          <p:nvPr/>
        </p:nvSpPr>
        <p:spPr>
          <a:xfrm>
            <a:off x="8201025" y="2809875"/>
            <a:ext cx="57150" cy="9525"/>
          </a:xfrm>
          <a:custGeom>
            <a:avLst/>
            <a:gdLst/>
            <a:ahLst/>
            <a:cxnLst/>
            <a:rect l="l" t="t" r="r" b="b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50" name="Freeform 50"/>
          <p:cNvSpPr>
            <a:spLocks noGrp="1"/>
          </p:cNvSpPr>
          <p:nvPr/>
        </p:nvSpPr>
        <p:spPr>
          <a:xfrm>
            <a:off x="8201025" y="2847975"/>
            <a:ext cx="57150" cy="9525"/>
          </a:xfrm>
          <a:custGeom>
            <a:avLst/>
            <a:gdLst/>
            <a:ahLst/>
            <a:cxnLst/>
            <a:rect l="l" t="t" r="r" b="b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52" name="TextBox 52"/>
          <p:cNvSpPr>
            <a:spLocks noGrp="1"/>
          </p:cNvSpPr>
          <p:nvPr/>
        </p:nvSpPr>
        <p:spPr>
          <a:xfrm>
            <a:off x="8489823" y="2719864"/>
            <a:ext cx="15577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原文位置、校验结果与采用原因</a:t>
            </a:r>
            <a:endParaRPr sz="128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3" name="Freeform 53"/>
          <p:cNvSpPr>
            <a:spLocks noGrp="1"/>
          </p:cNvSpPr>
          <p:nvPr/>
        </p:nvSpPr>
        <p:spPr>
          <a:xfrm>
            <a:off x="8143875" y="3276600"/>
            <a:ext cx="57150" cy="76200"/>
          </a:xfrm>
          <a:custGeom>
            <a:avLst/>
            <a:gdLst/>
            <a:ahLst/>
            <a:cxnLst/>
            <a:rect l="l" t="t" r="r" b="b"/>
            <a:pathLst>
              <a:path w="57150" h="7620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47625" y="0"/>
                </a:lnTo>
                <a:cubicBezTo>
                  <a:pt x="52886" y="0"/>
                  <a:pt x="57150" y="4264"/>
                  <a:pt x="57150" y="9525"/>
                </a:cubicBezTo>
                <a:lnTo>
                  <a:pt x="57150" y="66675"/>
                </a:lnTo>
                <a:cubicBezTo>
                  <a:pt x="57150" y="71936"/>
                  <a:pt x="52886" y="76200"/>
                  <a:pt x="47625" y="76200"/>
                </a:cubicBezTo>
                <a:lnTo>
                  <a:pt x="9525" y="76200"/>
                </a:lnTo>
                <a:cubicBezTo>
                  <a:pt x="4264" y="76200"/>
                  <a:pt x="0" y="71936"/>
                  <a:pt x="0" y="66675"/>
                </a:cubicBezTo>
                <a:lnTo>
                  <a:pt x="0" y="952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54" name="Freeform 54"/>
          <p:cNvSpPr>
            <a:spLocks noGrp="1"/>
          </p:cNvSpPr>
          <p:nvPr/>
        </p:nvSpPr>
        <p:spPr>
          <a:xfrm>
            <a:off x="8258175" y="3238500"/>
            <a:ext cx="57150" cy="114300"/>
          </a:xfrm>
          <a:custGeom>
            <a:avLst/>
            <a:gdLst/>
            <a:ahLst/>
            <a:cxnLst/>
            <a:rect l="l" t="t" r="r" b="b"/>
            <a:pathLst>
              <a:path w="57150" h="11430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47625" y="0"/>
                </a:lnTo>
                <a:cubicBezTo>
                  <a:pt x="52886" y="0"/>
                  <a:pt x="57150" y="4264"/>
                  <a:pt x="57150" y="9525"/>
                </a:cubicBezTo>
                <a:lnTo>
                  <a:pt x="57150" y="104775"/>
                </a:lnTo>
                <a:cubicBezTo>
                  <a:pt x="57150" y="110036"/>
                  <a:pt x="52886" y="114300"/>
                  <a:pt x="47625" y="114300"/>
                </a:cubicBezTo>
                <a:lnTo>
                  <a:pt x="9525" y="114300"/>
                </a:lnTo>
                <a:cubicBezTo>
                  <a:pt x="4264" y="114300"/>
                  <a:pt x="0" y="110036"/>
                  <a:pt x="0" y="104775"/>
                </a:cubicBezTo>
                <a:lnTo>
                  <a:pt x="0" y="952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55" name="Freeform 55"/>
          <p:cNvSpPr>
            <a:spLocks noGrp="1"/>
          </p:cNvSpPr>
          <p:nvPr/>
        </p:nvSpPr>
        <p:spPr>
          <a:xfrm>
            <a:off x="8201025" y="3200400"/>
            <a:ext cx="57150" cy="152400"/>
          </a:xfrm>
          <a:custGeom>
            <a:avLst/>
            <a:gdLst/>
            <a:ahLst/>
            <a:cxnLst/>
            <a:rect l="l" t="t" r="r" b="b"/>
            <a:pathLst>
              <a:path w="57150" h="15240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47625" y="0"/>
                </a:lnTo>
                <a:cubicBezTo>
                  <a:pt x="52886" y="0"/>
                  <a:pt x="57150" y="4264"/>
                  <a:pt x="57150" y="9525"/>
                </a:cubicBezTo>
                <a:lnTo>
                  <a:pt x="57150" y="142875"/>
                </a:lnTo>
                <a:cubicBezTo>
                  <a:pt x="57150" y="148136"/>
                  <a:pt x="52886" y="152400"/>
                  <a:pt x="47625" y="152400"/>
                </a:cubicBezTo>
                <a:lnTo>
                  <a:pt x="9525" y="152400"/>
                </a:lnTo>
                <a:cubicBezTo>
                  <a:pt x="4264" y="152400"/>
                  <a:pt x="0" y="148136"/>
                  <a:pt x="0" y="142875"/>
                </a:cubicBezTo>
                <a:lnTo>
                  <a:pt x="0" y="952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56" name="Freeform 56"/>
          <p:cNvSpPr>
            <a:spLocks noGrp="1"/>
          </p:cNvSpPr>
          <p:nvPr/>
        </p:nvSpPr>
        <p:spPr>
          <a:xfrm>
            <a:off x="8153400" y="3352800"/>
            <a:ext cx="133350" cy="9525"/>
          </a:xfrm>
          <a:custGeom>
            <a:avLst/>
            <a:gdLst/>
            <a:ahLst/>
            <a:cxnLst/>
            <a:rect l="l" t="t" r="r" b="b"/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58" name="TextBox 58"/>
          <p:cNvSpPr>
            <a:spLocks noGrp="1"/>
          </p:cNvSpPr>
          <p:nvPr/>
        </p:nvSpPr>
        <p:spPr>
          <a:xfrm>
            <a:off x="8489823" y="3196114"/>
            <a:ext cx="19010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依赖关系、执行批次与统一成果</a:t>
            </a:r>
            <a:endParaRPr sz="128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9" name="Freeform 59"/>
          <p:cNvSpPr>
            <a:spLocks noGrp="1"/>
          </p:cNvSpPr>
          <p:nvPr/>
        </p:nvSpPr>
        <p:spPr>
          <a:xfrm>
            <a:off x="8162925" y="3743325"/>
            <a:ext cx="133350" cy="95250"/>
          </a:xfrm>
          <a:custGeom>
            <a:avLst/>
            <a:gdLst/>
            <a:ahLst/>
            <a:cxnLst/>
            <a:rect l="l" t="t" r="r" b="b"/>
            <a:pathLst>
              <a:path w="133350" h="95250">
                <a:moveTo>
                  <a:pt x="0" y="19050"/>
                </a:moveTo>
                <a:cubicBezTo>
                  <a:pt x="0" y="8529"/>
                  <a:pt x="8529" y="0"/>
                  <a:pt x="19050" y="0"/>
                </a:cubicBezTo>
                <a:lnTo>
                  <a:pt x="114300" y="0"/>
                </a:lnTo>
                <a:cubicBezTo>
                  <a:pt x="124821" y="0"/>
                  <a:pt x="133350" y="8529"/>
                  <a:pt x="133350" y="19050"/>
                </a:cubicBezTo>
                <a:lnTo>
                  <a:pt x="133350" y="76200"/>
                </a:lnTo>
                <a:cubicBezTo>
                  <a:pt x="133350" y="86721"/>
                  <a:pt x="124821" y="95250"/>
                  <a:pt x="114300" y="95250"/>
                </a:cubicBezTo>
                <a:lnTo>
                  <a:pt x="19050" y="95250"/>
                </a:lnTo>
                <a:cubicBezTo>
                  <a:pt x="8529" y="95250"/>
                  <a:pt x="0" y="86721"/>
                  <a:pt x="0" y="76200"/>
                </a:cubicBezTo>
                <a:lnTo>
                  <a:pt x="0" y="1905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0" name="Freeform 60"/>
          <p:cNvSpPr>
            <a:spLocks noGrp="1"/>
          </p:cNvSpPr>
          <p:nvPr/>
        </p:nvSpPr>
        <p:spPr>
          <a:xfrm>
            <a:off x="8220075" y="3781425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0" y="9525"/>
                </a:moveTo>
                <a:cubicBezTo>
                  <a:pt x="0" y="14786"/>
                  <a:pt x="4264" y="19050"/>
                  <a:pt x="9525" y="19050"/>
                </a:cubicBezTo>
                <a:cubicBezTo>
                  <a:pt x="14786" y="19050"/>
                  <a:pt x="19050" y="14786"/>
                  <a:pt x="19050" y="9525"/>
                </a:cubicBezTo>
                <a:cubicBezTo>
                  <a:pt x="19050" y="4264"/>
                  <a:pt x="14786" y="0"/>
                  <a:pt x="9525" y="0"/>
                </a:cubicBezTo>
                <a:cubicBezTo>
                  <a:pt x="4264" y="0"/>
                  <a:pt x="0" y="4264"/>
                  <a:pt x="0" y="9525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1" name="Freeform 61"/>
          <p:cNvSpPr>
            <a:spLocks noGrp="1"/>
          </p:cNvSpPr>
          <p:nvPr/>
        </p:nvSpPr>
        <p:spPr>
          <a:xfrm>
            <a:off x="8191500" y="36671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76200"/>
                </a:move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lnTo>
                  <a:pt x="76200" y="762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3" name="TextBox 63"/>
          <p:cNvSpPr>
            <a:spLocks noGrp="1"/>
          </p:cNvSpPr>
          <p:nvPr/>
        </p:nvSpPr>
        <p:spPr>
          <a:xfrm>
            <a:off x="8489823" y="3672364"/>
            <a:ext cx="17293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可读范围、权限与数据去向</a:t>
            </a:r>
            <a:endParaRPr sz="128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Freeform 64"/>
          <p:cNvSpPr>
            <a:spLocks noGrp="1"/>
          </p:cNvSpPr>
          <p:nvPr/>
        </p:nvSpPr>
        <p:spPr>
          <a:xfrm>
            <a:off x="8162925" y="426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0" y="19050"/>
                </a:moveTo>
                <a:cubicBezTo>
                  <a:pt x="0" y="29571"/>
                  <a:pt x="8529" y="38100"/>
                  <a:pt x="19050" y="38100"/>
                </a:cubicBezTo>
                <a:cubicBezTo>
                  <a:pt x="29571" y="38100"/>
                  <a:pt x="38100" y="29571"/>
                  <a:pt x="38100" y="19050"/>
                </a:cubicBezTo>
                <a:cubicBezTo>
                  <a:pt x="38100" y="8529"/>
                  <a:pt x="29571" y="0"/>
                  <a:pt x="19050" y="0"/>
                </a:cubicBezTo>
                <a:cubicBezTo>
                  <a:pt x="8529" y="0"/>
                  <a:pt x="0" y="8529"/>
                  <a:pt x="0" y="1905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5" name="Freeform 65"/>
          <p:cNvSpPr>
            <a:spLocks noGrp="1"/>
          </p:cNvSpPr>
          <p:nvPr/>
        </p:nvSpPr>
        <p:spPr>
          <a:xfrm>
            <a:off x="8162925" y="4152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0" y="19050"/>
                </a:moveTo>
                <a:cubicBezTo>
                  <a:pt x="0" y="29571"/>
                  <a:pt x="8529" y="38100"/>
                  <a:pt x="19050" y="38100"/>
                </a:cubicBezTo>
                <a:cubicBezTo>
                  <a:pt x="29571" y="38100"/>
                  <a:pt x="38100" y="29571"/>
                  <a:pt x="38100" y="19050"/>
                </a:cubicBezTo>
                <a:cubicBezTo>
                  <a:pt x="38100" y="8529"/>
                  <a:pt x="29571" y="0"/>
                  <a:pt x="19050" y="0"/>
                </a:cubicBezTo>
                <a:cubicBezTo>
                  <a:pt x="8529" y="0"/>
                  <a:pt x="0" y="8529"/>
                  <a:pt x="0" y="1905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6" name="Freeform 66"/>
          <p:cNvSpPr>
            <a:spLocks noGrp="1"/>
          </p:cNvSpPr>
          <p:nvPr/>
        </p:nvSpPr>
        <p:spPr>
          <a:xfrm>
            <a:off x="8258175" y="4152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0" y="19050"/>
                </a:moveTo>
                <a:cubicBezTo>
                  <a:pt x="0" y="29571"/>
                  <a:pt x="8529" y="38100"/>
                  <a:pt x="19050" y="38100"/>
                </a:cubicBezTo>
                <a:cubicBezTo>
                  <a:pt x="29571" y="38100"/>
                  <a:pt x="38100" y="29571"/>
                  <a:pt x="38100" y="19050"/>
                </a:cubicBezTo>
                <a:cubicBezTo>
                  <a:pt x="38100" y="8529"/>
                  <a:pt x="29571" y="0"/>
                  <a:pt x="19050" y="0"/>
                </a:cubicBezTo>
                <a:cubicBezTo>
                  <a:pt x="8529" y="0"/>
                  <a:pt x="0" y="8529"/>
                  <a:pt x="0" y="1905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7" name="Freeform 67"/>
          <p:cNvSpPr>
            <a:spLocks noGrp="1"/>
          </p:cNvSpPr>
          <p:nvPr/>
        </p:nvSpPr>
        <p:spPr>
          <a:xfrm>
            <a:off x="8181975" y="41910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8" name="Freeform 68"/>
          <p:cNvSpPr>
            <a:spLocks noGrp="1"/>
          </p:cNvSpPr>
          <p:nvPr/>
        </p:nvSpPr>
        <p:spPr>
          <a:xfrm>
            <a:off x="8201025" y="4219575"/>
            <a:ext cx="76200" cy="66675"/>
          </a:xfrm>
          <a:custGeom>
            <a:avLst/>
            <a:gdLst/>
            <a:ahLst/>
            <a:cxnLst/>
            <a:rect l="l" t="t" r="r" b="b"/>
            <a:pathLst>
              <a:path w="76200" h="66675">
                <a:moveTo>
                  <a:pt x="0" y="66675"/>
                </a:moveTo>
                <a:lnTo>
                  <a:pt x="57150" y="66675"/>
                </a:lnTo>
                <a:cubicBezTo>
                  <a:pt x="67671" y="66675"/>
                  <a:pt x="76200" y="58146"/>
                  <a:pt x="76200" y="47625"/>
                </a:cubicBezTo>
                <a:lnTo>
                  <a:pt x="7620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9" name="Freeform 69"/>
          <p:cNvSpPr>
            <a:spLocks noGrp="1"/>
          </p:cNvSpPr>
          <p:nvPr/>
        </p:nvSpPr>
        <p:spPr>
          <a:xfrm>
            <a:off x="8248650" y="4219575"/>
            <a:ext cx="57150" cy="28575"/>
          </a:xfrm>
          <a:custGeom>
            <a:avLst/>
            <a:gdLst/>
            <a:ahLst/>
            <a:cxnLst/>
            <a:rect l="l" t="t" r="r" b="b"/>
            <a:pathLst>
              <a:path w="57150" h="28575">
                <a:moveTo>
                  <a:pt x="0" y="28575"/>
                </a:moveTo>
                <a:lnTo>
                  <a:pt x="28575" y="0"/>
                </a:lnTo>
                <a:lnTo>
                  <a:pt x="57150" y="2857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71" name="TextBox 71"/>
          <p:cNvSpPr>
            <a:spLocks noGrp="1"/>
          </p:cNvSpPr>
          <p:nvPr/>
        </p:nvSpPr>
        <p:spPr>
          <a:xfrm>
            <a:off x="8489823" y="4148614"/>
            <a:ext cx="1554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影响预览、风险级别与执行回执</a:t>
            </a:r>
            <a:endParaRPr sz="128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2" name="Freeform 72"/>
          <p:cNvSpPr>
            <a:spLocks noGrp="1"/>
          </p:cNvSpPr>
          <p:nvPr/>
        </p:nvSpPr>
        <p:spPr>
          <a:xfrm>
            <a:off x="8172450" y="4638675"/>
            <a:ext cx="38100" cy="133350"/>
          </a:xfrm>
          <a:custGeom>
            <a:avLst/>
            <a:gdLst/>
            <a:ahLst/>
            <a:cxnLst/>
            <a:rect l="l" t="t" r="r" b="b"/>
            <a:pathLst>
              <a:path w="38100" h="13335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28575" y="0"/>
                </a:lnTo>
                <a:cubicBezTo>
                  <a:pt x="33836" y="0"/>
                  <a:pt x="38100" y="4264"/>
                  <a:pt x="38100" y="9525"/>
                </a:cubicBezTo>
                <a:lnTo>
                  <a:pt x="38100" y="123825"/>
                </a:lnTo>
                <a:cubicBezTo>
                  <a:pt x="38100" y="129086"/>
                  <a:pt x="33836" y="133350"/>
                  <a:pt x="28575" y="133350"/>
                </a:cubicBezTo>
                <a:lnTo>
                  <a:pt x="9525" y="133350"/>
                </a:lnTo>
                <a:cubicBezTo>
                  <a:pt x="4264" y="133350"/>
                  <a:pt x="0" y="129086"/>
                  <a:pt x="0" y="123825"/>
                </a:cubicBezTo>
                <a:lnTo>
                  <a:pt x="0" y="952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73" name="Freeform 73"/>
          <p:cNvSpPr>
            <a:spLocks noGrp="1"/>
          </p:cNvSpPr>
          <p:nvPr/>
        </p:nvSpPr>
        <p:spPr>
          <a:xfrm>
            <a:off x="8248650" y="4638675"/>
            <a:ext cx="38100" cy="133350"/>
          </a:xfrm>
          <a:custGeom>
            <a:avLst/>
            <a:gdLst/>
            <a:ahLst/>
            <a:cxnLst/>
            <a:rect l="l" t="t" r="r" b="b"/>
            <a:pathLst>
              <a:path w="38100" h="13335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28575" y="0"/>
                </a:lnTo>
                <a:cubicBezTo>
                  <a:pt x="33836" y="0"/>
                  <a:pt x="38100" y="4264"/>
                  <a:pt x="38100" y="9525"/>
                </a:cubicBezTo>
                <a:lnTo>
                  <a:pt x="38100" y="123825"/>
                </a:lnTo>
                <a:cubicBezTo>
                  <a:pt x="38100" y="129086"/>
                  <a:pt x="33836" y="133350"/>
                  <a:pt x="28575" y="133350"/>
                </a:cubicBezTo>
                <a:lnTo>
                  <a:pt x="9525" y="133350"/>
                </a:lnTo>
                <a:cubicBezTo>
                  <a:pt x="4264" y="133350"/>
                  <a:pt x="0" y="129086"/>
                  <a:pt x="0" y="123825"/>
                </a:cubicBezTo>
                <a:lnTo>
                  <a:pt x="0" y="952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75" name="TextBox 75"/>
          <p:cNvSpPr>
            <a:spLocks noGrp="1"/>
          </p:cNvSpPr>
          <p:nvPr/>
        </p:nvSpPr>
        <p:spPr>
          <a:xfrm>
            <a:off x="8489823" y="4624864"/>
            <a:ext cx="17293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连接能力可发现，控制仍由客户端负责</a:t>
            </a:r>
            <a:endParaRPr sz="128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6" name="Rectangle 76"/>
          <p:cNvSpPr>
            <a:spLocks noGrp="1"/>
          </p:cNvSpPr>
          <p:nvPr/>
        </p:nvSpPr>
        <p:spPr>
          <a:xfrm>
            <a:off x="8115300" y="5048250"/>
            <a:ext cx="3276600" cy="323850"/>
          </a:xfrm>
          <a:prstGeom prst="roundRect">
            <a:avLst>
              <a:gd name="adj" fmla="val 17647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77" name="TextBox 77"/>
          <p:cNvSpPr>
            <a:spLocks noGrp="1"/>
          </p:cNvSpPr>
          <p:nvPr/>
        </p:nvSpPr>
        <p:spPr>
          <a:xfrm>
            <a:off x="8575677" y="5129689"/>
            <a:ext cx="23558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标准负责连接，产品负责解释与控制</a:t>
            </a:r>
            <a:endParaRPr sz="128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79" name="Freeform 79"/>
          <p:cNvSpPr>
            <a:spLocks noGrp="1"/>
          </p:cNvSpPr>
          <p:nvPr/>
        </p:nvSpPr>
        <p:spPr>
          <a:xfrm>
            <a:off x="600075" y="5926931"/>
            <a:ext cx="9525" cy="34925"/>
          </a:xfrm>
          <a:custGeom>
            <a:avLst/>
            <a:gdLst/>
            <a:ahLst/>
            <a:cxnLst/>
            <a:rect l="l" t="t" r="r" b="b"/>
            <a:pathLst>
              <a:path w="9525" h="34925">
                <a:moveTo>
                  <a:pt x="0" y="0"/>
                </a:moveTo>
                <a:lnTo>
                  <a:pt x="0" y="34925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80" name="Freeform 80"/>
          <p:cNvSpPr>
            <a:spLocks noGrp="1"/>
          </p:cNvSpPr>
          <p:nvPr/>
        </p:nvSpPr>
        <p:spPr>
          <a:xfrm>
            <a:off x="512019" y="5871643"/>
            <a:ext cx="176105" cy="151297"/>
          </a:xfrm>
          <a:custGeom>
            <a:avLst/>
            <a:gdLst/>
            <a:ahLst/>
            <a:cxnLst/>
            <a:rect l="l" t="t" r="r" b="b"/>
            <a:pathLst>
              <a:path w="176105" h="151297">
                <a:moveTo>
                  <a:pt x="73763" y="8061"/>
                </a:moveTo>
                <a:lnTo>
                  <a:pt x="2987" y="126230"/>
                </a:lnTo>
                <a:cubicBezTo>
                  <a:pt x="18" y="131371"/>
                  <a:pt x="0" y="137702"/>
                  <a:pt x="2939" y="142860"/>
                </a:cubicBezTo>
                <a:cubicBezTo>
                  <a:pt x="5879" y="148019"/>
                  <a:pt x="11335" y="151230"/>
                  <a:pt x="17271" y="151297"/>
                </a:cubicBezTo>
                <a:lnTo>
                  <a:pt x="158840" y="151297"/>
                </a:lnTo>
                <a:cubicBezTo>
                  <a:pt x="164774" y="151229"/>
                  <a:pt x="170227" y="148018"/>
                  <a:pt x="173166" y="142863"/>
                </a:cubicBezTo>
                <a:cubicBezTo>
                  <a:pt x="176105" y="137707"/>
                  <a:pt x="176089" y="131379"/>
                  <a:pt x="173124" y="126238"/>
                </a:cubicBezTo>
                <a:lnTo>
                  <a:pt x="102349" y="8052"/>
                </a:lnTo>
                <a:cubicBezTo>
                  <a:pt x="99320" y="3053"/>
                  <a:pt x="93900" y="0"/>
                  <a:pt x="88056" y="0"/>
                </a:cubicBezTo>
                <a:cubicBezTo>
                  <a:pt x="82211" y="0"/>
                  <a:pt x="76791" y="3053"/>
                  <a:pt x="73763" y="8052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81" name="Freeform 81"/>
          <p:cNvSpPr>
            <a:spLocks noGrp="1"/>
          </p:cNvSpPr>
          <p:nvPr/>
        </p:nvSpPr>
        <p:spPr>
          <a:xfrm>
            <a:off x="600075" y="5988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83" name="TextBox 83"/>
          <p:cNvSpPr>
            <a:spLocks noGrp="1"/>
          </p:cNvSpPr>
          <p:nvPr/>
        </p:nvSpPr>
        <p:spPr>
          <a:xfrm>
            <a:off x="812673" y="5872639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研究边界：</a:t>
            </a:r>
            <a:endParaRPr sz="128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84" name="TextBox 84"/>
          <p:cNvSpPr>
            <a:spLocks noGrp="1"/>
          </p:cNvSpPr>
          <p:nvPr/>
        </p:nvSpPr>
        <p:spPr>
          <a:xfrm>
            <a:off x="1746123" y="5872639"/>
            <a:ext cx="561225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官方规范支持设计方向；目标用户理解、效率与信任仍待实测。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6" name="TextBox 86"/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依据：LangGraph Persistence · OpenAI HITL · MCP Elicitation · A2A · Microsoft HAI</a:t>
            </a:r>
            <a:endParaRPr sz="1165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7" name="TextBox 87"/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22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/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/>
          <p:cNvSpPr>
            <a:spLocks noGrp="1"/>
          </p:cNvSpPr>
          <p:nvPr/>
        </p:nvSpPr>
        <p:spPr>
          <a:xfrm>
            <a:off x="477774" y="370522"/>
            <a:ext cx="6862305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前台交互只需要先回答五个问题</a:t>
            </a:r>
            <a:endParaRPr sz="34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9" name="Rectangle 9"/>
          <p:cNvSpPr>
            <a:spLocks noGrp="1"/>
          </p:cNvSpPr>
          <p:nvPr/>
        </p:nvSpPr>
        <p:spPr>
          <a:xfrm>
            <a:off x="495300" y="1409700"/>
            <a:ext cx="6286500" cy="4267200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10" name="TextBox 10"/>
          <p:cNvSpPr>
            <a:spLocks noGrp="1"/>
          </p:cNvSpPr>
          <p:nvPr/>
        </p:nvSpPr>
        <p:spPr>
          <a:xfrm>
            <a:off x="751332" y="1583055"/>
            <a:ext cx="26928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业务用户的阅读顺序</a:t>
            </a:r>
            <a:endParaRPr sz="21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1" name="Ellipse 11"/>
          <p:cNvSpPr>
            <a:spLocks noGrp="1"/>
          </p:cNvSpPr>
          <p:nvPr/>
        </p:nvSpPr>
        <p:spPr>
          <a:xfrm>
            <a:off x="685800" y="2057400"/>
            <a:ext cx="381000" cy="3810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2" name="TextBox 12"/>
          <p:cNvSpPr>
            <a:spLocks noGrp="1"/>
          </p:cNvSpPr>
          <p:nvPr/>
        </p:nvSpPr>
        <p:spPr>
          <a:xfrm>
            <a:off x="820262" y="217693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TextBox 13"/>
          <p:cNvSpPr>
            <a:spLocks noGrp="1"/>
          </p:cNvSpPr>
          <p:nvPr/>
        </p:nvSpPr>
        <p:spPr>
          <a:xfrm>
            <a:off x="1229106" y="21297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现在完成了什么？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4" name="TextBox 14"/>
          <p:cNvSpPr>
            <a:spLocks noGrp="1"/>
          </p:cNvSpPr>
          <p:nvPr/>
        </p:nvSpPr>
        <p:spPr>
          <a:xfrm>
            <a:off x="3708273" y="2186464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成果文件与确定性检查置顶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Ellipse 15"/>
          <p:cNvSpPr>
            <a:spLocks noGrp="1"/>
          </p:cNvSpPr>
          <p:nvPr/>
        </p:nvSpPr>
        <p:spPr>
          <a:xfrm>
            <a:off x="685800" y="2724150"/>
            <a:ext cx="381000" cy="3810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6" name="TextBox 16"/>
          <p:cNvSpPr>
            <a:spLocks noGrp="1"/>
          </p:cNvSpPr>
          <p:nvPr/>
        </p:nvSpPr>
        <p:spPr>
          <a:xfrm>
            <a:off x="820262" y="28436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TextBox 17"/>
          <p:cNvSpPr>
            <a:spLocks noGrp="1"/>
          </p:cNvSpPr>
          <p:nvPr/>
        </p:nvSpPr>
        <p:spPr>
          <a:xfrm>
            <a:off x="1229106" y="27965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依据是什么？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8" name="TextBox 18"/>
          <p:cNvSpPr>
            <a:spLocks noGrp="1"/>
          </p:cNvSpPr>
          <p:nvPr/>
        </p:nvSpPr>
        <p:spPr>
          <a:xfrm>
            <a:off x="3708273" y="285321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文件、原文位置与摘录可回开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" name="Ellipse 19"/>
          <p:cNvSpPr>
            <a:spLocks noGrp="1"/>
          </p:cNvSpPr>
          <p:nvPr/>
        </p:nvSpPr>
        <p:spPr>
          <a:xfrm>
            <a:off x="685800" y="3390900"/>
            <a:ext cx="381000" cy="381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0" name="TextBox 20"/>
          <p:cNvSpPr>
            <a:spLocks noGrp="1"/>
          </p:cNvSpPr>
          <p:nvPr/>
        </p:nvSpPr>
        <p:spPr>
          <a:xfrm>
            <a:off x="820262" y="351043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TextBox 21"/>
          <p:cNvSpPr>
            <a:spLocks noGrp="1"/>
          </p:cNvSpPr>
          <p:nvPr/>
        </p:nvSpPr>
        <p:spPr>
          <a:xfrm>
            <a:off x="1229106" y="34632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为什么停？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2" name="TextBox 22"/>
          <p:cNvSpPr>
            <a:spLocks noGrp="1"/>
          </p:cNvSpPr>
          <p:nvPr/>
        </p:nvSpPr>
        <p:spPr>
          <a:xfrm>
            <a:off x="3708273" y="35199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说明问题、影响范围和可选动作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3" name="Ellipse 23"/>
          <p:cNvSpPr>
            <a:spLocks noGrp="1"/>
          </p:cNvSpPr>
          <p:nvPr/>
        </p:nvSpPr>
        <p:spPr>
          <a:xfrm>
            <a:off x="685800" y="4057650"/>
            <a:ext cx="381000" cy="381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4" name="TextBox 24"/>
          <p:cNvSpPr>
            <a:spLocks noGrp="1"/>
          </p:cNvSpPr>
          <p:nvPr/>
        </p:nvSpPr>
        <p:spPr>
          <a:xfrm>
            <a:off x="820262" y="41771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1229106" y="413004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我确认后会改变什么？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6" name="TextBox 26"/>
          <p:cNvSpPr>
            <a:spLocks noGrp="1"/>
          </p:cNvSpPr>
          <p:nvPr/>
        </p:nvSpPr>
        <p:spPr>
          <a:xfrm>
            <a:off x="4203573" y="4186714"/>
            <a:ext cx="15029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只恢复哪条分支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7" name="Ellipse 27"/>
          <p:cNvSpPr>
            <a:spLocks noGrp="1"/>
          </p:cNvSpPr>
          <p:nvPr/>
        </p:nvSpPr>
        <p:spPr>
          <a:xfrm>
            <a:off x="685800" y="472440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8" name="TextBox 28"/>
          <p:cNvSpPr>
            <a:spLocks noGrp="1"/>
          </p:cNvSpPr>
          <p:nvPr/>
        </p:nvSpPr>
        <p:spPr>
          <a:xfrm>
            <a:off x="820262" y="484393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5</a:t>
            </a:r>
            <a:endParaRPr sz="1280" b="1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" name="TextBox 29"/>
          <p:cNvSpPr>
            <a:spLocks noGrp="1"/>
          </p:cNvSpPr>
          <p:nvPr/>
        </p:nvSpPr>
        <p:spPr>
          <a:xfrm>
            <a:off x="1229106" y="47967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什么绝不会发生？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0" name="TextBox 30"/>
          <p:cNvSpPr>
            <a:spLocks noGrp="1"/>
          </p:cNvSpPr>
          <p:nvPr/>
        </p:nvSpPr>
        <p:spPr>
          <a:xfrm>
            <a:off x="3708273" y="4853464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未执行边界与外部动作回执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3" name="Rectangle 33"/>
          <p:cNvSpPr>
            <a:spLocks noGrp="1"/>
          </p:cNvSpPr>
          <p:nvPr/>
        </p:nvSpPr>
        <p:spPr>
          <a:xfrm>
            <a:off x="7048500" y="1409700"/>
            <a:ext cx="4648200" cy="4267200"/>
          </a:xfrm>
          <a:prstGeom prst="roundRect">
            <a:avLst>
              <a:gd name="adj" fmla="val 1339"/>
            </a:avLst>
          </a:prstGeom>
          <a:solidFill>
            <a:srgbClr val="132A3A"/>
          </a:solidFill>
          <a:ln>
            <a:noFill/>
          </a:ln>
        </p:spPr>
      </p:sp>
      <p:sp>
        <p:nvSpPr>
          <p:cNvPr id="34" name="TextBox 34"/>
          <p:cNvSpPr>
            <a:spLocks noGrp="1"/>
          </p:cNvSpPr>
          <p:nvPr/>
        </p:nvSpPr>
        <p:spPr>
          <a:xfrm>
            <a:off x="7304532" y="1583055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三层信息架构</a:t>
            </a:r>
            <a:endParaRPr sz="210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5" name="Rectangle 35"/>
          <p:cNvSpPr>
            <a:spLocks noGrp="1"/>
          </p:cNvSpPr>
          <p:nvPr/>
        </p:nvSpPr>
        <p:spPr>
          <a:xfrm>
            <a:off x="7315200" y="2095500"/>
            <a:ext cx="41148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6" name="TextBox 36"/>
          <p:cNvSpPr>
            <a:spLocks noGrp="1"/>
          </p:cNvSpPr>
          <p:nvPr/>
        </p:nvSpPr>
        <p:spPr>
          <a:xfrm>
            <a:off x="7534656" y="218694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首屏：当前结论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7" name="TextBox 37"/>
          <p:cNvSpPr>
            <a:spLocks noGrp="1"/>
          </p:cNvSpPr>
          <p:nvPr/>
        </p:nvSpPr>
        <p:spPr>
          <a:xfrm>
            <a:off x="7537323" y="252936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成果、复核状态、未执行边界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8" name="Rectangle 38"/>
          <p:cNvSpPr>
            <a:spLocks noGrp="1"/>
          </p:cNvSpPr>
          <p:nvPr/>
        </p:nvSpPr>
        <p:spPr>
          <a:xfrm>
            <a:off x="7315200" y="3048000"/>
            <a:ext cx="4114800" cy="781050"/>
          </a:xfrm>
          <a:prstGeom prst="roundRect">
            <a:avLst>
              <a:gd name="adj" fmla="val 7317"/>
            </a:avLst>
          </a:prstGeom>
          <a:solidFill>
            <a:srgbClr val="EDF1F4"/>
          </a:solidFill>
          <a:ln>
            <a:noFill/>
          </a:ln>
        </p:spPr>
      </p:sp>
      <p:sp>
        <p:nvSpPr>
          <p:cNvPr id="39" name="TextBox 39"/>
          <p:cNvSpPr>
            <a:spLocks noGrp="1"/>
          </p:cNvSpPr>
          <p:nvPr/>
        </p:nvSpPr>
        <p:spPr>
          <a:xfrm>
            <a:off x="7534656" y="31394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展开：为什么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0" name="TextBox 40"/>
          <p:cNvSpPr>
            <a:spLocks noGrp="1"/>
          </p:cNvSpPr>
          <p:nvPr/>
        </p:nvSpPr>
        <p:spPr>
          <a:xfrm>
            <a:off x="7537323" y="3481864"/>
            <a:ext cx="2587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来源、校验、说明采用、局部决定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1" name="Rectangle 41"/>
          <p:cNvSpPr>
            <a:spLocks noGrp="1"/>
          </p:cNvSpPr>
          <p:nvPr/>
        </p:nvSpPr>
        <p:spPr>
          <a:xfrm>
            <a:off x="7315200" y="4000500"/>
            <a:ext cx="4114800" cy="781050"/>
          </a:xfrm>
          <a:prstGeom prst="roundRect">
            <a:avLst>
              <a:gd name="adj" fmla="val 731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</p:sp>
      <p:sp>
        <p:nvSpPr>
          <p:cNvPr id="42" name="TextBox 42"/>
          <p:cNvSpPr>
            <a:spLocks noGrp="1"/>
          </p:cNvSpPr>
          <p:nvPr/>
        </p:nvSpPr>
        <p:spPr>
          <a:xfrm>
            <a:off x="7534656" y="409194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审计：系统事实</a:t>
            </a:r>
            <a:endParaRPr sz="180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3" name="TextBox 43"/>
          <p:cNvSpPr>
            <a:spLocks noGrp="1"/>
          </p:cNvSpPr>
          <p:nvPr/>
        </p:nvSpPr>
        <p:spPr>
          <a:xfrm>
            <a:off x="7537323" y="4434364"/>
            <a:ext cx="345617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状态快照、版本、有序事件与决定记录</a:t>
            </a:r>
            <a:endParaRPr sz="128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7" name="TextBox 47"/>
          <p:cNvSpPr>
            <a:spLocks noGrp="1"/>
          </p:cNvSpPr>
          <p:nvPr/>
        </p:nvSpPr>
        <p:spPr>
          <a:xfrm>
            <a:off x="486156" y="5844540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仍需用户研究验证：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8" name="TextBox 48"/>
          <p:cNvSpPr>
            <a:spLocks noGrp="1"/>
          </p:cNvSpPr>
          <p:nvPr/>
        </p:nvSpPr>
        <p:spPr>
          <a:xfrm>
            <a:off x="2717673" y="5901214"/>
            <a:ext cx="64238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验证用户能否说清结果、来源、影响与下一步，并度量理解成本。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0" name="TextBox 50"/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依据：</a:t>
            </a:r>
            <a:r>
              <a:rPr sz="1165" u="sng">
                <a:solidFill>
                  <a:srgbClr val="1769D2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1"/>
              </a:rPr>
              <a:t>microsoft.com/research/.../human-ai-interaction</a:t>
            </a: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 ·  </a:t>
            </a:r>
            <a:r>
              <a:rPr sz="1165" u="sng">
                <a:solidFill>
                  <a:srgbClr val="1769D2"/>
                </a:solidFill>
                <a:latin typeface="Segoe UI" panose="020B0502040204020203"/>
                <a:ea typeface="Segoe UI" panose="020B0502040204020203"/>
                <a:cs typeface="Segoe UI" panose="020B0502040204020203"/>
                <a:hlinkClick r:id="rId2"/>
              </a:rPr>
              <a:t>research.google/.../user-experience-metrics</a:t>
            </a:r>
            <a:endParaRPr sz="1165" u="sng">
              <a:solidFill>
                <a:srgbClr val="1769D2"/>
              </a:solidFill>
              <a:latin typeface="Segoe UI" panose="020B0502040204020203"/>
              <a:ea typeface="Segoe UI" panose="020B0502040204020203"/>
              <a:cs typeface="Segoe UI" panose="020B0502040204020203"/>
              <a:hlinkClick r:id="rId2"/>
            </a:endParaRPr>
          </a:p>
        </p:txBody>
      </p:sp>
      <p:sp>
        <p:nvSpPr>
          <p:cNvPr id="51" name="TextBox 51"/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Rectangle 3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5" name="TextBox 5"/>
          <p:cNvSpPr>
            <a:spLocks noGrp="1"/>
          </p:cNvSpPr>
          <p:nvPr/>
        </p:nvSpPr>
        <p:spPr>
          <a:xfrm>
            <a:off x="477774" y="408622"/>
            <a:ext cx="8983630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下一阶段：把实现与研究变成可证伪证据</a:t>
            </a:r>
            <a:endParaRPr sz="345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6" name="TextBox 6"/>
          <p:cNvSpPr>
            <a:spLocks noGrp="1"/>
          </p:cNvSpPr>
          <p:nvPr/>
        </p:nvSpPr>
        <p:spPr>
          <a:xfrm>
            <a:off x="486156" y="1005840"/>
            <a:ext cx="583387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工程实测、竞品同测、文献标准与用户研究必须互相校验。</a:t>
            </a:r>
            <a:endParaRPr sz="180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" name="Freeform 8"/>
          <p:cNvSpPr>
            <a:spLocks noGrp="1"/>
          </p:cNvSpPr>
          <p:nvPr/>
        </p:nvSpPr>
        <p:spPr>
          <a:xfrm>
            <a:off x="495300" y="1962150"/>
            <a:ext cx="2114550" cy="2286000"/>
          </a:xfrm>
          <a:custGeom>
            <a:avLst/>
            <a:gdLst/>
            <a:ahLst/>
            <a:cxnLst/>
            <a:rect l="l" t="t" r="r" b="b"/>
            <a:pathLst>
              <a:path w="2114550" h="2286000">
                <a:moveTo>
                  <a:pt x="0" y="0"/>
                </a:moveTo>
                <a:lnTo>
                  <a:pt x="1828800" y="0"/>
                </a:lnTo>
                <a:lnTo>
                  <a:pt x="2114550" y="1143000"/>
                </a:lnTo>
                <a:lnTo>
                  <a:pt x="1828800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EDF1F4"/>
          </a:solidFill>
          <a:ln w="19050">
            <a:solidFill>
              <a:srgbClr val="1769E0"/>
            </a:solidFill>
          </a:ln>
        </p:spPr>
      </p:sp>
      <p:sp>
        <p:nvSpPr>
          <p:cNvPr id="9" name="TextBox 9"/>
          <p:cNvSpPr>
            <a:spLocks noGrp="1"/>
          </p:cNvSpPr>
          <p:nvPr/>
        </p:nvSpPr>
        <p:spPr>
          <a:xfrm>
            <a:off x="736473" y="22626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</a:t>
            </a:r>
            <a:endParaRPr sz="1280" b="1">
              <a:solidFill>
                <a:srgbClr val="1769E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TextBox 10"/>
          <p:cNvSpPr>
            <a:spLocks noGrp="1"/>
          </p:cNvSpPr>
          <p:nvPr/>
        </p:nvSpPr>
        <p:spPr>
          <a:xfrm>
            <a:off x="733806" y="2586990"/>
            <a:ext cx="159569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工程实测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1" name="TextBox 11"/>
          <p:cNvSpPr>
            <a:spLocks noGrp="1"/>
          </p:cNvSpPr>
          <p:nvPr/>
        </p:nvSpPr>
        <p:spPr>
          <a:xfrm>
            <a:off x="736473" y="3005614"/>
            <a:ext cx="54795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固定资料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TextBox 12"/>
          <p:cNvSpPr>
            <a:spLocks noGrp="1"/>
          </p:cNvSpPr>
          <p:nvPr/>
        </p:nvSpPr>
        <p:spPr>
          <a:xfrm>
            <a:off x="736473" y="3272314"/>
            <a:ext cx="5278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系统状态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" name="TextBox 13"/>
          <p:cNvSpPr>
            <a:spLocks noGrp="1"/>
          </p:cNvSpPr>
          <p:nvPr/>
        </p:nvSpPr>
        <p:spPr>
          <a:xfrm>
            <a:off x="736473" y="3539014"/>
            <a:ext cx="139466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成果文件与回执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" name="Freeform 14"/>
          <p:cNvSpPr>
            <a:spLocks noGrp="1"/>
          </p:cNvSpPr>
          <p:nvPr/>
        </p:nvSpPr>
        <p:spPr>
          <a:xfrm>
            <a:off x="2609850" y="1962150"/>
            <a:ext cx="2019300" cy="2286000"/>
          </a:xfrm>
          <a:custGeom>
            <a:avLst/>
            <a:gdLst/>
            <a:ahLst/>
            <a:cxnLst/>
            <a:rect l="l" t="t" r="r" b="b"/>
            <a:pathLst>
              <a:path w="2019300" h="2286000">
                <a:moveTo>
                  <a:pt x="0" y="0"/>
                </a:moveTo>
                <a:lnTo>
                  <a:pt x="1733550" y="0"/>
                </a:lnTo>
                <a:lnTo>
                  <a:pt x="2019300" y="1143000"/>
                </a:lnTo>
                <a:lnTo>
                  <a:pt x="17335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769E0"/>
            </a:solidFill>
          </a:ln>
        </p:spPr>
      </p:sp>
      <p:sp>
        <p:nvSpPr>
          <p:cNvPr id="15" name="TextBox 15"/>
          <p:cNvSpPr>
            <a:spLocks noGrp="1"/>
          </p:cNvSpPr>
          <p:nvPr/>
        </p:nvSpPr>
        <p:spPr>
          <a:xfrm>
            <a:off x="2984373" y="22626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02</a:t>
            </a:r>
            <a:endParaRPr sz="1280" b="1">
              <a:solidFill>
                <a:srgbClr val="1769E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TextBox 16"/>
          <p:cNvSpPr>
            <a:spLocks noGrp="1"/>
          </p:cNvSpPr>
          <p:nvPr/>
        </p:nvSpPr>
        <p:spPr>
          <a:xfrm>
            <a:off x="2981706" y="25869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竞品同测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17" name="TextBox 17"/>
          <p:cNvSpPr>
            <a:spLocks noGrp="1"/>
          </p:cNvSpPr>
          <p:nvPr/>
        </p:nvSpPr>
        <p:spPr>
          <a:xfrm>
            <a:off x="2984373" y="3005614"/>
            <a:ext cx="7303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同一任务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" name="TextBox 18"/>
          <p:cNvSpPr>
            <a:spLocks noGrp="1"/>
          </p:cNvSpPr>
          <p:nvPr/>
        </p:nvSpPr>
        <p:spPr>
          <a:xfrm>
            <a:off x="2984373" y="3272314"/>
            <a:ext cx="120758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同一模型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" name="TextBox 19"/>
          <p:cNvSpPr>
            <a:spLocks noGrp="1"/>
          </p:cNvSpPr>
          <p:nvPr/>
        </p:nvSpPr>
        <p:spPr>
          <a:xfrm>
            <a:off x="2984373" y="3539014"/>
            <a:ext cx="14976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同来源与预算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0" name="Freeform 20"/>
          <p:cNvSpPr>
            <a:spLocks noGrp="1"/>
          </p:cNvSpPr>
          <p:nvPr/>
        </p:nvSpPr>
        <p:spPr>
          <a:xfrm>
            <a:off x="4629150" y="1962150"/>
            <a:ext cx="2019300" cy="2286000"/>
          </a:xfrm>
          <a:custGeom>
            <a:avLst/>
            <a:gdLst/>
            <a:ahLst/>
            <a:cxnLst/>
            <a:rect l="l" t="t" r="r" b="b"/>
            <a:pathLst>
              <a:path w="2019300" h="2286000">
                <a:moveTo>
                  <a:pt x="0" y="0"/>
                </a:moveTo>
                <a:lnTo>
                  <a:pt x="1733550" y="0"/>
                </a:lnTo>
                <a:lnTo>
                  <a:pt x="2019300" y="1143000"/>
                </a:lnTo>
                <a:lnTo>
                  <a:pt x="17335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>
            <a:srgbClr val="EDF1F4"/>
          </a:solidFill>
          <a:ln w="19050">
            <a:solidFill>
              <a:srgbClr val="1769E0"/>
            </a:solidFill>
          </a:ln>
        </p:spPr>
      </p:sp>
      <p:sp>
        <p:nvSpPr>
          <p:cNvPr id="21" name="TextBox 21"/>
          <p:cNvSpPr>
            <a:spLocks noGrp="1"/>
          </p:cNvSpPr>
          <p:nvPr/>
        </p:nvSpPr>
        <p:spPr>
          <a:xfrm>
            <a:off x="5003673" y="22626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03</a:t>
            </a:r>
            <a:endParaRPr sz="1280" b="1">
              <a:solidFill>
                <a:srgbClr val="1769E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TextBox 22"/>
          <p:cNvSpPr>
            <a:spLocks noGrp="1"/>
          </p:cNvSpPr>
          <p:nvPr/>
        </p:nvSpPr>
        <p:spPr>
          <a:xfrm>
            <a:off x="5001006" y="2586990"/>
            <a:ext cx="160692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文献与标准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3" name="TextBox 23"/>
          <p:cNvSpPr>
            <a:spLocks noGrp="1"/>
          </p:cNvSpPr>
          <p:nvPr/>
        </p:nvSpPr>
        <p:spPr>
          <a:xfrm>
            <a:off x="5003673" y="3005614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ReAct 与 HAI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4" name="TextBox 24"/>
          <p:cNvSpPr>
            <a:spLocks noGrp="1"/>
          </p:cNvSpPr>
          <p:nvPr/>
        </p:nvSpPr>
        <p:spPr>
          <a:xfrm>
            <a:off x="5003673" y="3272314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MCP 与 A2A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5003673" y="3539014"/>
            <a:ext cx="121443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持久执行与人工门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6" name="Freeform 26"/>
          <p:cNvSpPr>
            <a:spLocks noGrp="1"/>
          </p:cNvSpPr>
          <p:nvPr/>
        </p:nvSpPr>
        <p:spPr>
          <a:xfrm>
            <a:off x="6648450" y="1962150"/>
            <a:ext cx="2019300" cy="2286000"/>
          </a:xfrm>
          <a:custGeom>
            <a:avLst/>
            <a:gdLst/>
            <a:ahLst/>
            <a:cxnLst/>
            <a:rect l="l" t="t" r="r" b="b"/>
            <a:pathLst>
              <a:path w="2019300" h="2286000">
                <a:moveTo>
                  <a:pt x="0" y="0"/>
                </a:moveTo>
                <a:lnTo>
                  <a:pt x="1733550" y="0"/>
                </a:lnTo>
                <a:lnTo>
                  <a:pt x="2019300" y="1143000"/>
                </a:lnTo>
                <a:lnTo>
                  <a:pt x="17335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D97706"/>
            </a:solidFill>
          </a:ln>
        </p:spPr>
      </p:sp>
      <p:sp>
        <p:nvSpPr>
          <p:cNvPr id="27" name="TextBox 27"/>
          <p:cNvSpPr>
            <a:spLocks noGrp="1"/>
          </p:cNvSpPr>
          <p:nvPr/>
        </p:nvSpPr>
        <p:spPr>
          <a:xfrm>
            <a:off x="7022973" y="22626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04</a:t>
            </a:r>
            <a:endParaRPr sz="1280" b="1">
              <a:solidFill>
                <a:srgbClr val="B5470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8" name="TextBox 28"/>
          <p:cNvSpPr>
            <a:spLocks noGrp="1"/>
          </p:cNvSpPr>
          <p:nvPr/>
        </p:nvSpPr>
        <p:spPr>
          <a:xfrm>
            <a:off x="7020306" y="25869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目标用户研究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29" name="TextBox 29"/>
          <p:cNvSpPr>
            <a:spLocks noGrp="1"/>
          </p:cNvSpPr>
          <p:nvPr/>
        </p:nvSpPr>
        <p:spPr>
          <a:xfrm>
            <a:off x="6833235" y="3021806"/>
            <a:ext cx="1690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12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结果理解、纠偏负担</a:t>
            </a:r>
            <a:endParaRPr sz="112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0" name="TextBox 30"/>
          <p:cNvSpPr>
            <a:spLocks noGrp="1"/>
          </p:cNvSpPr>
          <p:nvPr/>
        </p:nvSpPr>
        <p:spPr>
          <a:xfrm>
            <a:off x="6833997" y="3304699"/>
            <a:ext cx="165862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9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接管效率、任务成功</a:t>
            </a:r>
            <a:endParaRPr sz="9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1" name="TextBox 31"/>
          <p:cNvSpPr>
            <a:spLocks noGrp="1"/>
          </p:cNvSpPr>
          <p:nvPr/>
        </p:nvSpPr>
        <p:spPr>
          <a:xfrm>
            <a:off x="6832473" y="3539014"/>
            <a:ext cx="6995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真实使用场景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2" name="Freeform 32"/>
          <p:cNvSpPr>
            <a:spLocks noGrp="1"/>
          </p:cNvSpPr>
          <p:nvPr/>
        </p:nvSpPr>
        <p:spPr>
          <a:xfrm>
            <a:off x="8667750" y="1962150"/>
            <a:ext cx="1981200" cy="2286000"/>
          </a:xfrm>
          <a:custGeom>
            <a:avLst/>
            <a:gdLst/>
            <a:ahLst/>
            <a:cxnLst/>
            <a:rect l="l" t="t" r="r" b="b"/>
            <a:pathLst>
              <a:path w="1981200" h="2286000">
                <a:moveTo>
                  <a:pt x="0" y="0"/>
                </a:moveTo>
                <a:lnTo>
                  <a:pt x="1695450" y="0"/>
                </a:lnTo>
                <a:lnTo>
                  <a:pt x="1981200" y="1143000"/>
                </a:lnTo>
                <a:lnTo>
                  <a:pt x="16954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>
            <a:srgbClr val="EDF1F4"/>
          </a:solidFill>
          <a:ln w="19050">
            <a:solidFill>
              <a:srgbClr val="D97706"/>
            </a:solidFill>
          </a:ln>
        </p:spPr>
      </p:sp>
      <p:sp>
        <p:nvSpPr>
          <p:cNvPr id="33" name="TextBox 33"/>
          <p:cNvSpPr>
            <a:spLocks noGrp="1"/>
          </p:cNvSpPr>
          <p:nvPr/>
        </p:nvSpPr>
        <p:spPr>
          <a:xfrm>
            <a:off x="9042273" y="22626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05</a:t>
            </a:r>
            <a:endParaRPr sz="1280" b="1">
              <a:solidFill>
                <a:srgbClr val="B5470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4" name="TextBox 34"/>
          <p:cNvSpPr>
            <a:spLocks noGrp="1"/>
          </p:cNvSpPr>
          <p:nvPr/>
        </p:nvSpPr>
        <p:spPr>
          <a:xfrm>
            <a:off x="9039606" y="25869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边界复核</a:t>
            </a:r>
            <a:endParaRPr sz="18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35" name="TextBox 35"/>
          <p:cNvSpPr>
            <a:spLocks noGrp="1"/>
          </p:cNvSpPr>
          <p:nvPr/>
        </p:nvSpPr>
        <p:spPr>
          <a:xfrm>
            <a:off x="9042273" y="3005614"/>
            <a:ext cx="157488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反例与失败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6" name="TextBox 36"/>
          <p:cNvSpPr>
            <a:spLocks noGrp="1"/>
          </p:cNvSpPr>
          <p:nvPr/>
        </p:nvSpPr>
        <p:spPr>
          <a:xfrm>
            <a:off x="9042273" y="3272314"/>
            <a:ext cx="6995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未实现能力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7" name="TextBox 37"/>
          <p:cNvSpPr>
            <a:spLocks noGrp="1"/>
          </p:cNvSpPr>
          <p:nvPr/>
        </p:nvSpPr>
        <p:spPr>
          <a:xfrm>
            <a:off x="9042273" y="3539014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禁止夸大</a:t>
            </a:r>
            <a:endParaRPr sz="1280">
              <a:solidFill>
                <a:srgbClr val="5A6B7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8" name="Freeform 38"/>
          <p:cNvSpPr>
            <a:spLocks noGrp="1"/>
          </p:cNvSpPr>
          <p:nvPr/>
        </p:nvSpPr>
        <p:spPr>
          <a:xfrm>
            <a:off x="10648950" y="1962150"/>
            <a:ext cx="1047750" cy="2286000"/>
          </a:xfrm>
          <a:custGeom>
            <a:avLst/>
            <a:gdLst/>
            <a:ahLst/>
            <a:cxnLst/>
            <a:rect l="l" t="t" r="r" b="b"/>
            <a:pathLst>
              <a:path w="1047750" h="2286000">
                <a:moveTo>
                  <a:pt x="0" y="0"/>
                </a:moveTo>
                <a:lnTo>
                  <a:pt x="1047750" y="0"/>
                </a:lnTo>
                <a:lnTo>
                  <a:pt x="10477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>
            <a:srgbClr val="132A3A"/>
          </a:solidFill>
          <a:ln>
            <a:noFill/>
          </a:ln>
        </p:spPr>
      </p:sp>
      <p:sp>
        <p:nvSpPr>
          <p:cNvPr id="39" name="TextBox 39"/>
          <p:cNvSpPr>
            <a:spLocks noGrp="1"/>
          </p:cNvSpPr>
          <p:nvPr/>
        </p:nvSpPr>
        <p:spPr>
          <a:xfrm>
            <a:off x="10791558" y="249174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可对外</a:t>
            </a:r>
            <a:endParaRPr sz="180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0" name="TextBox 40"/>
          <p:cNvSpPr>
            <a:spLocks noGrp="1"/>
          </p:cNvSpPr>
          <p:nvPr/>
        </p:nvSpPr>
        <p:spPr>
          <a:xfrm>
            <a:off x="10918774" y="28155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结论</a:t>
            </a:r>
            <a:endParaRPr sz="1800" b="1">
              <a:solidFill>
                <a:srgbClr val="FFFFFF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1" name="TextBox 41"/>
          <p:cNvSpPr>
            <a:spLocks noGrp="1"/>
          </p:cNvSpPr>
          <p:nvPr/>
        </p:nvSpPr>
        <p:spPr>
          <a:xfrm>
            <a:off x="10894314" y="33728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四类证据</a:t>
            </a:r>
            <a:endParaRPr sz="105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2" name="TextBox 42"/>
          <p:cNvSpPr>
            <a:spLocks noGrp="1"/>
          </p:cNvSpPr>
          <p:nvPr/>
        </p:nvSpPr>
        <p:spPr>
          <a:xfrm>
            <a:off x="10752963" y="36014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>
                <a:solidFill>
                  <a:srgbClr val="CBD5D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验证后成立</a:t>
            </a:r>
            <a:endParaRPr sz="1050">
              <a:solidFill>
                <a:srgbClr val="CBD5D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4" name="TextBox 44"/>
          <p:cNvSpPr>
            <a:spLocks noGrp="1"/>
          </p:cNvSpPr>
          <p:nvPr/>
        </p:nvSpPr>
        <p:spPr>
          <a:xfrm>
            <a:off x="483108" y="4712970"/>
            <a:ext cx="605649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32A3A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下一步不是再加概念，而是让四类证据互相校验：</a:t>
            </a:r>
            <a:endParaRPr sz="2400" b="1">
              <a:solidFill>
                <a:srgbClr val="132A3A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45" name="TextBox 45"/>
          <p:cNvSpPr>
            <a:spLocks noGrp="1"/>
          </p:cNvSpPr>
          <p:nvPr/>
        </p:nvSpPr>
        <p:spPr>
          <a:xfrm>
            <a:off x="483108" y="5132070"/>
            <a:ext cx="782695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769E0"/>
                </a:solidFill>
                <a:latin typeface="Segoe UI Semibold" panose="020B0702040204020203"/>
                <a:ea typeface="Segoe UI Semibold" panose="020B0702040204020203"/>
                <a:cs typeface="Segoe UI Semibold" panose="020B0702040204020203"/>
              </a:rPr>
              <a:t>系统实测、竞品同测、文献与标准、目标用户研究。</a:t>
            </a:r>
            <a:endParaRPr sz="2400" b="1">
              <a:solidFill>
                <a:srgbClr val="1769E0"/>
              </a:solidFill>
              <a:latin typeface="Segoe UI Semibold" panose="020B0702040204020203"/>
              <a:ea typeface="Segoe UI Semibold" panose="020B0702040204020203"/>
              <a:cs typeface="Segoe UI Semibold" panose="020B0702040204020203"/>
            </a:endParaRPr>
          </a:p>
        </p:txBody>
      </p:sp>
      <p:sp>
        <p:nvSpPr>
          <p:cNvPr id="50" name="TextBox 50"/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5">
                <a:solidFill>
                  <a:srgbClr val="52667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依据：官方竞品资料 · Microsoft HAI · MCP · A2A · HEART</a:t>
            </a:r>
            <a:endParaRPr sz="1165">
              <a:solidFill>
                <a:srgbClr val="52667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1" name="TextBox 51"/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24 / 24</a:t>
            </a:r>
            <a:endParaRPr sz="1050">
              <a:solidFill>
                <a:srgbClr val="7C8A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7012</Words>
  <Application>WPS 演示</Application>
  <PresentationFormat>Converted Presentation</PresentationFormat>
  <Paragraphs>1020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宋体</vt:lpstr>
      <vt:lpstr>Wingdings</vt:lpstr>
      <vt:lpstr>Arial</vt:lpstr>
      <vt:lpstr>Segoe UI Semibold</vt:lpstr>
      <vt:lpstr>Segoe UI</vt:lpstr>
      <vt:lpstr>Consolas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王浩</cp:lastModifiedBy>
  <cp:revision>1</cp:revision>
  <dcterms:created xsi:type="dcterms:W3CDTF">2026-09-02T08:13:00Z</dcterms:created>
  <dcterms:modified xsi:type="dcterms:W3CDTF">2026-09-02T08:13:00Z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ACBFDCA2756D449BBB390A6DC09310C3_12</vt:lpwstr>
  </property>
</Properties>
</file>
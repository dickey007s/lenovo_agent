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f3da4ec044538" /><Relationship Type="http://schemas.openxmlformats.org/officeDocument/2006/relationships/extended-properties" Target="/docProps/app.xml" Id="R69f9b69bc53d41c2" /><Relationship Type="http://schemas.openxmlformats.org/officeDocument/2006/relationships/officeDocument" Target="/ppt/presentation.xml" Id="R22c2a1f7f792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9ef6bf378d461e"/>
  </p:sldMasterIdLst>
  <p:notesMasterIdLst>
    <p:notesMasterId xmlns:r="http://schemas.openxmlformats.org/officeDocument/2006/relationships" r:id="Redd7fb8aa61b4dfc"/>
  </p:notesMasterIdLst>
  <p:sldIdLst>
    <p:sldId xmlns:r="http://schemas.openxmlformats.org/officeDocument/2006/relationships" id="256" r:id="R16a3d2da6c2e41e6"/>
    <p:sldId xmlns:r="http://schemas.openxmlformats.org/officeDocument/2006/relationships" id="257" r:id="R7520c8657e4d4e5e"/>
    <p:sldId xmlns:r="http://schemas.openxmlformats.org/officeDocument/2006/relationships" id="258" r:id="Rd40844d8d0fa48c1"/>
    <p:sldId xmlns:r="http://schemas.openxmlformats.org/officeDocument/2006/relationships" id="259" r:id="R6c0584274e1d4821"/>
    <p:sldId xmlns:r="http://schemas.openxmlformats.org/officeDocument/2006/relationships" id="260" r:id="R0bea9c22810d4b8a"/>
    <p:sldId xmlns:r="http://schemas.openxmlformats.org/officeDocument/2006/relationships" id="261" r:id="R2d69d1dab9d14724"/>
    <p:sldId xmlns:r="http://schemas.openxmlformats.org/officeDocument/2006/relationships" id="262" r:id="Rf139f37c4d15432a"/>
    <p:sldId xmlns:r="http://schemas.openxmlformats.org/officeDocument/2006/relationships" id="263" r:id="R8d270b9217ea4324"/>
    <p:sldId xmlns:r="http://schemas.openxmlformats.org/officeDocument/2006/relationships" id="264" r:id="R3ef53c9aa7a04c14"/>
    <p:sldId xmlns:r="http://schemas.openxmlformats.org/officeDocument/2006/relationships" id="265" r:id="R0ad450f6ef0e42e1"/>
    <p:sldId xmlns:r="http://schemas.openxmlformats.org/officeDocument/2006/relationships" id="266" r:id="Rd952cc242b884c91"/>
    <p:sldId xmlns:r="http://schemas.openxmlformats.org/officeDocument/2006/relationships" id="267" r:id="R7238a3f7ecd34457"/>
    <p:sldId xmlns:r="http://schemas.openxmlformats.org/officeDocument/2006/relationships" id="268" r:id="R4e16e14d52ac4904"/>
    <p:sldId xmlns:r="http://schemas.openxmlformats.org/officeDocument/2006/relationships" id="269" r:id="R9deb8438b4eb498a"/>
    <p:sldId xmlns:r="http://schemas.openxmlformats.org/officeDocument/2006/relationships" id="270" r:id="R3547d0fd8d274bb2"/>
    <p:sldId xmlns:r="http://schemas.openxmlformats.org/officeDocument/2006/relationships" id="271" r:id="Ra62390eecf5b4dd7"/>
    <p:sldId xmlns:r="http://schemas.openxmlformats.org/officeDocument/2006/relationships" id="272" r:id="R78a0fc7fe2dd4706"/>
    <p:sldId xmlns:r="http://schemas.openxmlformats.org/officeDocument/2006/relationships" id="273" r:id="R2374750acba94728"/>
    <p:sldId xmlns:r="http://schemas.openxmlformats.org/officeDocument/2006/relationships" id="274" r:id="Rb71094b3bc604f90"/>
    <p:sldId xmlns:r="http://schemas.openxmlformats.org/officeDocument/2006/relationships" id="275" r:id="R624c5bc376c043cf"/>
    <p:sldId xmlns:r="http://schemas.openxmlformats.org/officeDocument/2006/relationships" id="276" r:id="Rf16dcadf8c80434e"/>
    <p:sldId xmlns:r="http://schemas.openxmlformats.org/officeDocument/2006/relationships" id="277" r:id="R51f1d843a6c94672"/>
    <p:sldId xmlns:r="http://schemas.openxmlformats.org/officeDocument/2006/relationships" id="278" r:id="R902a7798164048de"/>
    <p:sldId xmlns:r="http://schemas.openxmlformats.org/officeDocument/2006/relationships" id="279" r:id="R23787c0a98d94895"/>
    <p:sldId xmlns:r="http://schemas.openxmlformats.org/officeDocument/2006/relationships" id="280" r:id="R6c01a666c7784271"/>
    <p:sldId xmlns:r="http://schemas.openxmlformats.org/officeDocument/2006/relationships" id="281" r:id="R27753f9e95c04c63"/>
    <p:sldId xmlns:r="http://schemas.openxmlformats.org/officeDocument/2006/relationships" id="282" r:id="Rfcc140849fc1497c"/>
    <p:sldId xmlns:r="http://schemas.openxmlformats.org/officeDocument/2006/relationships" id="283" r:id="R7d0b3aa3c39848bd"/>
    <p:sldId xmlns:r="http://schemas.openxmlformats.org/officeDocument/2006/relationships" id="284" r:id="Rff70d848e42044aa"/>
    <p:sldId xmlns:r="http://schemas.openxmlformats.org/officeDocument/2006/relationships" id="285" r:id="R9848620d6ef34e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8470822ed2434b" /><Relationship Type="http://schemas.openxmlformats.org/officeDocument/2006/relationships/slideMaster" Target="/ppt/slideMasters/slideMaster1.xml" Id="Rb09ef6bf378d461e" /><Relationship Type="http://schemas.openxmlformats.org/officeDocument/2006/relationships/notesMaster" Target="/ppt/notesMasters/notesMaster1.xml" Id="Redd7fb8aa61b4dfc" /><Relationship Type="http://schemas.openxmlformats.org/officeDocument/2006/relationships/presProps" Target="/ppt/presProps.xml" Id="R296734c9033a4522" /><Relationship Type="http://schemas.openxmlformats.org/officeDocument/2006/relationships/viewProps" Target="/ppt/viewProps.xml" Id="Rbc922f704a56461a" /><Relationship Type="http://schemas.openxmlformats.org/officeDocument/2006/relationships/tableStyles" Target="/ppt/tableStyles.xml" Id="Re86eddf918cf4869" /><Relationship Type="http://schemas.openxmlformats.org/officeDocument/2006/relationships/slide" Target="/ppt/slides/slide1.xml" Id="R16a3d2da6c2e41e6" /><Relationship Type="http://schemas.openxmlformats.org/officeDocument/2006/relationships/slide" Target="/ppt/slides/slide2.xml" Id="R7520c8657e4d4e5e" /><Relationship Type="http://schemas.openxmlformats.org/officeDocument/2006/relationships/slide" Target="/ppt/slides/slide3.xml" Id="Rd40844d8d0fa48c1" /><Relationship Type="http://schemas.openxmlformats.org/officeDocument/2006/relationships/slide" Target="/ppt/slides/slide4.xml" Id="R6c0584274e1d4821" /><Relationship Type="http://schemas.openxmlformats.org/officeDocument/2006/relationships/slide" Target="/ppt/slides/slide5.xml" Id="R0bea9c22810d4b8a" /><Relationship Type="http://schemas.openxmlformats.org/officeDocument/2006/relationships/slide" Target="/ppt/slides/slide6.xml" Id="R2d69d1dab9d14724" /><Relationship Type="http://schemas.openxmlformats.org/officeDocument/2006/relationships/slide" Target="/ppt/slides/slide7.xml" Id="Rf139f37c4d15432a" /><Relationship Type="http://schemas.openxmlformats.org/officeDocument/2006/relationships/slide" Target="/ppt/slides/slide8.xml" Id="R8d270b9217ea4324" /><Relationship Type="http://schemas.openxmlformats.org/officeDocument/2006/relationships/slide" Target="/ppt/slides/slide9.xml" Id="R3ef53c9aa7a04c14" /><Relationship Type="http://schemas.openxmlformats.org/officeDocument/2006/relationships/slide" Target="/ppt/slides/slide10.xml" Id="R0ad450f6ef0e42e1" /><Relationship Type="http://schemas.openxmlformats.org/officeDocument/2006/relationships/slide" Target="/ppt/slides/slide11.xml" Id="Rd952cc242b884c91" /><Relationship Type="http://schemas.openxmlformats.org/officeDocument/2006/relationships/slide" Target="/ppt/slides/slide12.xml" Id="R7238a3f7ecd34457" /><Relationship Type="http://schemas.openxmlformats.org/officeDocument/2006/relationships/slide" Target="/ppt/slides/slide13.xml" Id="R4e16e14d52ac4904" /><Relationship Type="http://schemas.openxmlformats.org/officeDocument/2006/relationships/slide" Target="/ppt/slides/slide14.xml" Id="R9deb8438b4eb498a" /><Relationship Type="http://schemas.openxmlformats.org/officeDocument/2006/relationships/slide" Target="/ppt/slides/slide15.xml" Id="R3547d0fd8d274bb2" /><Relationship Type="http://schemas.openxmlformats.org/officeDocument/2006/relationships/slide" Target="/ppt/slides/slide16.xml" Id="Ra62390eecf5b4dd7" /><Relationship Type="http://schemas.openxmlformats.org/officeDocument/2006/relationships/slide" Target="/ppt/slides/slide17.xml" Id="R78a0fc7fe2dd4706" /><Relationship Type="http://schemas.openxmlformats.org/officeDocument/2006/relationships/slide" Target="/ppt/slides/slide18.xml" Id="R2374750acba94728" /><Relationship Type="http://schemas.openxmlformats.org/officeDocument/2006/relationships/slide" Target="/ppt/slides/slide19.xml" Id="Rb71094b3bc604f90" /><Relationship Type="http://schemas.openxmlformats.org/officeDocument/2006/relationships/slide" Target="/ppt/slides/slide20.xml" Id="R624c5bc376c043cf" /><Relationship Type="http://schemas.openxmlformats.org/officeDocument/2006/relationships/slide" Target="/ppt/slides/slide21.xml" Id="Rf16dcadf8c80434e" /><Relationship Type="http://schemas.openxmlformats.org/officeDocument/2006/relationships/slide" Target="/ppt/slides/slide22.xml" Id="R51f1d843a6c94672" /><Relationship Type="http://schemas.openxmlformats.org/officeDocument/2006/relationships/slide" Target="/ppt/slides/slide23.xml" Id="R902a7798164048de" /><Relationship Type="http://schemas.openxmlformats.org/officeDocument/2006/relationships/slide" Target="/ppt/slides/slide24.xml" Id="R23787c0a98d94895" /><Relationship Type="http://schemas.openxmlformats.org/officeDocument/2006/relationships/slide" Target="/ppt/slides/slide25.xml" Id="R6c01a666c7784271" /><Relationship Type="http://schemas.openxmlformats.org/officeDocument/2006/relationships/slide" Target="/ppt/slides/slide26.xml" Id="R27753f9e95c04c63" /><Relationship Type="http://schemas.openxmlformats.org/officeDocument/2006/relationships/slide" Target="/ppt/slides/slide27.xml" Id="Rfcc140849fc1497c" /><Relationship Type="http://schemas.openxmlformats.org/officeDocument/2006/relationships/slide" Target="/ppt/slides/slide28.xml" Id="R7d0b3aa3c39848bd" /><Relationship Type="http://schemas.openxmlformats.org/officeDocument/2006/relationships/slide" Target="/ppt/slides/slide29.xml" Id="Rff70d848e42044aa" /><Relationship Type="http://schemas.openxmlformats.org/officeDocument/2006/relationships/slide" Target="/ppt/slides/slide30.xml" Id="R9848620d6ef3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8b2c8bbf648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7f2299b2074a1a" /><Relationship Type="http://schemas.openxmlformats.org/officeDocument/2006/relationships/notesMaster" Target="/ppt/notesMasters/notesMaster1.xml" Id="Rbaf91278fb4643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564f3ba9f47eb" /><Relationship Type="http://schemas.openxmlformats.org/officeDocument/2006/relationships/notesMaster" Target="/ppt/notesMasters/notesMaster1.xml" Id="Rcbf40e5201f34b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d868134bb42c9" /><Relationship Type="http://schemas.openxmlformats.org/officeDocument/2006/relationships/notesMaster" Target="/ppt/notesMasters/notesMaster1.xml" Id="R2ffdc4d02da34b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327b645b0e4ca3" /><Relationship Type="http://schemas.openxmlformats.org/officeDocument/2006/relationships/notesMaster" Target="/ppt/notesMasters/notesMaster1.xml" Id="Rb6aecaab75db4d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217ff8b5864d92" /><Relationship Type="http://schemas.openxmlformats.org/officeDocument/2006/relationships/notesMaster" Target="/ppt/notesMasters/notesMaster1.xml" Id="R91d7a2681fdd4c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b724ca57d4ffb" /><Relationship Type="http://schemas.openxmlformats.org/officeDocument/2006/relationships/notesMaster" Target="/ppt/notesMasters/notesMaster1.xml" Id="R24fb265476e342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dbb52c80c44a1d" /><Relationship Type="http://schemas.openxmlformats.org/officeDocument/2006/relationships/notesMaster" Target="/ppt/notesMasters/notesMaster1.xml" Id="R921ff9dcd2cd4e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91f0a4f2c84d49" /><Relationship Type="http://schemas.openxmlformats.org/officeDocument/2006/relationships/notesMaster" Target="/ppt/notesMasters/notesMaster1.xml" Id="R435f20cf203549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8f35361d834953" /><Relationship Type="http://schemas.openxmlformats.org/officeDocument/2006/relationships/notesMaster" Target="/ppt/notesMasters/notesMaster1.xml" Id="R64393430c65d45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bcd30af4854d26" /><Relationship Type="http://schemas.openxmlformats.org/officeDocument/2006/relationships/notesMaster" Target="/ppt/notesMasters/notesMaster1.xml" Id="R2f6b21e62f9e48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99bf40584e4259" /><Relationship Type="http://schemas.openxmlformats.org/officeDocument/2006/relationships/notesMaster" Target="/ppt/notesMasters/notesMaster1.xml" Id="Rec241ef1c97b4c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4fdbfec40444f5" /><Relationship Type="http://schemas.openxmlformats.org/officeDocument/2006/relationships/notesMaster" Target="/ppt/notesMasters/notesMaster1.xml" Id="R6f7e3984b95349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a1e156589d45aa" /><Relationship Type="http://schemas.openxmlformats.org/officeDocument/2006/relationships/notesMaster" Target="/ppt/notesMasters/notesMaster1.xml" Id="Re81882db69f541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c18dbf4f8947c9" /><Relationship Type="http://schemas.openxmlformats.org/officeDocument/2006/relationships/notesMaster" Target="/ppt/notesMasters/notesMaster1.xml" Id="Rb8a6e57b6f934d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6f2df451994064" /><Relationship Type="http://schemas.openxmlformats.org/officeDocument/2006/relationships/notesMaster" Target="/ppt/notesMasters/notesMaster1.xml" Id="R28baaa949b7e4e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ba652fcf914332" /><Relationship Type="http://schemas.openxmlformats.org/officeDocument/2006/relationships/notesMaster" Target="/ppt/notesMasters/notesMaster1.xml" Id="R3735c0e0867d4a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5860e499c04f60" /><Relationship Type="http://schemas.openxmlformats.org/officeDocument/2006/relationships/notesMaster" Target="/ppt/notesMasters/notesMaster1.xml" Id="R879e1adb379447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d98c2bb05949cb" /><Relationship Type="http://schemas.openxmlformats.org/officeDocument/2006/relationships/notesMaster" Target="/ppt/notesMasters/notesMaster1.xml" Id="R49ae84c0616447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8c6e76cd394e5e" /><Relationship Type="http://schemas.openxmlformats.org/officeDocument/2006/relationships/notesMaster" Target="/ppt/notesMasters/notesMaster1.xml" Id="R4b1a7c8c3b634e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6ee748cb2f4b62" /><Relationship Type="http://schemas.openxmlformats.org/officeDocument/2006/relationships/notesMaster" Target="/ppt/notesMasters/notesMaster1.xml" Id="R4a9b7609f9b447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c2950adb5546e8" /><Relationship Type="http://schemas.openxmlformats.org/officeDocument/2006/relationships/notesMaster" Target="/ppt/notesMasters/notesMaster1.xml" Id="R4ec2cd35680b41b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594e41b102487c" /><Relationship Type="http://schemas.openxmlformats.org/officeDocument/2006/relationships/notesMaster" Target="/ppt/notesMasters/notesMaster1.xml" Id="R0ee77a5bceb74f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bf9bdfb7734c60" /><Relationship Type="http://schemas.openxmlformats.org/officeDocument/2006/relationships/notesMaster" Target="/ppt/notesMasters/notesMaster1.xml" Id="R0a241d23b9994e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40d1a21c9d34a17" /><Relationship Type="http://schemas.openxmlformats.org/officeDocument/2006/relationships/notesMaster" Target="/ppt/notesMasters/notesMaster1.xml" Id="Rd9c0872ed9e840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2252e3841064bca" /><Relationship Type="http://schemas.openxmlformats.org/officeDocument/2006/relationships/notesMaster" Target="/ppt/notesMasters/notesMaster1.xml" Id="R69cf53b826ca44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b1fcaab10b5480a" /><Relationship Type="http://schemas.openxmlformats.org/officeDocument/2006/relationships/notesMaster" Target="/ppt/notesMasters/notesMaster1.xml" Id="Rcf3b65ac9daa40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0f7ea6fe094a6f" /><Relationship Type="http://schemas.openxmlformats.org/officeDocument/2006/relationships/notesMaster" Target="/ppt/notesMasters/notesMaster1.xml" Id="Rff040518b35449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1b2a8f01c2458d" /><Relationship Type="http://schemas.openxmlformats.org/officeDocument/2006/relationships/notesMaster" Target="/ppt/notesMasters/notesMaster1.xml" Id="Rc7fd2b2f4c7948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d70f6c44d3498a" /><Relationship Type="http://schemas.openxmlformats.org/officeDocument/2006/relationships/notesMaster" Target="/ppt/notesMasters/notesMaster1.xml" Id="Re302b63ebeb245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ea28ad6904d498e" /><Relationship Type="http://schemas.openxmlformats.org/officeDocument/2006/relationships/notesMaster" Target="/ppt/notesMasters/notesMaster1.xml" Id="R1070c733cf4340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这次汇报大部分内容沿用 07-16 的主线：未来办公 Agent 不是把聊天做得更长，而是让工作在持续、协作、治理和交付四个方向上收敛。右侧换成当前 Agent 能力页的真实运行截图；它把任务进展、协作方式和证据核对按需展开。15 个目录、96 份输入文件仍是这条能力链的固定办公资料环境。今天新增的重点只有两个：第一，主流方案现在发展到哪里；第二，技术差异怎样具体改变用户动作和前台反馈。当前截图来自公开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转场：先看 07-16 的三个 Demo 分工在当前版本里发生了什么变化。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证据/边界：当前系统实测；不把截图当作正式用户研究。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预期问题：这次相对 07-16 到底新增了什么，而不是换了一套说法？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07-16 把三个 Demo 分成时间连续性、复杂任务组织和动作风险。这个分工保留不变。当前版本真正补上的，是把每个演示的进展落到资料范围、分支证据门、工作包依赖、贡献采用、成果文件和未执行边界。Demo 2 不再只有目标框图：服务端可以编译受控工作包依赖图，并以单进程、顺序批次、每批最多三个只读执行单元形成有限纵切；它仍不是分布式协作运行时。对用户而言，界面不再只说 Agent 正在运行，而要说明为什么停、从哪里继续、谁依赖谁、哪一批需要确认、确认后会改变什么。这里的设计依据来自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转场：下面回到 07-16 的核心架构，解释这些状态由谁负责。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；https://arxiv.org/abs/2210.03629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预期问题：为什么一定要拆成三个 Demo，而不是做一个大而全的 Agent？</a:t>
            </a:r>
          </a:p>
          <a:p xmlns:a="http://schemas.openxmlformats.org/drawingml/2006/main">
            <a:r>
              <a:t>
[Sources]
- https://www.microsoft.com/en-us/research/publication/guidelines-for-human-ai-interaction/
- https://arxiv.org/abs/2210.03629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Swarm，它面向高价值、跨来源、可并行的复杂工作。当前已经形成最小受控纵切：Topology Admission、WorkUnit DAG、每波最多三个进程内只读 Worker、Contribution Gate 与统一 Artifact；但 durable queue、远端 Worker、通用 Resolver 和多实例调度仍是目标。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转场：下一页把底座拆成八个稳定职责，并说明每两个模块共同回答一个用户问题。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预期问题：为什么不把所有任务都放进 Loop 或 Swarm？因为增强层有额外状态与协调成本，只有任务的时间跨度和组织复杂度值得时才应启用。</a:t>
            </a:r>
          </a:p>
          <a:p xmlns:a="http://schemas.openxmlformats.org/drawingml/2006/main">
            <a:r>
              <a:t>
[Sources]
- https://arxiv.org/abs/2210.03629
- https://docs.langchain.com/oss/javascript/langgraph/persistence
- https://openai.github.io/openai-agents-python/human_in_the_loop/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八个模块不是八个前台页面，而是一次任务从定范围到可恢复的四段责任链。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第三段是“推进执行”。Scheduler &amp; Worker Manager 决定哪个分支先做、依赖谁、何时等待、何时恢复；当前已经支持服务端编译的 WorkUnit DAG、显式波次和每波最多三个进程内只读 Worker。Tool Gateway 仍应统一真实工具的授权、超时、幂等和回执，但当前没有通用实现。前台要回答的是“现在做到哪一步、谁依赖谁、哪个分支受影响、动作是否真的执行”。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转场：这些职责为什么会逐步出现，下一页沿技术演进解释系统责任如何外扩。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证据/边界：当前系统实测；ReAct、LangGraph、MCP 与 A2A 只作线上架构参照。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预期问题：八个模块会不会让前台更复杂？不会要求用户操作模块名，但必须把模块产生的关键状态翻译成业务语言。</a:t>
            </a:r>
          </a:p>
          <a:p xmlns:a="http://schemas.openxmlformats.org/drawingml/2006/main">
            <a:r>
              <a:t>
[Sources]
- https://arxiv.org/abs/2210.03629
- https://docs.langchain.com/oss/javascript/langgraph/persistence
- https://modelcontextprotocol.io/specification/draft/client/elicitation
- https://a2a-protocol.org/v0.3.0/specification/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转场：接下来不按功能打勾，而按用户实际审查的对象看主流方案。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预期问题：Loop Engineering 是正式术语还是本方案的归纳？</a:t>
            </a:r>
          </a:p>
          <a:p xmlns:a="http://schemas.openxmlformats.org/drawingml/2006/main">
            <a:r>
              <a:t>
[Sources]
- https://arxiv.org/abs/2005.14165
- https://arxiv.org/abs/2210.03629
- https://www.anthropic.com/engineering/effective-context-engineering-for-ai-agents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这一页先纠正原稿最大的比较问题：Microsoft 365 Copilot、Glean、Atlassian Rovo、ChatGPT、Codex App、OpenClaw 和 ReAct 不是同一层对象。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市场至少要分成办公套件内嵌、企业知识与智能体平台、通用研究工作台、任务执行工作台、方法与协议五类。真正可比的是用户要审查什么对象，以及状态、证据、成果、人工门和动作事实如何衔接。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因此，本页不是竞品排名，也不据官方资料的缺失推断某个产品做不到某事。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https://learn.microsoft.com/en-us/microsoft-365/copilot/researcher-agent</a:t>
            </a:r>
          </a:p>
          <a:p xmlns:a="http://schemas.openxmlformats.org/drawingml/2006/main">
            <a:r>
              <a:t>- https://workspace.google.com/blog/product-announcements/introducing-google-workspace-studio-agents-for-everyday-work</a:t>
            </a:r>
          </a:p>
          <a:p xmlns:a="http://schemas.openxmlformats.org/drawingml/2006/main">
            <a:r>
              <a:t>- https://www.glean.com/platform</a:t>
            </a:r>
          </a:p>
          <a:p xmlns:a="http://schemas.openxmlformats.org/drawingml/2006/main">
            <a:r>
              <a:t>- https://docs.glean.com/user-guide/assistant/deep-research</a:t>
            </a:r>
          </a:p>
          <a:p xmlns:a="http://schemas.openxmlformats.org/drawingml/2006/main">
            <a:r>
              <a:t>- https://www.atlassian.com/software/rovo/features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- https://support.claude.com/en/articles/11088861-use-research-on-claude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https://code.claude.com/docs/en/how-claude-code-works</a:t>
            </a:r>
          </a:p>
          <a:p xmlns:a="http://schemas.openxmlformats.org/drawingml/2006/main">
            <a:r>
              <a:t>- https://docs.openclaw.ai/</a:t>
            </a:r>
          </a:p>
          <a:p xmlns:a="http://schemas.openxmlformats.org/drawingml/2006/main">
            <a:r>
              <a:t>- https://react-lm.github.io/</a:t>
            </a:r>
          </a:p>
          <a:p xmlns:a="http://schemas.openxmlformats.org/drawingml/2006/main">
            <a:r>
              <a:t>- https://modelcontextprotocol.io/specification/</a:t>
            </a:r>
          </a:p>
          <a:p xmlns:a="http://schemas.openxmlformats.org/drawingml/2006/main">
            <a:r>
              <a:t>- https://a2a-protocol.org/latest/specification/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这一页讲直接办公套件竞争。Microsoft 的强项是与 Microsoft 365 工作内容和权限体系相连，Researcher with Computer Use 还能在安全虚拟环境里操作网站和应用。Google 的强项是 Workspace 原生上下文和 Workspace Studio 的跨应用自动化。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这意味着 Office Agent 不能用“多来源”“整库”“有引用”来定义独占差异。当前更准确的说法是：Office Agent 正在验证服务端冻结范围、分支证据门、成果校验和人工控制是否能在一条办公链路里闭合。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https://support.microsoft.com/en-us/microsoft-365-copilot/get-started-using-researcher-with-computer-use-in-microsoft-365-copilot-frontier</a:t>
            </a:r>
          </a:p>
          <a:p xmlns:a="http://schemas.openxmlformats.org/drawingml/2006/main">
            <a:r>
              <a:t>- https://learn.microsoft.com/en-us/microsoft-365/copilot/researcher-agent</a:t>
            </a:r>
          </a:p>
          <a:p xmlns:a="http://schemas.openxmlformats.org/drawingml/2006/main">
            <a:r>
              <a:t>- https://support.microsoft.com/en-us/microsoft-365-copilot/get-started-with-analyst-in-microsoft-copilot</a:t>
            </a:r>
          </a:p>
          <a:p xmlns:a="http://schemas.openxmlformats.org/drawingml/2006/main">
            <a:r>
              <a:t>- https://workspace.google.com/blog/product-announcements/introducing-google-workspace-studio-agents-for-everyday-work</a:t>
            </a:r>
          </a:p>
          <a:p xmlns:a="http://schemas.openxmlformats.org/drawingml/2006/main">
            <a:r>
              <a:t>- https://workspace.google.com/blog/product-announcements/introducing-workspace-intelligence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Notion AI 是原稿遗漏的重要直接竞品。它把工作空间、连接应用和互联网放进统一入口，支持收窄范围、引用回开和研究模式；官方文档还说明，部分连接器能在连接应用中采取动作。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同一赛道还包括 Glean 与 Atlassian Rovo。Glean 以权限感知的企业搜索和知识图谱为底座，向深度研究、智能体和动作扩展；Rovo 把搜索、对话、深度研究、智能体与自动化嵌入 Jira 和 Confluence。这里用 Notion 的界面作为日常知识工作入口的可视例子，不代表只研究了 Notion。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因此，Office Agent 不能把全源检索、企业连接或引用回开本身写成独占能力。可以继续验证的，是服务端证据准入、模型采用、分支缺口、确定性办公成果与动作事实是否能形成更严格的合同。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https://www.notion.com/help/notion-ai-faqs</a:t>
            </a:r>
          </a:p>
          <a:p xmlns:a="http://schemas.openxmlformats.org/drawingml/2006/main">
            <a:r>
              <a:t>- https://www.notion.com/help/notion-ai-connectors</a:t>
            </a:r>
          </a:p>
          <a:p xmlns:a="http://schemas.openxmlformats.org/drawingml/2006/main">
            <a:r>
              <a:t>- https://www.glean.com/platform</a:t>
            </a:r>
          </a:p>
          <a:p xmlns:a="http://schemas.openxmlformats.org/drawingml/2006/main">
            <a:r>
              <a:t>- https://docs.glean.com/user-guide/assistant/deep-research</a:t>
            </a:r>
          </a:p>
          <a:p xmlns:a="http://schemas.openxmlformats.org/drawingml/2006/main">
            <a:r>
              <a:t>- https://www.atlassian.com/software/rovo/features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ChatGPT 深度研究已经覆盖来源选择、计划审阅、进度展示、运行中中断、引用报告和多格式下载。Claude Research 也会在内部上下文和 Web 上开展多步研究，并输出可检查引用。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Office Agent 的市场表达不能停留在“会研究、有来源、能暂停”。更值得验证的是：每条业务结论是否经过服务端来源准入；部分采用能否保留；证据缺口是否能单分支恢复；成果是否由独立 Verifier 证明已经生成。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- https://openai.com/index/introducing-deep-research/</a:t>
            </a:r>
          </a:p>
          <a:p xmlns:a="http://schemas.openxmlformats.org/drawingml/2006/main">
            <a:r>
              <a:t>- https://help.openai.com/en/articles/11487775-apps-in-chatgpt</a:t>
            </a:r>
          </a:p>
          <a:p xmlns:a="http://schemas.openxmlformats.org/drawingml/2006/main">
            <a:r>
              <a:t>- https://support.claude.com/en/articles/11088861-use-research-on-claude</a:t>
            </a:r>
          </a:p>
          <a:p xmlns:a="http://schemas.openxmlformats.org/drawingml/2006/main">
            <a:r>
              <a:t>- https://www.anthropic.com/news/integrations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 App 和 Claude Code 不是 Office Agent 的直接办公套件竞品，但它们定义了长任务执行工作台的用户预期：任务有独立状态，执行有隔离环境，变更有 Diff，验证有命令回执，人工可以中断、批准和恢复。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Office Agent 的候选差异不在于“也能跑长任务”，而在于把办公来源、业务 Finding、Evidence Gate、办公 Artifact、人工 Decision 和未执行边界放进同一条事实链。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https://code.claude.com/docs/en/how-claude-code-works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这一页把前面的产品叙事收敛为五个可审查对象。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办公套件强在原生上下文和平台动作；研究工作台强在来源、计划、进度和报告；代码执行工作台强在任务、隔离环境、变更和验证。Office Agent 当前尝试把冻结资料库、Task / Run / Branch、Evidence Gate、办公成果与 Verifier 回执放在同一条链路里。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这仍然只是结构上的候选差异，不能替代固定配置的同场实测。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https://learn.microsoft.com/en-us/microsoft-365/copilot/researcher-agent</a:t>
            </a:r>
          </a:p>
          <a:p xmlns:a="http://schemas.openxmlformats.org/drawingml/2006/main">
            <a:r>
              <a:t>- https://workspace.google.com/blog/product-announcements/introducing-google-workspace-studio-agents-for-everyday-work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- https://support.claude.com/en/articles/11088861-use-research-on-claude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https://code.claude.com/docs/en/how-claude-code-works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这一页给出最重要的结论。Office Agent 当前可以陈述的是“可证伪的合同集成差异候选”，不是已经胜过竞品。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已有证据：整库索引冻结，计划进入服务端 Branch / Topology，Finding 绑定批准来源与 Anchor，模型返回和采用分开，隔离 Artifact 有 Verifier 和历史版本。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未有证据：原生办公套件 Connector、源文件写回、远端 Worker、分布式 lease、多实例协调、生产认证和用户研究。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下一步应做固定配置同场实测，至少回答四个问题：结论能否定位，暂停后能否只补一支，成果是否真写出，计划、批准和执行是否严格分开。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E:/Project/Lenovo CAAI AI Agent/README.md</a:t>
            </a:r>
          </a:p>
          <a:p xmlns:a="http://schemas.openxmlformats.org/drawingml/2006/main">
            <a:r>
              <a:t>- E:/Project/Lenovo CAAI AI Agent/docs/ARCHITECTURE.md</a:t>
            </a:r>
          </a:p>
          <a:p xmlns:a="http://schemas.openxmlformats.org/drawingml/2006/main">
            <a:r>
              <a:t>- E:/Project/Lenovo CAAI AI Agent/docs/contracts/UI_SERVER_FACT_MATRIX.md</a:t>
            </a:r>
          </a:p>
          <a:p xmlns:a="http://schemas.openxmlformats.org/drawingml/2006/main">
            <a:r>
              <a:t>- E:/Project/Lenovo CAAI AI Agent/docs/research/DEMO1-DEMO2-DURABLE-TASK-AND-ADAPTIVE-ORCHESTRATION-RESEARCH-20260830.md</a:t>
            </a:r>
          </a:p>
          <a:p xmlns:a="http://schemas.openxmlformats.org/drawingml/2006/main">
            <a:r>
              <a:t>- E:/Project/Lenovo CAAI AI Agent/docs/decisions/DR-0053-durable-task-lineage-and-explainable-topology-admission.md</a:t>
            </a:r>
          </a:p>
          <a:p xmlns:a="http://schemas.openxmlformats.org/drawingml/2006/main">
            <a:r>
              <a:t>- E:/Project/Lenovo CAAI AI Agent/docs/decisions/DR-0055-durable-workunit-and-contribution-ledger.md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转场：当这条流程跨多轮运行，风险会被循环放大。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预期问题：为什么不让模型自己判断哪些输出可信？</a:t>
            </a:r>
          </a:p>
          <a:p xmlns:a="http://schemas.openxmlformats.org/drawingml/2006/main">
            <a:r>
              <a:t>
[Sources]
- https://www.microsoft.com/en-us/research/publication/guidelines-for-human-ai-interaction/
- https://help.openai.com/en/articles/10500283-deep-research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受影响、如何暂停恢复或接管。这里不能夸大当前实现：系统默认 12 轮、公开上限 24 轮，并受文件数、模型调用次数和主动运行时间的独立预算约束；暂停和停止只在模型调用之间的安全点生效，也不会硬取消正在进行的请求。它解决了一部分状态透明与局部恢复问题，还不是无限自治的长任务执行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转场：下一页把 Observe、Plan、Act、Verify、Commit 和外围控制放在一起看。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预期问题：12 轮是否足够？默认值不是质量承诺；是否足够仍要由任务完成条件、预算与场景实测共同判断。</a:t>
            </a:r>
          </a:p>
          <a:p xmlns:a="http://schemas.openxmlformats.org/drawingml/2006/main">
            <a:r>
              <a:t>
[Sources]
- https://www.microsoft.com/en-us/research/publication/guidelines-for-human-ai-interaction/
- https://docs.langchain.com/oss/javascript/langgraph/persistence
- https://arxiv.org/abs/2210.03629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转场：下面不再讲抽象模块，直接看六个办公场景。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 ；https://a2a-protocol.org/v0.3.0/specification/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预期问题：什么时候可以把它称为完整 Control Loop？</a:t>
            </a:r>
          </a:p>
          <a:p xmlns:a="http://schemas.openxmlformats.org/drawingml/2006/main">
            <a:r>
              <a:t>
[Sources]
- https://docs.langchain.com/oss/javascript/langgraph/persistence
- https://openai.github.io/openai-agents-python/human_in_the_loop/
- https://a2a-protocol.org/v0.3.0/specification/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六个场景覆盖了成果、证据、人工判断和外部动作四种风险。TC-01 看成果与引用定位怎样分离；TC-05 看统计和会计判断怎样分离；TC-06、TC-07 把招聘与法务的最终权威留给人；TC-10 把文档产出和真实外呼拆开；TC-14、TC-15 处理来源冲突和模型说明冲突。每个场景都用同一条讲法：触发、Agent 路径、停顿、前台输出、后端事实和当前边界。这样场景不是故事，而是可以复现、失败和升级的测试。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转场：先从用户反馈最强烈的入职资产匹配开始。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；https://www.w3.org/TR/prov-o/ ；https://openai.github.io/openai-agents-python/human_in_the_loop/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预期问题：这些场景是不是为了 Demo 人工定制？答案是固定适配器范围内验证，尚未通用化。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https://www.w3.org/TR/prov-o/
- https://openai.github.io/openai-agents-python/human_in_the_loop/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用户输入的是根据时间表和规则生成 3 月 20 日到 4 月 20 日的资产匹配表。旧界面把已生成成果、引用定位缺口和 Loop 等待状态混在一起，用户自然会以为任务失败。实际上三件事可以同时成立：资产表通过文件检查；某段逐字 quote 在预览中出现多次，无法唯一定位；用户只需处理这一处审计问题。“缺一份引用”缺的是唯一可回开的定位，不是缺源文件，也不代表日期算错。当前前台把成果置顶、同源缺口合并，并说明补定位不影响现有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转场：下一页继续回答“三期输入为什么只有两类统计文件”。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证据/边界：https://platform.claude.com/docs/en/build-with-claude/citations ；https://www.microsoft.com/en-us/research/publication/guidelines-for-human-ai-interaction/ ；左侧为用户反馈样本，非正式目标用户研究。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预期问题：为什么服务端不能总是一次定位准确？因为当前主要依靠逐字 quote 与安全预览匹配，格式原生 Locator 仍需补齐。</a:t>
            </a:r>
          </a:p>
          <a:p xmlns:a="http://schemas.openxmlformats.org/drawingml/2006/main">
            <a:r>
              <a:t>
[Sources]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这里需要纠正一个容易产生的理解：三份输入工作簿，不是三期各输出一份统计。未付统计和未收统计只看最新 2026 期，分别提取正数贷方与正数借方期末余额；当前固定来源是 31 条和 2 条。真正使用三个期间的是跨期核对说明，它比较同一科目和客商的借方余额是否连续不变，当前风险候选为 0。前台必须在下载前解释三份成果各自代表什么。统计和候选都不是会计处置，系统没有付款、核销或记账。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转场：财务判断要保留人工门，招聘和法务更是如此。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；https://www.w3.org/TR/prov-o/ ；数字仅属于当前固定来源版本。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预期问题：0 条候选是否等于不存在僵尸账款？不等于，只表示这套固定启发式没有命中。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https://www.w3.org/TR/prov-o/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招聘场景读取两份 JD 和五份简历，输出候选顺序、支持证据、缺失信息和复核项；材料冲突时进入待复核，系统不执行录用或淘汰。法务场景从六份授权文件抽取主体、期限和范围，形成规则台账与风险候选；不一致时不自动裁决，也不代表法律意见或签署动作。两边共同体现 HAI Guidelines 的原则：系统要说明能力边界、给出上下文、允许用户纠正，并在高影响决定中保留人的控制权。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转场：有了人工门，还要继续区分“形成方案”和“执行动作”。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；自动化只验证固定成果，不验证公平性、法律适用性或业务效果。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预期问题：候选建议是否可能放大偏见？可能，因此需要规则、证据、隐私与人工复核共同约束。</a:t>
            </a:r>
          </a:p>
          <a:p xmlns:a="http://schemas.openxmlformats.org/drawingml/2006/main">
            <a:r>
              <a:t>
[Sources]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TC-10 读取来源后生成流程图与 DOCX，这些文件和结构检查是真实发生的；拨号、写 CRM、发短信没有发生，因为没有 Connector receipt。TC-14 的日志存在相互冲突的信号，系统保留支持与反证，生成条件式诊断和止损提案，但不执行 ES 命令，也不触发生产降级。前台不能把“建议下一步”写成“已经执行”，也不能把未接入外部系统显示成失败。更准确的界面是并列展示已发生和未发生，让用户看到业务后果边界。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转场：最后一个场景处理的是模型说明和确定性成果互相冲突。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证据/边界：https://openai.github.io/openai-agents-python/human_in_the_loop/ ；https://modelcontextprotocol.io/specification/draft/client/elicitation ；https://www.w3.org/TR/prov-o/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预期问题：未来接入 Connector 后如何防止重复动作？需要 Permit、版本、幂等和执行回执共同约束。</a:t>
            </a:r>
          </a:p>
          <a:p xmlns:a="http://schemas.openxmlformats.org/drawingml/2006/main">
            <a:r>
              <a:t>
[Sources]
- https://openai.github.io/openai-agents-python/human_in_the_loop/
- https://modelcontextprotocol.io/specification/draft/client/elicitation
- https://www.w3.org/TR/prov-o/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TC-15 的确定性成果覆盖 212 行、形成 87 组，P0 到 P4 为 25、40、14、6、2。真实模型调用却声称只看了 60 行，并改写 P0 优先级。如果前台同时展示两套说法，用户会看到假绿和重复待办。当前服务端把模型调用和采用拆开：模型仍是 called=true，但 output_used=false；回执为 contradictory、deterministic_outcome、rejected。两份通过检查的成果继续保留，冲突说明只进入审计轨迹。这个机制只验证固定场景的结构化事实一致性，不是通用真值判断。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转场：从这些场景回到前台，用户真正需要先回答的只有五个问题。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；https://www.w3.org/WAI/WCAG21/Understanding/status-messages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预期问题：一致就一定正确吗？不一定，一致只说明结构化事实没有冲突。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https://www.w3.org/WAI/WCAG21/Understanding/status-messages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转场：接下来用四页真实界面，把前面讲的系统纵切完整走一遍。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预期问题：怎样证明界面真的更清晰？需要目标用户任务测试，不是更多截图。</a:t>
            </a:r>
          </a:p>
          <a:p xmlns:a="http://schemas.openxmlformats.org/drawingml/2006/main">
            <a:r>
              <a:t>
[Sources]
- https://www.microsoft.com/en-us/research/publication/guidelines-for-human-ai-interaction/
- https://www.w3.org/WAI/WCAG21/Understanding/status-messages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这页回答最直接的问题：我们到底做了什么。不是又做了一张 Agent 对话页面，而是把一条办公任务纵切跑通了。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右侧不是概念图，而是当前系统完成 TC-01 后的完整运行界面：左侧是资料库，中间是任务、Agent 路径和成果，右侧是有序 Control Loop 记录。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这条链已经证明的是固定公开数据上的受限纵切；尚未证明的是通用语义正确、任意办公文件写入、生产级 Connector 和生产 SLA。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转场：下一页从用户输入开始，看“自主选择资料”具体怎样发生。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证据/边界：当前系统实测；截图来自固定公开数据运行，不是竞品对照或生产环境。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预期问题：这是不是一个为固定 Demo 写死的流程？当前确有固定成果适配器，但 Workspace、合同、分支、证据门、Snapshot 和 Trace 是通用运行时结构。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这里不能把“自主选择资料”说成“已经穷举所有相关资料”。系统默认 12 轮、公开上限 24 轮，但资料选择仍可能不完整，所以完成结果仍需证据核对、成果检查和人工复核。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转场：如果选择到的来源文字不能唯一定位，系统不会把整项任务推倒重来。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证据/边界：当前系统实测；全库范围、服务端 Planner 和前台 Trace 的显示均以本次 Snapshot 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预期问题：为什么不把全部 96 份文件都交给模型？因为服务端需要控制上下文、成本和来源范围，并保留每轮选择依据。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用户确认后，只恢复目标 Branch。已完成 ArtifactVersion、其他 Branch 和已有核对记录不被覆盖。这是局部恢复和整轮重跑在用户体验上的关键差别。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转场：最后看成果已经生成后，系统如何区分文件事实、业务效果和模型说明。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证据/边界：当前系统实测；位置确认只证明 locator 与来源成员关系，不证明自然语言蕴含、穷举或算术全面正确。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预期问题：为什么还要人选位置？格式原生 Locator 尚未完全覆盖，当前保留可审计的人工决定比服务端猜一个位置更稳妥。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当前边界仍然清楚：固定检查只证明特定字段、结构和效果，不是通用语义真值证明器；成果通过也不代表业务价值或最终判断自动成立。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转场：有了这条当前纵切，下面把它重新放回 07-16 的三个 Demo，分别看时间、组织和动作三个维度哪些已经落地、哪些仍是目标。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证据/边界：当前系统实测；固定成果适配器与叙事对账覆盖既定场景，不外推到任意办公任务。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预期问题：固定检查会不会把模型变得多余？不会，模型仍负责规划、跨资料归纳和提出候选；确定性检查负责约束可复算事实。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前台变化是用户不必重开对话、重讲背景；他在同一任务里看见哪个分支完成、哪个分支为何停、选择后恢复什么、旧成果是否保留。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转场：时间连续性解决以后，Demo 2 处理的是同时有很多待办和复杂分工时，工作如何被组织。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证据/边界：https://docs.langchain.com/oss/javascript/langgraph/persistence ；https://openai.github.io/openai-agents-python/human_in_the_loop/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预期问题：现在已经支持手机和电脑控制同一生产任务吗？没有，当前证明的是服务端状态、分支与恢复机制，生产身份和跨端控制仍是目标。</a:t>
            </a:r>
          </a:p>
          <a:p xmlns:a="http://schemas.openxmlformats.org/drawingml/2006/main">
            <a:r>
              <a:t>
[Sources]
- https://docs.langchain.com/oss/javascript/langgraph/persistence
- https://openai.github.io/openai-agents-python/human_in_the_loop/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2 仍然保留 07-16 的智能工作驾驶舱作为目标产品面，但这一页不再只讲目标框图，而是先回答一个可以直接演示的输入、过程和输出。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输入是一条复杂但只读的办公任务：分别核对产品上线、搜索 Agent 运行和用户交互三条工作线的风险与证据，先独立核对，再形成统一简报。用户不需要指定五个 Agent，也不需要自己分配会话。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过程由服务端事实决定。Topology Admission 编译出五个 WorkUnit，其中三个是根工作包，两个依赖前序结果。第一波返回后，三个 Contribution 分别进入采用门；只有带批准来源和可定位证据的候选才能进入 Artifact。两个依赖工作包显示“下一波待确认”，由用户明确启动，而不是后台无声扩张预算。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输出是一个统一工作面：左侧阶段轨回答现在走到哪，中央 DAG 回答谁依赖谁，右侧当前影响只突出唯一主要动作，底部结果条说明三份贡献已经采用、Artifact v1 已保留、还有两个工作包待确认。用户管理的是统一成果和下一步，不是多个 Agent 对话。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边界必须讲清：这是单服务进程、顺序批次、每批最多三个只读执行单元的受控演示样例。它没有持久任务队列、租约、远端执行单元或多实例协调，也不是完整的智能工作驾驶舱；自动化和截图同样不能证明这种协作方式更快、更准或更易理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转场：无论任务由单 Agent、Workflow 还是 Swarm 完成，只要下一步涉及真实发送、付款或生产变更，都要进入 Demo 3 的动作风险门。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证据/边界：https://docs.openclaw.ai/concepts/multi-agent ；https://a2a-protocol.org/v0.3.0/specification/ ；https://www.nngroup.com/articles/progressive-disclosure/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预期问题：多个执行单元一定比单一流程好吗？不一定，当前也没有效果证据；只有同任务、同模型、同来源和同预算下的增量收益高于协调与验证开销时，才应该启用自适应协作。</a:t>
            </a:r>
          </a:p>
          <a:p xmlns:a="http://schemas.openxmlformats.org/drawingml/2006/main">
            <a:r>
              <a:t>
[Sources]
- https://a2a-protocol.org/v0.3.0/specification/
- https://docs.openclaw.ai/concepts/multi-agent
- https://www.nngroup.com/articles/progressive-disclosure/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前台的直接变化是按钮不能只写“确认”。用户必须先看见对象、影响、证据、风险级别、可逆性和执行回执，才能知道自己的点击究竟会改变什么。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转场：三个 Demo 的方向保留，但下一步必须继续用可证伪证据而不是更多概念升级结论。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预期问题：当前是不是已经具备 L0-L5 的生产执行能力？没有，L0-L5 是目标控制模型，当前只有固定成果和未执行边界的有限实现。</a:t>
            </a:r>
          </a:p>
          <a:p xmlns:a="http://schemas.openxmlformats.org/drawingml/2006/main">
            <a:r>
              <a:t>
[Sources]
- https://openai.github.io/openai-agents-python/human_in_the_loop/
- https://modelcontextprotocol.io/specification/draft/client/elicitation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Verifier；再把当前进程内 Worker 纵切升级为 durable queue/lease、远端 Worker 和多实例恢复，并接入 Tool、Connector、Permit 与幂等动作回执；最后冻结同一任务、模型、来源和预算做竞品同场挑战，并开展目标用户研究。只有这些门通过，“差异候选”才可以升级为“已验证优势”。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转场：请评审决定的不是一句“看起来不错”，而是是否同意按这五道门继续生产证据。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证据/边界：https://modelcontextprotocol.io/specification/draft/client/elicitation ；https://a2a-protocol.org/v0.3.0/specification/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预期问题：当前可以对外承诺什么？只能承诺固定公开数据上的系统实测与明确边界，不承诺全面领先、生产 SLA 或用户价值。</a:t>
            </a:r>
          </a:p>
          <a:p xmlns:a="http://schemas.openxmlformats.org/drawingml/2006/main">
            <a:r>
              <a:t>
[Sources]
- https://modelcontextprotocol.io/specification/draft/client/elicitation
- https://a2a-protocol.org/v0.3.0/specification/
- https://www.w3.org/TR/prov-o/
- https://www.microsoft.com/en-us/research/publication/guidelines-for-human-ai-interaction/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29fbf9f174b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2627363aa41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05896360c49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8b827d3d442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6c2bee80545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2e23eb886455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f571bcbc2446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1c30c86ff45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ca384905b4a3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e24a73a5948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464a25314459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D73B63-64A6-49FB-92CA-98599AE100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CA79B0-CD14-4729-87EB-41197E4465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AA9851-1F46-45B4-8BB8-B96A7396FA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74E705-15E4-4238-ABC1-11F7E348E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B6B467-A513-417E-A1FE-797AA77D05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58690A-A245-447D-BDD3-7718B6599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CB551-4566-4A7B-A2A8-0D1228B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431168-B733-4D49-9906-5EA12CB547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F77E46-9507-4059-9676-0733D8D306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9D3F26-D70A-493D-A097-A3383A46A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6B7EF0-994E-4B85-A34D-602EB83ED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3DE32E-AFB7-4EA7-A72C-955084A13B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3DA28C-5A3B-4CCC-A90B-B9C13B6F7F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EF45CB-9981-4994-9668-77C47C6143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78D752-4902-4996-B0CD-C7CD61C8E7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DC09F7-28AB-46FF-8419-DBB8D7D4F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18DC56-A8E7-4BD1-915D-C4841CFB59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F46D2AE-8180-4B09-B716-D6EC25F0B6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75A8DE-8041-47AD-B9ED-42699A2D4E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D3DD2F-D196-4F55-990A-AA695956C7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8CF5CAB-96FB-484D-8E1C-AB69687F0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34AFA2-4CEE-4687-96AA-4B8146501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363B1D-B346-4EC5-B1E6-ACCF2CD47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294E2E-4933-46C5-A39B-BCF1A3A6E7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0A57C62-2FF3-4F54-924B-1BC5D2A5259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01B78E8-C228-4914-BE23-9AB561B90D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627BAE1-3938-4028-A2BD-70D0A70B95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AB74B9-D988-43C8-A924-661919EE46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ABBA2B6-17B5-4B3D-99B4-42884887DF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A811CB-0F37-4E9E-B84C-E99912DF7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5E69C0D-965F-4710-9B28-244F7AA92C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A8A8546-8721-4E88-8FD3-85A8EBAE4D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77FC25-BAD5-4FD2-B3CB-C3176B33FF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8691BD-6C43-4914-BCAC-FAE94CE1BA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2D0E50E-E3B9-4A97-A925-2C9E3670B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3AFA721-87C0-48C2-9AF3-3923B9533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B90CB6-536A-46C7-B8D1-09DE2224A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77EE5B-0CC6-4BC1-A05C-46C13654DF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9E72B0-1968-45E1-847A-9B8734A233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DD38CC-5F92-44B9-B89C-BFAE9BFADE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6F017F-FADE-464B-943E-AA17BC64D3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3C8A01-77E2-46A3-BF35-7873ED72C0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590610-91B0-4504-B501-17B2D9C47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0AAAF14-EE10-4DD5-A8C7-4D3024D5A97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DCF4811-2D1C-420A-A7A8-0254EE775D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F948F6-47A2-48D7-8EB8-19E41C61B3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0024CB-6D56-43AA-9368-51313185EC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94A87BF-A459-4BB4-AE90-23B34840E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97773E-3CE6-468B-B7D4-EF9BEDB4B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E88E7C-15FE-4E85-83EF-0AF774B621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B964-C7F6-407C-8F06-E87691725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8E1C6E-246B-45EC-9853-63C4164DA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64D176-C5C6-4A68-9440-1BD7EED9CE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AF57EB8-E38A-4FA4-8087-89E9D9F77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0929DE-A6B4-416F-BCAF-2EECDB20B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3875D7-E443-4E27-B00E-BA7311B94E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8641C2-0D46-41E7-BCB7-E380B4AAD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5A4E26-B3FC-4D5A-9EAC-83BC0C326A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f6411f1de141cb" /><Relationship Type="http://schemas.openxmlformats.org/officeDocument/2006/relationships/slideLayout" Target="/ppt/slideLayouts/slideLayout1.xml" Id="Re775389d87fa45f5" /><Relationship Type="http://schemas.openxmlformats.org/officeDocument/2006/relationships/slideLayout" Target="/ppt/slideLayouts/slideLayout2.xml" Id="Rbb87bb6f1f8f4526" /><Relationship Type="http://schemas.openxmlformats.org/officeDocument/2006/relationships/slideLayout" Target="/ppt/slideLayouts/slideLayout3.xml" Id="R2c46b85c7e744026" /><Relationship Type="http://schemas.openxmlformats.org/officeDocument/2006/relationships/slideLayout" Target="/ppt/slideLayouts/slideLayout4.xml" Id="Rdd21e3d4dfda4d79" /><Relationship Type="http://schemas.openxmlformats.org/officeDocument/2006/relationships/slideLayout" Target="/ppt/slideLayouts/slideLayout5.xml" Id="R9dfcc7e9ffec4bff" /><Relationship Type="http://schemas.openxmlformats.org/officeDocument/2006/relationships/slideLayout" Target="/ppt/slideLayouts/slideLayout6.xml" Id="Re05b746634154319" /><Relationship Type="http://schemas.openxmlformats.org/officeDocument/2006/relationships/slideLayout" Target="/ppt/slideLayouts/slideLayout7.xml" Id="Rdb2ff1acac1f4afc" /><Relationship Type="http://schemas.openxmlformats.org/officeDocument/2006/relationships/slideLayout" Target="/ppt/slideLayouts/slideLayout8.xml" Id="R39122fd77dc94c28" /><Relationship Type="http://schemas.openxmlformats.org/officeDocument/2006/relationships/slideLayout" Target="/ppt/slideLayouts/slideLayout9.xml" Id="R27eedf013dc04237" /><Relationship Type="http://schemas.openxmlformats.org/officeDocument/2006/relationships/slideLayout" Target="/ppt/slideLayouts/slideLayout10.xml" Id="R596313a113604214" /><Relationship Type="http://schemas.openxmlformats.org/officeDocument/2006/relationships/slideLayout" Target="/ppt/slideLayouts/slideLayout11.xml" Id="Ra6af1182ad2f45d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4FBC2FE-7575-4327-8980-9928A3BED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16D394-7B76-47BA-AEA2-F0F7CBEDDF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538E22-E1DB-4FF9-8A9F-9FBA25CFD42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E2DE97-63AA-43DD-8E0D-6EFD38D9248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D67BDF-EF4D-4D30-B0AF-C22BE27BAA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5389d87fa45f5"/>
    <p:sldLayoutId xmlns:r="http://schemas.openxmlformats.org/officeDocument/2006/relationships" id="2147483650" r:id="Rbb87bb6f1f8f4526"/>
    <p:sldLayoutId xmlns:r="http://schemas.openxmlformats.org/officeDocument/2006/relationships" id="2147483651" r:id="R2c46b85c7e744026"/>
    <p:sldLayoutId xmlns:r="http://schemas.openxmlformats.org/officeDocument/2006/relationships" id="2147483652" r:id="Rdd21e3d4dfda4d79"/>
    <p:sldLayoutId xmlns:r="http://schemas.openxmlformats.org/officeDocument/2006/relationships" id="2147483653" r:id="R9dfcc7e9ffec4bff"/>
    <p:sldLayoutId xmlns:r="http://schemas.openxmlformats.org/officeDocument/2006/relationships" id="2147483654" r:id="Re05b746634154319"/>
    <p:sldLayoutId xmlns:r="http://schemas.openxmlformats.org/officeDocument/2006/relationships" id="2147483655" r:id="Rdb2ff1acac1f4afc"/>
    <p:sldLayoutId xmlns:r="http://schemas.openxmlformats.org/officeDocument/2006/relationships" id="2147483656" r:id="R39122fd77dc94c28"/>
    <p:sldLayoutId xmlns:r="http://schemas.openxmlformats.org/officeDocument/2006/relationships" id="2147483657" r:id="R27eedf013dc04237"/>
    <p:sldLayoutId xmlns:r="http://schemas.openxmlformats.org/officeDocument/2006/relationships" id="2147483658" r:id="R596313a113604214"/>
    <p:sldLayoutId xmlns:r="http://schemas.openxmlformats.org/officeDocument/2006/relationships" id="2147483659" r:id="Ra6af1182ad2f45d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89199007843eb" /><Relationship Type="http://schemas.openxmlformats.org/officeDocument/2006/relationships/image" Target="/ppt/media/image.png" Id="R7959aa0ea273464b" /><Relationship Type="http://schemas.openxmlformats.org/officeDocument/2006/relationships/notesSlide" Target="/ppt/notesSlides/notesSlide1.xml" Id="R8d630a00580d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487c95d3b40a1" /><Relationship Type="http://schemas.openxmlformats.org/officeDocument/2006/relationships/hyperlink" Target="https://www.microsoft.com/en-us/research/publication/guidelines-for-human-ai-interaction/" TargetMode="External" Id="R843ae46a22a840ae" /><Relationship Type="http://schemas.openxmlformats.org/officeDocument/2006/relationships/hyperlink" Target="https://arxiv.org/abs/2210.03629" TargetMode="External" Id="Rb5cf98e576ed46ef" /><Relationship Type="http://schemas.openxmlformats.org/officeDocument/2006/relationships/notesSlide" Target="/ppt/notesSlides/notesSlide2.xml" Id="R9f62015a9c53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70ac898064f05" /><Relationship Type="http://schemas.openxmlformats.org/officeDocument/2006/relationships/hyperlink" Target="https://arxiv.org/abs/2210.03629" TargetMode="External" Id="Rdadaad182ff141f4" /><Relationship Type="http://schemas.openxmlformats.org/officeDocument/2006/relationships/hyperlink" Target="https://docs.langchain.com/oss/javascript/langgraph/persistence" TargetMode="External" Id="R58874262e787437e" /><Relationship Type="http://schemas.openxmlformats.org/officeDocument/2006/relationships/notesSlide" Target="/ppt/notesSlides/notesSlide3.xml" Id="R1c35a7f9cff048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d76466fe4593" /><Relationship Type="http://schemas.openxmlformats.org/officeDocument/2006/relationships/notesSlide" Target="/ppt/notesSlides/notesSlide4.xml" Id="R4faf57482eb349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94731b0254db9" /><Relationship Type="http://schemas.openxmlformats.org/officeDocument/2006/relationships/hyperlink" Target="https://arxiv.org/abs/2005.14165" TargetMode="External" Id="R5a86289950b8426e" /><Relationship Type="http://schemas.openxmlformats.org/officeDocument/2006/relationships/hyperlink" Target="https://arxiv.org/abs/2210.03629" TargetMode="External" Id="Ra30ad9e5f28e4bd3" /><Relationship Type="http://schemas.openxmlformats.org/officeDocument/2006/relationships/notesSlide" Target="/ppt/notesSlides/notesSlide5.xml" Id="R4954157196b044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d15dfc6be4fef" /><Relationship Type="http://schemas.openxmlformats.org/officeDocument/2006/relationships/hyperlink" Target="https://learn.microsoft.com/en-us/microsoft-365/copilot/researcher-agent" TargetMode="External" Id="Rfb8c54268d05418c" /><Relationship Type="http://schemas.openxmlformats.org/officeDocument/2006/relationships/hyperlink" Target="https://workspace.google.com/blog/product-announcements/introducing-google-workspace-studio-agents-for-everyday-work" TargetMode="External" Id="R122809c58cad43d1" /><Relationship Type="http://schemas.openxmlformats.org/officeDocument/2006/relationships/hyperlink" Target="https://www.glean.com/platform" TargetMode="External" Id="Rcbcacff4802e451e" /><Relationship Type="http://schemas.openxmlformats.org/officeDocument/2006/relationships/hyperlink" Target="https://www.atlassian.com/software/rovo/features" TargetMode="External" Id="R584ea7e6718d4fd5" /><Relationship Type="http://schemas.openxmlformats.org/officeDocument/2006/relationships/hyperlink" Target="https://www.notion.com/help/enterprise-search" TargetMode="External" Id="R800fa72c96034ec3" /><Relationship Type="http://schemas.openxmlformats.org/officeDocument/2006/relationships/hyperlink" Target="https://help.openai.com/en/articles/10500283-deep-research" TargetMode="External" Id="R2ebed2268f1944e9" /><Relationship Type="http://schemas.openxmlformats.org/officeDocument/2006/relationships/hyperlink" Target="https://support.claude.com/en/articles/11088861-use-research-on-claude" TargetMode="External" Id="R129269bf2f8d41a8" /><Relationship Type="http://schemas.openxmlformats.org/officeDocument/2006/relationships/notesSlide" Target="/ppt/notesSlides/notesSlide6.xml" Id="Rc01e4f4ff4744f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18690e8be4765" /><Relationship Type="http://schemas.openxmlformats.org/officeDocument/2006/relationships/image" Target="/ppt/media/image2.png" Id="R360cf3b1ac9f4442" /><Relationship Type="http://schemas.openxmlformats.org/officeDocument/2006/relationships/image" Target="/ppt/media/image3.png" Id="Radd4816f409a4e73" /><Relationship Type="http://schemas.openxmlformats.org/officeDocument/2006/relationships/hyperlink" Target="https://support.microsoft.com/en-us/microsoft-365-copilot/get-started-using-researcher-with-computer-use-in-microsoft-365-copilot-frontier" TargetMode="External" Id="R230005aa683f4699" /><Relationship Type="http://schemas.openxmlformats.org/officeDocument/2006/relationships/hyperlink" Target="https://workspace.google.com/blog/product-announcements/introducing-google-workspace-studio-agents-for-everyday-work" TargetMode="External" Id="R7f7b93ff42b9469e" /><Relationship Type="http://schemas.openxmlformats.org/officeDocument/2006/relationships/notesSlide" Target="/ppt/notesSlides/notesSlide7.xml" Id="Rc46990bbda9947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cbb56d4f34a69" /><Relationship Type="http://schemas.openxmlformats.org/officeDocument/2006/relationships/image" Target="/ppt/media/image4.png" Id="Rfa5fd74303554b01" /><Relationship Type="http://schemas.openxmlformats.org/officeDocument/2006/relationships/hyperlink" Target="https://www.notion.com/help/enterprise-search" TargetMode="External" Id="R6458378d84ff4528" /><Relationship Type="http://schemas.openxmlformats.org/officeDocument/2006/relationships/hyperlink" Target="https://www.notion.com/help/notion-ai-connectors" TargetMode="External" Id="Ra98ee6cbb22d465f" /><Relationship Type="http://schemas.openxmlformats.org/officeDocument/2006/relationships/notesSlide" Target="/ppt/notesSlides/notesSlide8.xml" Id="Rc4b5b9a80f7148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5a6f479ce4412" /><Relationship Type="http://schemas.openxmlformats.org/officeDocument/2006/relationships/image" Target="/ppt/media/image.bin" Id="R80a53a0c3ee84b74" /><Relationship Type="http://schemas.openxmlformats.org/officeDocument/2006/relationships/image" Target="/ppt/media/image5.png" Id="R22c45dff4f104201" /><Relationship Type="http://schemas.openxmlformats.org/officeDocument/2006/relationships/hyperlink" Target="https://help.openai.com/en/articles/10500283-deep-research" TargetMode="External" Id="R72a9adc18413464c" /><Relationship Type="http://schemas.openxmlformats.org/officeDocument/2006/relationships/hyperlink" Target="https://support.claude.com/en/articles/11088861-use-research-on-claude" TargetMode="External" Id="R17c33a347b614633" /><Relationship Type="http://schemas.openxmlformats.org/officeDocument/2006/relationships/notesSlide" Target="/ppt/notesSlides/notesSlide9.xml" Id="R2f53daae5225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6eacc1f904012" /><Relationship Type="http://schemas.openxmlformats.org/officeDocument/2006/relationships/image" Target="/ppt/media/image.jpeg" Id="R05a966dc25ad4f40" /><Relationship Type="http://schemas.openxmlformats.org/officeDocument/2006/relationships/image" Target="/ppt/media/image6.png" Id="Rc1996d271a3546a1" /><Relationship Type="http://schemas.openxmlformats.org/officeDocument/2006/relationships/hyperlink" Target="https://openai.com/index/introducing-the-codex-app/" TargetMode="External" Id="R9ff4d30d13c04a20" /><Relationship Type="http://schemas.openxmlformats.org/officeDocument/2006/relationships/hyperlink" Target="https://code.claude.com/docs/en/how-claude-code-works" TargetMode="External" Id="R0dc027e24d114dbf" /><Relationship Type="http://schemas.openxmlformats.org/officeDocument/2006/relationships/notesSlide" Target="/ppt/notesSlides/notesSlide10.xml" Id="R1a6b40285e0d48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379dd3ccc4775" /><Relationship Type="http://schemas.openxmlformats.org/officeDocument/2006/relationships/hyperlink" Target="https://learn.microsoft.com/en-us/microsoft-365/copilot/researcher-agent" TargetMode="External" Id="R4bcfd7bfa0b44855" /><Relationship Type="http://schemas.openxmlformats.org/officeDocument/2006/relationships/hyperlink" Target="https://workspace.google.com/blog/product-announcements/introducing-google-workspace-studio-agents-for-everyday-work" TargetMode="External" Id="Rfc6c7d79d8ac4cd3" /><Relationship Type="http://schemas.openxmlformats.org/officeDocument/2006/relationships/hyperlink" Target="https://www.notion.com/help/enterprise-search" TargetMode="External" Id="R0f77bb3bea864978" /><Relationship Type="http://schemas.openxmlformats.org/officeDocument/2006/relationships/hyperlink" Target="https://help.openai.com/en/articles/10500283-deep-research" TargetMode="External" Id="R623e5e34eeaf49b0" /><Relationship Type="http://schemas.openxmlformats.org/officeDocument/2006/relationships/hyperlink" Target="https://code.claude.com/docs/en/how-claude-code-works" TargetMode="External" Id="Re26d7c00410b41d7" /><Relationship Type="http://schemas.openxmlformats.org/officeDocument/2006/relationships/notesSlide" Target="/ppt/notesSlides/notesSlide11.xml" Id="Rb26e05b71a0e44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aa8b32ab745d3" /><Relationship Type="http://schemas.openxmlformats.org/officeDocument/2006/relationships/image" Target="/ppt/media/image7.png" Id="R6a325522d01b43d4" /><Relationship Type="http://schemas.openxmlformats.org/officeDocument/2006/relationships/image" Target="/ppt/media/image8.png" Id="Re6054f9ea9954a3e" /><Relationship Type="http://schemas.openxmlformats.org/officeDocument/2006/relationships/hyperlink" Target="https://github.com/Dickey007s/lenovo_agent" TargetMode="External" Id="R5be2520b700f486b" /><Relationship Type="http://schemas.openxmlformats.org/officeDocument/2006/relationships/notesSlide" Target="/ppt/notesSlides/notesSlide12.xml" Id="R5deac695f47d4b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ddab0918240ef" /><Relationship Type="http://schemas.openxmlformats.org/officeDocument/2006/relationships/hyperlink" Target="https://www.microsoft.com/en-us/research/publication/guidelines-for-human-ai-interaction/" TargetMode="External" Id="Rbd5e99637d85496a" /><Relationship Type="http://schemas.openxmlformats.org/officeDocument/2006/relationships/hyperlink" Target="https://modelcontextprotocol.io/specification/draft/client/elicitation" TargetMode="External" Id="R98edd79cbbf74c44" /><Relationship Type="http://schemas.openxmlformats.org/officeDocument/2006/relationships/notesSlide" Target="/ppt/notesSlides/notesSlide13.xml" Id="R10b5b96e6db04c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77e1c8ef4111" /><Relationship Type="http://schemas.openxmlformats.org/officeDocument/2006/relationships/hyperlink" Target="https://www.microsoft.com/en-us/research/publication/guidelines-for-human-ai-interaction/" TargetMode="External" Id="Re7b927dc8776439d" /><Relationship Type="http://schemas.openxmlformats.org/officeDocument/2006/relationships/hyperlink" Target="https://docs.langchain.com/oss/javascript/langgraph/persistence" TargetMode="External" Id="Rd094d698d9184e4d" /><Relationship Type="http://schemas.openxmlformats.org/officeDocument/2006/relationships/notesSlide" Target="/ppt/notesSlides/notesSlide14.xml" Id="Rad386c0ef70942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b9b5b30124e1d" /><Relationship Type="http://schemas.openxmlformats.org/officeDocument/2006/relationships/hyperlink" Target="https://docs.langchain.com/oss/javascript/langgraph/persistence" TargetMode="External" Id="R5684f125bcc24535" /><Relationship Type="http://schemas.openxmlformats.org/officeDocument/2006/relationships/hyperlink" Target="https://openai.github.io/openai-agents-python/human_in_the_loop/" TargetMode="External" Id="R569b61a8e5c84110" /><Relationship Type="http://schemas.openxmlformats.org/officeDocument/2006/relationships/notesSlide" Target="/ppt/notesSlides/notesSlide15.xml" Id="Rfe9ad6c5629844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9ef2cc20c4409" /><Relationship Type="http://schemas.openxmlformats.org/officeDocument/2006/relationships/notesSlide" Target="/ppt/notesSlides/notesSlide16.xml" Id="Rd3545bd44d1b4b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bbc64dda54895" /><Relationship Type="http://schemas.openxmlformats.org/officeDocument/2006/relationships/image" Target="/ppt/media/image2.jpeg" Id="Rb5b3ed5fc8bd468f" /><Relationship Type="http://schemas.openxmlformats.org/officeDocument/2006/relationships/image" Target="/ppt/media/image9.png" Id="R5adb95b2028a4682" /><Relationship Type="http://schemas.openxmlformats.org/officeDocument/2006/relationships/notesSlide" Target="/ppt/notesSlides/notesSlide17.xml" Id="R695b5f3b0dbd41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48bab4576442f" /><Relationship Type="http://schemas.openxmlformats.org/officeDocument/2006/relationships/notesSlide" Target="/ppt/notesSlides/notesSlide18.xml" Id="R4bcdf4f1016246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7103ee7bd4740" /><Relationship Type="http://schemas.openxmlformats.org/officeDocument/2006/relationships/notesSlide" Target="/ppt/notesSlides/notesSlide19.xml" Id="Re59efda5814a4e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c7f743864b12" /><Relationship Type="http://schemas.openxmlformats.org/officeDocument/2006/relationships/image" Target="/ppt/media/image10.png" Id="R99f039b83a22468e" /><Relationship Type="http://schemas.openxmlformats.org/officeDocument/2006/relationships/notesSlide" Target="/ppt/notesSlides/notesSlide20.xml" Id="R46438688ab154c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a8f80ba254fa6" /><Relationship Type="http://schemas.openxmlformats.org/officeDocument/2006/relationships/image" Target="/ppt/media/image11.png" Id="R27751db5ba4842e7" /><Relationship Type="http://schemas.openxmlformats.org/officeDocument/2006/relationships/notesSlide" Target="/ppt/notesSlides/notesSlide21.xml" Id="Rbabf7ef67bca41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f1afd53664485" /><Relationship Type="http://schemas.openxmlformats.org/officeDocument/2006/relationships/hyperlink" Target="https://www.microsoft.com/en-us/research/publication/guidelines-for-human-ai-interaction/" TargetMode="External" Id="R7b6d0219bb6d444e" /><Relationship Type="http://schemas.openxmlformats.org/officeDocument/2006/relationships/hyperlink" Target="https://research.google/pubs/measuring-the-user-experience-on-a-large-scale-user-centered-metrics-for-web-applications/" TargetMode="External" Id="R8c0da93753e84e0d" /><Relationship Type="http://schemas.openxmlformats.org/officeDocument/2006/relationships/notesSlide" Target="/ppt/notesSlides/notesSlide22.xml" Id="Refe456764d6a42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a8cf1e7244b52" /><Relationship Type="http://schemas.openxmlformats.org/officeDocument/2006/relationships/image" Target="/ppt/media/image12.png" Id="R1063135884bf4c7e" /><Relationship Type="http://schemas.openxmlformats.org/officeDocument/2006/relationships/notesSlide" Target="/ppt/notesSlides/notesSlide23.xml" Id="R361c0613c52a4f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9964074de4fbc" /><Relationship Type="http://schemas.openxmlformats.org/officeDocument/2006/relationships/image" Target="/ppt/media/image12.png" Id="Rd0d53bb1c7364733" /><Relationship Type="http://schemas.openxmlformats.org/officeDocument/2006/relationships/notesSlide" Target="/ppt/notesSlides/notesSlide24.xml" Id="Rf2ef8606f0e0472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64144eae74e42" /><Relationship Type="http://schemas.openxmlformats.org/officeDocument/2006/relationships/image" Target="/ppt/media/image13.png" Id="R3424f2c098d24320" /><Relationship Type="http://schemas.openxmlformats.org/officeDocument/2006/relationships/image" Target="/ppt/media/image14.png" Id="Ref633b8b3ada4db3" /><Relationship Type="http://schemas.openxmlformats.org/officeDocument/2006/relationships/notesSlide" Target="/ppt/notesSlides/notesSlide25.xml" Id="Re3eb91b7c3af46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08602d83347e9" /><Relationship Type="http://schemas.openxmlformats.org/officeDocument/2006/relationships/image" Target="/ppt/media/image15.png" Id="Ra9a362f6d9994a1b" /><Relationship Type="http://schemas.openxmlformats.org/officeDocument/2006/relationships/image" Target="/ppt/media/image11.png" Id="R13c75dcfcc5f4ee4" /><Relationship Type="http://schemas.openxmlformats.org/officeDocument/2006/relationships/notesSlide" Target="/ppt/notesSlides/notesSlide26.xml" Id="R5a90ee31abf647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c78e0f7ff4e63" /><Relationship Type="http://schemas.openxmlformats.org/officeDocument/2006/relationships/hyperlink" Target="https://docs.langchain.com/oss/javascript/langgraph/persistence" TargetMode="External" Id="R66c28d2a096f4008" /><Relationship Type="http://schemas.openxmlformats.org/officeDocument/2006/relationships/hyperlink" Target="https://openai.github.io/openai-agents-python/human_in_the_loop/" TargetMode="External" Id="R0238c7c7bce343a8" /><Relationship Type="http://schemas.openxmlformats.org/officeDocument/2006/relationships/notesSlide" Target="/ppt/notesSlides/notesSlide27.xml" Id="R8357a14952274d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32ad07c124022" /><Relationship Type="http://schemas.openxmlformats.org/officeDocument/2006/relationships/image" Target="/ppt/media/image16.png" Id="Ra06527a8bdc848a3" /><Relationship Type="http://schemas.openxmlformats.org/officeDocument/2006/relationships/notesSlide" Target="/ppt/notesSlides/notesSlide28.xml" Id="R631eaf28badb4bd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b3e6c573b408c" /><Relationship Type="http://schemas.openxmlformats.org/officeDocument/2006/relationships/image" Target="/ppt/media/image15.png" Id="R6b41cb90f52242d4" /><Relationship Type="http://schemas.openxmlformats.org/officeDocument/2006/relationships/hyperlink" Target="https://openai.github.io/openai-agents-python/human_in_the_loop/" TargetMode="External" Id="R54e63d75aec44512" /><Relationship Type="http://schemas.openxmlformats.org/officeDocument/2006/relationships/hyperlink" Target="https://modelcontextprotocol.io/specification/draft/client/elicitation" TargetMode="External" Id="R2292162c9ec444a1" /><Relationship Type="http://schemas.openxmlformats.org/officeDocument/2006/relationships/notesSlide" Target="/ppt/notesSlides/notesSlide29.xml" Id="R6cf1c1e522d949c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339440c2a4102" /><Relationship Type="http://schemas.openxmlformats.org/officeDocument/2006/relationships/hyperlink" Target="https://www.w3.org/TR/prov-o/" TargetMode="External" Id="R4c281b5d2b9346b5" /><Relationship Type="http://schemas.openxmlformats.org/officeDocument/2006/relationships/hyperlink" Target="https://research.google/pubs/measuring-the-user-experience-on-a-large-scale-user-centered-metrics-for-web-applications/" TargetMode="External" Id="R4fbdcffd945640b3" /><Relationship Type="http://schemas.openxmlformats.org/officeDocument/2006/relationships/notesSlide" Target="/ppt/notesSlides/notesSlide30.xml" Id="Ref7fec2653c941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715578-E22E-488D-AF4B-55770B0D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3D88B7-E996-42CC-BF8D-4032A2D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9680C2E-A317-4C5E-AEA3-8D1ECC1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625918"/>
            <a:ext cx="4422056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未来办公智能体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093AA40-AAC0-43D3-9EAF-D557D50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311718"/>
            <a:ext cx="3727361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从一次回答到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A0E0AF2-7853-4026-8576-B212CE8A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997518"/>
            <a:ext cx="434223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可治理工作系统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CDC5A-99CF-4114-AF98-CB38C79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3806190"/>
            <a:ext cx="341071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技术演进、主流方案与办公场景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FBE839-0A7A-4C02-9C0C-4E96B6D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4130040"/>
            <a:ext cx="17145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与前台交互影响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9259938-C638-49EE-B27C-72450E2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857250"/>
            <a:ext cx="579120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1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9aa0ea27346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76109" y="1333500"/>
            <a:ext cx="5049982" cy="3857625"/>
          </a:xfrm>
          <a:prstGeom xmlns:a="http://schemas.openxmlformats.org/drawingml/2006/main" prst="rect">
            <a:avLst/>
          </a:prstGeom>
        </p:spPr>
      </p:pic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85E010A-CA14-4B4B-AA09-C0B2317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398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01 / 30</a:t>
            </a:r>
          </a:p>
        </p:txBody>
      </p:sp>
    </p:spTree>
    <p:extLst>
      <p:ext uri="{BB962C8B-B14F-4D97-AF65-F5344CB8AC3E}">
        <p14:creationId xmlns:p14="http://schemas.microsoft.com/office/powerpoint/2010/main" val="1778058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8E8D2B-E5C8-4CE7-AD7E-A58330E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46E4946-A662-42D0-A363-27C8208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F51B341-72F4-4AEB-8CD2-46E1D211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5399322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这次改版带来的能力跃迁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D9A681F-021D-4F98-9E32-4F7C40E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78255"/>
            <a:ext cx="7501631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三类控制不变，验证对象从“回答”扩展到“真实办公成果”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DD1BB71-904C-454E-8111-1BDB95A3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286000"/>
            <a:ext cx="33909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EE59030-AB7F-40DB-938F-84F64681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2860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D88A378-4B52-4D08-9CC3-096F684F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2667000"/>
            <a:ext cx="23812" cy="71438"/>
          </a:xfrm>
          <a:custGeom xmlns:a="http://schemas.openxmlformats.org/drawingml/2006/main">
            <a:rect l="l" t="t" r="r" b="b"/>
            <a:pathLst>
              <a:path w="23812" h="71438">
                <a:moveTo>
                  <a:pt x="0" y="0"/>
                </a:moveTo>
                <a:lnTo>
                  <a:pt x="0" y="47625"/>
                </a:lnTo>
                <a:lnTo>
                  <a:pt x="23812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1DDF89E-BEA7-46F0-8B2D-9822325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214" y="2605806"/>
            <a:ext cx="219694" cy="224739"/>
          </a:xfrm>
          <a:custGeom xmlns:a="http://schemas.openxmlformats.org/drawingml/2006/main">
            <a:rect l="l" t="t" r="r" b="b"/>
            <a:pathLst>
              <a:path w="219694" h="224739">
                <a:moveTo>
                  <a:pt x="0" y="96913"/>
                </a:moveTo>
                <a:cubicBezTo>
                  <a:pt x="5524" y="42685"/>
                  <a:pt x="50876" y="1245"/>
                  <a:pt x="105381" y="623"/>
                </a:cubicBezTo>
                <a:cubicBezTo>
                  <a:pt x="159885" y="0"/>
                  <a:pt x="206172" y="40393"/>
                  <a:pt x="212933" y="94481"/>
                </a:cubicBezTo>
                <a:cubicBezTo>
                  <a:pt x="219694" y="148568"/>
                  <a:pt x="184774" y="199112"/>
                  <a:pt x="131794" y="211925"/>
                </a:cubicBezTo>
                <a:cubicBezTo>
                  <a:pt x="78813" y="224739"/>
                  <a:pt x="24655" y="195737"/>
                  <a:pt x="5953" y="144538"/>
                </a:cubicBezTo>
                <a:moveTo>
                  <a:pt x="0" y="204069"/>
                </a:moveTo>
                <a:lnTo>
                  <a:pt x="0" y="144538"/>
                </a:lnTo>
                <a:lnTo>
                  <a:pt x="59531" y="1445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2473466-7DE3-4DA0-8F66-4B5E7C11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38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 · 持续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598C3AE-05AE-49BC-B890-5A96E54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304419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同一任务跨轮推进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B34C6E0-6300-49D1-9F6F-05930BAD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4129564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看清为什么停、从哪里继续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E48E7C5-DD8A-40CA-AED2-7FC8CF9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950" y="2286000"/>
            <a:ext cx="33909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19EA8BD-4656-4A16-BD38-3386BD4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950" y="22860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CE2D4C5-8847-4259-A98E-93B805E8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081" y="2762250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182A56E-B4B1-4410-B49D-925D111B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081" y="261937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837DCB1-248C-43B8-942B-70DD6D0C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9144" y="261937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94E7608-5A51-4B67-A11A-8B66DF4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894" y="2667000"/>
            <a:ext cx="9525" cy="95250"/>
          </a:xfrm>
          <a:custGeom xmlns:a="http://schemas.openxmlformats.org/drawingml/2006/main"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91634E9-9315-481F-85F8-B3EEA76C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7706" y="2702719"/>
            <a:ext cx="95250" cy="83344"/>
          </a:xfrm>
          <a:custGeom xmlns:a="http://schemas.openxmlformats.org/drawingml/2006/main">
            <a:rect l="l" t="t" r="r" b="b"/>
            <a:pathLst>
              <a:path w="95250" h="83344">
                <a:moveTo>
                  <a:pt x="0" y="83344"/>
                </a:moveTo>
                <a:lnTo>
                  <a:pt x="71438" y="83344"/>
                </a:lnTo>
                <a:cubicBezTo>
                  <a:pt x="84589" y="83344"/>
                  <a:pt x="95250" y="72683"/>
                  <a:pt x="95250" y="59531"/>
                </a:cubicBez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40953B0-407B-4497-8EAA-F721B1ED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7238" y="2702719"/>
            <a:ext cx="71438" cy="35719"/>
          </a:xfrm>
          <a:custGeom xmlns:a="http://schemas.openxmlformats.org/drawingml/2006/main">
            <a:rect l="l" t="t" r="r" b="b"/>
            <a:pathLst>
              <a:path w="71438" h="35719">
                <a:moveTo>
                  <a:pt x="0" y="35719"/>
                </a:moveTo>
                <a:lnTo>
                  <a:pt x="35719" y="0"/>
                </a:lnTo>
                <a:lnTo>
                  <a:pt x="71438" y="357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0669F03-66E1-45A6-B2F8-D613164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803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 · 协作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EF7C2A0-11A8-47EA-864D-D8B2E81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406" y="304419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复杂任务按需组织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E0C4C76-1F4D-478A-B90E-FC175EA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4073" y="4129564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看清依赖关系和待确认事项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A1C1882F-5AC1-4943-9E90-8390995E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2286000"/>
            <a:ext cx="384810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1980E7F-3C25-4BCA-86F1-4305F16A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2286000"/>
            <a:ext cx="384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C6D79606-9016-4B66-BE38-569A27A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851" y="2607469"/>
            <a:ext cx="232508" cy="212479"/>
          </a:xfrm>
          <a:custGeom xmlns:a="http://schemas.openxmlformats.org/drawingml/2006/main">
            <a:rect l="l" t="t" r="r" b="b"/>
            <a:pathLst>
              <a:path w="232508" h="212479">
                <a:moveTo>
                  <a:pt x="116795" y="212479"/>
                </a:moveTo>
                <a:cubicBezTo>
                  <a:pt x="42208" y="189358"/>
                  <a:pt x="0" y="110638"/>
                  <a:pt x="22021" y="35719"/>
                </a:cubicBezTo>
                <a:cubicBezTo>
                  <a:pt x="59115" y="37416"/>
                  <a:pt x="95413" y="24605"/>
                  <a:pt x="123224" y="0"/>
                </a:cubicBezTo>
                <a:cubicBezTo>
                  <a:pt x="151035" y="24605"/>
                  <a:pt x="187333" y="37416"/>
                  <a:pt x="224427" y="35719"/>
                </a:cubicBezTo>
                <a:cubicBezTo>
                  <a:pt x="232508" y="63212"/>
                  <a:pt x="232135" y="92499"/>
                  <a:pt x="223356" y="1197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48A8B298-031F-4FBA-BB53-A61FAAB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5794" y="2774156"/>
            <a:ext cx="71438" cy="47625"/>
          </a:xfrm>
          <a:custGeom xmlns:a="http://schemas.openxmlformats.org/drawingml/2006/main"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13D30C4-C2BF-4CE1-B0F7-1A2FAC66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4682" y="2573655"/>
            <a:ext cx="194797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 · 治理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8243C96-280A-46B2-92B2-D2B5CBB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8056" y="3044190"/>
            <a:ext cx="21991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真实动作前展示后果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38D71ED-4955-43EF-B810-9366A193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0723" y="4129564"/>
            <a:ext cx="27162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看清会改变什么、什么不会发生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7964AD5-5CEC-4B00-B50E-F38BBDA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5181600"/>
            <a:ext cx="9944100" cy="9525"/>
          </a:xfrm>
          <a:custGeom xmlns:a="http://schemas.openxmlformats.org/drawingml/2006/main">
            <a:rect l="l" t="t" r="r" b="b"/>
            <a:pathLst>
              <a:path w="9944100" h="9525">
                <a:moveTo>
                  <a:pt x="0" y="0"/>
                </a:moveTo>
                <a:lnTo>
                  <a:pt x="9944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1C18CC42-D4AA-4E2B-8E1D-17B6A62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5029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70966C71-D604-4A8F-B761-91F0DF11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6182" y="4878705"/>
            <a:ext cx="694088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核心升级：智能体进展必须落到可核对的工作事实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ABD4ECB-7B54-4502-A799-F953B27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843ae46a22a840ae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b5cf98e576ed46ef"/>
              </a:rPr>
              <a:t>arxiv.org/abs/2210.03629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5291F2CA-A66F-4AAC-921E-33E3A11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02 / 30</a:t>
            </a:r>
          </a:p>
        </p:txBody>
      </p:sp>
    </p:spTree>
    <p:extLst>
      <p:ext uri="{BB962C8B-B14F-4D97-AF65-F5344CB8AC3E}">
        <p14:creationId xmlns:p14="http://schemas.microsoft.com/office/powerpoint/2010/main" val="10427972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330176-6432-4296-B6BD-A4B266A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72602AC-7B8A-4293-90B2-711647D8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588843-1278-446C-889B-1CA49E7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86230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一个底座、两层增强、三类控制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DCEC65-9958-4B2C-B236-2459003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596390"/>
            <a:ext cx="335134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三类控制：决定“能不能继续”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C4D3A0-51CB-44FC-928F-69EC1D6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0002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3AA0D2C-D04A-4DD2-B02C-13266AF8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256" y="2304256"/>
            <a:ext cx="20637" cy="20637"/>
          </a:xfrm>
          <a:custGeom xmlns:a="http://schemas.openxmlformats.org/drawingml/2006/main">
            <a:rect l="l" t="t" r="r" b="b"/>
            <a:pathLst>
              <a:path w="20637" h="20637">
                <a:moveTo>
                  <a:pt x="0" y="10319"/>
                </a:moveTo>
                <a:cubicBezTo>
                  <a:pt x="0" y="16018"/>
                  <a:pt x="4620" y="20637"/>
                  <a:pt x="10319" y="20637"/>
                </a:cubicBezTo>
                <a:cubicBezTo>
                  <a:pt x="16018" y="20637"/>
                  <a:pt x="20637" y="16018"/>
                  <a:pt x="20637" y="10319"/>
                </a:cubicBezTo>
                <a:cubicBezTo>
                  <a:pt x="20637" y="4620"/>
                  <a:pt x="16018" y="0"/>
                  <a:pt x="10319" y="0"/>
                </a:cubicBezTo>
                <a:cubicBezTo>
                  <a:pt x="4620" y="0"/>
                  <a:pt x="0" y="4620"/>
                  <a:pt x="0" y="103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1BAA3F0-BD6B-4471-B733-6A9B9D51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981" y="2262981"/>
            <a:ext cx="103187" cy="103187"/>
          </a:xfrm>
          <a:custGeom xmlns:a="http://schemas.openxmlformats.org/drawingml/2006/main">
            <a:rect l="l" t="t" r="r" b="b"/>
            <a:pathLst>
              <a:path w="103187" h="103187">
                <a:moveTo>
                  <a:pt x="51594" y="0"/>
                </a:moveTo>
                <a:cubicBezTo>
                  <a:pt x="23099" y="0"/>
                  <a:pt x="0" y="23099"/>
                  <a:pt x="0" y="51594"/>
                </a:cubicBezTo>
                <a:cubicBezTo>
                  <a:pt x="0" y="80088"/>
                  <a:pt x="23099" y="103187"/>
                  <a:pt x="51594" y="103187"/>
                </a:cubicBezTo>
                <a:cubicBezTo>
                  <a:pt x="80088" y="103187"/>
                  <a:pt x="103187" y="80088"/>
                  <a:pt x="103187" y="515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DBA61AF-1163-4802-B18A-E7C1378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749" y="2217875"/>
            <a:ext cx="197464" cy="197481"/>
          </a:xfrm>
          <a:custGeom xmlns:a="http://schemas.openxmlformats.org/drawingml/2006/main">
            <a:rect l="l" t="t" r="r" b="b"/>
            <a:pathLst>
              <a:path w="197464" h="197481">
                <a:moveTo>
                  <a:pt x="111144" y="4399"/>
                </a:moveTo>
                <a:cubicBezTo>
                  <a:pt x="71936" y="0"/>
                  <a:pt x="34229" y="20855"/>
                  <a:pt x="17114" y="56404"/>
                </a:cubicBezTo>
                <a:cubicBezTo>
                  <a:pt x="0" y="91952"/>
                  <a:pt x="7215" y="134434"/>
                  <a:pt x="35106" y="162340"/>
                </a:cubicBezTo>
                <a:cubicBezTo>
                  <a:pt x="62997" y="190245"/>
                  <a:pt x="105476" y="197481"/>
                  <a:pt x="141033" y="180385"/>
                </a:cubicBezTo>
                <a:cubicBezTo>
                  <a:pt x="176590" y="163288"/>
                  <a:pt x="197464" y="125591"/>
                  <a:pt x="193085" y="863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481D914-3569-4F71-A369-E539088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31" y="2221706"/>
            <a:ext cx="61912" cy="61912"/>
          </a:xfrm>
          <a:custGeom xmlns:a="http://schemas.openxmlformats.org/drawingml/2006/main">
            <a:rect l="l" t="t" r="r" b="b"/>
            <a:pathLst>
              <a:path w="61912" h="61912">
                <a:moveTo>
                  <a:pt x="0" y="30956"/>
                </a:moveTo>
                <a:lnTo>
                  <a:pt x="0" y="61912"/>
                </a:lnTo>
                <a:lnTo>
                  <a:pt x="30956" y="61912"/>
                </a:lnTo>
                <a:lnTo>
                  <a:pt x="61912" y="30956"/>
                </a:lnTo>
                <a:lnTo>
                  <a:pt x="30956" y="30956"/>
                </a:lnTo>
                <a:lnTo>
                  <a:pt x="30956" y="0"/>
                </a:lnTo>
                <a:lnTo>
                  <a:pt x="0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9A0F07F-318F-44B8-B0FD-81AF2A8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" y="2283618"/>
            <a:ext cx="30956" cy="30956"/>
          </a:xfrm>
          <a:custGeom xmlns:a="http://schemas.openxmlformats.org/drawingml/2006/main">
            <a:rect l="l" t="t" r="r" b="b"/>
            <a:pathLst>
              <a:path w="30956" h="30956">
                <a:moveTo>
                  <a:pt x="30956" y="0"/>
                </a:moveTo>
                <a:lnTo>
                  <a:pt x="0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97F416-D1BF-4BE8-9F7D-BD0B1BBD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2186940"/>
            <a:ext cx="158629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任务控制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880296-B3A8-49F7-BD95-69740D8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25293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目标、范围、预算、暂停、停止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2C9FE3A-D97F-4DFE-958A-34E2BE6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2194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6BFD831-FA0F-4640-A15E-E2EE0D0C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618" y="3502818"/>
            <a:ext cx="61912" cy="61912"/>
          </a:xfrm>
          <a:custGeom xmlns:a="http://schemas.openxmlformats.org/drawingml/2006/main">
            <a:rect l="l" t="t" r="r" b="b"/>
            <a:pathLst>
              <a:path w="61912" h="61912">
                <a:moveTo>
                  <a:pt x="0" y="61912"/>
                </a:move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81E8C63-17AA-47C0-9688-85B9405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256" y="3446183"/>
            <a:ext cx="97895" cy="97910"/>
          </a:xfrm>
          <a:custGeom xmlns:a="http://schemas.openxmlformats.org/drawingml/2006/main">
            <a:rect l="l" t="t" r="r" b="b"/>
            <a:pathLst>
              <a:path w="97895" h="97910">
                <a:moveTo>
                  <a:pt x="0" y="25679"/>
                </a:moveTo>
                <a:lnTo>
                  <a:pt x="4778" y="20148"/>
                </a:lnTo>
                <a:cubicBezTo>
                  <a:pt x="24929" y="0"/>
                  <a:pt x="57598" y="2"/>
                  <a:pt x="77746" y="20154"/>
                </a:cubicBezTo>
                <a:cubicBezTo>
                  <a:pt x="97895" y="40305"/>
                  <a:pt x="97892" y="72974"/>
                  <a:pt x="77741" y="93122"/>
                </a:cubicBezTo>
                <a:lnTo>
                  <a:pt x="72231" y="9791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CE4C404-4D37-4B8A-8DB6-0E5266C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023" y="3523456"/>
            <a:ext cx="92870" cy="97889"/>
          </a:xfrm>
          <a:custGeom xmlns:a="http://schemas.openxmlformats.org/drawingml/2006/main">
            <a:rect l="l" t="t" r="r" b="b"/>
            <a:pathLst>
              <a:path w="92870" h="97889">
                <a:moveTo>
                  <a:pt x="92870" y="72231"/>
                </a:moveTo>
                <a:lnTo>
                  <a:pt x="88773" y="77741"/>
                </a:lnTo>
                <a:cubicBezTo>
                  <a:pt x="68399" y="97889"/>
                  <a:pt x="35606" y="97889"/>
                  <a:pt x="15232" y="77741"/>
                </a:cubicBezTo>
                <a:cubicBezTo>
                  <a:pt x="5485" y="68104"/>
                  <a:pt x="0" y="54966"/>
                  <a:pt x="0" y="41259"/>
                </a:cubicBezTo>
                <a:cubicBezTo>
                  <a:pt x="0" y="27552"/>
                  <a:pt x="5485" y="14415"/>
                  <a:pt x="15232" y="4778"/>
                </a:cubicBezTo>
                <a:lnTo>
                  <a:pt x="206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4158181-748D-4A30-8C30-6B33EF62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3406140"/>
            <a:ext cx="208192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证据控制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05E5D6E-B00F-4AA4-BB6B-DBC61402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37485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来源、冲突、验证、采用与拒绝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CA89BB4-72CB-4C73-B3A3-CBD57969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438650"/>
            <a:ext cx="2590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4A5CE2B-80D3-48FA-880D-C1F83813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781" y="4660106"/>
            <a:ext cx="201506" cy="184148"/>
          </a:xfrm>
          <a:custGeom xmlns:a="http://schemas.openxmlformats.org/drawingml/2006/main"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E23B2E6-8317-4C99-9BF8-B5C511A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531" y="4804568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40F38D2-BDF3-47B5-A8F0-3890A3DE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556" y="4625340"/>
            <a:ext cx="180198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动作控制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9A483B2-0200-4C9A-B8B5-578CF94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3" y="4967764"/>
            <a:ext cx="248190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风险、审批、执行许可、动作回执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E324429-8DF7-4523-BE59-579C54C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1756" y="1596390"/>
            <a:ext cx="408919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两层增强：任务越复杂，运行时越强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CF20C72E-1DAA-4AC7-9840-B638CCD5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2000250"/>
            <a:ext cx="5124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1AFD19C-9322-4004-97A9-1F9951E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6963" y="2387601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D3618E1E-C8AA-4C16-9D81-F76D12D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6963" y="225425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73D3483E-2A6A-4274-989D-55F39B2A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8088" y="2254250"/>
            <a:ext cx="44450" cy="44450"/>
          </a:xfrm>
          <a:custGeom xmlns:a="http://schemas.openxmlformats.org/drawingml/2006/main"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912FE70-AC4F-46B7-A1B9-67A1711D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9188" y="229870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E148198-CB67-4B0C-BEA6-05A33D7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1413" y="2332038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77788"/>
                </a:moveTo>
                <a:lnTo>
                  <a:pt x="66675" y="77788"/>
                </a:lnTo>
                <a:cubicBezTo>
                  <a:pt x="78950" y="77788"/>
                  <a:pt x="88900" y="67837"/>
                  <a:pt x="88900" y="55563"/>
                </a:cubicBez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FFF0CF5-16F8-4F92-AE36-A1C835C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6975" y="2332038"/>
            <a:ext cx="66675" cy="33338"/>
          </a:xfrm>
          <a:custGeom xmlns:a="http://schemas.openxmlformats.org/drawingml/2006/main">
            <a:rect l="l" t="t" r="r" b="b"/>
            <a:pathLst>
              <a:path w="66675" h="33338">
                <a:moveTo>
                  <a:pt x="0" y="33338"/>
                </a:moveTo>
                <a:lnTo>
                  <a:pt x="33338" y="0"/>
                </a:lnTo>
                <a:lnTo>
                  <a:pt x="66675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001C356A-93D6-4D05-BFAC-B5274E68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3449" y="2192179"/>
            <a:ext cx="3640515" cy="308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2：受治理的自适应协作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605D574-4E7B-44B5-8176-4F0557E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5685" y="2507456"/>
            <a:ext cx="3616996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当前：路线准入 → 工作包依赖图 → 最多 3 个只读执行单元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F2741B5-A2EB-4141-BFB4-3315650E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6447" y="2742724"/>
            <a:ext cx="4050682" cy="19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下一步：持久队列、远程执行与多实例调度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CBACDD7-4756-406E-883D-090D1053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3125" y="3009900"/>
            <a:ext cx="9525" cy="209550"/>
          </a:xfrm>
          <a:custGeom xmlns:a="http://schemas.openxmlformats.org/drawingml/2006/main"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52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4165D7C2-E437-490F-A65A-4917E8A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3219450"/>
            <a:ext cx="5124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79B8FDF-CB97-40A5-93D3-8E51992E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850" y="34691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177801" y="82075"/>
                </a:moveTo>
                <a:cubicBezTo>
                  <a:pt x="172214" y="41876"/>
                  <a:pt x="140416" y="10388"/>
                  <a:pt x="100165" y="5194"/>
                </a:cubicBezTo>
                <a:cubicBezTo>
                  <a:pt x="59913" y="0"/>
                  <a:pt x="21164" y="22386"/>
                  <a:pt x="5556" y="59850"/>
                </a:cubicBezTo>
                <a:moveTo>
                  <a:pt x="0" y="15400"/>
                </a:moveTo>
                <a:lnTo>
                  <a:pt x="0" y="59850"/>
                </a:lnTo>
                <a:lnTo>
                  <a:pt x="44450" y="59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633F003-4D1A-4C84-A87C-8FE1221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850" y="3573463"/>
            <a:ext cx="177801" cy="82075"/>
          </a:xfrm>
          <a:custGeom xmlns:a="http://schemas.openxmlformats.org/drawingml/2006/main">
            <a:rect l="l" t="t" r="r" b="b"/>
            <a:pathLst>
              <a:path w="177801" h="82075">
                <a:moveTo>
                  <a:pt x="0" y="0"/>
                </a:moveTo>
                <a:cubicBezTo>
                  <a:pt x="5587" y="40199"/>
                  <a:pt x="37384" y="71688"/>
                  <a:pt x="77636" y="76881"/>
                </a:cubicBezTo>
                <a:cubicBezTo>
                  <a:pt x="117888" y="82075"/>
                  <a:pt x="156637" y="59689"/>
                  <a:pt x="172244" y="22225"/>
                </a:cubicBezTo>
                <a:moveTo>
                  <a:pt x="177801" y="66675"/>
                </a:moveTo>
                <a:lnTo>
                  <a:pt x="177801" y="22225"/>
                </a:lnTo>
                <a:lnTo>
                  <a:pt x="133350" y="22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2C450CC4-7A8D-4F2A-AB98-A232A442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2306" y="3425190"/>
            <a:ext cx="33610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1：智能体控制循环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29319758-343E-46F4-9F72-B810147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923" y="3767614"/>
            <a:ext cx="51432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长任务按轮推进，受影响分支单独补证，历史成果可恢复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BA50BED-1351-478F-93FD-3E24ABED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3125" y="4229100"/>
            <a:ext cx="9525" cy="209550"/>
          </a:xfrm>
          <a:custGeom xmlns:a="http://schemas.openxmlformats.org/drawingml/2006/main"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61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130652D5-27BF-49B8-8B21-30B90C3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900" y="4438650"/>
            <a:ext cx="51244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90FD43E-3A16-48FC-B3BE-0104484B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7119" y="4695825"/>
            <a:ext cx="214312" cy="95250"/>
          </a:xfrm>
          <a:custGeom xmlns:a="http://schemas.openxmlformats.org/drawingml/2006/main"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4AA43975-7CA9-44D9-A222-ECD3703C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7119" y="4791075"/>
            <a:ext cx="214312" cy="95250"/>
          </a:xfrm>
          <a:custGeom xmlns:a="http://schemas.openxmlformats.org/drawingml/2006/main"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  <a:lnTo>
                  <a:pt x="0" y="357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638A4378-6CBA-4422-BAEB-AB7375DA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744" y="47434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EB7CFC32-8F53-4E32-A26B-2B23AAE5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744" y="483870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CC90294E-8DF7-4E51-B88D-88B94DE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8882" y="4650105"/>
            <a:ext cx="4064452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底座：统一任务运行底座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A825F446-6BF9-47FA-84B8-018C2E38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923" y="5043964"/>
            <a:ext cx="46805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稳定承接任务状态、执行能力、证据、策略与历史记录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CAAA74CE-0008-4326-9EC8-5533BA8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11006" y="1596390"/>
            <a:ext cx="25626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前台最终只回答三件事</a:t>
            </a:r>
          </a:p>
        </p:txBody>
      </p:sp>
      <p:sp>
        <p:nvSpPr>
          <p:cNvPr id="72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E1B26533-A567-4865-8AAC-001E7EDD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150" y="2000250"/>
            <a:ext cx="2876550" cy="3505200"/>
          </a:xfrm>
          <a:prstGeom xmlns:a="http://schemas.openxmlformats.org/drawingml/2006/main" prst="roundRect">
            <a:avLst>
              <a:gd name="adj" fmla="val 19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73" name="Ellipse 73">
            <a:extLst xmlns:a="http://schemas.openxmlformats.org/drawingml/2006/main">
              <a:ext uri="{FF2B5EF4-FFF2-40B4-BE49-F238E27FC236}">
                <a16:creationId xmlns:a16="http://schemas.microsoft.com/office/drawing/2014/main" id="{E9830093-7DF6-4A3C-BD70-DCE60E6E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224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67A6957D-C599-4AFB-91EC-7696F91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23388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4CB61C3A-E0DE-403C-A0B8-4602F12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22245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任务现在走到哪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E61E9AC7-4769-490A-8F76-FCA14612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8750" y="2895600"/>
            <a:ext cx="2419350" cy="9525"/>
          </a:xfrm>
          <a:custGeom xmlns:a="http://schemas.openxmlformats.org/drawingml/2006/main"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78" name="Ellipse 78">
            <a:extLst xmlns:a="http://schemas.openxmlformats.org/drawingml/2006/main">
              <a:ext uri="{FF2B5EF4-FFF2-40B4-BE49-F238E27FC236}">
                <a16:creationId xmlns:a16="http://schemas.microsoft.com/office/drawing/2014/main" id="{9421D9E2-B343-4879-8AB3-D5BE2B72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EF433420-ACE2-4F28-A8A1-A2CD0FD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32342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8A8839D3-F576-4DCF-AA3B-AF248BC1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3119914"/>
            <a:ext cx="16349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当前结论凭什么成立</a:t>
            </a:r>
          </a:p>
        </p:txBody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35CB09E2-8D32-44B0-B99E-68E8E6C6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8750" y="3790950"/>
            <a:ext cx="2419350" cy="9525"/>
          </a:xfrm>
          <a:custGeom xmlns:a="http://schemas.openxmlformats.org/drawingml/2006/main"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83" name="Ellipse 83">
            <a:extLst xmlns:a="http://schemas.openxmlformats.org/drawingml/2006/main">
              <a:ext uri="{FF2B5EF4-FFF2-40B4-BE49-F238E27FC236}">
                <a16:creationId xmlns:a16="http://schemas.microsoft.com/office/drawing/2014/main" id="{A400E67D-EEA7-4534-9BC2-67C0B1B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4038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9494709-B4DC-44E9-83CC-0A40653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8912" y="41295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9E0AC32C-94FE-4AC2-BE21-C870E96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3273" y="40152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哪些动作发生了</a:t>
            </a:r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6C27DEC1-8B69-45B3-AF10-CFE36C2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dadaad182ff141f4"/>
              </a:rPr>
              <a:t>arxiv.org/abs/2210.03629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8874262e787437e"/>
              </a:rPr>
              <a:t>docs.langchain.com/.../langgraph/persistence</a:t>
            </a:r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E96ACB87-707C-4BF5-927C-AD41CA13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03 / 30</a:t>
            </a:r>
          </a:p>
        </p:txBody>
      </p:sp>
    </p:spTree>
    <p:extLst>
      <p:ext uri="{BB962C8B-B14F-4D97-AF65-F5344CB8AC3E}">
        <p14:creationId xmlns:p14="http://schemas.microsoft.com/office/powerpoint/2010/main" val="14109912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DE3F5B-D579-46FA-B7F7-DBCC6557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D2DE7C-2F77-415C-9047-90A301E5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4788990-16C6-447A-A361-903BC1F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45743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智能体最小运行时：八个稳定职责</a:t>
            </a:r>
          </a:p>
        </p:txBody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46518A69-799E-45F7-A427-A42B950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D606AA04-7B9A-4A69-9CB4-070F23E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BDAF4DF8-D282-4550-8168-8EAC74A2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182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98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F6B0AE-98EE-4754-ACE0-7452C20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416" y="1639252"/>
            <a:ext cx="6043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责任阶段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EA532EF-CEC4-4CBE-8DB5-B96ADAB7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3016" y="1639252"/>
            <a:ext cx="90117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两个稳定模块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6A6AC09-050F-4CC2-80FE-A447EFD7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4566" y="1639252"/>
            <a:ext cx="1198016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后端必须负责什么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E35826A-5C09-4D55-AA68-61B251F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1639252"/>
            <a:ext cx="10495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前台要回答什么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E121254-C558-4328-A593-FA438143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8859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1F4C1E8-8590-419D-9ED3-D57CC99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8859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AD06CA-8691-40F1-BE90-9CE6D27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20721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C5056BF-4467-46E8-A4C8-C7A2150C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32029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定范围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3007D9F-96A9-49A3-8D6F-199A53F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2481" y="2107406"/>
            <a:ext cx="144462" cy="134143"/>
          </a:xfrm>
          <a:custGeom xmlns:a="http://schemas.openxmlformats.org/drawingml/2006/main">
            <a:rect l="l" t="t" r="r" b="b"/>
            <a:pathLst>
              <a:path w="144462" h="134143">
                <a:moveTo>
                  <a:pt x="20637" y="0"/>
                </a:moveTo>
                <a:lnTo>
                  <a:pt x="51594" y="0"/>
                </a:lnTo>
                <a:lnTo>
                  <a:pt x="72231" y="20637"/>
                </a:lnTo>
                <a:lnTo>
                  <a:pt x="123825" y="20637"/>
                </a:lnTo>
                <a:cubicBezTo>
                  <a:pt x="135222" y="20637"/>
                  <a:pt x="144462" y="29877"/>
                  <a:pt x="144462" y="41275"/>
                </a:cubicBez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1274EDB-5E8C-4E98-A87C-8D430778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206" y="2148681"/>
            <a:ext cx="144462" cy="134143"/>
          </a:xfrm>
          <a:custGeom xmlns:a="http://schemas.openxmlformats.org/drawingml/2006/main">
            <a:rect l="l" t="t" r="r" b="b"/>
            <a:pathLst>
              <a:path w="144462" h="134143">
                <a:moveTo>
                  <a:pt x="144462" y="92868"/>
                </a:move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402715-B532-4404-BDD7-EB702F1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2129314"/>
            <a:ext cx="3011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Workspace Catalog &amp; Safe Preview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B059252-6734-4037-8ECC-955C6AC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2451894"/>
            <a:ext cx="144462" cy="165099"/>
          </a:xfrm>
          <a:custGeom xmlns:a="http://schemas.openxmlformats.org/drawingml/2006/main">
            <a:rect l="l" t="t" r="r" b="b"/>
            <a:pathLst>
              <a:path w="144462" h="165099">
                <a:moveTo>
                  <a:pt x="41275" y="0"/>
                </a:moveTo>
                <a:lnTo>
                  <a:pt x="20637" y="0"/>
                </a:lnTo>
                <a:cubicBezTo>
                  <a:pt x="9240" y="0"/>
                  <a:pt x="0" y="9240"/>
                  <a:pt x="0" y="20637"/>
                </a:cubicBezTo>
                <a:lnTo>
                  <a:pt x="0" y="144462"/>
                </a:lnTo>
                <a:cubicBezTo>
                  <a:pt x="0" y="155860"/>
                  <a:pt x="9240" y="165099"/>
                  <a:pt x="20637" y="165099"/>
                </a:cubicBezTo>
                <a:lnTo>
                  <a:pt x="123825" y="165099"/>
                </a:lnTo>
                <a:cubicBezTo>
                  <a:pt x="135222" y="165099"/>
                  <a:pt x="144462" y="155860"/>
                  <a:pt x="144462" y="144462"/>
                </a:cubicBezTo>
                <a:lnTo>
                  <a:pt x="144462" y="20637"/>
                </a:lnTo>
                <a:cubicBezTo>
                  <a:pt x="144462" y="9240"/>
                  <a:pt x="135222" y="0"/>
                  <a:pt x="123825" y="0"/>
                </a:cubicBezTo>
                <a:lnTo>
                  <a:pt x="1031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4FCE2F-0199-43E5-9203-FA20CC2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2431256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  <a:cubicBezTo>
                  <a:pt x="52673" y="0"/>
                  <a:pt x="61912" y="9240"/>
                  <a:pt x="61912" y="20637"/>
                </a:cubicBezTo>
                <a:cubicBezTo>
                  <a:pt x="61912" y="32035"/>
                  <a:pt x="52673" y="41275"/>
                  <a:pt x="41275" y="41275"/>
                </a:cubicBezTo>
                <a:lnTo>
                  <a:pt x="20637" y="41275"/>
                </a:lnTo>
                <a:cubicBezTo>
                  <a:pt x="9240" y="41275"/>
                  <a:pt x="0" y="32035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969E945-41B5-4CC4-A4E8-C908F60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2524125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3779E7-96AA-407C-A3F1-94AD217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24531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Task Contract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56061CA-F634-470A-97FB-80EE48C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20721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限定能读的资料；冻结目标、范围、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36985B1-A794-4A06-9CF7-49AD9793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231981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完成条件和禁止事项。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9AFC82A-1528-498E-9F9A-3E926D66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2072164"/>
            <a:ext cx="165297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“你读了哪些资料？”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4F677B4-FFD5-4466-BF9C-D675D11C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2363152"/>
            <a:ext cx="170688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目录、来源范围、任务自述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4686093-CC60-4742-887B-28E7ACE4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765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EDF447C4-CADA-42A4-92EA-6E3E1AE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765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5F9BFDC-EA4D-490F-8B21-00CF0533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0627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68D5DCD-87EC-4FD8-A23D-4C62E52A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331089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定计划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5AA426B-5015-4821-AC03-5FDF6D9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206" y="3242468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16D99FC-AED4-46A6-BF78-B073A742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5668" y="3098006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20637" y="41275"/>
                </a:move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  <a:cubicBezTo>
                  <a:pt x="0" y="32035"/>
                  <a:pt x="9240" y="41275"/>
                  <a:pt x="20637" y="412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92F555E-A7CC-4404-BFA7-DD208B9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3118644"/>
            <a:ext cx="154781" cy="144462"/>
          </a:xfrm>
          <a:custGeom xmlns:a="http://schemas.openxmlformats.org/drawingml/2006/main">
            <a:rect l="l" t="t" r="r" b="b"/>
            <a:pathLst>
              <a:path w="154781" h="144462">
                <a:moveTo>
                  <a:pt x="61912" y="144462"/>
                </a:moveTo>
                <a:lnTo>
                  <a:pt x="118665" y="144462"/>
                </a:lnTo>
                <a:cubicBezTo>
                  <a:pt x="138611" y="144462"/>
                  <a:pt x="154781" y="128293"/>
                  <a:pt x="154781" y="108347"/>
                </a:cubicBezTo>
                <a:cubicBezTo>
                  <a:pt x="154781" y="88400"/>
                  <a:pt x="138611" y="72231"/>
                  <a:pt x="118665" y="72231"/>
                </a:cubicBezTo>
                <a:lnTo>
                  <a:pt x="36116" y="72231"/>
                </a:lnTo>
                <a:cubicBezTo>
                  <a:pt x="16169" y="72231"/>
                  <a:pt x="0" y="56062"/>
                  <a:pt x="0" y="36116"/>
                </a:cubicBezTo>
                <a:cubicBezTo>
                  <a:pt x="0" y="16169"/>
                  <a:pt x="16169" y="0"/>
                  <a:pt x="36116" y="0"/>
                </a:cubicBez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3F06DDA2-8E54-409D-9BB1-399CFFA7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3119914"/>
            <a:ext cx="667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Planner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36556BF-9BAB-4891-B976-990CB20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7281" y="3421856"/>
            <a:ext cx="201506" cy="184148"/>
          </a:xfrm>
          <a:custGeom xmlns:a="http://schemas.openxmlformats.org/drawingml/2006/main"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79C404F-5F43-43C5-A934-E542B6B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031" y="3566318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49207104-02F5-4906-A577-007CE17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3443764"/>
            <a:ext cx="37456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Admission, Policy Compiler &amp; Plan Validator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CA81DCC3-8661-46BC-9F6F-E1862DC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3062764"/>
            <a:ext cx="29308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模型先提议路线；服务端再校验预算、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AEDC23C4-052E-45BE-9F50-3632908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331041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依赖、资料范围和副作用。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13ACA6BA-F6CE-4DE2-BD64-0371BD3A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3062764"/>
            <a:ext cx="14727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“为什么这样拆？”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8C6B96AE-F2F4-4BCD-B338-250AE18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3353752"/>
            <a:ext cx="184823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分支、依赖、驳回与修复原因</a:t>
            </a:r>
          </a:p>
        </p:txBody>
      </p:sp>
      <p:sp>
        <p:nvSpPr>
          <p:cNvPr id="58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6CEEF4FF-9132-429C-B1D9-DF37A214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8671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9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E8C6769F-F8EB-456E-81F0-A1C41363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8671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A3F52236-1036-4187-92DF-CE71332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40533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95CABB53-118F-44E5-BF31-718A4D0F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43014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推进执行</a:t>
            </a:r>
          </a:p>
        </p:txBody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3264995-8FEC-47FA-81D3-5B24C14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4222749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3712A960-E720-4942-88E4-94C507E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4098925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5F41EB2-048F-4395-A95B-69A7E961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031" y="4098925"/>
            <a:ext cx="41275" cy="41275"/>
          </a:xfrm>
          <a:custGeom xmlns:a="http://schemas.openxmlformats.org/drawingml/2006/main"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B520FE62-6DE9-4BDD-940D-E27AAD0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2481" y="4140200"/>
            <a:ext cx="9525" cy="82550"/>
          </a:xfrm>
          <a:custGeom xmlns:a="http://schemas.openxmlformats.org/drawingml/2006/main">
            <a:rect l="l" t="t" r="r" b="b"/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0290A269-6774-4DC3-B4C1-D7FFAA7C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118" y="4171156"/>
            <a:ext cx="82550" cy="72231"/>
          </a:xfrm>
          <a:custGeom xmlns:a="http://schemas.openxmlformats.org/drawingml/2006/main">
            <a:rect l="l" t="t" r="r" b="b"/>
            <a:pathLst>
              <a:path w="82550" h="72231">
                <a:moveTo>
                  <a:pt x="0" y="72231"/>
                </a:moveTo>
                <a:lnTo>
                  <a:pt x="61912" y="72231"/>
                </a:lnTo>
                <a:cubicBezTo>
                  <a:pt x="73310" y="72231"/>
                  <a:pt x="82550" y="62991"/>
                  <a:pt x="82550" y="51594"/>
                </a:cubicBez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1B67424F-C5A9-42BD-B94F-01827ED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4712" y="4171156"/>
            <a:ext cx="61912" cy="30956"/>
          </a:xfrm>
          <a:custGeom xmlns:a="http://schemas.openxmlformats.org/drawingml/2006/main">
            <a:rect l="l" t="t" r="r" b="b"/>
            <a:pathLst>
              <a:path w="61912" h="30956">
                <a:moveTo>
                  <a:pt x="0" y="30956"/>
                </a:moveTo>
                <a:lnTo>
                  <a:pt x="30956" y="0"/>
                </a:lnTo>
                <a:lnTo>
                  <a:pt x="61912" y="30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8F6A6016-DB01-4D33-8604-E5A807C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4110514"/>
            <a:ext cx="25010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Scheduler &amp; Worker Manager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E9809513-3695-402C-B0AB-C085E2B0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8088" y="4443412"/>
            <a:ext cx="127898" cy="127898"/>
          </a:xfrm>
          <a:custGeom xmlns:a="http://schemas.openxmlformats.org/drawingml/2006/main">
            <a:rect l="l" t="t" r="r" b="b"/>
            <a:pathLst>
              <a:path w="127898" h="127898">
                <a:moveTo>
                  <a:pt x="43130" y="0"/>
                </a:moveTo>
                <a:lnTo>
                  <a:pt x="127898" y="84768"/>
                </a:lnTo>
                <a:lnTo>
                  <a:pt x="106704" y="105963"/>
                </a:lnTo>
                <a:cubicBezTo>
                  <a:pt x="91664" y="121604"/>
                  <a:pt x="69346" y="127898"/>
                  <a:pt x="48350" y="122419"/>
                </a:cubicBezTo>
                <a:cubicBezTo>
                  <a:pt x="27355" y="116941"/>
                  <a:pt x="10958" y="100544"/>
                  <a:pt x="5479" y="79548"/>
                </a:cubicBezTo>
                <a:cubicBezTo>
                  <a:pt x="0" y="58552"/>
                  <a:pt x="6294" y="36234"/>
                  <a:pt x="21936" y="21195"/>
                </a:cubicBezTo>
                <a:lnTo>
                  <a:pt x="431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769731A-6F49-4F1B-812B-397C7BD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4551759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0" y="36116"/>
                </a:moveTo>
                <a:lnTo>
                  <a:pt x="36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90E7BFAD-CDA9-4620-A4EF-786DA6F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8915" y="4422775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993F4EBA-8516-481E-AA43-33283C9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0509" y="4474368"/>
            <a:ext cx="36116" cy="36116"/>
          </a:xfrm>
          <a:custGeom xmlns:a="http://schemas.openxmlformats.org/drawingml/2006/main"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C8A98"/>
            </a:solidFill>
          </a:ln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07FA76FE-9884-4A31-9B26-619BE35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4434364"/>
            <a:ext cx="116004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Tool Gateway</a:t>
            </a:r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1C256967-34FE-4A84-9B43-4C5DBCB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40533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决定分支顺序、依赖、谁来做；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89D75C9D-0858-4552-8685-85765A3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4301014"/>
            <a:ext cx="30969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当前支持显式批次与受限只读执行单元。</a:t>
            </a:r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3E417FD-220E-4469-A906-1674A990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4053364"/>
            <a:ext cx="165297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“现在做到哪一步？”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683CB452-3618-4460-B017-0523377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4325302"/>
            <a:ext cx="186943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当前：单进程，每波最多 3 个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89598480-E3C6-458D-A3D0-850AFA7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4515802"/>
            <a:ext cx="1524409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Tool Gateway 仍是目标</a:t>
            </a:r>
          </a:p>
        </p:txBody>
      </p:sp>
      <p:sp>
        <p:nvSpPr>
          <p:cNvPr id="82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204D0C32-7EFD-4002-AE21-B42324EC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857750"/>
            <a:ext cx="112014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83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FE0D107B-E6D8-4FC9-8C71-BCC46698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857750"/>
            <a:ext cx="12763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EF2A6CA2-9FD3-4B28-8C35-18328B0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50439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0B64E376-B598-4073-8EA2-7CC45E2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52920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成果恢复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F3FCE4F2-49A8-4FD0-8EC3-D4B6005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4712" y="5079206"/>
            <a:ext cx="51594" cy="51594"/>
          </a:xfrm>
          <a:custGeom xmlns:a="http://schemas.openxmlformats.org/drawingml/2006/main">
            <a:rect l="l" t="t" r="r" b="b"/>
            <a:pathLst>
              <a:path w="51594" h="51594">
                <a:moveTo>
                  <a:pt x="0" y="0"/>
                </a:moveTo>
                <a:lnTo>
                  <a:pt x="0" y="41275"/>
                </a:lnTo>
                <a:cubicBezTo>
                  <a:pt x="0" y="46974"/>
                  <a:pt x="4620" y="51594"/>
                  <a:pt x="10319" y="51594"/>
                </a:cubicBezTo>
                <a:lnTo>
                  <a:pt x="51594" y="515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C119D490-37E9-4A9B-8B70-1CBC5CD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1844" y="5079206"/>
            <a:ext cx="144462" cy="185737"/>
          </a:xfrm>
          <a:custGeom xmlns:a="http://schemas.openxmlformats.org/drawingml/2006/main">
            <a:rect l="l" t="t" r="r" b="b"/>
            <a:pathLst>
              <a:path w="144462" h="185737">
                <a:moveTo>
                  <a:pt x="123825" y="185737"/>
                </a:moveTo>
                <a:lnTo>
                  <a:pt x="20637" y="185737"/>
                </a:lnTo>
                <a:cubicBezTo>
                  <a:pt x="9240" y="185737"/>
                  <a:pt x="0" y="176497"/>
                  <a:pt x="0" y="165099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92868" y="0"/>
                </a:lnTo>
                <a:lnTo>
                  <a:pt x="144462" y="51594"/>
                </a:lnTo>
                <a:lnTo>
                  <a:pt x="144462" y="165099"/>
                </a:lnTo>
                <a:cubicBezTo>
                  <a:pt x="144462" y="176497"/>
                  <a:pt x="135222" y="185737"/>
                  <a:pt x="123825" y="1857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C6E533ED-BA44-4BC1-94CA-5D051741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800" y="5161756"/>
            <a:ext cx="82550" cy="72231"/>
          </a:xfrm>
          <a:custGeom xmlns:a="http://schemas.openxmlformats.org/drawingml/2006/main">
            <a:rect l="l" t="t" r="r" b="b"/>
            <a:pathLst>
              <a:path w="82550" h="72231">
                <a:moveTo>
                  <a:pt x="0" y="0"/>
                </a:moveTo>
                <a:lnTo>
                  <a:pt x="82550" y="0"/>
                </a:lnTo>
                <a:lnTo>
                  <a:pt x="82550" y="72231"/>
                </a:lnTo>
                <a:lnTo>
                  <a:pt x="0" y="722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4A6A04FF-9A10-4226-9EA8-8DC106B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800" y="5203031"/>
            <a:ext cx="82550" cy="9525"/>
          </a:xfrm>
          <a:custGeom xmlns:a="http://schemas.openxmlformats.org/drawingml/2006/main">
            <a:rect l="l" t="t" r="r" b="b"/>
            <a:pathLst>
              <a:path w="82550" h="9525">
                <a:moveTo>
                  <a:pt x="0" y="0"/>
                </a:moveTo>
                <a:lnTo>
                  <a:pt x="8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D0F84752-E599-4CE6-A2B2-B94CA823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3756" y="5161756"/>
            <a:ext cx="9525" cy="72231"/>
          </a:xfrm>
          <a:custGeom xmlns:a="http://schemas.openxmlformats.org/drawingml/2006/main">
            <a:rect l="l" t="t" r="r" b="b"/>
            <a:pathLst>
              <a:path w="9525" h="72231">
                <a:moveTo>
                  <a:pt x="0" y="0"/>
                </a:moveTo>
                <a:lnTo>
                  <a:pt x="0" y="722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DDBA5358-0FB8-44C8-B294-2C0C52D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5101114"/>
            <a:ext cx="267114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Artifact Workspace &amp; Verifier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10C70C33-1DB5-4808-B856-7C22D355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03056"/>
            <a:ext cx="165099" cy="61912"/>
          </a:xfrm>
          <a:custGeom xmlns:a="http://schemas.openxmlformats.org/drawingml/2006/main">
            <a:rect l="l" t="t" r="r" b="b"/>
            <a:pathLst>
              <a:path w="165099" h="61912">
                <a:moveTo>
                  <a:pt x="0" y="30956"/>
                </a:moveTo>
                <a:cubicBezTo>
                  <a:pt x="0" y="48053"/>
                  <a:pt x="36959" y="61912"/>
                  <a:pt x="82550" y="61912"/>
                </a:cubicBezTo>
                <a:cubicBezTo>
                  <a:pt x="128141" y="61912"/>
                  <a:pt x="165099" y="48053"/>
                  <a:pt x="165099" y="30956"/>
                </a:cubicBezTo>
                <a:cubicBezTo>
                  <a:pt x="165099" y="13860"/>
                  <a:pt x="128141" y="0"/>
                  <a:pt x="82550" y="0"/>
                </a:cubicBezTo>
                <a:cubicBezTo>
                  <a:pt x="36959" y="0"/>
                  <a:pt x="0" y="13860"/>
                  <a:pt x="0" y="3095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77BC470B-3A76-4F99-9F0D-1D30DCC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34012"/>
            <a:ext cx="165099" cy="92868"/>
          </a:xfrm>
          <a:custGeom xmlns:a="http://schemas.openxmlformats.org/drawingml/2006/main"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EA95F2F6-340E-4BE3-947D-06555FE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25" y="5495925"/>
            <a:ext cx="165099" cy="92868"/>
          </a:xfrm>
          <a:custGeom xmlns:a="http://schemas.openxmlformats.org/drawingml/2006/main"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DF0DD5D1-ADF1-4874-A9AE-C3E04F5C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6673" y="5424964"/>
            <a:ext cx="353400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Checkpoint, Event &amp; Governance Control</a:t>
            </a:r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87FB8FB9-DDF8-4E41-B6D6-58B1E1F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5043964"/>
            <a:ext cx="312434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保存成果版本与校验；让 Snapshot 成为</a:t>
            </a:r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CEFDFA38-71C0-4B0D-8A12-0B9B41D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3423" y="529161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状态权威，事件只负责有序投影。</a:t>
            </a:r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2AC27158-ACB9-4934-9017-03F2981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773" y="5043964"/>
            <a:ext cx="25540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“结果能否下载、核对、恢复？”</a:t>
            </a:r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AA951B94-7BA2-4885-9AC7-B0142A7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4916" y="5334952"/>
            <a:ext cx="241363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固定成果校验、版本、审计与重启恢复</a:t>
            </a:r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446E77BB-AFBE-402F-A434-773C46AD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11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04 / 30</a:t>
            </a:r>
          </a:p>
        </p:txBody>
      </p:sp>
    </p:spTree>
    <p:extLst>
      <p:ext uri="{BB962C8B-B14F-4D97-AF65-F5344CB8AC3E}">
        <p14:creationId xmlns:p14="http://schemas.microsoft.com/office/powerpoint/2010/main" val="1042387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F54192-DC96-4111-8857-AD69E598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99227EB-656C-4294-8BD0-23697CD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8413605-1953-4580-997E-5A92BCC1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374644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技术演进：工程对象不断外扩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34BC057-066B-4645-871A-F9AF79A1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59205"/>
            <a:ext cx="757130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不是模型突然变成智能体，而是系统逐步接管更多责任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20A7A94-894D-4784-BC84-B24DE003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362200"/>
            <a:ext cx="11201400" cy="2076450"/>
          </a:xfrm>
          <a:custGeom xmlns:a="http://schemas.openxmlformats.org/drawingml/2006/main">
            <a:rect l="l" t="t" r="r" b="b"/>
            <a:pathLst>
              <a:path w="11201400" h="2076450">
                <a:moveTo>
                  <a:pt x="0" y="0"/>
                </a:moveTo>
                <a:lnTo>
                  <a:pt x="11201400" y="0"/>
                </a:lnTo>
                <a:lnTo>
                  <a:pt x="11201400" y="2076450"/>
                </a:lnTo>
                <a:lnTo>
                  <a:pt x="0" y="2076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814A4D2-F9BC-4FB6-9B0A-0E165971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362200"/>
            <a:ext cx="2076450" cy="2076450"/>
          </a:xfrm>
          <a:custGeom xmlns:a="http://schemas.openxmlformats.org/drawingml/2006/main">
            <a:rect l="l" t="t" r="r" b="b"/>
            <a:pathLst>
              <a:path w="2076450" h="2076450">
                <a:moveTo>
                  <a:pt x="0" y="0"/>
                </a:moveTo>
                <a:lnTo>
                  <a:pt x="1809750" y="0"/>
                </a:lnTo>
                <a:lnTo>
                  <a:pt x="2076450" y="1038225"/>
                </a:lnTo>
                <a:lnTo>
                  <a:pt x="1809750" y="2076450"/>
                </a:lnTo>
                <a:lnTo>
                  <a:pt x="0" y="207645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33EBFE2-2AED-4AE8-8822-2391C39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663190"/>
            <a:ext cx="9172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提示词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6C59B6-3244-4E80-A25B-AE6003B3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48BCEB-6BB0-4B09-B356-422ECF35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7676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单次指令与示例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A610C2D-A95B-43CC-A029-A9D21E18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1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5CE828-87F3-48B4-A9D9-DC251974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5506" y="2663190"/>
            <a:ext cx="13708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智能体循环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0EEB74-B72C-4A9E-8DED-171C6B0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5506" y="2948940"/>
            <a:ext cx="7338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4AA6E6F-87FA-4CA4-96CA-688EB96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8173" y="3767614"/>
            <a:ext cx="177534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行动与反馈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D55A120-EAB1-46E8-A6E4-3CE114AC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6FA5F1D-E000-415E-932F-192AC89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06" y="2663190"/>
            <a:ext cx="10057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8D02304-7E5B-4739-93D6-F68F133E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FF9DB3F-852F-488E-9737-DD2BE293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3173" y="37676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状态与信息选择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78B9F29-C4EE-4164-A231-937E0847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A8D39ECA-A57B-4001-B269-FA60DFE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506" y="2663190"/>
            <a:ext cx="10057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运行框架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99B4130-7767-4EFF-B6CD-444225E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06169F-C35C-442A-98D8-5C9FC32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8173" y="37676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工具、权限、沙箱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6C63A90-1A0E-42C0-BBE7-1C097E29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0" y="2362200"/>
            <a:ext cx="1905000" cy="2076450"/>
          </a:xfrm>
          <a:custGeom xmlns:a="http://schemas.openxmlformats.org/drawingml/2006/main"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02DA3E7-047F-41D1-ABA5-26CD01E2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506" y="2663190"/>
            <a:ext cx="58595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循环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8A1A74C-508F-4304-91C2-D5D0064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506" y="2948940"/>
            <a:ext cx="143765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C390F03B-1DB6-4FD4-BD35-BA699A9D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3173" y="37676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触发、验证、恢复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EC1C2F5-DDAD-44E6-8679-3D34048B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2362200"/>
            <a:ext cx="1504950" cy="2076450"/>
          </a:xfrm>
          <a:custGeom xmlns:a="http://schemas.openxmlformats.org/drawingml/2006/main">
            <a:rect l="l" t="t" r="r" b="b"/>
            <a:pathLst>
              <a:path w="1504950" h="2076450">
                <a:moveTo>
                  <a:pt x="0" y="0"/>
                </a:moveTo>
                <a:lnTo>
                  <a:pt x="1504950" y="0"/>
                </a:lnTo>
                <a:lnTo>
                  <a:pt x="150495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6BF873D-999B-44F0-9717-540D5A3C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3606" y="26631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办公交付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20C7FF3-E5A2-442A-8236-E5A3944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10086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业务成果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1599296-9794-4D45-88A2-E3D2A8D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386614"/>
            <a:ext cx="8711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证据与边界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2A74238D-EE66-4B92-80C2-ADD6E01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6273" y="376761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用户可复核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3E7F00E-BF14-4C50-94A0-984F986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088" y="5019675"/>
            <a:ext cx="155575" cy="44450"/>
          </a:xfrm>
          <a:custGeom xmlns:a="http://schemas.openxmlformats.org/drawingml/2006/main">
            <a:rect l="l" t="t" r="r" b="b"/>
            <a:pathLst>
              <a:path w="155575" h="44450">
                <a:moveTo>
                  <a:pt x="0" y="44450"/>
                </a:moveTo>
                <a:lnTo>
                  <a:pt x="155575" y="44450"/>
                </a:lnTo>
                <a:lnTo>
                  <a:pt x="111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D1A2FBF-09B1-4833-8351-3A3C91A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638" y="5108575"/>
            <a:ext cx="155575" cy="44450"/>
          </a:xfrm>
          <a:custGeom xmlns:a="http://schemas.openxmlformats.org/drawingml/2006/main">
            <a:rect l="l" t="t" r="r" b="b"/>
            <a:pathLst>
              <a:path w="155575" h="44450">
                <a:moveTo>
                  <a:pt x="155575" y="0"/>
                </a:moveTo>
                <a:lnTo>
                  <a:pt x="0" y="0"/>
                </a:lnTo>
                <a:lnTo>
                  <a:pt x="4445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2F820ED5-8788-48D2-BAA9-1FA2000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732" y="4935855"/>
            <a:ext cx="239603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交互对象同步变化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5E2FDD1-778A-48CF-B879-1BCA4FD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23" y="5386864"/>
            <a:ext cx="573052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从调整一句提示词，到审查任务状态、来源、成果、恢复点与动作后果。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5663DA7-5FC4-46E9-91D0-A682DA0F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a86289950b8426e"/>
              </a:rPr>
              <a:t>arxiv.org/abs/2005.14165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a30ad9e5f28e4bd3"/>
              </a:rPr>
              <a:t>arxiv.org/abs/2210.03629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A6EA0E21-920B-457C-AEE8-4E27D57B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05 / 30</a:t>
            </a:r>
          </a:p>
        </p:txBody>
      </p:sp>
    </p:spTree>
    <p:extLst>
      <p:ext uri="{BB962C8B-B14F-4D97-AF65-F5344CB8AC3E}">
        <p14:creationId xmlns:p14="http://schemas.microsoft.com/office/powerpoint/2010/main" val="1914767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56A749-0F3F-4D17-AAEE-1FB63A12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先分赛道：直接竞品、邻近工具与底层方法不能混比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50437-DC10-4D46-AD82-9CA57C21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4BC8E-F48F-4CBF-A23E-DF641EDD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对比应从“用户在审什么”出发，而不是把所有智能体功能堆进同一张表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0DA11-5631-49E0-81DD-014BCC6A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3684A-8094-44B9-966D-C1340387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45E7C-0190-49E3-AD89-6375711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办公套件内嵌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98907-A455-440F-8958-276AB449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240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Microsoft 365 Copilot / Google Workspace with Gemini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0AC16-0CD1-4EA1-8CBC-D1C7A10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1930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审：邮件、文档、会议、企业资料与自动化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DCE08-1273-4051-8F6A-98803AC1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直接竞品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6439F-E5A9-456C-B576-ED0A40A5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971E6-FF98-4DF6-A086-A80FDE1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A0DD9-2849-4F4A-B7AA-4B35DE43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企业知识与智能体平台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115D0-3036-4715-A382-EA72BC97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66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Glean / Atlassian Rovo / Notion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FD446-90F3-4B52-A672-704D178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审：权限化知识、连接应用、搜索、研究与业务动作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AF9A7-E046-4174-A76E-A04D59B3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622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直接竞品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E9245-C48C-431E-9473-8427E9AE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9F564-6396-476E-AD07-3AD89A1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44285-9CAA-466D-92B7-203C492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通用研究工作台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47459-2C28-45A8-8763-A62A5C67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99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ChatGPT 深度研究 / Claude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0A2E4-FCF3-412F-B2B6-68BAC857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0520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审：来源范围、研究计划、进度、引用与报告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1E642-168E-408E-A0DB-0EADBB21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051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部分直接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97BB1-055F-4B55-A712-0B7DC9CF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D217-7C99-4568-9CB8-1F23F375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87EC4-BBFB-4608-80A0-A417301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任务执行工作台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DC522-DDD5-4D3E-BB28-45B85931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528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Codex App / Claude Code / OpenClaw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B9282-0DF1-4F23-8E62-6AB1FA66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审：任务线程、工作区、变更、命令与验证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2EF60-E6A4-4ED1-BD8D-14E1110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48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邻近工具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6D819F-67A0-4020-AEE2-9E74D5DD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8D0AD-E0A9-4FE6-9B43-2A129175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A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09236-05A5-401B-9EEC-E2C71739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方法与协议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7471C8-877D-4627-9118-6BE4C93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958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 / MCP / A2A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2CFC2-3D3F-40D3-A819-0A62F28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9110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定义循环、工具连接与智能体通信，不定义完整产品体验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23EFB-0BD4-4317-85A0-733FCC3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910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不是竞品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52AD1-598E-4545-83D4-4666B072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CB1E67-7257-4127-B03D-A45DBCA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104FDE-0E9F-4D2D-A3E0-BB235E1E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应比较：工作对象 → 持久状态 → 证据 → 成果 → 人工门 → 动作事实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D970CC-F081-40F8-90D4-8F74809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b8c54268d05418c"/>
              </a:rPr>
              <a:t>Microsoft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22809c58cad43d1"/>
              </a:rPr>
              <a:t>Google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cbcacff4802e451e"/>
              </a:rPr>
              <a:t>Glean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84ea7e6718d4fd5"/>
              </a:rPr>
              <a:t>Rovo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800fa72c96034ec3"/>
              </a:rPr>
              <a:t>Notion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ebed2268f1944e9"/>
              </a:rPr>
              <a:t>OpenAI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29269bf2f8d41a8"/>
              </a:rPr>
              <a:t>Anthropic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197CA-8AEB-4213-AD20-365B30CB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06 / 30</a:t>
            </a:r>
          </a:p>
        </p:txBody>
      </p:sp>
    </p:spTree>
    <p:extLst>
      <p:ext uri="{BB962C8B-B14F-4D97-AF65-F5344CB8AC3E}">
        <p14:creationId xmlns:p14="http://schemas.microsoft.com/office/powerpoint/2010/main" val="2027300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21D51-2CBA-4DE6-AE24-3E74B664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办公套件竞品：优势在原生上下文和真实应用动作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5EBEF-3770-487B-85C2-881881D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51EE5-A24A-45A1-86AE-D046FD36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Microsoft 与 Google 都已把研究、内容和自动化嵌入日常办公面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930E-441F-4379-8ACA-D95E64C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Microsoft 365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80884-55EB-4779-B7D5-BA112055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Google Workspace with Gemini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03D6E-66E0-4F8F-89EF-9CEBB0E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F9514-BC25-44CA-BAE9-96E88BD4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3911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cf3b1ac9f4442"/>
          <a:stretch xmlns:a="http://schemas.openxmlformats.org/drawingml/2006/main"/>
        </p:blipFill>
        <p:spPr>
          <a:xfrm xmlns:a="http://schemas.openxmlformats.org/drawingml/2006/main">
            <a:off x="1015560" y="1952625"/>
            <a:ext cx="4350630" cy="2447925"/>
          </a:xfrm>
          <a:prstGeom xmlns:a="http://schemas.openxmlformats.org/drawingml/2006/main" prst="roundRect">
            <a:avLst>
              <a:gd name="adj" fmla="val 15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BAA99-20FB-4123-85EF-536CDA1B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3911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4816f409a4e73"/>
          <a:stretch xmlns:a="http://schemas.openxmlformats.org/drawingml/2006/main"/>
        </p:blipFill>
        <p:spPr>
          <a:xfrm xmlns:a="http://schemas.openxmlformats.org/drawingml/2006/main">
            <a:off x="6797592" y="1952625"/>
            <a:ext cx="4407066" cy="2447925"/>
          </a:xfrm>
          <a:prstGeom xmlns:a="http://schemas.openxmlformats.org/drawingml/2006/main" prst="roundRect">
            <a:avLst>
              <a:gd name="adj" fmla="val 155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D97B0-4F39-4A22-9966-AE2F2479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6690A-74E7-4819-BB4F-7F9A105B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工作对象：工作内容与互联网；可查看来源范围和研究任务。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4D7FE-C9A1-48D7-9096-1E4ECC2F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3397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68E71-8338-4BD9-A898-DBDDC07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控制点：隔离环境使用网站或应用；动作前可请求确认。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2682E-F379-4CAF-82A6-2B9AB14F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2DB0E-66E1-45F2-9981-B434388B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96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工作对象：Gmail、Drive、Docs、Chat；统一理解办公上下文。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5CBEF-C74A-430C-8526-A1632754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5E8AA-0D89-4530-9378-7CDAF392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6730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控制点：Workspace Studio 创建并分享跨应用智能体和自动化。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357FE-DF1F-4E3D-B42B-FD110EB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901ED-A031-4439-8391-1695F8D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3D572-D1A5-430D-BB21-993DBF10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现阶段不应把“多来源、整库、引用”写成独占；它尚缺原生套件集成与真实业务动作。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D6430-2FC1-4874-B2F0-DD36383E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30005aa683f4699"/>
              </a:rPr>
              <a:t>Microsoft Researcher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7f7b93ff42b9469e"/>
              </a:rPr>
              <a:t>Google Workspace Studio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E5C77-DDFF-4B1A-9276-A6EA737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07 / 30</a:t>
            </a:r>
          </a:p>
        </p:txBody>
      </p:sp>
    </p:spTree>
    <p:extLst>
      <p:ext uri="{BB962C8B-B14F-4D97-AF65-F5344CB8AC3E}">
        <p14:creationId xmlns:p14="http://schemas.microsoft.com/office/powerpoint/2010/main" val="1436800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D4FCB-222F-4C66-A959-4EE9355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知识工作台：Notion AI 已把“全源搜索”做成日常入口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F1D39-A0B4-4C76-82E1-01D655E4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A6A64-9AF8-4E40-8FDB-AC94EB6A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Notion 空间、连接应用和互联网被统一成可选择的研究范围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12471-D631-4428-9E18-646C7BF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66675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fd74303554b01"/>
          <a:stretch xmlns:a="http://schemas.openxmlformats.org/drawingml/2006/main"/>
        </p:blipFill>
        <p:spPr>
          <a:xfrm xmlns:a="http://schemas.openxmlformats.org/drawingml/2006/main">
            <a:off x="1041334" y="1762125"/>
            <a:ext cx="5575432" cy="3638550"/>
          </a:xfrm>
          <a:prstGeom xmlns:a="http://schemas.openxmlformats.org/drawingml/2006/main" prst="roundRect">
            <a:avLst>
              <a:gd name="adj" fmla="val 10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B739D-B71E-47EA-8788-2BD834E5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Notion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412FC-B8D7-41CC-956F-A116065F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32E31-75D6-4899-B7CC-6BA38A2E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3848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工作对象：Notion 页面、数据库、Slack、Drive、Jira 等连接源与互联网。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4BD0E-E12D-4AC5-B68E-7198C1A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ECE3D-E313-43AB-88B9-5AA3D1B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384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用户可收窄来源范围，并从回答引用回到原始内容。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B28DC-4EEC-4389-B50B-E01A9D5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447FB-5843-451A-8B49-66FAC75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48075"/>
            <a:ext cx="384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研究模式面向开放问题；部分连接器还能执行动作。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B2E2F-7D0B-4F84-B953-8C039A0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529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CCDEB-CC9B-4B1C-8372-A4A06CA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862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因此“全源搜索 + 引用”已经是市场基线，不是 Office Agent 独占点。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F3377-1AB6-4AC6-960B-66DA2BC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79DCE-5364-4D30-9826-4C19536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D4EA5-3A08-46C0-9F6D-8835AEDD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候选差异应落到：结论采用、分支缺口、办公成果校验和外部动作边界能否互相对账。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97DAC-2CC7-495E-9038-1C9F951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6458378d84ff4528"/>
              </a:rPr>
              <a:t>Notion Enterprise Search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a98ee6cbb22d465f"/>
              </a:rPr>
              <a:t>Notion AI Connectors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3CE18-B4B2-4997-A802-3E53EF3B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08 / 30</a:t>
            </a:r>
          </a:p>
        </p:txBody>
      </p:sp>
    </p:spTree>
    <p:extLst>
      <p:ext uri="{BB962C8B-B14F-4D97-AF65-F5344CB8AC3E}">
        <p14:creationId xmlns:p14="http://schemas.microsoft.com/office/powerpoint/2010/main" val="963581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266CD-FBB5-4F35-BED3-1B05CAD3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跨来源研究：用户已经在审计划、来源、进度与报告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FED76-71B2-4681-AC8B-43FE3E81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2FA96-D1F9-4414-97DD-C3869183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ChatGPT 与 Claude 都把可中断研究和可检查引用放到了前台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B6F59-9ED8-4CD6-A008-6305CB54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ChatGPT 深度研究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A1C21-2554-4EDB-8731-1CD90347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Claude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79475-C7CD-45FE-B63E-1DED9A1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6548C-3E1B-42B2-A81A-3E20424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3911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53a0c3ee84b74"/>
          <a:stretch xmlns:a="http://schemas.openxmlformats.org/drawingml/2006/main"/>
        </p:blipFill>
        <p:spPr>
          <a:xfrm xmlns:a="http://schemas.openxmlformats.org/drawingml/2006/main">
            <a:off x="1259992" y="1952625"/>
            <a:ext cx="3861765" cy="2419350"/>
          </a:xfrm>
          <a:prstGeom xmlns:a="http://schemas.openxmlformats.org/drawingml/2006/main" prst="roundRect">
            <a:avLst>
              <a:gd name="adj" fmla="val 157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81499-9142-44B8-915E-D13FF8C8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3911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45dff4f104201"/>
          <a:stretch xmlns:a="http://schemas.openxmlformats.org/drawingml/2006/main"/>
        </p:blipFill>
        <p:spPr>
          <a:xfrm xmlns:a="http://schemas.openxmlformats.org/drawingml/2006/main">
            <a:off x="7035403" y="1952625"/>
            <a:ext cx="3931444" cy="2419350"/>
          </a:xfrm>
          <a:prstGeom xmlns:a="http://schemas.openxmlformats.org/drawingml/2006/main" prst="roundRect">
            <a:avLst>
              <a:gd name="adj" fmla="val 157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BEFCD-638E-4E75-94B3-40A443A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577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4587C-2D4D-4634-AF84-A5E477C0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可选互联网、文件、连接应用和指定网站；计划可审、运行可中断。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E645A-E459-4ACF-8146-521BCA65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8FDC2-6A51-4499-8899-C2E6A278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最终报告带引用，并可下载为 Markdown、Word 或 PDF。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83A5E-5449-4C0B-8B7C-99B16719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577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04272-0171-4321-92BA-4E44BB4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238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在互联网与已连接内部资料中开展多步研究，引用可检查。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F9B5C-F5D9-4D56-9856-AA852CD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006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BCC39-2284-4478-BC2C-69E5483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339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用户可开关研究模式、补充来源，并在过程中继续引导。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41057-3B59-426C-B1E4-D896A9D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47CC5-392E-463F-ACF7-C1ED52C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07E6B-8748-4B84-B974-93A413CA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“有来源、有进度、可中断”也是市场基线；Office Agent 必须用成果与治理合同继续拉开验证。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77B8F-B4C7-4043-B479-E650C28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72a9adc18413464c"/>
              </a:rPr>
              <a:t>OpenAI 深度研究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17c33a347b614633"/>
              </a:rPr>
              <a:t>Claude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C5057-F970-4E4E-8742-1BDC98AF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09 / 30</a:t>
            </a:r>
          </a:p>
        </p:txBody>
      </p:sp>
    </p:spTree>
    <p:extLst>
      <p:ext uri="{BB962C8B-B14F-4D97-AF65-F5344CB8AC3E}">
        <p14:creationId xmlns:p14="http://schemas.microsoft.com/office/powerpoint/2010/main" val="284885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3F1FD-A50C-45E1-BD6E-EDD4F87B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任务执行工作台：用户审“改了什么、验证了没有”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C4B8E-161E-454C-BF29-63E3D475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9F091-3696-46AA-88D2-809D3D7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Codex App 与 Claude Code 是相邻执行范式，不是同一办公资料产品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279B6-E27D-46C6-98AA-CC7CEB5A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Codex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4062E-3D86-48F3-9D07-7C7FE1BC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Claude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976F8-4FC8-4074-8092-31E4B5CE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6A08E-FC1C-481D-A278-AA9F34DD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3911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966dc25ad4f40"/>
          <a:srcRect xmlns:a="http://schemas.openxmlformats.org/drawingml/2006/main" l="0" t="11294" r="0" b="11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952625"/>
            <a:ext cx="5334000" cy="2324100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B7BC9-A40F-478A-98B5-93C0F9A3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3911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96d271a3546a1"/>
          <a:stretch xmlns:a="http://schemas.openxmlformats.org/drawingml/2006/main"/>
        </p:blipFill>
        <p:spPr>
          <a:xfrm xmlns:a="http://schemas.openxmlformats.org/drawingml/2006/main">
            <a:off x="6334125" y="2077508"/>
            <a:ext cx="5334000" cy="2074333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CB525-FF85-48E8-AFB9-BBCE119C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D695F-5ABF-4C82-9053-1CE57CF1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任务按项目和线程组织；隔离工作树、差异审查、技能与自动化进入同一工作台。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16542-6E62-44DA-B8B8-889BB4A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6C6A3-D190-4CF0-957D-A98F64D9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沙箱和权限控制执行边界；结果进入可继续处理的审查队列。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192AF-3CAA-4E55-B372-64B40BA4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1BA52-4AF7-4DC2-AF0C-D55A65B1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围绕项目、终端和版本库运行“收集上下文 → 行动 → 验证”的循环。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757BB-559F-4C5B-ADCF-BFD3BAB2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6C931-CB9B-4C86-961B-7D6572CC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会话可恢复或分叉；检查点与权限模式承担人工控制。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98498-7B32-4904-93DC-C9E64342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F644D-4A71-4986-AEAE-83134801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CC7BC-2FF5-4EDA-A6BD-3BF6C15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长任务连续、隔离执行和人工审查已在代码智能体中成熟；Office Agent 要证明的是办公事实链。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44D53-7132-4C34-B334-7D496A1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9ff4d30d13c04a20"/>
              </a:rPr>
              <a:t>Codex App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dc027e24d114dbf"/>
              </a:rPr>
              <a:t>Claude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EDB15-1089-4C82-80E1-8004054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1110527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F42607-065B-4B0B-A238-2FA3FCE5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真正该比的，不是功能数量，而是五个可审查对象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3DC7-D796-4353-ACE1-EE598C3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A2404-0539-4D31-B334-C1DAC6B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以下为官方定位与当前实现的结构化归纳，不是同场实测结果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1DD0-5F78-4699-8036-76B841F9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143C1-46C5-448B-B635-F6778CBC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比较对象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3452-B463-459A-9230-43B72C8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573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538A4-0E83-4E5F-9426-F52DBE70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4307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办公套件内嵌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2F054-9424-442D-837D-B76FDBD6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9861F-878F-4456-BEAF-518A7E9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4307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研究工作台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CBCA7-BF35-40B9-9664-058B7AA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CAC00-9E2A-4DEF-AAB5-43E60DEE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430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代码执行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9B0D4-C313-454D-9635-3D9A50B9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3124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55CF1-2C7B-4744-B59E-E6AF2F0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430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Office Agent 当前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38D75-F0B2-4B83-BF47-9FD0C70B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98911-8ECE-4E6C-92B0-91AAA2F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526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工作对象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68284-1E8B-4E95-AD65-9762A1A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AE38B-87CC-432A-B13F-075E945F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1526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邮件、文档、会议、企业图谱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82D19-8B82-4475-AE35-7FE36D3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70912-D44A-40F6-8E8E-370CB6F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526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网页、文件、连接应用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9CD93-C00B-4A7B-A7CD-54A9D0B8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BC671-3242-4B71-AC42-7A81CDB5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526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仓库、终端、任务线程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7E12B-26B8-4542-BE2B-3E638DC1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BD3CE-D961-4AA7-AEE9-8CFC787F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52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冻结资料库、任务 / 运行 / 分支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ECA33-1F71-43D4-B79B-00DCF595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808D3-E16A-4348-A09A-D323D939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57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持久状态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8DF97-972E-4263-86D5-7C44923B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1E9E2-4244-4B87-953F-EF8F099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575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应用活动、自动化流程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CAA2B6-3418-4572-95B8-630097B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53F17-7E54-4322-8D83-6BCEB50C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575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研究计划、来源与报告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7E2966-2FE7-480D-A42B-BF8A5D5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80ED5-5C0C-4705-B7E2-357779D3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会话、工作区、检查点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0EA0CC-FF69-4247-9824-C52E2719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59E6D-59B1-4451-B28D-AF4E487D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57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双版本状态、分支与成果历史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683420-EFDD-4923-A65B-6155664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140ACE-EB23-4BC5-ACDC-8DBE5436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62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562CF-63E2-45BE-A6A5-65ADD7BB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191EB4-D7BD-4FA6-A6E7-DB928B3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5623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来源链接、应用上下文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FA28BA-0380-4B1E-A80C-676DC38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278A2E-E141-4A01-9AA3-ED7D716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623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引用、步骤、来源列表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F185FC-63D1-4EF0-9651-5DCEADF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0A971B-9454-4ED4-966B-B099E155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623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差异、命令与测试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C078BF-31F2-4646-88D1-9C2C3360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D14FCB-85FC-4723-B9C9-EE56379B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5623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文件引用 + 原文锚点 + 证据门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03EF39-0478-4F25-8930-53EAC2E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4662E0-2EB2-4861-A2A8-459C43D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672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AB9110-6B1A-45FC-8E0E-9D53BEC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579706-C2C8-487A-8212-5AE19A5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2672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文档、消息、图表、自动化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E7F613-B5BA-4948-BEDE-DEAB3D02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DCD301-5141-43B7-8793-3BC5577A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672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带引用报告与导出文件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78272C-E6B6-43A9-A639-6193709F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C8625B-2E49-4238-B134-BF1C219C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672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代码修改、分支、合并请求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08AC45-CFF0-4363-9449-4B5653B0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7BE6E1-E166-4E5B-B504-1566869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67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隔离办公成果 + 校验回执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5A66CD-64B5-48BA-B28B-AD5DDF79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694210-58D2-4904-B344-4AA6E8A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720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人工与动作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8039D7-83F9-413B-B2CD-D97315F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5BAF31-B362-4380-B27F-81AB3367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720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设置范围；动作受平台权限控制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008012-42E7-475F-B571-B195ADD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4D27A5-9A93-466B-853C-B3385E7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9720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审计划、可中断；研究连接多为只读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52DFFC-C88B-4871-AEA0-8829070A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50D578-3532-4096-BA3E-F37B23D1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720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审权限、Diff 与命令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111584-D67E-4777-9761-1D99C24E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3124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97D65E-9686-4EAF-84C4-EF2ED7BC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9720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选分支、决策、回滚；外部动作未实现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61105D-2CBD-4B97-855C-87CD5B84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A17978-85DC-4898-BC59-E23E01E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F64581-DC88-418F-91AD-22684E9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差异候选不是“能不能做”，而是这些事实能否在同一链路里相互对账。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008D46-1218-4481-86C4-72658589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bcfd7bfa0b44855"/>
              </a:rPr>
              <a:t>Microsoft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fc6c7d79d8ac4cd3"/>
              </a:rPr>
              <a:t>Google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f77bb3bea864978"/>
              </a:rPr>
              <a:t>Notion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623e5e34eeaf49b0"/>
              </a:rPr>
              <a:t>OpenAI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e26d7c00410b41d7"/>
              </a:rPr>
              <a:t>Anthropic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A74E59-2F23-4531-AE67-03922643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11 / 30</a:t>
            </a:r>
          </a:p>
        </p:txBody>
      </p:sp>
    </p:spTree>
    <p:extLst>
      <p:ext uri="{BB962C8B-B14F-4D97-AF65-F5344CB8AC3E}">
        <p14:creationId xmlns:p14="http://schemas.microsoft.com/office/powerpoint/2010/main" val="701628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65E18-5423-44D3-8F9B-74503C48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的候选差异：不是能力更多，而是证明链更完整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887E6-02D3-48CA-9A1D-B45CDE45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858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481C7-0E2C-4D7C-A372-87F73543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当前只验证了一条受控办公纵切；要成为市场差异，仍需固定配置同场实测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FC639-67A0-4B00-8C3D-A3CDC797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429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25522d01b43d4"/>
          <a:srcRect xmlns:a="http://schemas.openxmlformats.org/drawingml/2006/main" l="0" t="23308" r="0" b="23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24025"/>
            <a:ext cx="5372100" cy="219075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8F1A6-6BCB-47C9-9D9F-A304CF07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5429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54f9ea9954a3e"/>
          <a:srcRect xmlns:a="http://schemas.openxmlformats.org/drawingml/2006/main" l="0" t="23308" r="0" b="23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6025" y="1724025"/>
            <a:ext cx="5372100" cy="219075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4F0F9-0A44-4EE7-8F73-261BE17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当前有证据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8380E-5D5B-4C22-8693-1CDF919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9F078-5882-40DE-A3FD-35CEF8D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整库索引冻结；计划由服务端编译为分支与路线。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F3F7B-5623-4108-B11F-B159CE63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863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3E014-8F83-4B80-90B3-DA4C9C69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发现项绑定批准来源与原文锚点；模型返回与采用分开。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021DE-2548-4A4D-9966-8A75892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AEE63-E881-4A18-844F-3DA4B411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隔离成果 + 校验回执 + 版本 / 提交历史。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C7997-FC0D-49C6-BDE5-5A15248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仍没有证据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06742-4612-4FE2-B352-2825D4DB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98D9C-9CD5-4BA4-A79F-AE185192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007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微软 / 谷歌 / Notion 原生连接器与源文件写回。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CEF8E-5F75-4F3F-81C0-1E75F32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86325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50D01-0193-4A9A-AD7B-3BBEEBC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远程执行单元、分布式租约、多实例协调与生产认证。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D7854-8E4B-4097-BE29-BD25930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95900"/>
            <a:ext cx="57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31779-1537-4BFF-88F0-B30AE13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2922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用户研究与真实效率、信任、业务价值提升。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F3392-7D02-4CC1-B221-805750D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1201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BACE1-C0B0-416E-8527-03DE4062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ECBFB-6CE0-4DF7-BC5C-24E1F89E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8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同场证伪四题：结论能否定位？能否只补一支？成果是否真写出？计划、批准、执行是否分开？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A82EA-CF6F-4639-B935-33D66ED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系统与评测依据：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be2520b700f486b"/>
              </a:rPr>
              <a:t>当前产品仓库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B8824-A3D4-495A-AC98-83F7EC4D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12 / 30</a:t>
            </a:r>
          </a:p>
        </p:txBody>
      </p:sp>
    </p:spTree>
    <p:extLst>
      <p:ext uri="{BB962C8B-B14F-4D97-AF65-F5344CB8AC3E}">
        <p14:creationId xmlns:p14="http://schemas.microsoft.com/office/powerpoint/2010/main" val="11685653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B747E1-0A14-48A2-9BEF-E99393F6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7A77661-EC77-4335-AB87-31AED2B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2206316-AA94-4585-8EBF-88242DC9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3499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技术差异如何一步步改变用户流程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D71EB4A-0377-4DDA-99BB-FA2A5FD1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40155"/>
            <a:ext cx="628459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不是增加更多状态，而是重新分配“谁负责判断”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31F71D1-5A84-4E46-84FA-FDA5368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4765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0380F3C0-E598-4BF7-8C95-FA3E7262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E68BF6A-59D0-42D9-A99D-F6FE4FE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E140F302-92CF-4ACA-8733-2699B98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6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DF0345-D28B-4A72-B7D4-2948AE9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8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EFB106CF-28E0-4946-BCEF-76ACC9E6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6F8BFF-C4F0-4C61-BD21-984021FE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4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0ADAF005-5F56-48EC-96DA-DAE28611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8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42CAC1-3DC9-4270-8F08-1FE75E6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30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A2F173F9-6DB0-432C-92E6-C4BCD8D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41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0EF663-1677-40EB-8104-DF09929B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6712" y="241506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DA11693-3ABF-43BE-AD98-3086DE92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1D73E35-90A5-4DAF-B85C-5C7888C3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3082290"/>
            <a:ext cx="192572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资料范围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A1B4C43-F0B8-4676-83EF-7762F87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38057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只说业务目标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3A3E371-8702-46B5-B2EC-27AB4A7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451056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整库范围已冻结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5CA4812-ACB4-465F-A7EF-D4EAFCE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175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53E9457-85CF-4B30-8068-69F0FAA1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3106" y="30822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计划编译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200AB52-7CEA-47BC-805C-7362164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5773" y="38057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查看分支与依赖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76A1F14-B796-4A2B-AE22-78BA51BB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5773" y="4510564"/>
            <a:ext cx="140324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说明可读资料、可做事项和禁止项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DB96666-8129-49E8-8D34-3BB1957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3F7ED1E-E958-4D58-9581-E3839122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9556" y="30822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模型采用门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FD57F9A-5293-4574-88A0-AD8BC1A8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2223" y="380571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查看模型调用与采用回执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664D632-0EB0-49E6-90B9-FB68C18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3366" y="4534852"/>
            <a:ext cx="142417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Consolas"/>
                <a:ea typeface="Consolas"/>
                <a:cs typeface="Consolas"/>
              </a:rPr>
              <a:t>系统区分已调用与已采用</a:t>
            </a:r>
          </a:p>
        </p:txBody>
      </p:sp>
      <p:sp>
        <p:nvSpPr>
          <p:cNvPr id="43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DB671D68-8B58-4870-B047-79BBAAC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4650" y="2952750"/>
            <a:ext cx="1866900" cy="23431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66E69E1-B7D3-472D-B155-3C6B2E92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6006" y="30822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局部恢复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4942B07C-0C6E-430A-A25A-C51E2C5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8673" y="38057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只处理受影响问题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A5EC922-AEAF-4C68-A74F-B61B6775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8673" y="45105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说明原因、影响和选择后果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DCB7EC00-C5F2-4E11-B7AB-794620A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1100" y="2952750"/>
            <a:ext cx="2895600" cy="23431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9AFF1BE-2377-4910-BC65-A8293BC9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0556" y="308229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可核对办公结论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D520C43F-20B5-4C79-A332-4BD4051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3223" y="380571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下载成果，回开依据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F0FF31CA-02EA-49E4-A367-2E87B54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3223" y="4510564"/>
            <a:ext cx="21241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区分成果、模型说明与外部动作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B7E2647-321A-4260-A08D-AFCEB3D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bd5e99637d85496a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98edd79cbbf74c44"/>
              </a:rPr>
              <a:t>modelcontextprotocol.io/.../elicitation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2CB3B86E-A5C2-476D-97F0-B2DD30C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6424456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A7EA6A-5F4A-48E6-83B8-7845D6B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34B58F6-B2C1-4731-B85A-A033DC91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4C7AD42-4E73-406A-A898-9C2F620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838252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长任务循环的风险，会被持续放大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A50F02E-C16F-4901-AF67-B7095A3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66850"/>
            <a:ext cx="7086600" cy="409575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00C901-9DDB-4A52-87D1-5020C4E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232" y="1621155"/>
            <a:ext cx="120868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六类风险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F784044-D403-4035-AA6D-09D70BA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2076450"/>
            <a:ext cx="6629400" cy="3238500"/>
          </a:xfrm>
          <a:custGeom xmlns:a="http://schemas.openxmlformats.org/drawingml/2006/main">
            <a:rect l="l" t="t" r="r" b="b"/>
            <a:pathLst>
              <a:path w="6629400" h="3238500">
                <a:moveTo>
                  <a:pt x="0" y="0"/>
                </a:moveTo>
                <a:lnTo>
                  <a:pt x="6629400" y="0"/>
                </a:lnTo>
                <a:moveTo>
                  <a:pt x="3314700" y="0"/>
                </a:moveTo>
                <a:lnTo>
                  <a:pt x="3314700" y="3238500"/>
                </a:lnTo>
                <a:moveTo>
                  <a:pt x="0" y="1085850"/>
                </a:moveTo>
                <a:lnTo>
                  <a:pt x="6629400" y="1085850"/>
                </a:lnTo>
                <a:moveTo>
                  <a:pt x="0" y="2171700"/>
                </a:moveTo>
                <a:lnTo>
                  <a:pt x="6629400" y="21717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EB9DD24D-A333-4E8B-B9BD-D226E7AD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2305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F248BF-8E4E-4FF1-9356-BD21DF2A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24298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E07A14-F22B-4167-8DA3-6B82AAD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22440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方向漂移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15ADF1-B7D7-4B86-902B-D4EC66E3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2605564"/>
            <a:ext cx="26465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中间目标逐步偏离任务约束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EF69CB88-6725-490D-8F48-81EFFE7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2305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ED9A71C-A019-4C3A-9E34-474C67B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24298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8527C0-3340-4F25-BA6A-959884D6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22440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上下文退化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92C5DFC-1353-454F-88BB-C735497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26055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旧版本、噪声与关键约束丢失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FE7FEA48-5E23-4D14-9E34-FA8CA7E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03C2041-246C-47E9-99B3-B74300D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351567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A735819-7F58-430B-97EE-3AD5BEA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33299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错误复利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7DECEBC-3854-443E-BE5A-2EB4C95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369141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未经验证的事实进入后续成果</a:t>
            </a:r>
          </a:p>
        </p:txBody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3C4994C9-756A-4CEA-9540-365F257E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162339F-1188-434E-AB0A-3559B9AF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351567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C8B75FF-C9B7-4195-BC48-4C73BD9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332994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成本扩张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08B8A10-1EC8-4511-A2ED-9C43F9D3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369141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重试、工具与分支持续增长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1714183C-A1D4-46DC-BA25-38BE4DC6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>
            <a:noFill/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4B48104-EB4E-45E0-84E0-10F269F3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351" y="46015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102A0FB-AC67-4367-8C3E-F747D2C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156" y="44157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权限漂移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3779483-FA19-4529-9AC3-F2F250E7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0823" y="47772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工具链扩展后超出原始授权</a:t>
            </a:r>
          </a:p>
        </p:txBody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CEAC99B0-D282-4BA5-BE12-4878E4E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>
            <a:noFill/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88003F4-C283-4DF4-8A90-A248203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051" y="4601528"/>
            <a:ext cx="9229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092C8A5-C99F-4E06-A1F4-F5CD77F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2856" y="44157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停止困难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523240F-FA51-49CA-B83D-CD68CDA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47772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局部失败牵连整任务，用户难接管</a:t>
            </a:r>
          </a:p>
        </p:txBody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6B24BB0-3F86-4B1E-A3A5-BB54E2E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8600" y="1466850"/>
            <a:ext cx="3848100" cy="409575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C0F0C69-7410-4B6D-946D-AA76480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4632" y="1640205"/>
            <a:ext cx="239603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前台必须对应回答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9EBE186-4F54-4F98-BDA0-7E1E9C1E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2314575"/>
            <a:ext cx="19050" cy="19050"/>
          </a:xfrm>
          <a:custGeom xmlns:a="http://schemas.openxmlformats.org/drawingml/2006/main"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1D91B6F-46ED-48A6-ADE6-2CE657B6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1975" y="2276475"/>
            <a:ext cx="95250" cy="95250"/>
          </a:xfrm>
          <a:custGeom xmlns:a="http://schemas.openxmlformats.org/drawingml/2006/main">
            <a:rect l="l" t="t" r="r" b="b"/>
            <a:pathLst>
              <a:path w="95250" h="95250">
                <a:moveTo>
                  <a:pt x="47625" y="0"/>
                </a:moveTo>
                <a:cubicBezTo>
                  <a:pt x="21322" y="0"/>
                  <a:pt x="0" y="21322"/>
                  <a:pt x="0" y="47625"/>
                </a:cubicBezTo>
                <a:cubicBezTo>
                  <a:pt x="0" y="73928"/>
                  <a:pt x="21322" y="95250"/>
                  <a:pt x="47625" y="95250"/>
                </a:cubicBezTo>
                <a:cubicBezTo>
                  <a:pt x="73928" y="95250"/>
                  <a:pt x="95250" y="73928"/>
                  <a:pt x="9525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DAC7EBF-1731-43E3-B0B8-C3DDB5C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6530" y="2234839"/>
            <a:ext cx="182275" cy="182291"/>
          </a:xfrm>
          <a:custGeom xmlns:a="http://schemas.openxmlformats.org/drawingml/2006/main">
            <a:rect l="l" t="t" r="r" b="b"/>
            <a:pathLst>
              <a:path w="182275" h="182291">
                <a:moveTo>
                  <a:pt x="102595" y="4060"/>
                </a:moveTo>
                <a:cubicBezTo>
                  <a:pt x="66403" y="0"/>
                  <a:pt x="31596" y="19251"/>
                  <a:pt x="15798" y="52065"/>
                </a:cubicBezTo>
                <a:cubicBezTo>
                  <a:pt x="0" y="84879"/>
                  <a:pt x="6660" y="124094"/>
                  <a:pt x="32406" y="149852"/>
                </a:cubicBezTo>
                <a:cubicBezTo>
                  <a:pt x="58152" y="175611"/>
                  <a:pt x="97362" y="182291"/>
                  <a:pt x="130185" y="166509"/>
                </a:cubicBezTo>
                <a:cubicBezTo>
                  <a:pt x="163007" y="150728"/>
                  <a:pt x="182275" y="115931"/>
                  <a:pt x="178233" y="797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380B6A2-77AD-414F-B7EB-AAAC633A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2383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0" y="28575"/>
                </a:moveTo>
                <a:lnTo>
                  <a:pt x="0" y="57150"/>
                </a:lnTo>
                <a:lnTo>
                  <a:pt x="28575" y="57150"/>
                </a:lnTo>
                <a:lnTo>
                  <a:pt x="57150" y="28575"/>
                </a:lnTo>
                <a:lnTo>
                  <a:pt x="28575" y="28575"/>
                </a:lnTo>
                <a:lnTo>
                  <a:pt x="28575" y="0"/>
                </a:ln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B7B57FC-6E25-4939-9D01-D5B4611B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9600" y="2295525"/>
            <a:ext cx="28575" cy="28575"/>
          </a:xfrm>
          <a:custGeom xmlns:a="http://schemas.openxmlformats.org/drawingml/2006/main">
            <a:rect l="l" t="t" r="r" b="b"/>
            <a:pathLst>
              <a:path w="28575" h="28575">
                <a:moveTo>
                  <a:pt x="28575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70AD6A0-780A-4BD7-81FC-7E84D93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224361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当前目标是否仍然一致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05B55CF-5849-4292-8491-62AB1DA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714625"/>
            <a:ext cx="47625" cy="47625"/>
          </a:xfrm>
          <a:custGeom xmlns:a="http://schemas.openxmlformats.org/drawingml/2006/main">
            <a:rect l="l" t="t" r="r" b="b"/>
            <a:pathLst>
              <a:path w="47625" h="47625">
                <a:moveTo>
                  <a:pt x="0" y="0"/>
                </a:moveTo>
                <a:lnTo>
                  <a:pt x="0" y="38100"/>
                </a:lnTo>
                <a:cubicBezTo>
                  <a:pt x="0" y="43361"/>
                  <a:pt x="4264" y="47625"/>
                  <a:pt x="9525" y="47625"/>
                </a:cubicBezTo>
                <a:lnTo>
                  <a:pt x="47625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76504635-4CF0-438F-8A8C-D882E99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2714625"/>
            <a:ext cx="133350" cy="171450"/>
          </a:xfrm>
          <a:custGeom xmlns:a="http://schemas.openxmlformats.org/drawingml/2006/main">
            <a:rect l="l" t="t" r="r" b="b"/>
            <a:pathLst>
              <a:path w="133350" h="171450">
                <a:moveTo>
                  <a:pt x="114300" y="171450"/>
                </a:move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lnTo>
                  <a:pt x="85725" y="0"/>
                </a:lnTo>
                <a:lnTo>
                  <a:pt x="133350" y="47625"/>
                </a:lnTo>
                <a:lnTo>
                  <a:pt x="133350" y="152400"/>
                </a:lnTo>
                <a:cubicBezTo>
                  <a:pt x="133350" y="162921"/>
                  <a:pt x="124821" y="171450"/>
                  <a:pt x="114300" y="1714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53B4CA0-D632-4354-9ED9-F7D486F2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771775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D07187E-6E2F-43CE-A8E0-10BA362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809875"/>
            <a:ext cx="57150" cy="9525"/>
          </a:xfrm>
          <a:custGeom xmlns:a="http://schemas.openxmlformats.org/drawingml/2006/main"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13EF1A2-919A-45D0-8C7E-F1C9551D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2847975"/>
            <a:ext cx="57150" cy="9525"/>
          </a:xfrm>
          <a:custGeom xmlns:a="http://schemas.openxmlformats.org/drawingml/2006/main"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302E0E14-2C7A-4B9C-95EF-599F8F31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2719864"/>
            <a:ext cx="155771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当前用了哪一版来源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22CE22F-0DEA-4BEE-8BFA-89FDD46A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3875" y="3276600"/>
            <a:ext cx="57150" cy="76200"/>
          </a:xfrm>
          <a:custGeom xmlns:a="http://schemas.openxmlformats.org/drawingml/2006/main">
            <a:rect l="l" t="t" r="r" b="b"/>
            <a:pathLst>
              <a:path w="57150" h="762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66675"/>
                </a:lnTo>
                <a:cubicBezTo>
                  <a:pt x="57150" y="71936"/>
                  <a:pt x="52886" y="76200"/>
                  <a:pt x="47625" y="76200"/>
                </a:cubicBezTo>
                <a:lnTo>
                  <a:pt x="9525" y="76200"/>
                </a:lnTo>
                <a:cubicBezTo>
                  <a:pt x="4264" y="76200"/>
                  <a:pt x="0" y="71936"/>
                  <a:pt x="0" y="666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80191E9-C1A4-4CFC-8138-E10D54D0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3238500"/>
            <a:ext cx="57150" cy="114300"/>
          </a:xfrm>
          <a:custGeom xmlns:a="http://schemas.openxmlformats.org/drawingml/2006/main">
            <a:rect l="l" t="t" r="r" b="b"/>
            <a:pathLst>
              <a:path w="57150" h="1143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04775"/>
                </a:lnTo>
                <a:cubicBezTo>
                  <a:pt x="57150" y="110036"/>
                  <a:pt x="52886" y="114300"/>
                  <a:pt x="47625" y="114300"/>
                </a:cubicBezTo>
                <a:lnTo>
                  <a:pt x="9525" y="114300"/>
                </a:lnTo>
                <a:cubicBezTo>
                  <a:pt x="4264" y="114300"/>
                  <a:pt x="0" y="110036"/>
                  <a:pt x="0" y="1047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BCC24DE-AD9C-4B38-A927-CD208400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3200400"/>
            <a:ext cx="57150" cy="152400"/>
          </a:xfrm>
          <a:custGeom xmlns:a="http://schemas.openxmlformats.org/drawingml/2006/main">
            <a:rect l="l" t="t" r="r" b="b"/>
            <a:pathLst>
              <a:path w="57150" h="1524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42875"/>
                </a:lnTo>
                <a:cubicBezTo>
                  <a:pt x="57150" y="148136"/>
                  <a:pt x="52886" y="152400"/>
                  <a:pt x="47625" y="152400"/>
                </a:cubicBezTo>
                <a:lnTo>
                  <a:pt x="9525" y="152400"/>
                </a:lnTo>
                <a:cubicBezTo>
                  <a:pt x="4264" y="152400"/>
                  <a:pt x="0" y="148136"/>
                  <a:pt x="0" y="14287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EDF3E0B-B467-457C-861A-0651D6E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352800"/>
            <a:ext cx="133350" cy="9525"/>
          </a:xfrm>
          <a:custGeom xmlns:a="http://schemas.openxmlformats.org/drawingml/2006/main"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F7A51163-7472-40F3-8DE2-BD495E3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319611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还剩多少轮次与调用预算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F1B06D6-97DA-483A-AD6E-19FDAC60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3743325"/>
            <a:ext cx="133350" cy="95250"/>
          </a:xfrm>
          <a:custGeom xmlns:a="http://schemas.openxmlformats.org/drawingml/2006/main">
            <a:rect l="l" t="t" r="r" b="b"/>
            <a:pathLst>
              <a:path w="133350" h="9525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76200"/>
                </a:lnTo>
                <a:cubicBezTo>
                  <a:pt x="133350" y="86721"/>
                  <a:pt x="124821" y="95250"/>
                  <a:pt x="1143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1D1CD17-FCBC-4E17-87A6-33FB4A2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3781425"/>
            <a:ext cx="19050" cy="19050"/>
          </a:xfrm>
          <a:custGeom xmlns:a="http://schemas.openxmlformats.org/drawingml/2006/main"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E1C6840-AE25-49FE-B4C1-97C3074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3667125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76200"/>
                </a:move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A3337F1E-A495-4A85-BFAB-9E03B7EA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36723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允许与禁止的动作范围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8B4BE90-929A-435D-A601-942F0FCB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42672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0AA9BF3D-E6CA-46DB-BE9B-67AB0CDD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925" y="41529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BEFC68B2-5C01-4D2B-9EB2-05A7DE8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4152900"/>
            <a:ext cx="38100" cy="38100"/>
          </a:xfrm>
          <a:custGeom xmlns:a="http://schemas.openxmlformats.org/drawingml/2006/main"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EE317139-6C49-493A-9B65-8CCD1D7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1975" y="4191000"/>
            <a:ext cx="9525" cy="76200"/>
          </a:xfrm>
          <a:custGeom xmlns:a="http://schemas.openxmlformats.org/drawingml/2006/main"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3A01E1B7-E561-4D1F-829A-0A6EEC1E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25" y="4219575"/>
            <a:ext cx="76200" cy="66675"/>
          </a:xfrm>
          <a:custGeom xmlns:a="http://schemas.openxmlformats.org/drawingml/2006/main">
            <a:rect l="l" t="t" r="r" b="b"/>
            <a:pathLst>
              <a:path w="76200" h="66675">
                <a:moveTo>
                  <a:pt x="0" y="66675"/>
                </a:moveTo>
                <a:lnTo>
                  <a:pt x="57150" y="66675"/>
                </a:lnTo>
                <a:cubicBezTo>
                  <a:pt x="67671" y="66675"/>
                  <a:pt x="76200" y="58146"/>
                  <a:pt x="76200" y="47625"/>
                </a:cubicBez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E65920BD-5B37-42E3-82D7-146517CA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4219575"/>
            <a:ext cx="57150" cy="28575"/>
          </a:xfrm>
          <a:custGeom xmlns:a="http://schemas.openxmlformats.org/drawingml/2006/main">
            <a:rect l="l" t="t" r="r" b="b"/>
            <a:pathLst>
              <a:path w="57150" h="28575">
                <a:moveTo>
                  <a:pt x="0" y="28575"/>
                </a:moveTo>
                <a:lnTo>
                  <a:pt x="28575" y="0"/>
                </a:ln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FB03A772-34CE-485D-B13F-40AF0CD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4148614"/>
            <a:ext cx="15549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哪条分支受到影响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6025842A-0386-427E-A67A-B8F0452D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4638675"/>
            <a:ext cx="38100" cy="133350"/>
          </a:xfrm>
          <a:custGeom xmlns:a="http://schemas.openxmlformats.org/drawingml/2006/main"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8E36EE10-44EB-43C6-BD11-AE749C1E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4638675"/>
            <a:ext cx="38100" cy="133350"/>
          </a:xfrm>
          <a:custGeom xmlns:a="http://schemas.openxmlformats.org/drawingml/2006/main"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513D82E0-01CF-4687-BD5A-2841F7D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823" y="46248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如何暂停、恢复或接管</a:t>
            </a:r>
          </a:p>
        </p:txBody>
      </p:sp>
      <p:sp>
        <p:nvSpPr>
          <p:cNvPr id="76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1733BDF6-5DC3-4461-8C33-CB356FB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5300" y="5048250"/>
            <a:ext cx="3276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5E7A499E-9C1E-4858-8D91-19FC296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5677" y="5129689"/>
            <a:ext cx="235584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控制信息必须来自服务端事实</a:t>
            </a:r>
          </a:p>
        </p:txBody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2F2EE200-930A-453A-8E2D-F136539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26931"/>
            <a:ext cx="9525" cy="34925"/>
          </a:xfrm>
          <a:custGeom xmlns:a="http://schemas.openxmlformats.org/drawingml/2006/main">
            <a:rect l="l" t="t" r="r" b="b"/>
            <a:pathLst>
              <a:path w="9525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31EB0D34-AC21-4801-AA68-6F173AE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019" y="5871643"/>
            <a:ext cx="176105" cy="151297"/>
          </a:xfrm>
          <a:custGeom xmlns:a="http://schemas.openxmlformats.org/drawingml/2006/main">
            <a:rect l="l" t="t" r="r" b="b"/>
            <a:pathLst>
              <a:path w="176105" h="151297">
                <a:moveTo>
                  <a:pt x="73763" y="8061"/>
                </a:moveTo>
                <a:lnTo>
                  <a:pt x="2987" y="126230"/>
                </a:lnTo>
                <a:cubicBezTo>
                  <a:pt x="18" y="131371"/>
                  <a:pt x="0" y="137702"/>
                  <a:pt x="2939" y="142860"/>
                </a:cubicBezTo>
                <a:cubicBezTo>
                  <a:pt x="5879" y="148019"/>
                  <a:pt x="11335" y="151230"/>
                  <a:pt x="17271" y="151297"/>
                </a:cubicBezTo>
                <a:lnTo>
                  <a:pt x="158840" y="151297"/>
                </a:lnTo>
                <a:cubicBezTo>
                  <a:pt x="164774" y="151229"/>
                  <a:pt x="170227" y="148018"/>
                  <a:pt x="173166" y="142863"/>
                </a:cubicBezTo>
                <a:cubicBezTo>
                  <a:pt x="176105" y="137707"/>
                  <a:pt x="176089" y="131379"/>
                  <a:pt x="173124" y="126238"/>
                </a:cubicBezTo>
                <a:lnTo>
                  <a:pt x="102349" y="8052"/>
                </a:lnTo>
                <a:cubicBezTo>
                  <a:pt x="99320" y="3053"/>
                  <a:pt x="93900" y="0"/>
                  <a:pt x="88056" y="0"/>
                </a:cubicBezTo>
                <a:cubicBezTo>
                  <a:pt x="82211" y="0"/>
                  <a:pt x="76791" y="3053"/>
                  <a:pt x="73763" y="80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6A51B4DD-20DF-4B25-A5C0-7CF16A3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880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63597213-4A03-46AB-BEEA-B372A6D6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673" y="5872639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9B42D41-A0EB-482B-919B-DC1BDBE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6123" y="5872639"/>
            <a:ext cx="56122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默认 12 轮，公开上限 24 轮；仍受调用次数和主动停止约束。</a:t>
            </a:r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EB6140B4-8A67-41C8-BBE6-7534CD5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e7b927dc8776439d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d094d698d9184e4d"/>
              </a:rPr>
              <a:t>docs.langchain.com/.../langgraph/persistence</a:t>
            </a:r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C30B216A-EBE4-492D-AF65-42439D8B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4017646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5EB6AF-08D6-4B83-9F5D-372C30B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E8D715E-8327-4CE4-9419-6023FBAA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E5219F9-A7CB-485C-89A2-220BFD4A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48720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智能体控制循环：当前实现与缺口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30132F8-F0FB-437A-AA37-58E5CE4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" y="2647950"/>
            <a:ext cx="8610600" cy="9525"/>
          </a:xfrm>
          <a:custGeom xmlns:a="http://schemas.openxmlformats.org/drawingml/2006/main">
            <a:rect l="l" t="t" r="r" b="b"/>
            <a:pathLst>
              <a:path w="8610600" h="9525">
                <a:moveTo>
                  <a:pt x="0" y="0"/>
                </a:moveTo>
                <a:lnTo>
                  <a:pt x="86106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7" name="Ellipse 17">
            <a:extLst xmlns:a="http://schemas.openxmlformats.org/drawingml/2006/main">
              <a:ext uri="{FF2B5EF4-FFF2-40B4-BE49-F238E27FC236}">
                <a16:creationId xmlns:a16="http://schemas.microsoft.com/office/drawing/2014/main" id="{3E39581F-DB5D-4F21-892B-362C559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626FCE4-54D9-4AC3-9B84-936778A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1800" y="248285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2122C07-A3FE-4E8B-93F9-5BB8385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0675" y="2419350"/>
            <a:ext cx="285751" cy="190500"/>
          </a:xfrm>
          <a:custGeom xmlns:a="http://schemas.openxmlformats.org/drawingml/2006/main">
            <a:rect l="l" t="t" r="r" b="b"/>
            <a:pathLst>
              <a:path w="285751" h="190500">
                <a:moveTo>
                  <a:pt x="285751" y="95250"/>
                </a:moveTo>
                <a:cubicBezTo>
                  <a:pt x="247650" y="158750"/>
                  <a:pt x="200025" y="190500"/>
                  <a:pt x="142875" y="190500"/>
                </a:cubicBezTo>
                <a:cubicBezTo>
                  <a:pt x="85725" y="190500"/>
                  <a:pt x="38100" y="158750"/>
                  <a:pt x="0" y="95250"/>
                </a:cubicBezTo>
                <a:cubicBezTo>
                  <a:pt x="38100" y="31750"/>
                  <a:pt x="85725" y="0"/>
                  <a:pt x="142875" y="0"/>
                </a:cubicBezTo>
                <a:cubicBezTo>
                  <a:pt x="200025" y="0"/>
                  <a:pt x="247650" y="31750"/>
                  <a:pt x="285751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65A4F37-D3EB-40FE-AFF4-734136EE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171" y="2872264"/>
            <a:ext cx="7487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068431EF-B25C-4070-AA53-0D2FAFC1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4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20E6552-6574-4609-A4BF-159BD1F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5675" y="2593976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EC652F9-F1E9-4937-A876-E61D5BC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7926" y="2371725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31750" y="63500"/>
                </a:move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  <a:cubicBezTo>
                  <a:pt x="0" y="49285"/>
                  <a:pt x="14215" y="63500"/>
                  <a:pt x="31750" y="63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15E2048-910A-4961-B23D-19551C0B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7425" y="2403475"/>
            <a:ext cx="238125" cy="222250"/>
          </a:xfrm>
          <a:custGeom xmlns:a="http://schemas.openxmlformats.org/drawingml/2006/main">
            <a:rect l="l" t="t" r="r" b="b"/>
            <a:pathLst>
              <a:path w="238125" h="222250">
                <a:moveTo>
                  <a:pt x="95250" y="222250"/>
                </a:moveTo>
                <a:lnTo>
                  <a:pt x="182563" y="222250"/>
                </a:lnTo>
                <a:cubicBezTo>
                  <a:pt x="213249" y="222250"/>
                  <a:pt x="238125" y="197374"/>
                  <a:pt x="238125" y="166688"/>
                </a:cubicBezTo>
                <a:cubicBezTo>
                  <a:pt x="238125" y="136001"/>
                  <a:pt x="213249" y="111125"/>
                  <a:pt x="182563" y="111125"/>
                </a:cubicBezTo>
                <a:lnTo>
                  <a:pt x="55563" y="111125"/>
                </a:lnTo>
                <a:cubicBezTo>
                  <a:pt x="24876" y="111125"/>
                  <a:pt x="0" y="86249"/>
                  <a:pt x="0" y="55563"/>
                </a:cubicBezTo>
                <a:cubicBezTo>
                  <a:pt x="0" y="24876"/>
                  <a:pt x="24876" y="0"/>
                  <a:pt x="55563" y="0"/>
                </a:cubicBezTo>
                <a:lnTo>
                  <a:pt x="12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F5DE7F-1067-4983-B6F3-0F15527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3869" y="2872264"/>
            <a:ext cx="36936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3206F7BF-CDD7-42ED-9CAC-2CBB85A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4AE0411-F9E9-4D41-92DA-C8E64BA4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2033" y="2419350"/>
            <a:ext cx="196768" cy="196768"/>
          </a:xfrm>
          <a:custGeom xmlns:a="http://schemas.openxmlformats.org/drawingml/2006/main">
            <a:rect l="l" t="t" r="r" b="b"/>
            <a:pathLst>
              <a:path w="196768" h="196768">
                <a:moveTo>
                  <a:pt x="66354" y="0"/>
                </a:moveTo>
                <a:lnTo>
                  <a:pt x="196768" y="130413"/>
                </a:lnTo>
                <a:lnTo>
                  <a:pt x="164160" y="163021"/>
                </a:lnTo>
                <a:cubicBezTo>
                  <a:pt x="141022" y="187085"/>
                  <a:pt x="106687" y="196768"/>
                  <a:pt x="74386" y="188339"/>
                </a:cubicBezTo>
                <a:cubicBezTo>
                  <a:pt x="42084" y="179909"/>
                  <a:pt x="16858" y="154684"/>
                  <a:pt x="8429" y="122382"/>
                </a:cubicBezTo>
                <a:cubicBezTo>
                  <a:pt x="0" y="90081"/>
                  <a:pt x="9683" y="55745"/>
                  <a:pt x="33747" y="32607"/>
                </a:cubicBezTo>
                <a:lnTo>
                  <a:pt x="663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130714C-D9F1-45F1-948B-06C47B83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6550" y="2586038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55563"/>
                </a:moveTo>
                <a:lnTo>
                  <a:pt x="55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AF39A6D-A132-402E-986F-84FD35E8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5613" y="2387600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F328FDB-A979-4DB4-84A3-1FF6E718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4988" y="2466975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A7D675-81B3-4F8C-9E02-08A5A0A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5584" y="2872264"/>
            <a:ext cx="3159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Ellipse 35">
            <a:extLst xmlns:a="http://schemas.openxmlformats.org/drawingml/2006/main">
              <a:ext uri="{FF2B5EF4-FFF2-40B4-BE49-F238E27FC236}">
                <a16:creationId xmlns:a16="http://schemas.microsoft.com/office/drawing/2014/main" id="{1C6F47C8-E5E4-4860-8582-EF7EA04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AF026CF-AD88-4EF6-8634-1E7205A7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4251" y="2371725"/>
            <a:ext cx="310011" cy="283306"/>
          </a:xfrm>
          <a:custGeom xmlns:a="http://schemas.openxmlformats.org/drawingml/2006/main">
            <a:rect l="l" t="t" r="r" b="b"/>
            <a:pathLst>
              <a:path w="310011" h="283306">
                <a:moveTo>
                  <a:pt x="155727" y="283306"/>
                </a:moveTo>
                <a:cubicBezTo>
                  <a:pt x="56277" y="252479"/>
                  <a:pt x="0" y="147517"/>
                  <a:pt x="29362" y="47625"/>
                </a:cubicBezTo>
                <a:cubicBezTo>
                  <a:pt x="78821" y="49888"/>
                  <a:pt x="127218" y="32807"/>
                  <a:pt x="164299" y="0"/>
                </a:cubicBezTo>
                <a:cubicBezTo>
                  <a:pt x="201381" y="32807"/>
                  <a:pt x="249778" y="49888"/>
                  <a:pt x="299237" y="47625"/>
                </a:cubicBezTo>
                <a:cubicBezTo>
                  <a:pt x="310011" y="84282"/>
                  <a:pt x="309513" y="123332"/>
                  <a:pt x="297808" y="1597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CB6418D1-C058-49AB-8024-DF1CEA9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2593976"/>
            <a:ext cx="95250" cy="63500"/>
          </a:xfrm>
          <a:custGeom xmlns:a="http://schemas.openxmlformats.org/drawingml/2006/main">
            <a:rect l="l" t="t" r="r" b="b"/>
            <a:pathLst>
              <a:path w="95250" h="63500">
                <a:moveTo>
                  <a:pt x="0" y="31750"/>
                </a:moveTo>
                <a:lnTo>
                  <a:pt x="31750" y="63500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9EB3823-AB80-4DAB-B2D9-6D1C8CA2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4641" y="2872264"/>
            <a:ext cx="5678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FD85CCF0-4AEE-4C52-A1B9-FA9A51B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9200" y="2133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E280964-17DD-47F8-BAF0-769E5BB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21800" y="2403475"/>
            <a:ext cx="158750" cy="222250"/>
          </a:xfrm>
          <a:custGeom xmlns:a="http://schemas.openxmlformats.org/drawingml/2006/main">
            <a:rect l="l" t="t" r="r" b="b"/>
            <a:pathLst>
              <a:path w="158750" h="222250">
                <a:moveTo>
                  <a:pt x="0" y="31750"/>
                </a:moveTo>
                <a:cubicBezTo>
                  <a:pt x="0" y="14215"/>
                  <a:pt x="14215" y="0"/>
                  <a:pt x="31750" y="0"/>
                </a:cubicBezTo>
                <a:lnTo>
                  <a:pt x="127000" y="0"/>
                </a:lnTo>
                <a:cubicBezTo>
                  <a:pt x="144535" y="0"/>
                  <a:pt x="158750" y="14215"/>
                  <a:pt x="158750" y="31750"/>
                </a:cubicBezTo>
                <a:lnTo>
                  <a:pt x="158750" y="190500"/>
                </a:lnTo>
                <a:cubicBezTo>
                  <a:pt x="158750" y="208035"/>
                  <a:pt x="144535" y="222250"/>
                  <a:pt x="127000" y="222250"/>
                </a:cubicBezTo>
                <a:lnTo>
                  <a:pt x="31750" y="222250"/>
                </a:lnTo>
                <a:cubicBezTo>
                  <a:pt x="14215" y="222250"/>
                  <a:pt x="0" y="208035"/>
                  <a:pt x="0" y="190500"/>
                </a:cubicBezTo>
                <a:lnTo>
                  <a:pt x="0" y="31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B5022BE-5297-41DC-84B7-9E0183AE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4175" y="2435225"/>
            <a:ext cx="9525" cy="158750"/>
          </a:xfrm>
          <a:custGeom xmlns:a="http://schemas.openxmlformats.org/drawingml/2006/main">
            <a:rect l="l" t="t" r="r" b="b"/>
            <a:pathLst>
              <a:path w="9525" h="158750">
                <a:moveTo>
                  <a:pt x="0" y="0"/>
                </a:moveTo>
                <a:lnTo>
                  <a:pt x="0" y="158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640EFC4-6FA9-46CC-9823-4454732C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6550" y="2451100"/>
            <a:ext cx="9525" cy="127000"/>
          </a:xfrm>
          <a:custGeom xmlns:a="http://schemas.openxmlformats.org/drawingml/2006/main">
            <a:rect l="l" t="t" r="r" b="b"/>
            <a:pathLst>
              <a:path w="9525" h="127000">
                <a:moveTo>
                  <a:pt x="0" y="0"/>
                </a:moveTo>
                <a:lnTo>
                  <a:pt x="0" y="127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A312A76-30C4-49A4-92B9-BB59117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256" y="2872264"/>
            <a:ext cx="640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878132A-E57B-41F0-9E58-C08D9F5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" y="1981200"/>
            <a:ext cx="8934450" cy="666750"/>
          </a:xfrm>
          <a:custGeom xmlns:a="http://schemas.openxmlformats.org/drawingml/2006/main">
            <a:rect l="l" t="t" r="r" b="b"/>
            <a:pathLst>
              <a:path w="8934450" h="666750">
                <a:moveTo>
                  <a:pt x="8134350" y="666750"/>
                </a:moveTo>
                <a:lnTo>
                  <a:pt x="8934450" y="666750"/>
                </a:lnTo>
                <a:lnTo>
                  <a:pt x="893445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9565A489-FC05-4356-815D-B418EC4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5164" y="2286952"/>
            <a:ext cx="57607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默认 12 轮，上限 24 轮</a:t>
            </a:r>
          </a:p>
        </p:txBody>
      </p:sp>
      <p:sp>
        <p:nvSpPr>
          <p:cNvPr id="49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C4E745B8-62D2-4E85-9559-51642CA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600450"/>
            <a:ext cx="1120140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557B97B-775D-4E50-84C5-55BBC49C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37490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外围控制与状态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98FE8DB-CA85-473C-A795-79BF503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71950"/>
            <a:ext cx="10744200" cy="1123950"/>
          </a:xfrm>
          <a:custGeom xmlns:a="http://schemas.openxmlformats.org/drawingml/2006/main">
            <a:rect l="l" t="t" r="r" b="b"/>
            <a:pathLst>
              <a:path w="10744200" h="1123950">
                <a:moveTo>
                  <a:pt x="0" y="0"/>
                </a:moveTo>
                <a:lnTo>
                  <a:pt x="10744200" y="0"/>
                </a:lnTo>
                <a:moveTo>
                  <a:pt x="1790700" y="0"/>
                </a:moveTo>
                <a:lnTo>
                  <a:pt x="1790700" y="1123950"/>
                </a:lnTo>
                <a:moveTo>
                  <a:pt x="3581400" y="0"/>
                </a:moveTo>
                <a:lnTo>
                  <a:pt x="3581400" y="1123950"/>
                </a:lnTo>
                <a:moveTo>
                  <a:pt x="5372100" y="0"/>
                </a:moveTo>
                <a:lnTo>
                  <a:pt x="5372100" y="1123950"/>
                </a:lnTo>
                <a:moveTo>
                  <a:pt x="7162800" y="0"/>
                </a:moveTo>
                <a:lnTo>
                  <a:pt x="7162800" y="1123950"/>
                </a:lnTo>
                <a:moveTo>
                  <a:pt x="8953500" y="0"/>
                </a:moveTo>
                <a:lnTo>
                  <a:pt x="8953500" y="1123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E444F22-CC83-421C-8481-C3B12C6F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773" y="43581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4B37138F-1E46-40D9-A906-3527568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916" y="4725352"/>
            <a:ext cx="136057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当前：目标/范围冻结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1D1EB285-A546-4077-9937-8966FC26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1473" y="43581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7BCA100C-91EE-4F77-890F-513190FB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2616" y="4725352"/>
            <a:ext cx="123775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当前：分支级证据门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5452BB4D-95AB-4C04-B90E-2206AEE4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2173" y="4358164"/>
            <a:ext cx="1225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预算与停止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C64EB961-76A5-4FDA-A2FB-7BD6420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3316" y="4725352"/>
            <a:ext cx="143831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部分：轮次/调用/期限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EAC3E1A7-CD9E-45A0-84BC-3E4AEDEC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2873" y="4358164"/>
            <a:ext cx="12250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纠偏与暂停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009B1B26-C8A0-4869-BB83-42A69F5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4016" y="4725352"/>
            <a:ext cx="18185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部分：在安全点生效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086EDD13-D1D8-4B4E-ABE7-70743E7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3573" y="43581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持久状态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A94DAF7E-DFD8-4334-BE1C-843D30E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4716" y="4725352"/>
            <a:ext cx="160873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部分：可选数据库重启恢复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65724089-9972-47DB-947C-B92FB63A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4273" y="4358164"/>
            <a:ext cx="51417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执行记录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D57F45CF-7470-4FCD-8A42-90BE77E8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5416" y="4725352"/>
            <a:ext cx="19387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当前：有序事件与状态快照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7F8937E5-3984-4561-A60F-2CA63FF4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57111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当前本质：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DF054A3C-D8A2-40DE-BE90-8749BC0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7256" y="5711190"/>
            <a:ext cx="583387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有反馈与恢复的只读办公任务纵切，不是完整执行器。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892F6306-F5D8-43A2-B4A9-D7B0695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684f125bcc24535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69b61a8e5c84110"/>
              </a:rPr>
              <a:t>openai.github.io/.../human_in_the_loop/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971BC25C-8C2F-4D70-8892-7CA3D77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3028182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F27ED7-55BF-45A0-A43B-D3787F29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7EC833-C36C-4E81-ACF3-010FE44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1505014-F57D-44E0-B26E-D7FB52F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83762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六个办公场景，共用同一条治理主线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D40A92B-1C99-4867-BC0B-3C5C88F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1504950"/>
            <a:ext cx="9525" cy="4152900"/>
          </a:xfrm>
          <a:custGeom xmlns:a="http://schemas.openxmlformats.org/drawingml/2006/main">
            <a:rect l="l" t="t" r="r" b="b"/>
            <a:pathLst>
              <a:path w="9525" h="4152900">
                <a:moveTo>
                  <a:pt x="0" y="0"/>
                </a:moveTo>
                <a:lnTo>
                  <a:pt x="0" y="41529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FDBF2DAA-825F-49B1-B095-AC09989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1600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D163DBF-FE1B-4732-82A1-1EC1449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1738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FEF1AB4-1002-47DA-9247-B7D2FD0B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1558290"/>
            <a:ext cx="24512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TC-01 入职资产匹配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6A1F43-B535-4F93-8987-DAC62C24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1881664"/>
            <a:ext cx="595171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产物：资产匹配表 人工门：业务规则复核 边界：引用定位问题不等于成果失败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3382297C-B1C0-4041-9A87-79AEE31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B5D971A-EDD0-410B-BCC6-2B80B13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2500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F7C6C3B-B20D-4D7E-9F18-F605A4A3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2320290"/>
            <a:ext cx="218239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TC-05 三期往来款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25E24E-1583-4892-AE64-E5980BBC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2643664"/>
            <a:ext cx="518791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产物：未收/未付统计 人工门：僵尸账款判断 边界：不核销、不记账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25CDC9AA-69D8-43D4-B700-A1C1BCD3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30771D-E021-4C5D-BE19-C2470CB0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3262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5F7B9AB-1C1F-4C92-BDE5-BB4A21E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3082290"/>
            <a:ext cx="272006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TC-06 双岗位招聘筛选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0AAD833-B349-4391-8EDE-2EDF2C41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3405664"/>
            <a:ext cx="543679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产物：候选建议与依据 人工门：招聘负责人决定 边界：未录用、未淘汰</a:t>
            </a:r>
          </a:p>
        </p:txBody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39FB05A7-BF2C-4D95-AFB3-033E9304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4E97A8-9D9F-45C3-8ECA-72B7FDDB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024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803FCB-2B01-4E52-A970-3D6A1CF4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3844290"/>
            <a:ext cx="24512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TC-07 授权文件风控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4093993-1923-41FB-8299-CE1AD02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4167664"/>
            <a:ext cx="526515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产物：规则台账与风险候选 人工门：法务复核 边界：不代表法律意见</a:t>
            </a:r>
          </a:p>
        </p:txBody>
      </p:sp>
      <p:sp>
        <p:nvSpPr>
          <p:cNvPr id="26" name="Ellipse 26">
            <a:extLst xmlns:a="http://schemas.openxmlformats.org/drawingml/2006/main">
              <a:ext uri="{FF2B5EF4-FFF2-40B4-BE49-F238E27FC236}">
                <a16:creationId xmlns:a16="http://schemas.microsoft.com/office/drawing/2014/main" id="{8BC2A8AE-86DC-43DD-A2F0-A7FFE942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4648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DDF1E40-2E9B-4DDC-B425-B6B2F78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786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8A0A93D-BB28-4CAD-9AAE-C2919AC4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4606290"/>
            <a:ext cx="24512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TC-10 合规外呼流程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5A7F7FE-6A23-4E0D-BE7B-633A1A2B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4929664"/>
            <a:ext cx="626066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成果：流程图与文档｜人工批准执行｜不拨号、不写客户系统、不发短信</a:t>
            </a:r>
          </a:p>
        </p:txBody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224195D4-8F6D-4AA7-A239-51CA25E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" y="5410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75EA5DF-8062-4CB7-8E0B-BB89A315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5548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B1E2CD3-85AE-4A49-9991-8BFAD7B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806" y="5368290"/>
            <a:ext cx="43061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TC-14 / TC-15 冲突诊断与说明对账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5044EDD-109F-41F4-841D-3F7C71B8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473" y="5691664"/>
            <a:ext cx="58058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产物：条件式提案 / 排序成果 人工门：复核权威顺序 边界：不静默覆盖冲突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CEFE0F3-890F-4235-A502-7596637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39200" y="1504950"/>
            <a:ext cx="2857500" cy="43243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65B0381-7D3C-44C3-BF32-960FB93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4282" y="1716405"/>
            <a:ext cx="180235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同一治理主线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6007927-4043-481A-B07E-747D6C98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226314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 触发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67DC3AB0-3BD3-432B-B8B1-961C23DA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25865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用户只说业务目标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C8C58A1-3F2C-4FD5-9660-E8C7A65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300609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 路径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82ACB70B-51F9-43F9-9EC0-4BEC202F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332946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来源、计划、成果、验证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E47AD9-1D31-4FD7-ADD6-7E8263A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374904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3 停顿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94FF908-CA1C-4E99-9B36-03C6AF2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4072414"/>
            <a:ext cx="13860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只暂停受影响部分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1DB71C80-7C30-45F1-85CB-ECAC273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806" y="4491990"/>
            <a:ext cx="74341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 输出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2982E105-FEEA-451F-8685-071BD52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481536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成果、依据、决定、边界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0E61283-2B19-4969-A415-41EFE160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8473" y="5291614"/>
            <a:ext cx="16349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每个场景都可被反证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DDD24230-6554-4274-B3D0-346E8120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16 / 30</a:t>
            </a:r>
          </a:p>
        </p:txBody>
      </p:sp>
    </p:spTree>
    <p:extLst>
      <p:ext uri="{BB962C8B-B14F-4D97-AF65-F5344CB8AC3E}">
        <p14:creationId xmlns:p14="http://schemas.microsoft.com/office/powerpoint/2010/main" val="11352698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A5FD70-DFD7-450A-A4FD-3F5DC0F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F012F3B-8095-46FA-B8E4-0A34580F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2005C5E-3A67-42F5-A2EC-CFB52290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918099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TC-01：成果正确，不等于引用定位完整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763D2F-5FF3-4E59-A420-7271E7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28750"/>
            <a:ext cx="3429000" cy="43434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BFBDAE-06E8-4278-8D4A-1FD6DE6A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" y="1558290"/>
            <a:ext cx="383476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C0362C"/>
                </a:solidFill>
                <a:latin typeface="Segoe UI Semibold"/>
                <a:ea typeface="Segoe UI Semibold"/>
                <a:cs typeface="Segoe UI Semibold"/>
              </a:rPr>
              <a:t>旧体验：成果与审计缺口混在一起</a:t>
            </a:r>
          </a:p>
        </p:txBody>
      </p:sp>
      <p:pic>
        <p:nvPicPr>
          <p:cNvPr id="48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3ed5fc8bd46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7700" y="2169953"/>
            <a:ext cx="3124200" cy="2899094"/>
          </a:xfrm>
          <a:prstGeom xmlns:a="http://schemas.openxmlformats.org/drawingml/2006/main" prst="rect">
            <a:avLst/>
          </a:prstGeom>
        </p:spPr>
      </p:pic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5B6CE54-83D7-4079-B579-25D5E06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1428750"/>
            <a:ext cx="468630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9CF283-E118-4941-B369-F97115B6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2356" y="155829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现在把三个事实拆开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F7D527-0673-40DE-972E-B1255F6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197691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触发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037DF2D-A2AC-4FEE-B83E-A56C918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1976914"/>
            <a:ext cx="35401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根据时间表和规则生成 3/20-4/20 资产匹配表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03AFB0E-5333-4688-A4AC-234ECD73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2338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路径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D56E33-932B-4ADD-B06F-A090CA5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2338864"/>
            <a:ext cx="389397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读取两份资料 → 生成表格 → 文件检查 → 证据定位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1A7B24-2E91-403A-ADEA-7A973F5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270081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成果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6F4CBD-EA71-40C2-BEFB-47B097C2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27008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日期与资产表可通过确定性文件检查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38784F3-0B5B-4D0F-A421-24EF507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30627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停顿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1EB0931-8E20-4E6B-9CFE-FF8BDE3D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8423" y="3062764"/>
            <a:ext cx="40207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同一原文片段出现多次，无法唯一映射到原文位置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8641D96-8499-4D25-BD5D-96CF5B80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1500" y="3486150"/>
            <a:ext cx="4229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A7A3136-AE13-4027-BC4E-6FB1EC2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3615214"/>
            <a:ext cx="25540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“缺一份引用”到底是什么意思？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9D4A9EE-ACFA-46B5-B338-FBEC1385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5523" y="3900964"/>
            <a:ext cx="464724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缺的是唯一可回开的定位，不是缺源文件，也不是日期算错。</a:t>
            </a:r>
          </a:p>
        </p:txBody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7875DBF-4F79-4C8F-B65B-ED0F95E7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7800" y="1428750"/>
            <a:ext cx="2628900" cy="4343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0FE44F36-F7E3-4B01-A718-6DD04441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9156" y="155829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现在：成果优先</a:t>
            </a:r>
          </a:p>
        </p:txBody>
      </p:sp>
      <p:pic>
        <p:nvPicPr>
          <p:cNvPr id="64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b95b2028a4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600223" y="1962150"/>
            <a:ext cx="1564055" cy="3333750"/>
          </a:xfrm>
          <a:prstGeom xmlns:a="http://schemas.openxmlformats.org/drawingml/2006/main" prst="rect">
            <a:avLst/>
          </a:prstGeom>
        </p:spPr>
      </p:pic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65126D57-5108-44CC-A3DE-D6D58890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16565353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4D7603-D7BC-49FC-9BF9-F2BD7AA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98C63C-80D2-49E9-A67C-BE7A9066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5A001B0-C9F9-44F8-A268-B927C81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211524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TC-05：三份输入，各自对应不同成果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197A1EF-FC16-43F3-A9FD-95474520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40155"/>
            <a:ext cx="209919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输入：三个期间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0D9296-D862-4051-A3A2-7C497B7F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714500"/>
            <a:ext cx="2476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4A5DC44-14E3-4E90-BD0F-6BA03C0B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375" y="1947863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0"/>
                </a:moveTo>
                <a:lnTo>
                  <a:pt x="0" y="44450"/>
                </a:lnTo>
                <a:cubicBezTo>
                  <a:pt x="0" y="50587"/>
                  <a:pt x="4975" y="55563"/>
                  <a:pt x="11113" y="55563"/>
                </a:cubicBezTo>
                <a:lnTo>
                  <a:pt x="55563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8A3A306-164B-47B3-9833-772D225A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363" y="1947863"/>
            <a:ext cx="155575" cy="200026"/>
          </a:xfrm>
          <a:custGeom xmlns:a="http://schemas.openxmlformats.org/drawingml/2006/main">
            <a:rect l="l" t="t" r="r" b="b"/>
            <a:pathLst>
              <a:path w="155575" h="200026">
                <a:moveTo>
                  <a:pt x="133350" y="200026"/>
                </a:moveTo>
                <a:lnTo>
                  <a:pt x="22225" y="200026"/>
                </a:lnTo>
                <a:cubicBezTo>
                  <a:pt x="9950" y="200026"/>
                  <a:pt x="0" y="190075"/>
                  <a:pt x="0" y="177801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100013" y="0"/>
                </a:lnTo>
                <a:lnTo>
                  <a:pt x="155575" y="55563"/>
                </a:lnTo>
                <a:lnTo>
                  <a:pt x="155575" y="177801"/>
                </a:lnTo>
                <a:cubicBezTo>
                  <a:pt x="155575" y="190075"/>
                  <a:pt x="145625" y="200026"/>
                  <a:pt x="133350" y="2000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7B7A6C1-52D7-4C47-AF2B-6C9BF5D1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700" y="2036763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0"/>
                </a:moveTo>
                <a:lnTo>
                  <a:pt x="88900" y="0"/>
                </a:lnTo>
                <a:lnTo>
                  <a:pt x="88900" y="77788"/>
                </a:lnTo>
                <a:lnTo>
                  <a:pt x="0" y="77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84563FB-018C-4DBE-B188-F5E4DE03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700" y="2081213"/>
            <a:ext cx="88900" cy="9525"/>
          </a:xfrm>
          <a:custGeom xmlns:a="http://schemas.openxmlformats.org/drawingml/2006/main">
            <a:rect l="l" t="t" r="r" b="b"/>
            <a:pathLst>
              <a:path w="88900" h="9525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9085CD1-D4D8-42B2-901C-49B4F0E6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038" y="2036763"/>
            <a:ext cx="9525" cy="77788"/>
          </a:xfrm>
          <a:custGeom xmlns:a="http://schemas.openxmlformats.org/drawingml/2006/main">
            <a:rect l="l" t="t" r="r" b="b"/>
            <a:pathLst>
              <a:path w="9525" h="77788">
                <a:moveTo>
                  <a:pt x="0" y="0"/>
                </a:moveTo>
                <a:lnTo>
                  <a:pt x="0" y="777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8BB067A-935F-41D6-A93B-FB2D505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373" y="2005489"/>
            <a:ext cx="136462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2025 上半年明细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9C1D2D4-3791-4439-B554-D86B522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1714500"/>
            <a:ext cx="2476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F137D87-0480-4A67-9625-A32D6FA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8375" y="1947863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0"/>
                </a:moveTo>
                <a:lnTo>
                  <a:pt x="0" y="44450"/>
                </a:lnTo>
                <a:cubicBezTo>
                  <a:pt x="0" y="50587"/>
                  <a:pt x="4975" y="55563"/>
                  <a:pt x="11113" y="55563"/>
                </a:cubicBezTo>
                <a:lnTo>
                  <a:pt x="55563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F3FD10B-B004-40B6-AC27-5E413E35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8363" y="1947863"/>
            <a:ext cx="155575" cy="200026"/>
          </a:xfrm>
          <a:custGeom xmlns:a="http://schemas.openxmlformats.org/drawingml/2006/main">
            <a:rect l="l" t="t" r="r" b="b"/>
            <a:pathLst>
              <a:path w="155575" h="200026">
                <a:moveTo>
                  <a:pt x="133350" y="200026"/>
                </a:moveTo>
                <a:lnTo>
                  <a:pt x="22225" y="200026"/>
                </a:lnTo>
                <a:cubicBezTo>
                  <a:pt x="9950" y="200026"/>
                  <a:pt x="0" y="190075"/>
                  <a:pt x="0" y="177801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100013" y="0"/>
                </a:lnTo>
                <a:lnTo>
                  <a:pt x="155575" y="55563"/>
                </a:lnTo>
                <a:lnTo>
                  <a:pt x="155575" y="177801"/>
                </a:lnTo>
                <a:cubicBezTo>
                  <a:pt x="155575" y="190075"/>
                  <a:pt x="145625" y="200026"/>
                  <a:pt x="133350" y="2000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9BF921B-C68D-4E87-B891-29E857A1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1700" y="2036763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0"/>
                </a:moveTo>
                <a:lnTo>
                  <a:pt x="88900" y="0"/>
                </a:lnTo>
                <a:lnTo>
                  <a:pt x="88900" y="77788"/>
                </a:lnTo>
                <a:lnTo>
                  <a:pt x="0" y="77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8B0A828-99CC-407C-BCA6-4EA1CB47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1700" y="2081213"/>
            <a:ext cx="88900" cy="9525"/>
          </a:xfrm>
          <a:custGeom xmlns:a="http://schemas.openxmlformats.org/drawingml/2006/main">
            <a:rect l="l" t="t" r="r" b="b"/>
            <a:pathLst>
              <a:path w="88900" h="9525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F56D1C2-034C-46C6-A21D-E621E96A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5038" y="2036763"/>
            <a:ext cx="9525" cy="77788"/>
          </a:xfrm>
          <a:custGeom xmlns:a="http://schemas.openxmlformats.org/drawingml/2006/main">
            <a:rect l="l" t="t" r="r" b="b"/>
            <a:pathLst>
              <a:path w="9525" h="77788">
                <a:moveTo>
                  <a:pt x="0" y="0"/>
                </a:moveTo>
                <a:lnTo>
                  <a:pt x="0" y="777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51D1DBE-36AB-4110-AE06-0CACE1D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6373" y="2005489"/>
            <a:ext cx="136462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2025 下半年明细</a:t>
            </a:r>
          </a:p>
        </p:txBody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51C7A9D-40A3-437F-89A0-1536D59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9300" y="1714500"/>
            <a:ext cx="2476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7FE4D33-4B2B-4CFA-9C22-41A804D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5375" y="1947863"/>
            <a:ext cx="55563" cy="55563"/>
          </a:xfrm>
          <a:custGeom xmlns:a="http://schemas.openxmlformats.org/drawingml/2006/main">
            <a:rect l="l" t="t" r="r" b="b"/>
            <a:pathLst>
              <a:path w="55563" h="55563">
                <a:moveTo>
                  <a:pt x="0" y="0"/>
                </a:moveTo>
                <a:lnTo>
                  <a:pt x="0" y="44450"/>
                </a:lnTo>
                <a:cubicBezTo>
                  <a:pt x="0" y="50587"/>
                  <a:pt x="4975" y="55563"/>
                  <a:pt x="11113" y="55563"/>
                </a:cubicBezTo>
                <a:lnTo>
                  <a:pt x="55563" y="555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3F37860-8984-4A21-8A48-F3C7FCF3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5363" y="1947863"/>
            <a:ext cx="155575" cy="200026"/>
          </a:xfrm>
          <a:custGeom xmlns:a="http://schemas.openxmlformats.org/drawingml/2006/main">
            <a:rect l="l" t="t" r="r" b="b"/>
            <a:pathLst>
              <a:path w="155575" h="200026">
                <a:moveTo>
                  <a:pt x="133350" y="200026"/>
                </a:moveTo>
                <a:lnTo>
                  <a:pt x="22225" y="200026"/>
                </a:lnTo>
                <a:cubicBezTo>
                  <a:pt x="9950" y="200026"/>
                  <a:pt x="0" y="190075"/>
                  <a:pt x="0" y="177801"/>
                </a:cubicBezTo>
                <a:lnTo>
                  <a:pt x="0" y="22225"/>
                </a:lnTo>
                <a:cubicBezTo>
                  <a:pt x="0" y="9950"/>
                  <a:pt x="9950" y="0"/>
                  <a:pt x="22225" y="0"/>
                </a:cubicBezTo>
                <a:lnTo>
                  <a:pt x="100013" y="0"/>
                </a:lnTo>
                <a:lnTo>
                  <a:pt x="155575" y="55563"/>
                </a:lnTo>
                <a:lnTo>
                  <a:pt x="155575" y="177801"/>
                </a:lnTo>
                <a:cubicBezTo>
                  <a:pt x="155575" y="190075"/>
                  <a:pt x="145625" y="200026"/>
                  <a:pt x="133350" y="2000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0C1F98-9BCB-4865-9A81-A4DF309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8700" y="2036763"/>
            <a:ext cx="88900" cy="77788"/>
          </a:xfrm>
          <a:custGeom xmlns:a="http://schemas.openxmlformats.org/drawingml/2006/main">
            <a:rect l="l" t="t" r="r" b="b"/>
            <a:pathLst>
              <a:path w="88900" h="77788">
                <a:moveTo>
                  <a:pt x="0" y="0"/>
                </a:moveTo>
                <a:lnTo>
                  <a:pt x="88900" y="0"/>
                </a:lnTo>
                <a:lnTo>
                  <a:pt x="88900" y="77788"/>
                </a:lnTo>
                <a:lnTo>
                  <a:pt x="0" y="77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3BF8B4C-EF55-4A6D-98E3-ECA8F27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8700" y="2081213"/>
            <a:ext cx="88900" cy="9525"/>
          </a:xfrm>
          <a:custGeom xmlns:a="http://schemas.openxmlformats.org/drawingml/2006/main">
            <a:rect l="l" t="t" r="r" b="b"/>
            <a:pathLst>
              <a:path w="88900" h="9525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514285D-4CFA-4D1D-A52F-EDF1982C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2038" y="2036763"/>
            <a:ext cx="9525" cy="77788"/>
          </a:xfrm>
          <a:custGeom xmlns:a="http://schemas.openxmlformats.org/drawingml/2006/main">
            <a:rect l="l" t="t" r="r" b="b"/>
            <a:pathLst>
              <a:path w="9525" h="77788">
                <a:moveTo>
                  <a:pt x="0" y="0"/>
                </a:moveTo>
                <a:lnTo>
                  <a:pt x="0" y="777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6BA4F9E-D3C5-4613-B3F8-AA0B0411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3373" y="2005489"/>
            <a:ext cx="11844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2026 期初明细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F16BCAE2-C227-4F94-8818-2E93BB5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6300" y="2066925"/>
            <a:ext cx="2819400" cy="9525"/>
          </a:xfrm>
          <a:custGeom xmlns:a="http://schemas.openxmlformats.org/drawingml/2006/main">
            <a:rect l="l" t="t" r="r" b="b"/>
            <a:pathLst>
              <a:path w="2819400" h="9525">
                <a:moveTo>
                  <a:pt x="0" y="0"/>
                </a:moveTo>
                <a:lnTo>
                  <a:pt x="2819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FF406DC-02A9-4717-A298-4C295CD0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1952625"/>
            <a:ext cx="190500" cy="228600"/>
          </a:xfrm>
          <a:custGeom xmlns:a="http://schemas.openxmlformats.org/drawingml/2006/main">
            <a:rect l="l" t="t" r="r" b="b"/>
            <a:pathLst>
              <a:path w="190500" h="228600">
                <a:moveTo>
                  <a:pt x="19050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C956E41-1BB6-4D4E-8594-B27C9C7E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8299" y="1786414"/>
            <a:ext cx="19954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按不同目的生成三份成果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5A1585C-C68B-4B42-8C3D-AD3D4C9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2895600"/>
            <a:ext cx="342900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52462D6E-5F3B-41EE-A0B1-E1D09629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700" y="316230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0"/>
                </a:moveTo>
                <a:lnTo>
                  <a:pt x="0" y="50800"/>
                </a:lnTo>
                <a:cubicBezTo>
                  <a:pt x="0" y="57814"/>
                  <a:pt x="5686" y="63500"/>
                  <a:pt x="12700" y="63500"/>
                </a:cubicBezTo>
                <a:lnTo>
                  <a:pt x="63500" y="6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96C12AF-E9AD-4B5A-B365-ED05FD2E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00" y="316230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52400" y="228599"/>
                </a:moveTo>
                <a:lnTo>
                  <a:pt x="25400" y="228599"/>
                </a:lnTo>
                <a:cubicBezTo>
                  <a:pt x="11372" y="228599"/>
                  <a:pt x="0" y="217227"/>
                  <a:pt x="0" y="203199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14300" y="0"/>
                </a:lnTo>
                <a:lnTo>
                  <a:pt x="177800" y="63500"/>
                </a:lnTo>
                <a:lnTo>
                  <a:pt x="177800" y="203199"/>
                </a:lnTo>
                <a:cubicBezTo>
                  <a:pt x="177800" y="217227"/>
                  <a:pt x="166428" y="228599"/>
                  <a:pt x="152400" y="228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947EE660-343B-4E7C-997A-F4C93B1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500" y="3263900"/>
            <a:ext cx="101600" cy="88900"/>
          </a:xfrm>
          <a:custGeom xmlns:a="http://schemas.openxmlformats.org/drawingml/2006/main">
            <a:rect l="l" t="t" r="r" b="b"/>
            <a:pathLst>
              <a:path w="101600" h="88900">
                <a:moveTo>
                  <a:pt x="0" y="0"/>
                </a:moveTo>
                <a:lnTo>
                  <a:pt x="101600" y="0"/>
                </a:lnTo>
                <a:lnTo>
                  <a:pt x="101600" y="88900"/>
                </a:lnTo>
                <a:lnTo>
                  <a:pt x="0" y="88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C289039-9130-48C2-B51F-CB070F36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500" y="3314700"/>
            <a:ext cx="101600" cy="9525"/>
          </a:xfrm>
          <a:custGeom xmlns:a="http://schemas.openxmlformats.org/drawingml/2006/main">
            <a:rect l="l" t="t" r="r" b="b"/>
            <a:pathLst>
              <a:path w="101600" h="9525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6391D99-5FE4-44C4-89F0-BB094E1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600" y="326390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36FEB08B-1731-41BC-8B26-7B14FE2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432" y="3145155"/>
            <a:ext cx="186172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未付统计.csv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A9170B7-8FEC-4938-81C8-4F37B9F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3672364"/>
            <a:ext cx="135175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只看最新 2026 期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FC01BFB4-951F-467C-9F8C-04D3E08E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39771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提取正数贷方期末余额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FB64E78-E614-4492-A9C2-76E8897B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" y="4294822"/>
            <a:ext cx="571479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31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51153221-0066-4903-B1A9-5C4F5C6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023" y="4529614"/>
            <a:ext cx="141182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条 · 当前固定来源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6E52ED3-CDBE-4BB0-A380-4325DA9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2895600"/>
            <a:ext cx="342900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A8F9376-40F7-4A09-BB10-82E4F08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9300" y="316230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0"/>
                </a:moveTo>
                <a:lnTo>
                  <a:pt x="0" y="50800"/>
                </a:lnTo>
                <a:cubicBezTo>
                  <a:pt x="0" y="57814"/>
                  <a:pt x="5686" y="63500"/>
                  <a:pt x="12700" y="63500"/>
                </a:cubicBezTo>
                <a:lnTo>
                  <a:pt x="63500" y="6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1296A1A-14EE-4AEE-9989-EAAF199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5000" y="316230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52400" y="228599"/>
                </a:moveTo>
                <a:lnTo>
                  <a:pt x="25400" y="228599"/>
                </a:lnTo>
                <a:cubicBezTo>
                  <a:pt x="11372" y="228599"/>
                  <a:pt x="0" y="217227"/>
                  <a:pt x="0" y="203199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14300" y="0"/>
                </a:lnTo>
                <a:lnTo>
                  <a:pt x="177800" y="63500"/>
                </a:lnTo>
                <a:lnTo>
                  <a:pt x="177800" y="203199"/>
                </a:lnTo>
                <a:cubicBezTo>
                  <a:pt x="177800" y="217227"/>
                  <a:pt x="166428" y="228599"/>
                  <a:pt x="152400" y="228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436B3E8-5C2D-4466-9282-3596C39F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100" y="3263900"/>
            <a:ext cx="101600" cy="88900"/>
          </a:xfrm>
          <a:custGeom xmlns:a="http://schemas.openxmlformats.org/drawingml/2006/main">
            <a:rect l="l" t="t" r="r" b="b"/>
            <a:pathLst>
              <a:path w="101600" h="88900">
                <a:moveTo>
                  <a:pt x="0" y="0"/>
                </a:moveTo>
                <a:lnTo>
                  <a:pt x="101600" y="0"/>
                </a:lnTo>
                <a:lnTo>
                  <a:pt x="101600" y="88900"/>
                </a:lnTo>
                <a:lnTo>
                  <a:pt x="0" y="88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29A8D71-1045-47F8-AFFC-75AD836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100" y="3314700"/>
            <a:ext cx="101600" cy="9525"/>
          </a:xfrm>
          <a:custGeom xmlns:a="http://schemas.openxmlformats.org/drawingml/2006/main">
            <a:rect l="l" t="t" r="r" b="b"/>
            <a:pathLst>
              <a:path w="101600" h="9525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273484A-26B3-4BAA-A29E-42ECD46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1200" y="3263900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ED05AA47-2BAB-41AC-84FA-D0E5B8E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8032" y="3145155"/>
            <a:ext cx="1861726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未收统计.csv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1CBD9E75-03C6-4B4F-A217-CB525A4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3672364"/>
            <a:ext cx="135175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只看最新 2026 期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070DF430-AD3E-4524-8276-5B1C8821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023" y="3977164"/>
            <a:ext cx="17293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提取正数借方期末余额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D6B53576-6582-4B5F-8DD6-F13B0B1F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3974" y="4294822"/>
            <a:ext cx="3032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2667AF15-02AA-49A5-9787-0AE8F11E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4123" y="4529614"/>
            <a:ext cx="141182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条 · 当前固定来源</a:t>
            </a:r>
          </a:p>
        </p:txBody>
      </p:sp>
      <p:sp>
        <p:nvSpPr>
          <p:cNvPr id="62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D7F5FB3C-19C5-4493-B553-3C16A4C4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895600"/>
            <a:ext cx="388620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9119FEA8-8950-4CCC-9E75-03ED33C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6900" y="316230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0"/>
                </a:moveTo>
                <a:lnTo>
                  <a:pt x="0" y="50800"/>
                </a:lnTo>
                <a:cubicBezTo>
                  <a:pt x="0" y="57814"/>
                  <a:pt x="5686" y="63500"/>
                  <a:pt x="12700" y="63500"/>
                </a:cubicBezTo>
                <a:lnTo>
                  <a:pt x="63500" y="6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7F8EB86-E352-4A4A-B578-9200674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2600" y="316230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52400" y="228599"/>
                </a:moveTo>
                <a:lnTo>
                  <a:pt x="25400" y="228599"/>
                </a:lnTo>
                <a:cubicBezTo>
                  <a:pt x="11372" y="228599"/>
                  <a:pt x="0" y="217227"/>
                  <a:pt x="0" y="203199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14300" y="0"/>
                </a:lnTo>
                <a:lnTo>
                  <a:pt x="177800" y="63500"/>
                </a:lnTo>
                <a:lnTo>
                  <a:pt x="177800" y="203199"/>
                </a:lnTo>
                <a:cubicBezTo>
                  <a:pt x="177800" y="217227"/>
                  <a:pt x="166428" y="228599"/>
                  <a:pt x="152400" y="228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91F2245C-0F3B-478B-8BB3-A3D796E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238500"/>
            <a:ext cx="12700" cy="9525"/>
          </a:xfrm>
          <a:custGeom xmlns:a="http://schemas.openxmlformats.org/drawingml/2006/main">
            <a:rect l="l" t="t" r="r" b="b"/>
            <a:pathLst>
              <a:path w="12700" h="9525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73E9629C-421C-4970-973C-69573FE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289300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EE12D068-4256-4BD2-A6AE-2CAFD9EF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340099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BD7D821C-B52F-4C4E-A3E3-B62438C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5632" y="3145155"/>
            <a:ext cx="2351507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跨期核对说明.md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BC2FE715-BCAD-4DA5-94E0-D9A9B6CB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2623" y="3672364"/>
            <a:ext cx="190100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这份文件才比较三个期间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69DB81A7-620E-40AB-A3DE-DB3E2782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2623" y="3977164"/>
            <a:ext cx="312822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同一科目 + 客商的借方余额是否连续不变</a:t>
            </a:r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984582AE-D1B4-4783-883E-5C34935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1574" y="4294822"/>
            <a:ext cx="3032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D97706"/>
                </a:solidFill>
                <a:latin typeface="Segoe UI Semibold"/>
                <a:ea typeface="Segoe UI Semibold"/>
                <a:cs typeface="Segoe UI Semibold"/>
              </a:rPr>
              <a:t>0</a:t>
            </a:r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07C036C1-2D9E-4B67-91AB-C11BD22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51723" y="4529614"/>
            <a:ext cx="209838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条风险候选 · 仍需财务复核</a:t>
            </a:r>
          </a:p>
        </p:txBody>
      </p:sp>
      <p:sp>
        <p:nvSpPr>
          <p:cNvPr id="75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97A287F4-F336-45AB-A5B7-C011CB2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429250"/>
            <a:ext cx="112014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DC649D1B-DE82-4ED6-8974-F45A64D0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5520690"/>
            <a:ext cx="411464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前台必须先解释“每份成果代表什么”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21CD101F-A67C-4791-9069-B2D70D6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844064"/>
            <a:ext cx="670693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统计完成不等于僵尸账款定论；系统未付款、未核销、未记账，也不替代会计政策判断。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139B312A-8D63-44CA-A97A-5B85D64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128884348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877166F-B567-4889-A6D5-D1E5749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23FBBB7-E990-411E-872F-6E48BCE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5B9E757-23F6-4A9D-8B88-4B8662C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15999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TC-06 / TC-07：高影响判断必须保留人工门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8CEEBF-4382-49C8-A76F-B61E6B7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90650"/>
            <a:ext cx="53340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DE2168E-10B3-44BA-A5B1-13A1BE1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950" y="1697831"/>
            <a:ext cx="107950" cy="107950"/>
          </a:xfrm>
          <a:custGeom xmlns:a="http://schemas.openxmlformats.org/drawingml/2006/main">
            <a:rect l="l" t="t" r="r" b="b"/>
            <a:pathLst>
              <a:path w="107950" h="107950">
                <a:moveTo>
                  <a:pt x="0" y="53975"/>
                </a:moveTo>
                <a:cubicBezTo>
                  <a:pt x="0" y="83785"/>
                  <a:pt x="24165" y="107950"/>
                  <a:pt x="53975" y="107950"/>
                </a:cubicBezTo>
                <a:cubicBezTo>
                  <a:pt x="83785" y="107950"/>
                  <a:pt x="107950" y="83785"/>
                  <a:pt x="107950" y="53975"/>
                </a:cubicBezTo>
                <a:cubicBezTo>
                  <a:pt x="107950" y="24165"/>
                  <a:pt x="83785" y="0"/>
                  <a:pt x="53975" y="0"/>
                </a:cubicBezTo>
                <a:cubicBezTo>
                  <a:pt x="24165" y="0"/>
                  <a:pt x="0" y="24165"/>
                  <a:pt x="0" y="539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186ADB7-14F5-4F79-8CD0-235ABE29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3" y="1859757"/>
            <a:ext cx="107950" cy="80963"/>
          </a:xfrm>
          <a:custGeom xmlns:a="http://schemas.openxmlformats.org/drawingml/2006/main">
            <a:rect l="l" t="t" r="r" b="b"/>
            <a:pathLst>
              <a:path w="107950" h="80963">
                <a:moveTo>
                  <a:pt x="0" y="80963"/>
                </a:moveTo>
                <a:lnTo>
                  <a:pt x="0" y="53975"/>
                </a:lnTo>
                <a:cubicBezTo>
                  <a:pt x="0" y="24165"/>
                  <a:pt x="24165" y="0"/>
                  <a:pt x="53975" y="0"/>
                </a:cubicBezTo>
                <a:lnTo>
                  <a:pt x="10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C5218AF-79BB-473D-A466-40EF9F9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407" y="1886744"/>
            <a:ext cx="80963" cy="53975"/>
          </a:xfrm>
          <a:custGeom xmlns:a="http://schemas.openxmlformats.org/drawingml/2006/main">
            <a:rect l="l" t="t" r="r" b="b"/>
            <a:pathLst>
              <a:path w="80963" h="53975">
                <a:moveTo>
                  <a:pt x="0" y="26988"/>
                </a:moveTo>
                <a:lnTo>
                  <a:pt x="26988" y="53975"/>
                </a:ln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4E8C68-4D24-4B05-A261-7D557BAD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7582" y="1678305"/>
            <a:ext cx="3440003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TC-06 · 双岗位招聘筛选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FEBD7BC-A1E9-4667-BE07-7B329CCF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" y="2152650"/>
            <a:ext cx="4800600" cy="9525"/>
          </a:xfrm>
          <a:custGeom xmlns:a="http://schemas.openxmlformats.org/drawingml/2006/main">
            <a:rect l="l" t="t" r="r" b="b"/>
            <a:pathLst>
              <a:path w="4800600" h="9525">
                <a:moveTo>
                  <a:pt x="0" y="0"/>
                </a:moveTo>
                <a:lnTo>
                  <a:pt x="48006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D8F2CF-D7EA-45C7-9A06-E1E1C098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523" y="2338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触发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FC080A2-D009-47A6-BF31-28FEB22A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073" y="2338864"/>
            <a:ext cx="28330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两份 JD + 五份简历，形成候选建议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1394BF9-3D2C-4206-95E1-2B1B25FF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523" y="31389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输出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903A25F-3C60-4700-8A7C-9727F6B1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6073" y="3138964"/>
            <a:ext cx="31024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候选顺序、支持证据、缺失信息、复核项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9B2E70D-9241-49AF-A3E6-E62644E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523" y="39390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BE0481A-3CE5-4A25-9063-953C9E1C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0873" y="39390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回开依据，确认或改写筛选规则</a:t>
            </a:r>
          </a:p>
        </p:txBody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1A14891-DE6F-4DC5-8334-F3349FF9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" y="4419600"/>
            <a:ext cx="48006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E4862CD-A71B-4C6F-97D3-B287EEBC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023" y="4586764"/>
            <a:ext cx="10942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前台必须明确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6FC87FB-B9CA-4DE3-8ADD-810C64AA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023" y="4910614"/>
            <a:ext cx="439836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这是建议，不是录用/淘汰；不隐藏不确定性与隐私边界。</a:t>
            </a:r>
          </a:p>
        </p:txBody>
      </p:sp>
      <p:sp>
        <p:nvSpPr>
          <p:cNvPr id="30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C0D0E43-19B1-4415-BC8B-D7C00E6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1390650"/>
            <a:ext cx="56007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62E4D955-6EC8-4A47-A408-C3CFFC0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4971" y="1697831"/>
            <a:ext cx="263510" cy="240810"/>
          </a:xfrm>
          <a:custGeom xmlns:a="http://schemas.openxmlformats.org/drawingml/2006/main">
            <a:rect l="l" t="t" r="r" b="b"/>
            <a:pathLst>
              <a:path w="263510" h="240810">
                <a:moveTo>
                  <a:pt x="132368" y="240810"/>
                </a:moveTo>
                <a:cubicBezTo>
                  <a:pt x="47836" y="214607"/>
                  <a:pt x="0" y="125390"/>
                  <a:pt x="24957" y="40481"/>
                </a:cubicBezTo>
                <a:cubicBezTo>
                  <a:pt x="66998" y="42405"/>
                  <a:pt x="108135" y="27886"/>
                  <a:pt x="139655" y="0"/>
                </a:cubicBezTo>
                <a:cubicBezTo>
                  <a:pt x="171174" y="27886"/>
                  <a:pt x="212311" y="42405"/>
                  <a:pt x="254352" y="40481"/>
                </a:cubicBezTo>
                <a:cubicBezTo>
                  <a:pt x="263510" y="71640"/>
                  <a:pt x="263086" y="104832"/>
                  <a:pt x="253137" y="13574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57E770E3-0568-41A7-A8D2-1D120827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5107" y="1886744"/>
            <a:ext cx="80963" cy="53975"/>
          </a:xfrm>
          <a:custGeom xmlns:a="http://schemas.openxmlformats.org/drawingml/2006/main">
            <a:rect l="l" t="t" r="r" b="b"/>
            <a:pathLst>
              <a:path w="80963" h="53975">
                <a:moveTo>
                  <a:pt x="0" y="26988"/>
                </a:moveTo>
                <a:lnTo>
                  <a:pt x="26988" y="53975"/>
                </a:ln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4B5FFAC-6885-4B25-9B40-CBCD2F3E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8282" y="1678305"/>
            <a:ext cx="312636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TC-07 · 授权文件风控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954EB359-A351-4052-9BE3-CCC508AE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2152650"/>
            <a:ext cx="5067300" cy="9525"/>
          </a:xfrm>
          <a:custGeom xmlns:a="http://schemas.openxmlformats.org/drawingml/2006/main"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AA35B36-A244-423B-B2EC-64815A5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6223" y="2338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D97706"/>
                </a:solidFill>
                <a:latin typeface="Segoe UI Semibold"/>
                <a:ea typeface="Segoe UI Semibold"/>
                <a:cs typeface="Segoe UI Semibold"/>
              </a:rPr>
              <a:t>触发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11F8942-071E-4593-AC10-5E1CEAC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6773" y="23388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六份授权文件，核对授权范围与风险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112E89A-B8D1-4E3A-AAA0-212407A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6223" y="31389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输出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826E0160-A049-4431-B943-0B67F199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6773" y="3138964"/>
            <a:ext cx="31024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文件级规则、来源位置、冲突与复核清单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EBEB931-ECE1-4ECB-BE77-C5E92EDB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6223" y="39390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D97706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D5C7B5-EB5D-453B-A14C-49D3E9B1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1573" y="39390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逐项回开原文，交由法务作最终判断</a:t>
            </a:r>
          </a:p>
        </p:txBody>
      </p:sp>
      <p:sp>
        <p:nvSpPr>
          <p:cNvPr id="46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F903EC5B-FD7B-4E47-AF12-A4A6E510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4419600"/>
            <a:ext cx="50673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54E6E573-5925-4724-B644-99C2EFF0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6723" y="4586764"/>
            <a:ext cx="10942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前台必须明确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F34C3984-3812-477F-9E45-B373784D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6723" y="4910614"/>
            <a:ext cx="396068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这是风险候选，不代表法律意见，也不会代替签署。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78C6462-908F-4DB3-96C7-31775A28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00075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C12E024C-6C43-4555-8B94-B7B8CC9D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6092190"/>
            <a:ext cx="775051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共同原则：智能体提供证据与候选，最终判断仍由有职责的人承担。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4DEF298A-7EC7-4B34-80C9-BF068694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19 / 30</a:t>
            </a:r>
          </a:p>
        </p:txBody>
      </p:sp>
    </p:spTree>
    <p:extLst>
      <p:ext uri="{BB962C8B-B14F-4D97-AF65-F5344CB8AC3E}">
        <p14:creationId xmlns:p14="http://schemas.microsoft.com/office/powerpoint/2010/main" val="19757111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DEF52B3-12F3-4BD8-A26E-137EC3D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AC0422F-2EA7-4CBF-A918-D9BA629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263C1EB-473E-4E19-A67E-9E5093A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15999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0293A"/>
                </a:solidFill>
                <a:latin typeface="Segoe UI Semibold"/>
                <a:ea typeface="Segoe UI Semibold"/>
                <a:cs typeface="Segoe UI Semibold"/>
              </a:rPr>
              <a:t>TC-10 / TC-14：方案不等于执行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527ECB1-D157-4CF0-94E7-3C34223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90650"/>
            <a:ext cx="4762500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C43BD9-6223-4000-9342-D477FA3E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431" y="1867694"/>
            <a:ext cx="53975" cy="53975"/>
          </a:xfrm>
          <a:custGeom xmlns:a="http://schemas.openxmlformats.org/drawingml/2006/main">
            <a:rect l="l" t="t" r="r" b="b"/>
            <a:pathLst>
              <a:path w="53975" h="53975">
                <a:moveTo>
                  <a:pt x="0" y="26988"/>
                </a:moveTo>
                <a:cubicBezTo>
                  <a:pt x="0" y="41892"/>
                  <a:pt x="12083" y="53975"/>
                  <a:pt x="26988" y="53975"/>
                </a:cubicBezTo>
                <a:cubicBezTo>
                  <a:pt x="41892" y="53975"/>
                  <a:pt x="53975" y="41892"/>
                  <a:pt x="53975" y="26988"/>
                </a:cubicBezTo>
                <a:cubicBezTo>
                  <a:pt x="53975" y="12083"/>
                  <a:pt x="41892" y="0"/>
                  <a:pt x="26988" y="0"/>
                </a:cubicBezTo>
                <a:cubicBezTo>
                  <a:pt x="12083" y="0"/>
                  <a:pt x="0" y="12083"/>
                  <a:pt x="0" y="269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8D45DC3-EDA8-4C9C-8FE4-6A52C1F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344" y="1678781"/>
            <a:ext cx="53975" cy="53975"/>
          </a:xfrm>
          <a:custGeom xmlns:a="http://schemas.openxmlformats.org/drawingml/2006/main">
            <a:rect l="l" t="t" r="r" b="b"/>
            <a:pathLst>
              <a:path w="53975" h="53975">
                <a:moveTo>
                  <a:pt x="26988" y="53975"/>
                </a:moveTo>
                <a:cubicBezTo>
                  <a:pt x="41892" y="53975"/>
                  <a:pt x="53975" y="41892"/>
                  <a:pt x="53975" y="26988"/>
                </a:cubicBezTo>
                <a:cubicBezTo>
                  <a:pt x="53975" y="12083"/>
                  <a:pt x="41892" y="0"/>
                  <a:pt x="26988" y="0"/>
                </a:cubicBezTo>
                <a:cubicBezTo>
                  <a:pt x="12083" y="0"/>
                  <a:pt x="0" y="12083"/>
                  <a:pt x="0" y="26988"/>
                </a:cubicBezTo>
                <a:cubicBezTo>
                  <a:pt x="0" y="41892"/>
                  <a:pt x="12083" y="53975"/>
                  <a:pt x="26988" y="539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A9E6AE5-5684-4E4D-98A9-FC82E5C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419" y="1705769"/>
            <a:ext cx="202407" cy="188913"/>
          </a:xfrm>
          <a:custGeom xmlns:a="http://schemas.openxmlformats.org/drawingml/2006/main">
            <a:rect l="l" t="t" r="r" b="b"/>
            <a:pathLst>
              <a:path w="202407" h="188913">
                <a:moveTo>
                  <a:pt x="80963" y="188913"/>
                </a:moveTo>
                <a:lnTo>
                  <a:pt x="155178" y="188913"/>
                </a:lnTo>
                <a:cubicBezTo>
                  <a:pt x="181262" y="188913"/>
                  <a:pt x="202407" y="167768"/>
                  <a:pt x="202407" y="141685"/>
                </a:cubicBezTo>
                <a:cubicBezTo>
                  <a:pt x="202407" y="115601"/>
                  <a:pt x="181262" y="94456"/>
                  <a:pt x="155178" y="94456"/>
                </a:cubicBezTo>
                <a:lnTo>
                  <a:pt x="47228" y="94456"/>
                </a:lnTo>
                <a:cubicBezTo>
                  <a:pt x="21145" y="94456"/>
                  <a:pt x="0" y="73312"/>
                  <a:pt x="0" y="47228"/>
                </a:cubicBezTo>
                <a:cubicBezTo>
                  <a:pt x="0" y="21145"/>
                  <a:pt x="21145" y="0"/>
                  <a:pt x="47228" y="0"/>
                </a:cubicBezTo>
                <a:lnTo>
                  <a:pt x="10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BC213F6-4B46-4DEB-9D72-03006C9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8532" y="1659255"/>
            <a:ext cx="3126364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TC-10 · 合规外呼流程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CB795D6-0E2D-4583-A4E2-1BF46749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3048000"/>
            <a:ext cx="42672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464F3DE-3323-4567-80EF-5366F33A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406" y="32885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56119B5-526B-4E4B-BC51-074F7384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318" y="33607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162865-2D75-418F-B979-670FD92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356" y="32537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已发生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CB7CBF-7E30-4EEC-92BD-8E2D332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023" y="3596164"/>
            <a:ext cx="340431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生成流程图与可下载文档，完成结构检查</a:t>
            </a:r>
          </a:p>
        </p:txBody>
      </p:sp>
      <p:sp>
        <p:nvSpPr>
          <p:cNvPr id="25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16ECB16-CA6A-4D0D-9A31-445D5ECA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4095750"/>
            <a:ext cx="42672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9C1C4A3-0639-4A24-A2FC-D5AF3350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75" y="4417218"/>
            <a:ext cx="9525" cy="41275"/>
          </a:xfrm>
          <a:custGeom xmlns:a="http://schemas.openxmlformats.org/drawingml/2006/main">
            <a:rect l="l" t="t" r="r" b="b"/>
            <a:pathLst>
              <a:path w="9525" h="41275">
                <a:moveTo>
                  <a:pt x="0" y="0"/>
                </a:moveTo>
                <a:lnTo>
                  <a:pt x="0" y="41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A422CA6-A5D5-4F8D-A3D6-A96EA9BD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3209" y="4351878"/>
            <a:ext cx="208123" cy="178805"/>
          </a:xfrm>
          <a:custGeom xmlns:a="http://schemas.openxmlformats.org/drawingml/2006/main">
            <a:rect l="l" t="t" r="r" b="b"/>
            <a:pathLst>
              <a:path w="208123" h="178805">
                <a:moveTo>
                  <a:pt x="87174" y="9526"/>
                </a:moveTo>
                <a:lnTo>
                  <a:pt x="3530" y="149180"/>
                </a:lnTo>
                <a:cubicBezTo>
                  <a:pt x="21" y="155256"/>
                  <a:pt x="0" y="162738"/>
                  <a:pt x="3474" y="168834"/>
                </a:cubicBezTo>
                <a:cubicBezTo>
                  <a:pt x="6948" y="174931"/>
                  <a:pt x="13395" y="178726"/>
                  <a:pt x="20412" y="178805"/>
                </a:cubicBezTo>
                <a:lnTo>
                  <a:pt x="187719" y="178805"/>
                </a:lnTo>
                <a:cubicBezTo>
                  <a:pt x="194732" y="178724"/>
                  <a:pt x="201176" y="174930"/>
                  <a:pt x="204650" y="168837"/>
                </a:cubicBezTo>
                <a:cubicBezTo>
                  <a:pt x="208123" y="162744"/>
                  <a:pt x="208104" y="155266"/>
                  <a:pt x="204601" y="149190"/>
                </a:cubicBezTo>
                <a:lnTo>
                  <a:pt x="120957" y="9516"/>
                </a:lnTo>
                <a:cubicBezTo>
                  <a:pt x="117378" y="3609"/>
                  <a:pt x="110973" y="0"/>
                  <a:pt x="104065" y="0"/>
                </a:cubicBezTo>
                <a:cubicBezTo>
                  <a:pt x="97158" y="0"/>
                  <a:pt x="90753" y="3609"/>
                  <a:pt x="87174" y="951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D965F211-312A-41BC-8BFC-0E87813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75" y="4489449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0A7E43B-6151-4F92-AF05-8F37AB20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356" y="43205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未发生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C94880F-BA97-46E4-BB10-33E8790D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023" y="4682014"/>
            <a:ext cx="239778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未拨号、未写 CRM、未发短信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1556CE5-88EE-4A85-81E4-D55D7FED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166" y="4953952"/>
            <a:ext cx="302500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7C8A98"/>
                </a:solidFill>
                <a:latin typeface="Segoe UI"/>
                <a:ea typeface="Segoe UI"/>
                <a:cs typeface="Segoe UI"/>
              </a:rPr>
              <a:t>没有外部动作回执，就不能显示“已执行”</a:t>
            </a:r>
          </a:p>
        </p:txBody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C6BC67C-C020-4551-BE6E-D4EF666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0" y="1390650"/>
            <a:ext cx="6172200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3A239A2-5FB0-4830-844D-3328AEB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1482" y="1525905"/>
            <a:ext cx="3737961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TC-14 · SRE 冲突日志诊断</a:t>
            </a:r>
          </a:p>
        </p:txBody>
      </p:sp>
      <p:pic>
        <p:nvPicPr>
          <p:cNvPr id="72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039b83a2246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815051" y="1943100"/>
            <a:ext cx="3591098" cy="2743200"/>
          </a:xfrm>
          <a:prstGeom xmlns:a="http://schemas.openxmlformats.org/drawingml/2006/main" prst="rect">
            <a:avLst/>
          </a:prstGeom>
        </p:spPr>
      </p:pic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9758FFC-8952-49D6-B2AC-AE8E0E71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4857750"/>
            <a:ext cx="26098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14A2005-FA46-4AD2-910B-BDAEC663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7123" y="4986814"/>
            <a:ext cx="16349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已发生：条件式诊断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60E7EC5-BE3B-4D97-9DE8-590D8913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8266" y="5258752"/>
            <a:ext cx="170688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保留支持、反证与止损提案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57230A5B-83EF-492E-9DAC-E2D6C52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53450" y="4857750"/>
            <a:ext cx="28956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1A1EB15-7FE2-4A0B-ACF1-16BF0436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8423" y="4986814"/>
            <a:ext cx="145473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未发生：生产变更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E453A41A-494D-4E9A-ACCF-B597D9C2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9566" y="5258752"/>
            <a:ext cx="22061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未执行生产命令，也未触发业务降级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C13E3F1-39A1-47FA-AF4E-5750C91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03885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769E0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FA3C6EA2-C05A-427B-B839-26396CB3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6130290"/>
            <a:ext cx="76512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前台输出必须同时写清：成果是什么，以及哪些业务动作没有发生。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F95A5A82-0BA7-4029-A0FA-77CB60BF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62815928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A59879-EFCB-4974-8B86-341C2157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99A6204-4047-476A-8CE1-0DF80C68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15F4621-7E89-464F-8BB4-F13AD816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66573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TC-15：模型说明不能覆盖确定性成果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CFD7D94-95C1-4D3C-9AE6-08F593BE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90650"/>
            <a:ext cx="6819900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679068-1E97-4EDC-B31B-BD7F5021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1539240"/>
            <a:ext cx="510692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当前系统实测：冲突说明被拒绝，成果仍保留</a:t>
            </a:r>
          </a:p>
        </p:txBody>
      </p:sp>
      <p:pic>
        <p:nvPicPr>
          <p:cNvPr id="44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51db5ba4842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23159" y="1943100"/>
            <a:ext cx="4364182" cy="333375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66664-C4B0-46F0-AB72-F629D5E6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1390650"/>
            <a:ext cx="41148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689F666-A1BB-4838-92EC-9FB7DF42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15768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确定性成果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711255-8BFD-45E1-8327-F2C17EE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9832" y="1887855"/>
            <a:ext cx="260381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212/212 行 · 87 组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E49377A-E0A9-432D-B53E-E6A28AC4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2281714"/>
            <a:ext cx="235244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Consolas"/>
                <a:ea typeface="Consolas"/>
                <a:cs typeface="Consolas"/>
              </a:rPr>
              <a:t>P0-P4 = 25 / 40 / 14 / 6 / 2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4C30E8E-CAA3-4A43-B556-F5D312F9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2819400"/>
            <a:ext cx="41148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13AD973-F100-483D-A670-8ED81A6D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3005614"/>
            <a:ext cx="10942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C0362C"/>
                </a:solidFill>
                <a:latin typeface="Segoe UI Semibold"/>
                <a:ea typeface="Segoe UI Semibold"/>
                <a:cs typeface="Segoe UI Semibold"/>
              </a:rPr>
              <a:t>模型冲突说明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6738F4D-36CA-4F5B-8EBF-D4C1A857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3386614"/>
            <a:ext cx="298719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声称只覆盖 60 行，并改写 P0 优先级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4E8375-84FE-4EE6-82DC-1D1A343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3691414"/>
            <a:ext cx="27248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0362C"/>
                </a:solidFill>
                <a:latin typeface="Consolas"/>
                <a:ea typeface="Consolas"/>
                <a:cs typeface="Consolas"/>
              </a:rPr>
              <a:t>模型已调用 · 说明未采用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A59FB2C-8CF7-40FF-BC8E-F1DE86D7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248150"/>
            <a:ext cx="41148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C9ECE08-09EF-46A7-A355-48468806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4434364"/>
            <a:ext cx="12745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服务端采用回执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027E2DE-8749-4B33-801F-9290E513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4815364"/>
            <a:ext cx="119727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Consolas"/>
                <a:ea typeface="Consolas"/>
                <a:cs typeface="Consolas"/>
              </a:rPr>
              <a:t>与确定性结果冲突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46E0E98-135F-4DC7-8BB0-727CE5D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5101114"/>
            <a:ext cx="193532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Consolas"/>
                <a:ea typeface="Consolas"/>
                <a:cs typeface="Consolas"/>
              </a:rPr>
              <a:t>以确定性结果为准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E3895A4-CF38-4F10-9ACF-36CBF85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023" y="5386864"/>
            <a:ext cx="7252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拒绝采用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10DF878-2D1E-459B-9ADC-95CFE24C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9706" y="500634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前台只保留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8C7F0FF-F740-478F-A165-6E7B71BC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9706" y="533019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一套当前结论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DFF186D-B30E-433A-A7B2-819BB294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21 / 30</a:t>
            </a:r>
          </a:p>
        </p:txBody>
      </p:sp>
    </p:spTree>
    <p:extLst>
      <p:ext uri="{BB962C8B-B14F-4D97-AF65-F5344CB8AC3E}">
        <p14:creationId xmlns:p14="http://schemas.microsoft.com/office/powerpoint/2010/main" val="2338166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15ECDC-4A9C-4BF2-BD49-69CCA11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186948A-4754-46C9-8E3F-BEB9C29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504393-9026-4ED0-96B7-611FF21A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6862305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前台交互只需要先回答五个问题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747306C-2117-4F45-B783-28313C4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409700"/>
            <a:ext cx="62865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011AB8-9418-44E4-BAF3-C053877C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332" y="1583055"/>
            <a:ext cx="269287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业务用户的阅读顺序</a:t>
            </a:r>
          </a:p>
        </p:txBody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304BED7E-3BD6-482F-88C7-C0DE67A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57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E3365C-7B3A-4F03-9B78-A79B17B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21769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F7E6DA-593A-41EC-AD8B-35C4D37B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21297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现在完成了什么？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D70BD0-3E0D-4F68-A345-B07A5EF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21864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成果文件与确定性检查置顶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CAD0C23A-A633-4321-BDC0-3079AF3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724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6CDFF9B-AEED-48EC-B480-7AEE710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28436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5A44F3-D413-4BBD-A179-F9B2060A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279654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依据是什么？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3EB9E3F-B99B-4CBC-8694-A332BD41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285321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文件、原文位置与摘录可回开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59F3F454-0A26-4DC4-996A-A00B72D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390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2CB6846-E3F4-4FFD-B3A6-DC3AA8F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35104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D94169-7FD2-47D5-ADC2-842734BA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34632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为什么停？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53E03E-449A-4CEC-9B1E-802BD826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35199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说明问题、影响范围和可选动作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FCA7E531-F3DD-47DF-9956-8EE63E7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4130A11-44F5-4D4A-9FCF-EF1BABD6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41771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1B08376-E271-4797-A1DD-6E11D55A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4130040"/>
            <a:ext cx="256260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我确认后会改变什么？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603AE6A-70F0-4C17-B160-659127B7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3573" y="4186714"/>
            <a:ext cx="150298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只恢复哪条分支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3327603F-5662-4E0F-9154-02DBD3F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724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3D006CE-C762-4321-9C12-F10E418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62" y="484393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7C488D0-7436-418F-9E01-6FEF22FB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9106" y="47967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什么绝不会发生？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273EA66-0828-4F4A-848F-289602D1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8273" y="4853464"/>
            <a:ext cx="20726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未执行边界与外部动作回执</a:t>
            </a:r>
          </a:p>
        </p:txBody>
      </p:sp>
      <p:sp>
        <p:nvSpPr>
          <p:cNvPr id="33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311AA4E-2929-4DE4-B9DA-7068E51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0" y="1409700"/>
            <a:ext cx="46482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7520823-B11A-44C5-8B1C-4CF2FB9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4532" y="1583055"/>
            <a:ext cx="1802359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三层信息架构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A06653B-C4FB-4B81-BC29-3DCF79C7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20955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7FD9262C-D382-472A-8628-C9BF11F0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21869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首屏：当前结论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517F9879-C6E3-46E2-932B-D561966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25293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成果、复核状态、未执行边界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BFBC345-D1E9-4726-866D-F106B92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30480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C657AD7-4C0F-4BFB-9B2B-5056F37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3139440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展开：为什么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C00FD29-ECE4-4839-8CF7-D8443B5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34818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来源、校验、说明采用、局部决定</a:t>
            </a:r>
          </a:p>
        </p:txBody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D1451B06-AED4-456B-9971-EFFAEC1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4000500"/>
            <a:ext cx="41148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FFFF">
                <a:alpha val="25000"/>
              </a:srgbClr>
            </a:solidFill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6B0AD52-85A2-4CEA-AB2C-418006D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656" y="4091940"/>
            <a:ext cx="17993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审计：系统事实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5C47769-2D41-4D50-98AD-F49EC901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3" y="4434364"/>
            <a:ext cx="345617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状态快照、版本、有序事件与决定记录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901082D0-5BA0-4484-B6B2-D958CAA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584454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仍需用户研究验证：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385EEC8-07BE-4BDD-8AB7-85C772D4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7673" y="5901214"/>
            <a:ext cx="642388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验证用户能否说清结果、来源、影响与下一步，并度量理解成本。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82C7D94-57E6-4CA0-82AC-1F7E6C4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7b6d0219bb6d444e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8c0da93753e84e0d"/>
              </a:rPr>
              <a:t>research.google/.../user-experience-metrics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E5F6FD3F-C95E-4948-B2C9-8A2AECF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22 / 30</a:t>
            </a:r>
          </a:p>
        </p:txBody>
      </p:sp>
    </p:spTree>
    <p:extLst>
      <p:ext uri="{BB962C8B-B14F-4D97-AF65-F5344CB8AC3E}">
        <p14:creationId xmlns:p14="http://schemas.microsoft.com/office/powerpoint/2010/main" val="104980867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DF4D6-2312-4550-BC52-6EAA153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6DCB580-D401-4C3F-930D-FEAC2261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A272B59-1880-4272-B01D-82A1667B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8325288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我们到底做了什么：跑通办公任务纵切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738438B-1842-4972-8D60-12E71C8E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632" y="1221105"/>
            <a:ext cx="4473892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不是回答页，而是一条可复核链路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41D6E58-E498-41EA-9C7A-89F43FC6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1943100"/>
            <a:ext cx="9525" cy="2876550"/>
          </a:xfrm>
          <a:custGeom xmlns:a="http://schemas.openxmlformats.org/drawingml/2006/main"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45188115-3934-4148-9231-8FBC1FE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1847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CB74573-163E-4CC2-915A-E498E29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19673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E6C3FE-5EEC-476D-B5A7-2EAEB10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1786890"/>
            <a:ext cx="133685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资料库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E8EBAE-937F-4A55-B63A-6D540003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2110264"/>
            <a:ext cx="206405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15 个目录 · 96 份安全预览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061E174E-F3C8-40F5-8A98-8D74D1D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2533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37CD97A-8984-4727-9D8E-9FFDC15A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26531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09A272-2739-4C06-88C1-37687F7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2472690"/>
            <a:ext cx="179042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BC929E-4FF4-4C3E-B3BB-D5FA403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27960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目标、范围、预算由服务端冻结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067CE459-76C6-4490-A34B-B81573AC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3219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1D6EB3D-E03B-47A7-BD08-F92B5898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33389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8CCA890-62C2-42E2-8387-6B1B24C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3158490"/>
            <a:ext cx="215997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规划与分析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06787E0-9327-487E-9EB3-85873939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34818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调用、校验、采用分别留回执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FD03B669-B794-4AF5-B58A-0BEADE0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390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78175C8-C687-4616-900E-B4B7F0A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0247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8F404D4-49D1-4B09-ACA2-2EBB27B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3844290"/>
            <a:ext cx="26508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分支证据门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887249C-51F9-4983-8A5B-AB64273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41676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局部停、局部补证、保留已完成成果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BF47D3F4-5A06-494E-9E4E-F23E0439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4591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5F424E2-D2B2-4B7B-B8F4-BF023569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912" y="47105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DF4FA5D-6BFA-4682-91BB-2E51103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756" y="4530090"/>
            <a:ext cx="229982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成果与回执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C7374FB-890A-4AE6-98AB-62E860A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423" y="4853464"/>
            <a:ext cx="34323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真实文件、确定性检查、状态快照与执行记录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4810C7B-AFA0-436D-AE1F-1E14444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257800"/>
            <a:ext cx="37338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C1936F6-608B-4F5F-BC69-BF3E6A6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5387340"/>
            <a:ext cx="309691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用户得到的不是一句“完成”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4DD3958-D23B-4A97-A0C5-C8729B4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72976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而是成果、依据、影响和下一步。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EE8B1F28-2292-4259-A3CA-BAFF9358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1333500"/>
            <a:ext cx="72390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72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3135884bf4c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52950" y="1428750"/>
            <a:ext cx="7048500" cy="4895850"/>
          </a:xfrm>
          <a:prstGeom xmlns:a="http://schemas.openxmlformats.org/drawingml/2006/main" prst="rect">
            <a:avLst/>
          </a:prstGeom>
        </p:spPr>
      </p:pic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3A0B0DE-5C8A-4DF0-AD7C-95F8FE60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45509792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8EFB8A-42EE-4D7E-A4C7-68A6A7D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A0F726C-CDD9-4712-8CE6-D68227A5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79E9F79-514C-41D4-B9FC-EFBA6A6A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" y="370522"/>
            <a:ext cx="984936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1：用户只说目标，</a:t>
            </a: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智能体自主选择资料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5994BC-47ED-4593-9A5D-8A8243F2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75438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53bb1c736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3336" y="1428750"/>
            <a:ext cx="6967728" cy="48387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3A10EEB-B27D-4A12-97EB-3A35CF4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1333500"/>
            <a:ext cx="33909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D970308A-2DBB-46A1-9343-91B3B04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1485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F9C4FA3-40FD-4CEE-801A-194837AE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15863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EF649EB-C0F4-46FB-B64C-5E4A32B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1529715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4C8411-7272-4BFB-8A4F-4E4334A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1976914"/>
            <a:ext cx="258756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只写自然语言目标，不先猜文件。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40E0371-6E8D-4A7A-9C36-C1CAB2FF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2743200"/>
            <a:ext cx="339090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FF78CCB7-7073-4783-A41E-0B3E793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F6C33CC-23D8-449E-841C-0938D78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29960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3C673D6-817D-4D32-99B7-B0627D1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2939415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服务端事实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2329EA5-6959-43F1-8B2C-B694894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386614"/>
            <a:ext cx="221853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冻结完整安全资料索引；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7DE3E2-0839-4AFF-B9B0-EBC1097A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653314"/>
            <a:ext cx="328319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规划器只看安全元数据，提出本轮所需证据。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C8DFE47-E93E-4780-B58B-9922BD5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4343400"/>
            <a:ext cx="33909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4E29F904-A687-468E-B39E-AE6E2AC8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028EA97-49D1-405C-BE07-601D57E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512" y="4596289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38144A5-17D2-4DF6-889D-B073511B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8156" y="4539615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前台反馈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F72055-101F-4DB9-B7BB-C6AFFDD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49868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展示资料依据、模型采用、剩余预算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17F7A8F-9285-4ED4-BA64-598755CF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253514"/>
            <a:ext cx="175746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以及实时有序执行记录。</a:t>
            </a:r>
          </a:p>
        </p:txBody>
      </p:sp>
      <p:sp>
        <p:nvSpPr>
          <p:cNvPr id="30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58D0A40-0904-4839-8B71-BF139B3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5753100"/>
            <a:ext cx="33909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74E39B-630F-4EC4-9447-5C083FA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872639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边界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068FAAE-D744-4DC9-931E-6C45E559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9066" y="6125528"/>
            <a:ext cx="2554986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自主选资料不等于穷举正确，仍需复核。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6CAB141A-28FE-4BBA-B72C-51F8B0BF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273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24 / 30</a:t>
            </a:r>
          </a:p>
        </p:txBody>
      </p:sp>
    </p:spTree>
    <p:extLst>
      <p:ext uri="{BB962C8B-B14F-4D97-AF65-F5344CB8AC3E}">
        <p14:creationId xmlns:p14="http://schemas.microsoft.com/office/powerpoint/2010/main" val="78083777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E554E67-D96D-4735-B495-009CAC8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FC50FD0-C0F3-47C3-83E9-5D46F90B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79D4D36-3953-4541-A4DE-45CF823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" y="370522"/>
            <a:ext cx="922746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2：证据有歧义，只恢复受影响的分支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ACBFAA-4BD2-45A2-A377-F5953337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7543800" cy="50292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3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4f2c098d24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32320" y="1428750"/>
            <a:ext cx="6869759" cy="48387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BFA594-E0F0-4A4F-99AF-311EE52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1333500"/>
            <a:ext cx="33909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0161D2-5F5E-44D1-9729-BFACD48A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256" y="148209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先解释发生了什么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831AFB-9F02-409D-9733-57BAFC2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188166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同一逐字片段出现多次，服务端无法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A51A06-36C9-411F-B1E8-997E69E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2148364"/>
            <a:ext cx="22442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唯一决定该回开哪一处原文。</a:t>
            </a:r>
          </a:p>
        </p:txBody>
      </p:sp>
      <p:sp>
        <p:nvSpPr>
          <p:cNvPr id="1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C5A0F41-55AB-4E09-B7C9-8C90109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2686050"/>
            <a:ext cx="33909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CA688FB-ECEE-45B1-80DC-885C192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256" y="2834640"/>
            <a:ext cx="205374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再让用户决定位置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EF7093B-F059-4A7E-A6FF-BEF9B75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234214"/>
            <a:ext cx="27592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界面同时给出事实、影响、下一步，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19FDF23-024B-4F23-90A4-A7029D91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350091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并在安全预览中高亮候选原文。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1AA4AC8-8545-4E58-A050-EF155A7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4038600"/>
            <a:ext cx="33909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45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33b8b3ada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404968" y="4133850"/>
            <a:ext cx="3192564" cy="1514475"/>
          </a:xfrm>
          <a:prstGeom xmlns:a="http://schemas.openxmlformats.org/drawingml/2006/main" prst="rect">
            <a:avLst/>
          </a:prstGeom>
        </p:spPr>
      </p:pic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1F9EE39-6260-4D81-908D-33119E4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5791200"/>
            <a:ext cx="33909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1EEFEA-B699-49B2-BCC7-62B7E58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7923" y="5901214"/>
            <a:ext cx="157749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只改变目标分支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A55C57F-8DB2-474F-94EA-0651C3D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9066" y="6135052"/>
            <a:ext cx="2130933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已完成成果和其他分支继续保留。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5582058-69FC-4145-BE65-7890AF4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24908951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5EB052-952E-4E0C-B133-1EEE6267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DBF4082-DA3E-4248-A638-1DE954F4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DAF9E33-BF38-46B2-9F59-5FA313A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912547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3：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B961C62-B0AF-4513-9534-D35C718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3224" y="370522"/>
            <a:ext cx="7349966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成果可检查，模型说明不覆盖事实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C9376D3-7C86-43CA-9B9F-CD94BAE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333500"/>
            <a:ext cx="5219700" cy="4838700"/>
          </a:xfrm>
          <a:prstGeom xmlns:a="http://schemas.openxmlformats.org/drawingml/2006/main" prst="roundRect">
            <a:avLst>
              <a:gd name="adj" fmla="val 1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9A2868C-992C-4223-A3D1-781A4CA6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756" y="1501140"/>
            <a:ext cx="28141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A. 成果与业务效果分层</a:t>
            </a:r>
          </a:p>
        </p:txBody>
      </p:sp>
      <p:pic>
        <p:nvPicPr>
          <p:cNvPr id="38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362f6d9994a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8650" y="1869281"/>
            <a:ext cx="4953000" cy="2786062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BECE320-6428-44EA-A917-CFBACD64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857750"/>
            <a:ext cx="47625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378902DE-14B1-45BE-9650-F1CAC9B2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048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EF493A-0889-4CBA-A62B-523D79F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063014"/>
            <a:ext cx="320449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真实文件写入隔离工作区，可下载。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3DE74350-34DA-4629-85E2-303D939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E3AD04-AB37-4B12-99E2-A49CDE03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396389"/>
            <a:ext cx="338909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具名确定性检查与效果回执可追溯。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F0E85219-7A15-473E-A04B-9957E4AD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5715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16B33EE-1ED6-4C96-B4D7-0EB84C2D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5573" y="5729764"/>
            <a:ext cx="327412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未付款、未核销等动作继续明确为未发生。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CF5F220-9C1B-4510-829F-FF96A08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1333500"/>
            <a:ext cx="5715000" cy="4838700"/>
          </a:xfrm>
          <a:prstGeom xmlns:a="http://schemas.openxmlformats.org/drawingml/2006/main" prst="roundRect">
            <a:avLst>
              <a:gd name="adj" fmla="val 1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64116F3-4848-49DC-B382-D650032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1156" y="1501140"/>
            <a:ext cx="41583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B. 模型被调用，不代表说明被采用</a:t>
            </a:r>
          </a:p>
        </p:txBody>
      </p:sp>
      <p:pic>
        <p:nvPicPr>
          <p:cNvPr id="48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75dcfcc5f4e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115050" y="1866900"/>
            <a:ext cx="5448300" cy="4162425"/>
          </a:xfrm>
          <a:prstGeom xmlns:a="http://schemas.openxmlformats.org/drawingml/2006/main" prst="rect">
            <a:avLst/>
          </a:prstGeom>
        </p:spPr>
      </p:pic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ED15CA-9255-44F1-8D4F-6A3728A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9350" y="1962150"/>
            <a:ext cx="2209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0362C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7E5C968-A911-4AD3-8658-2428785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15" y="2034064"/>
            <a:ext cx="286047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模型已调用 · 说明未采用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53CEBE3-EC8D-4B96-933D-9EABA587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628221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62C9017-5ED8-4DA7-96AD-ABAA9ADD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173" y="6282214"/>
            <a:ext cx="61920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固定检查证明特定字段与效果，不是通用语义真值证明器；前台仍要求人工复核。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47E8474-67C4-4FA9-914B-165989D6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5922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26 / 30</a:t>
            </a:r>
          </a:p>
        </p:txBody>
      </p:sp>
    </p:spTree>
    <p:extLst>
      <p:ext uri="{BB962C8B-B14F-4D97-AF65-F5344CB8AC3E}">
        <p14:creationId xmlns:p14="http://schemas.microsoft.com/office/powerpoint/2010/main" val="196014890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BACB3C-138A-4C16-B037-641A1D6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9C8DFB9-3E78-44EB-A153-4C5C31B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E82ECD-C1E8-417E-AF5B-11F1E0FC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10544491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1：时间维连续性，单个任务如何持续推进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83D0C87-3BBC-40C6-ABED-1C3EEB4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829865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核心不是让智能体一直运行，而是让同一任务在证据冲突、用户纠偏和服务重启后仍能从可信状态继续。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19DFDA-11EF-4C39-BF69-A33B2EFB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657350"/>
            <a:ext cx="112014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EBBDD0CE-03BD-43FA-8A6C-EB7737A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DE36EC-59F5-4008-960D-CD247D5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06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D94407-4BEB-49D1-B7F4-0E790764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023" y="2186464"/>
            <a:ext cx="12682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10F5CB-CA2D-40F7-8623-42BE33A8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166" y="2458402"/>
            <a:ext cx="142417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目标、交付、完成条件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38F2BEC-BA22-463E-840D-B61459A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EE830A3-F92F-4536-AA06-140D16B0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12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C3B188E1-9C06-4796-8B75-5ACBED28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C66E07-EA10-44B5-B568-CCF57FC5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43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8CDF3B9-1CE5-48C2-8296-A018AB38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3373" y="2186464"/>
            <a:ext cx="74875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C6545E7-33B8-492A-A601-3057BE7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516" y="2458402"/>
            <a:ext cx="12828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读事件、状态、来源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A4BFE3A-FA79-4CF1-B771-858A6533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BCC78E2-3C0D-4686-BC3D-AA30E2C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76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0384FC33-CF80-4FBA-A534-C7644B2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E22E35D-AAE8-4455-9659-3092704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07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7B8F3C4-1F14-46A9-9AF5-BA33245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9773" y="2186464"/>
            <a:ext cx="36936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80B742-39A1-4CAC-A17F-55192981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0916" y="2458402"/>
            <a:ext cx="128282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拆分支、依赖、预算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305D871-DDB5-46C8-ABA3-1D7ECDA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16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9E0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E317F0F-705D-4A95-B2AF-812F7B8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B250DD53-F618-4805-9FDC-E2452A14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9CF6853-5F82-4734-8F8C-F3DE82E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1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28A2A60-880B-4054-8686-5B7F758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173" y="2186464"/>
            <a:ext cx="31593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392717D-692F-445C-A466-D04EE89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7316" y="2458402"/>
            <a:ext cx="85877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产出候选工件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7366D271-41BA-48D0-821B-DE2466D6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80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C26084A-76C1-4693-9273-A2ED436E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9" name="Ellipse 39">
            <a:extLst xmlns:a="http://schemas.openxmlformats.org/drawingml/2006/main">
              <a:ext uri="{FF2B5EF4-FFF2-40B4-BE49-F238E27FC236}">
                <a16:creationId xmlns:a16="http://schemas.microsoft.com/office/drawing/2014/main" id="{B6BC83E9-A5A5-46F8-9880-FD1A531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81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700F1AD-7441-4CFD-BCFF-191BE11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35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CEAC07F-F070-491D-B180-B034F55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2573" y="2186464"/>
            <a:ext cx="5678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3114ABF5-EDB8-4409-A953-966B677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3716" y="2458402"/>
            <a:ext cx="1395908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C0362C"/>
                </a:solidFill>
                <a:latin typeface="Segoe UI"/>
                <a:ea typeface="Segoe UI"/>
                <a:cs typeface="Segoe UI"/>
              </a:rPr>
              <a:t>2,400 万 vs 2,680 万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9D60199-D754-4D73-BD8A-CFC2D94A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1150" y="2228850"/>
            <a:ext cx="247650" cy="9525"/>
          </a:xfrm>
          <a:custGeom xmlns:a="http://schemas.openxmlformats.org/drawingml/2006/main"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32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0310E52-CA6E-4F93-8924-89DEDDE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3550" y="217170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B74BA41F-A05A-4F60-A068-5B59CB59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0" y="1771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C3AD1A81-6914-4886-BCB5-41A4CA50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6612" y="1862614"/>
            <a:ext cx="1120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020B335-2C6E-433B-8F94-17F8C213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5673" y="2186464"/>
            <a:ext cx="640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C0BE5A71-E245-42C8-95F1-20EF58A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6816" y="2458402"/>
            <a:ext cx="126149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版本、来源、执行记录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C72F32E7-C05D-422C-A778-FE6A0E3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3025140"/>
            <a:ext cx="385792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证据门只暂停受影响分支</a:t>
            </a:r>
          </a:p>
        </p:txBody>
      </p:sp>
      <p:sp>
        <p:nvSpPr>
          <p:cNvPr id="53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02C0A5DA-FAB1-4035-808E-F08AD23B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409950"/>
            <a:ext cx="73723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4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66CE2BF5-E670-46A7-A9A3-6E8F292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3638550"/>
            <a:ext cx="2133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681AF2B3-571C-46B0-BDF7-1E5F63D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56" y="38600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F8AB6B34-9B28-41F3-BCF9-1973548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1068" y="39322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55552278-FE58-4957-951D-2FC65AA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3673" y="3862864"/>
            <a:ext cx="143671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客户事实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C54C38A3-BE99-4ED1-9A81-E6FECAC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866" y="4115752"/>
            <a:ext cx="100012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0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9C4DE8EE-DD4C-4443-B300-BD27293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3638550"/>
            <a:ext cx="21336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47A9CBE-7B5C-4967-90FE-86A14D62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5156" y="3860006"/>
            <a:ext cx="185737" cy="185737"/>
          </a:xfrm>
          <a:custGeom xmlns:a="http://schemas.openxmlformats.org/drawingml/2006/main"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0D0FA5B-C299-4956-9C14-EB7AF742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7068" y="3932237"/>
            <a:ext cx="61912" cy="41275"/>
          </a:xfrm>
          <a:custGeom xmlns:a="http://schemas.openxmlformats.org/drawingml/2006/main"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332123A1-2E45-44F0-9259-5F29BAC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9673" y="3862864"/>
            <a:ext cx="111231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项目风险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453DDCED-AFCB-4BB6-AE12-0B0BF248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8866" y="4115752"/>
            <a:ext cx="1000125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6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B3A5220A-4650-4771-84FD-CDEE0A5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0" y="3638550"/>
            <a:ext cx="24574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580B654B-794D-47DB-ABF1-3AFC0C3B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2112" y="3880644"/>
            <a:ext cx="41275" cy="144462"/>
          </a:xfrm>
          <a:custGeom xmlns:a="http://schemas.openxmlformats.org/drawingml/2006/main"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BB007F60-C53D-4A02-8103-9CDB7AB9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662" y="3880644"/>
            <a:ext cx="41275" cy="144462"/>
          </a:xfrm>
          <a:custGeom xmlns:a="http://schemas.openxmlformats.org/drawingml/2006/main"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5B1E1525-9FFF-4B0F-AF49-F1FB3F45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5673" y="3862864"/>
            <a:ext cx="150880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收入基线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996E3F87-C9FB-42A9-BAD5-D5C74DAE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4866" y="4115752"/>
            <a:ext cx="193304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等待输入：需要确认口径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372E9357-F8CE-4C3A-A791-1E6BF43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7950" y="4362450"/>
            <a:ext cx="9525" cy="247650"/>
          </a:xfrm>
          <a:custGeom xmlns:a="http://schemas.openxmlformats.org/drawingml/2006/main"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142DB1B2-3063-4970-A214-6069B44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0800" y="4514850"/>
            <a:ext cx="114300" cy="95250"/>
          </a:xfrm>
          <a:custGeom xmlns:a="http://schemas.openxmlformats.org/drawingml/2006/main"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74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B1C6DE36-2BC0-4A1C-A38D-A906EE4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667250"/>
            <a:ext cx="47434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45851172-1678-454B-8A1D-F8CE50A5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3640" y="4862453"/>
            <a:ext cx="206003" cy="182610"/>
          </a:xfrm>
          <a:custGeom xmlns:a="http://schemas.openxmlformats.org/drawingml/2006/main">
            <a:rect l="l" t="t" r="r" b="b"/>
            <a:pathLst>
              <a:path w="206003" h="182610">
                <a:moveTo>
                  <a:pt x="10566" y="173096"/>
                </a:moveTo>
                <a:lnTo>
                  <a:pt x="23981" y="132853"/>
                </a:lnTo>
                <a:cubicBezTo>
                  <a:pt x="0" y="97388"/>
                  <a:pt x="9266" y="51625"/>
                  <a:pt x="45650" y="25807"/>
                </a:cubicBezTo>
                <a:cubicBezTo>
                  <a:pt x="82034" y="0"/>
                  <a:pt x="134288" y="2115"/>
                  <a:pt x="167875" y="30760"/>
                </a:cubicBezTo>
                <a:cubicBezTo>
                  <a:pt x="201463" y="59415"/>
                  <a:pt x="206003" y="105736"/>
                  <a:pt x="178493" y="139117"/>
                </a:cubicBezTo>
                <a:cubicBezTo>
                  <a:pt x="150983" y="172498"/>
                  <a:pt x="99916" y="182610"/>
                  <a:pt x="59064" y="162778"/>
                </a:cubicBezTo>
                <a:lnTo>
                  <a:pt x="10566" y="1730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04DA38BB-E1CE-46A4-8E2D-4B02F51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7773" y="4758214"/>
            <a:ext cx="343038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纠偏：采用正式口径，保留预测差异说明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775685D9-A1AC-420D-A82F-DECCE33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916" y="5011102"/>
            <a:ext cx="269633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只恢复该分支；已完成工件和版本不被覆盖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F1694392-E8FE-4B69-8EC1-ADAD1161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4256" y="3025140"/>
            <a:ext cx="290608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从 07-16 目标到当前事实</a:t>
            </a:r>
          </a:p>
        </p:txBody>
      </p:sp>
      <p:sp>
        <p:nvSpPr>
          <p:cNvPr id="80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321E0BBA-539B-49A2-888D-33DF3B70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409950"/>
            <a:ext cx="354330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81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3199A3E0-EDB5-4834-90AA-52E2CA16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3600450"/>
            <a:ext cx="89535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0E2F9D13-B760-4593-9414-0E76AC4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5195" y="3668078"/>
            <a:ext cx="752761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当前已落地</a:t>
            </a:r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ADAC552B-FC80-4918-8879-7B303DD1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3958114"/>
            <a:ext cx="310564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服务端分支与分支级证据门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721A924D-148B-463F-A2D7-9366E294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4205764"/>
            <a:ext cx="358025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追加式成果版本与任务提交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D4E54F66-2B31-4F14-943E-2019424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423" y="4453414"/>
            <a:ext cx="304956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局部恢复与可选数据库重启恢复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0377CB2B-ED5D-42EC-B02C-02DD6BE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4762500"/>
            <a:ext cx="3162300" cy="9525"/>
          </a:xfrm>
          <a:custGeom xmlns:a="http://schemas.openxmlformats.org/drawingml/2006/main"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1E4A1BCE-E195-4E94-8648-17E050D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8566" y="4896802"/>
            <a:ext cx="432544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仍是目标：生产身份、通用可写办公成果、长期后台执行</a:t>
            </a:r>
          </a:p>
        </p:txBody>
      </p:sp>
      <p:sp>
        <p:nvSpPr>
          <p:cNvPr id="89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E252C05B-811E-47F9-A7E7-F47A878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5715000"/>
            <a:ext cx="11201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3445795E-2500-49B5-9EA7-A3DCAAA0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5891689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交互变化：</a:t>
            </a:r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096C6D96-4822-4764-B3A7-78B39034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3723" y="5891689"/>
            <a:ext cx="687857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用户不再重开对话、重讲背景，而是在同一任务里查看分支、处理冲突、恢复受影响部分。</a:t>
            </a:r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E78E5F1D-6A11-4B3E-8DA6-583CD3E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66c28d2a096f4008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0238c7c7bce343a8"/>
              </a:rPr>
              <a:t>openai.github.io/.../human_in_the_loop/</a:t>
            </a:r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1B37A97F-8785-451B-A030-B7A65BB3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27 / 30</a:t>
            </a:r>
          </a:p>
        </p:txBody>
      </p:sp>
    </p:spTree>
    <p:extLst>
      <p:ext uri="{BB962C8B-B14F-4D97-AF65-F5344CB8AC3E}">
        <p14:creationId xmlns:p14="http://schemas.microsoft.com/office/powerpoint/2010/main" val="55192286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12DDC3-4E64-4C0F-9DB0-F1223D0A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7DD4174-CA0A-429A-9529-2A6EAD79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1463D01-8D90-46C1-9A72-1BCA0FA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370522"/>
            <a:ext cx="757712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2：复杂任务怎样拆解并收敛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BD2AEA6-BEA1-4A8B-9A63-C7386B51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757371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智能工作驾驶舱仍是目标；当前先验证复杂任务的拆解、依赖和成果汇合。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7583894-8030-42CF-8D8A-C8AC08BC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100" y="1885950"/>
            <a:ext cx="9525" cy="3295650"/>
          </a:xfrm>
          <a:custGeom xmlns:a="http://schemas.openxmlformats.org/drawingml/2006/main">
            <a:rect l="l" t="t" r="r" b="b"/>
            <a:pathLst>
              <a:path w="9525" h="3295650">
                <a:moveTo>
                  <a:pt x="0" y="0"/>
                </a:moveTo>
                <a:lnTo>
                  <a:pt x="0" y="32956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BD5DF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346B2539-917E-4D6A-AFFE-6DA53DBE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809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D39590-17AD-4F29-BBB5-F25CB6B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194024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6489B2-7425-4E55-A7D2-525D7C0A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1777365"/>
            <a:ext cx="383476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输入：一个复杂但只读的办公任务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124C89-D250-4C13-9CE1-190F580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2129314"/>
            <a:ext cx="3789045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跨产品、算法、交互三条工作线核对风险与证据，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D96A14C-1A04-467D-9A43-27CD22A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2376964"/>
            <a:ext cx="2415921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先独立核对，再形成统一简报。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C996B7E0-DE34-4203-8438-519AB2A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BC718CF-714F-4CF4-9133-DEAC2D7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317849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C7DE28B-222A-4248-94BC-9ABC038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3015615"/>
            <a:ext cx="332590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过程：依赖关系决定执行批次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46007B-259C-4BE8-BC8E-3E2A4C24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3367564"/>
            <a:ext cx="35114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路线准入生成 5 个工作包：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B6E6ACD-9C8B-495F-825E-0D9EE12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623" y="3615214"/>
            <a:ext cx="39091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个根工作包先执行，2 个依赖工作包等待下一波。</a:t>
            </a:r>
          </a:p>
        </p:txBody>
      </p:sp>
      <p:sp>
        <p:nvSpPr>
          <p:cNvPr id="21" name="Ellipse 21">
            <a:extLst xmlns:a="http://schemas.openxmlformats.org/drawingml/2006/main">
              <a:ext uri="{FF2B5EF4-FFF2-40B4-BE49-F238E27FC236}">
                <a16:creationId xmlns:a16="http://schemas.microsoft.com/office/drawing/2014/main" id="{7B6B34DB-F387-4BF6-81D0-D50446D2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85B1FA7-34AF-4A06-BC24-127F9191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765" y="4454842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2FE3858-C305-4D28-AFF1-3F3F8F3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956" y="4291965"/>
            <a:ext cx="358033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输出：统一成果与一个明确待办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3C01F69-A74F-4DB9-9D07-30E599B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4652010"/>
            <a:ext cx="361780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份贡献已采用，成果版本 1 已保留；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7F9A6EB-A84F-4DB8-8BEB-1F339E7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4890135"/>
            <a:ext cx="196687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右侧只突出“继续下一批”，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20B1F82-EF14-407A-AD2F-B823467F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004" y="5128260"/>
            <a:ext cx="195072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不要求用户管理多个会话。</a:t>
            </a:r>
          </a:p>
        </p:txBody>
      </p:sp>
      <p:sp>
        <p:nvSpPr>
          <p:cNvPr id="28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BF7AB79-55B8-4E04-B98C-D552B10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950" y="1581150"/>
            <a:ext cx="638175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pic>
        <p:nvPicPr>
          <p:cNvPr id="66" name="Imag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527a8bdc848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12501" y="1695450"/>
            <a:ext cx="5386647" cy="4114800"/>
          </a:xfrm>
          <a:prstGeom xmlns:a="http://schemas.openxmlformats.org/drawingml/2006/main" prst="rect">
            <a:avLst/>
          </a:prstGeom>
        </p:spPr>
      </p:pic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15A8C05-BB94-48B7-9160-9EE22F6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3810000"/>
            <a:ext cx="1181100" cy="9525"/>
          </a:xfrm>
          <a:custGeom xmlns:a="http://schemas.openxmlformats.org/drawingml/2006/main"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C420AC3-7A9F-4E3D-9016-A654B83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0650" y="3743325"/>
            <a:ext cx="114300" cy="133350"/>
          </a:xfrm>
          <a:custGeom xmlns:a="http://schemas.openxmlformats.org/drawingml/2006/main"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C2C432E-8DF1-4923-94BC-E439AB9D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115050"/>
            <a:ext cx="112014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19EF7E2-F8AB-46FB-A537-A3BFF95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423" y="62250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A7616D5-D5AD-4A94-8564-713A1D9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5623" y="6225064"/>
            <a:ext cx="813807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单服务进程、顺序批次、每批最多 3 个只读执行单元；不是分布式协作，也不是完整智能工作驾驶舱。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B10D49BC-1805-43D9-BBCF-D8B3E4A0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6113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28 / 30</a:t>
            </a:r>
          </a:p>
        </p:txBody>
      </p:sp>
    </p:spTree>
    <p:extLst>
      <p:ext uri="{BB962C8B-B14F-4D97-AF65-F5344CB8AC3E}">
        <p14:creationId xmlns:p14="http://schemas.microsoft.com/office/powerpoint/2010/main" val="24559966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847AB9-8253-4525-A7F4-C39C914D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4524E30-496E-490D-9859-1ED47A4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066800"/>
            <a:ext cx="11201400" cy="9525"/>
          </a:xfrm>
          <a:custGeom xmlns:a="http://schemas.openxmlformats.org/drawingml/2006/main"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3003848-5881-4445-8166-0D015BC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536" y="386715"/>
            <a:ext cx="9139916" cy="645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3：动作维风险，方案与执行必须隔离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86C48CF-1C03-4AB9-B66C-ADD8E185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23" y="1253014"/>
            <a:ext cx="790841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生成建议、形成草稿和真实发送或付款是三种不同事实；风险越高，用户越需要在动作发生前看见影响。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889C0D2-5A8E-4B1F-8623-3034E9F7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596390"/>
            <a:ext cx="352656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L0-L5 把风险映射为不同交互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995F4E-EFCB-4E67-8B29-AFF00B5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CBA857D-A25A-416E-82F5-C46DCA6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3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L0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9250F81-24AA-4D9C-91A8-D4B20EE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032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自动执行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87262C5-798A-4E2D-9357-60D6769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125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C60E0AA-51BF-49DA-B641-07B3F68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52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L1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52258F9-F97D-4F9C-B406-0B366AA1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6273" y="22626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执行并通知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9757A14-4B4D-485F-8585-99B2C9AA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5A8FB2-28DD-4E67-9581-71344DDB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L2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DE7634C-9AC1-4BDE-98F6-1852E20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2223" y="2262664"/>
            <a:ext cx="91406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只生成草稿</a:t>
            </a:r>
          </a:p>
        </p:txBody>
      </p:sp>
      <p:sp>
        <p:nvSpPr>
          <p:cNvPr id="2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D7B57AE-9BED-4BA0-B9F2-0EB7307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315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88D00C-4FAC-4446-A13F-0786F7EC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71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C49860A-C405-481A-9F00-94EAAAF4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817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普通确认</a:t>
            </a:r>
          </a:p>
        </p:txBody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C494AC5-38E4-42A8-9FBB-0C64051B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9100" y="1981200"/>
            <a:ext cx="1790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D32A00D-1942-4264-A0B3-8D67CF78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312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L4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60C4E8-B129-417F-B56F-9745467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4123" y="2262664"/>
            <a:ext cx="55362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强确认</a:t>
            </a:r>
          </a:p>
        </p:txBody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D6265DE-CBF2-4DA5-9613-D276485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25050" y="1981200"/>
            <a:ext cx="17716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62C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A8C9598-7B73-466B-9A6C-D79BF384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9073" y="2091214"/>
            <a:ext cx="22242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C0362C"/>
                </a:solidFill>
                <a:latin typeface="Consolas"/>
                <a:ea typeface="Consolas"/>
                <a:cs typeface="Consolas"/>
              </a:rPr>
              <a:t>L5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327C6F7-75C6-4148-AB8E-5B1DF8E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90073" y="22626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直接拒绝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425951A-0EE8-4987-8F7D-50E6C61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2758440"/>
            <a:ext cx="60666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动作链：先让用户看见影响，再决定是否发放执行许可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9531E54-73E3-4663-8CDB-61DE0024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3143250"/>
            <a:ext cx="112014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82EF729D-DFB8-4AAE-BB59-B9EE62A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481864"/>
            <a:ext cx="3733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方案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5C50131-FE16-41A5-9959-496C350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73DCCAD-F176-4AF3-B698-506EADC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68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6438E0B-D445-4654-A8F3-7BF482EA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707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影响预览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236E172-1487-4084-9D63-AD39DF9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4C9DA321-A0B9-4FAF-A0A2-BDD74730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65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C4A324B-508F-46FE-AC84-F70629F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6773" y="3481864"/>
            <a:ext cx="82629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风险评估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D6D87F9-D825-4181-805C-AD98E245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1D08190-2692-47DA-BF7C-67BA11E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E8CCD68-0C57-4380-AB12-8D6E07C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7423" y="3481864"/>
            <a:ext cx="122274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3F3463D-B8E4-49C1-9E21-4C90F62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BD5DF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1C224F4-CD20-4400-BF8C-F1EE20E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CBD5DF"/>
          </a:solidFill>
          <a:ln xmlns:a="http://schemas.openxmlformats.org/drawingml/2006/main">
            <a:noFill/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8F7D6B7C-522F-423A-9BD8-4860F107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192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人工确认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F7C8C3B-C2CF-4FD2-98F5-0C3771C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47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BCD47B5-9C49-4650-B94D-67BBE07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3E3E2C06-EF56-440E-9086-C54CB82A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2573" y="3481864"/>
            <a:ext cx="60420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执行许可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07B4FA0-CFD6-4CF2-93B4-CF2E114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3543300"/>
            <a:ext cx="342900" cy="9525"/>
          </a:xfrm>
          <a:custGeom xmlns:a="http://schemas.openxmlformats.org/drawingml/2006/main"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E7D32"/>
            </a:solidFill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02459E7-F5DD-44D4-B11F-259E14B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1550" y="3486150"/>
            <a:ext cx="95250" cy="114300"/>
          </a:xfrm>
          <a:custGeom xmlns:a="http://schemas.openxmlformats.org/drawingml/2006/main"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2E7D32"/>
          </a:solidFill>
          <a:ln xmlns:a="http://schemas.openxmlformats.org/drawingml/2006/main">
            <a:noFill/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F8A443E-B276-4DE2-BC80-D9C5175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1773" y="3481864"/>
            <a:ext cx="7338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执行回执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D439509-0600-48CF-A9A3-F61023D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5916" y="3506152"/>
            <a:ext cx="1014260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或明确“未发生”</a:t>
            </a:r>
          </a:p>
        </p:txBody>
      </p:sp>
      <p:sp>
        <p:nvSpPr>
          <p:cNvPr id="53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5995A16A-F44F-464F-8A3E-ADE62C8E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4191000"/>
            <a:ext cx="64579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</a:ln>
        </p:spPr>
      </p:sp>
      <p:pic>
        <p:nvPicPr>
          <p:cNvPr id="128" name="Imag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1cb90f52242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251075" y="4286250"/>
            <a:ext cx="2946400" cy="1657350"/>
          </a:xfrm>
          <a:prstGeom xmlns:a="http://schemas.openxmlformats.org/drawingml/2006/main" prst="rect">
            <a:avLst/>
          </a:prstGeom>
        </p:spPr>
      </p:pic>
      <p:sp>
        <p:nvSpPr>
          <p:cNvPr id="58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D5B16838-367A-4170-A797-442DC7E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850" y="4191000"/>
            <a:ext cx="4514850" cy="18478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DF"/>
            </a:solidFill>
          </a:ln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E70E6222-12BE-45CA-BAFB-CE475C7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1306" y="433959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当前已经能证明什么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D0F3188-119E-4ABD-88FE-2B40AC9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9025" y="4733925"/>
            <a:ext cx="171450" cy="171450"/>
          </a:xfrm>
          <a:custGeom xmlns:a="http://schemas.openxmlformats.org/drawingml/2006/main"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78A9C09-398B-4698-B87D-1D29CF3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4800600"/>
            <a:ext cx="57150" cy="38100"/>
          </a:xfrm>
          <a:custGeom xmlns:a="http://schemas.openxmlformats.org/drawingml/2006/main"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FB15D315-9BC7-4872-88EB-5DDD73C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4739164"/>
            <a:ext cx="383483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实际成果、具名检查器与效果回执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94E56198-980B-40F3-9E91-812F4694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9025" y="5038725"/>
            <a:ext cx="171450" cy="171450"/>
          </a:xfrm>
          <a:custGeom xmlns:a="http://schemas.openxmlformats.org/drawingml/2006/main"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0D7C8A21-25C6-4DFC-B7AE-C42B5CA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175" y="5105400"/>
            <a:ext cx="57150" cy="38100"/>
          </a:xfrm>
          <a:custGeom xmlns:a="http://schemas.openxmlformats.org/drawingml/2006/main"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E7D32"/>
            </a:solidFill>
          </a:ln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B9F2C0B8-858B-4F86-BE3B-8DC707E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5043964"/>
            <a:ext cx="330845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前台明确展示“已生成”与“外部动作未发生”</a:t>
            </a:r>
          </a:p>
        </p:txBody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9A329A8D-DB2D-44E7-96B6-35C2707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5334000"/>
            <a:ext cx="4057650" cy="9525"/>
          </a:xfrm>
          <a:custGeom xmlns:a="http://schemas.openxmlformats.org/drawingml/2006/main"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E8ED"/>
            </a:solidFill>
          </a:ln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7A95E530-D627-42ED-92A3-149EF8BD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0" y="5553075"/>
            <a:ext cx="9525" cy="38100"/>
          </a:xfrm>
          <a:custGeom xmlns:a="http://schemas.openxmlformats.org/drawingml/2006/main"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2F70D383-5BE0-49DC-8C24-9DD96915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8689" y="5492761"/>
            <a:ext cx="192114" cy="165051"/>
          </a:xfrm>
          <a:custGeom xmlns:a="http://schemas.openxmlformats.org/drawingml/2006/main">
            <a:rect l="l" t="t" r="r" b="b"/>
            <a:pathLst>
              <a:path w="192114" h="165051">
                <a:moveTo>
                  <a:pt x="80468" y="8794"/>
                </a:moveTo>
                <a:lnTo>
                  <a:pt x="3259" y="137705"/>
                </a:lnTo>
                <a:cubicBezTo>
                  <a:pt x="20" y="143314"/>
                  <a:pt x="0" y="150220"/>
                  <a:pt x="3207" y="155848"/>
                </a:cubicBezTo>
                <a:cubicBezTo>
                  <a:pt x="6413" y="161475"/>
                  <a:pt x="12365" y="164979"/>
                  <a:pt x="18842" y="165051"/>
                </a:cubicBezTo>
                <a:lnTo>
                  <a:pt x="173280" y="165051"/>
                </a:lnTo>
                <a:cubicBezTo>
                  <a:pt x="179753" y="164977"/>
                  <a:pt x="185702" y="161474"/>
                  <a:pt x="188908" y="155850"/>
                </a:cubicBezTo>
                <a:cubicBezTo>
                  <a:pt x="192114" y="150226"/>
                  <a:pt x="192097" y="143323"/>
                  <a:pt x="188863" y="137715"/>
                </a:cubicBezTo>
                <a:lnTo>
                  <a:pt x="111653" y="8784"/>
                </a:lnTo>
                <a:cubicBezTo>
                  <a:pt x="108349" y="3331"/>
                  <a:pt x="102437" y="0"/>
                  <a:pt x="96061" y="0"/>
                </a:cubicBezTo>
                <a:cubicBezTo>
                  <a:pt x="89685" y="0"/>
                  <a:pt x="83772" y="3331"/>
                  <a:pt x="80468" y="87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91FECD8-6A54-4EF3-9553-4E4D7C2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0" y="56197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7B9F545A-A7BF-4C16-B05C-2ACAC99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873" y="5482114"/>
            <a:ext cx="412882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生产连接器、身份授权与许可防重放仍未实现</a:t>
            </a:r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E79D3001-583B-4146-AC72-F4E6487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8016" y="5735002"/>
            <a:ext cx="3468167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因此当前不执行真实付款、发送、CRM 或生产变更。</a:t>
            </a:r>
          </a:p>
        </p:txBody>
      </p:sp>
      <p:sp>
        <p:nvSpPr>
          <p:cNvPr id="76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BA32825E-3A86-46F1-A05B-55DC4B4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153150"/>
            <a:ext cx="112014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>
            <a:noFill/>
          </a:ln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F876073E-9D78-451C-BFED-29D62185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95839" y="6206014"/>
            <a:ext cx="760032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交互变化：按钮不再只写“确认”，而要说明对象、影响、可逆性、证据、风险级别和动作回执。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58AA9C16-9A97-4510-B541-7232EECE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54e63d75aec44512"/>
              </a:rPr>
              <a:t>openai.github.io/.../human_in_the_loop/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2292162c9ec444a1"/>
              </a:rPr>
              <a:t>modelcontextprotocol.io/.../elicitation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F8796FF5-31E3-4BCA-A0DA-BA1DE247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59225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29 / 30</a:t>
            </a:r>
          </a:p>
        </p:txBody>
      </p:sp>
    </p:spTree>
    <p:extLst>
      <p:ext uri="{BB962C8B-B14F-4D97-AF65-F5344CB8AC3E}">
        <p14:creationId xmlns:p14="http://schemas.microsoft.com/office/powerpoint/2010/main" val="114484654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340765-02E3-487E-A413-230FFD3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1FAB7EE-5998-4064-9D81-FE86195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>
            <a:noFill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A05774E-8A56-4128-AA2A-0A96E45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74" y="408622"/>
            <a:ext cx="8983630" cy="67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下一阶段：把 07-16 方向变成可证伪证据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7AC6E8D-8F19-480C-B8F7-7A26B86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156" y="1005840"/>
            <a:ext cx="583387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先闭合可信失败与恢复，再扩大业务效果和外部动作。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1A294C9-D6F9-49D1-85D6-A8D40B1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1962150"/>
            <a:ext cx="2114550" cy="2286000"/>
          </a:xfrm>
          <a:custGeom xmlns:a="http://schemas.openxmlformats.org/drawingml/2006/main">
            <a:rect l="l" t="t" r="r" b="b"/>
            <a:pathLst>
              <a:path w="2114550" h="2286000">
                <a:moveTo>
                  <a:pt x="0" y="0"/>
                </a:moveTo>
                <a:lnTo>
                  <a:pt x="1828800" y="0"/>
                </a:lnTo>
                <a:lnTo>
                  <a:pt x="2114550" y="1143000"/>
                </a:lnTo>
                <a:lnTo>
                  <a:pt x="1828800" y="2286000"/>
                </a:lnTo>
                <a:lnTo>
                  <a:pt x="0" y="2286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98F1FF0-B7D6-4EB4-AC72-C2A5C55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2D40D1-BD5E-4DE4-AD6C-6AB88D80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806" y="2586990"/>
            <a:ext cx="159569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原生定位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300AF82-8FE9-4600-91A8-1BB426D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005614"/>
            <a:ext cx="54795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PDF 页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BB0DD8-0E71-45C2-A96B-B9F5B78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272314"/>
            <a:ext cx="52787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表格行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B22AFF-EC8E-4CCD-9F42-CF476A35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473" y="3539014"/>
            <a:ext cx="1394660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正文块与来源版本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F5F529E-41A9-4386-A878-2CEE5D2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98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3EA9A8-2468-4521-9659-A21638F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20B01D1-232A-4382-A089-65C27C6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1706" y="25869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携证成果包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DB30605-6CEB-4EA6-8E29-55575C1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005614"/>
            <a:ext cx="730302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2258EF-07B0-41EC-B318-31D8EE3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272314"/>
            <a:ext cx="120758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效果回执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77471F2-A736-4E5E-A03A-D7ED222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4373" y="3539014"/>
            <a:ext cx="1497644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来源记录与边界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FBA1869-FF08-4BE7-9E25-47109E4A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91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1769E0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573D6DE-D6B1-499A-8EE5-B177B86F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25BE4A0-051C-4F18-90F8-3C343C9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1006" y="2586990"/>
            <a:ext cx="160692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业务检查器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9DC5A57-CE1C-4079-A592-2ED30F5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0056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从固定适配器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BC45D4-AB2E-47A2-A9C9-8A66E9F4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2723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扩展到可配置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CA838B4-4A43-4974-916B-B315B97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3673" y="3539014"/>
            <a:ext cx="1214438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数值与语义规则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456EED9-9DC7-4D52-A854-66C2F41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8450" y="1962150"/>
            <a:ext cx="2019300" cy="2286000"/>
          </a:xfrm>
          <a:custGeom xmlns:a="http://schemas.openxmlformats.org/drawingml/2006/main"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810FC60-261A-4F89-96E8-B38D7E9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29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99E7861-D75F-4CD7-95BD-8E487D0C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0306" y="258699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调度与动作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38A4808-FAE0-45BA-B811-FB83598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3235" y="3021806"/>
            <a:ext cx="1690845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任务队列、租约与执行单元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8FC0FA-70EF-41A0-B8B7-EDC61536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3997" y="3304699"/>
            <a:ext cx="1658629" cy="19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工具、外部连接器与执行许可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C219B0B-1304-41CF-8821-EDB1E5D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2473" y="353901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幂等回执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F48A83B-EC1D-467C-8C90-0A54CC36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0" y="1962150"/>
            <a:ext cx="1981200" cy="2286000"/>
          </a:xfrm>
          <a:custGeom xmlns:a="http://schemas.openxmlformats.org/drawingml/2006/main">
            <a:rect l="l" t="t" r="r" b="b"/>
            <a:pathLst>
              <a:path w="1981200" h="2286000">
                <a:moveTo>
                  <a:pt x="0" y="0"/>
                </a:moveTo>
                <a:lnTo>
                  <a:pt x="1695450" y="0"/>
                </a:lnTo>
                <a:lnTo>
                  <a:pt x="1981200" y="1143000"/>
                </a:lnTo>
                <a:lnTo>
                  <a:pt x="16954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EDF1F4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9CD4051-9222-41CF-BF52-27DD8E6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2262664"/>
            <a:ext cx="211199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205D66C4-84E0-4863-82C1-86D5EE35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9606" y="2586990"/>
            <a:ext cx="10360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同场挑战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47EEAE5-BD8F-4C48-9920-D5DCED46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005614"/>
            <a:ext cx="1574883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固定任务、模型与来源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6F8C899-3B83-40A6-B346-02083EB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272314"/>
            <a:ext cx="699516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同条件方案实测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49B262E-A6D9-426C-B11E-C5C3B52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2273" y="3539014"/>
            <a:ext cx="1042797" cy="24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目标用户研究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93D5090-6DE1-486B-B94C-EC949DA2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8950" y="1962150"/>
            <a:ext cx="1047750" cy="2286000"/>
          </a:xfrm>
          <a:custGeom xmlns:a="http://schemas.openxmlformats.org/drawingml/2006/main">
            <a:rect l="l" t="t" r="r" b="b"/>
            <a:pathLst>
              <a:path w="1047750" h="2286000">
                <a:moveTo>
                  <a:pt x="0" y="0"/>
                </a:moveTo>
                <a:lnTo>
                  <a:pt x="1047750" y="0"/>
                </a:lnTo>
                <a:lnTo>
                  <a:pt x="10477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 xmlns:a="http://schemas.openxmlformats.org/drawingml/2006/main">
            <a:srgbClr val="132A3A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07B5480-8986-423A-A636-A2ED527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1558" y="2491740"/>
            <a:ext cx="7815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已验证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AEC813A-275C-4D7F-B87F-ED87DC5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18774" y="2815590"/>
            <a:ext cx="5271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差异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91DADFD-2DF6-4C99-A160-4A3410A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4314" y="3372802"/>
            <a:ext cx="576072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通过门后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352298B-7459-4219-B81C-6379544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52963" y="3601402"/>
            <a:ext cx="85877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才可升级结论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700D40A-C940-4C93-8DD0-C78D13AB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108" y="4712970"/>
            <a:ext cx="6056498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办公智能体的产品，不是一段回答；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7E3D6893-2FC2-4026-BA41-70E2299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108" y="5132070"/>
            <a:ext cx="7826959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而是一份可复核、可恢复、可追责的当前工作结论。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EC1FF49E-2D33-4296-8783-0FC14BA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300" y="6324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c281b5d2b9346b5"/>
              </a:rPr>
              <a:t>w3.org/TR/prov-o/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xmlns:r="http://schemas.openxmlformats.org/officeDocument/2006/relationships" r:id="R4fbdcffd945640b3"/>
              </a:rPr>
              <a:t>research.google/.../user-experience-metrics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8F63DBBD-5DA9-4118-A5ED-0024B289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7840" y="6458902"/>
            <a:ext cx="484194" cy="20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30 / 30</a:t>
            </a:r>
          </a:p>
        </p:txBody>
      </p:sp>
    </p:spTree>
    <p:extLst>
      <p:ext uri="{BB962C8B-B14F-4D97-AF65-F5344CB8AC3E}">
        <p14:creationId xmlns:p14="http://schemas.microsoft.com/office/powerpoint/2010/main" val="2751433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2026-09-02T05:21:01.0460000Z</dcterms:created>
  <dcterms:modified xsi:type="dcterms:W3CDTF">2026-09-02T05:21:01.0460000Z</dcterms:modified>
</coreProperties>
</file>
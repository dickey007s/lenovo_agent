
<file path=[Content_Types].xml><?xml version="1.0" encoding="utf-8"?>
<Types xmlns="http://schemas.openxmlformats.org/package/2006/content-types">
  <Default Extension="bin" ContentType="image/web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>
            <a:endParaRPr/>
          </a:p>
          <a:p>
            <a:r>
              <a:t>转场：先看 07-16 的三个 Demo 分工在当前版本里发生了什么变化。</a:t>
            </a:r>
          </a:p>
          <a:p>
            <a:endParaRPr/>
          </a:p>
          <a:p>
            <a:r>
              <a:t>证据/边界：当前系统实测；不把截图当作正式用户研究。</a:t>
            </a:r>
          </a:p>
          <a:p>
            <a:endParaRPr/>
          </a:p>
          <a:p>
            <a:r>
              <a:t>预期问题：这次相对 07-16 到底新增了什么，而不是换了一套说法？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07-16 把三个 Demo 分成时间连续性、复杂任务组织和动作风险。这个分工保留不变。当前版本真正补上的，是把每个演示的进展落到资料范围、分支证据门、工作包依赖、贡献采用、成果文件和未执行边界。Demo 2 不再只有目标框图：服务端可以编译受控工作包依赖图，并以单进程、顺序批次、每批最多三个只读执行单元形成有限纵切；它仍不是分布式协作运行时。对用户而言，界面不再只说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>
            <a:endParaRPr/>
          </a:p>
          <a:p>
            <a:r>
              <a:t>转场：下面回到 07-16 的核心架构，解释这些状态由谁负责。</a:t>
            </a:r>
          </a:p>
          <a:p>
            <a:endParaRPr/>
          </a:p>
          <a:p>
            <a:r>
              <a:t>证据/边界：https://www.microsoft.com/en-us/research/publication/guidelines-for-human-ai-interaction/ ；https://arxiv.org/abs/2210.03629</a:t>
            </a:r>
          </a:p>
          <a:p>
            <a:endParaRPr/>
          </a:p>
          <a:p>
            <a:r>
              <a:t>预期问题：为什么一定要拆成三个 Demo，而不是做一个大而全的 Agent？</a:t>
            </a:r>
          </a:p>
          <a:p>
            <a:r>
              <a:t>
[Sources]
- https://www.microsoft.com/en-us/research/publication/guidelines-for-human-ai-interaction/
- https://arxiv.org/abs/2210.03629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>
            <a:endParaRPr/>
          </a:p>
          <a:p>
            <a:r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>
            <a:endParaRPr/>
          </a:p>
          <a:p>
            <a:r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>
            <a:endParaRPr/>
          </a:p>
          <a:p>
            <a:r>
              <a:t>转场：下一页把底座拆成八个稳定职责，并说明每两个模块共同回答一个用户问题。</a:t>
            </a:r>
          </a:p>
          <a:p>
            <a:endParaRPr/>
          </a:p>
          <a:p>
            <a:r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>
            <a:endParaRPr/>
          </a:p>
          <a:p>
            <a:r>
              <a:t>预期问题：为什么不把所有任务都放进 Loop 或 Swarm？因为增强层有额外状态与协调成本，只有任务的时间跨度和组织复杂度值得时才应启用。</a:t>
            </a:r>
          </a:p>
          <a:p>
            <a:r>
              <a:t>
[Sources]
- https://arxiv.org/abs/2210.03629
- https://docs.langchain.com/oss/javascript/langgraph/persistence
- https://openai.github.io/openai-agents-python/human_in_the_loop/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八个模块不是八个前台页面，而是一次任务从定范围到可恢复的四段责任链。</a:t>
            </a:r>
          </a:p>
          <a:p>
            <a:endParaRPr/>
          </a:p>
          <a:p>
            <a:r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>
            <a:endParaRPr/>
          </a:p>
          <a:p>
            <a:r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>
            <a:endParaRPr/>
          </a:p>
          <a:p>
            <a:r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>
            <a:endParaRPr/>
          </a:p>
          <a:p>
            <a:r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>
            <a:endParaRPr/>
          </a:p>
          <a:p>
            <a:r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>
            <a:endParaRPr/>
          </a:p>
          <a:p>
            <a:r>
              <a:t>转场：这些职责为什么会逐步出现，下一页沿技术演进解释系统责任如何外扩。</a:t>
            </a:r>
          </a:p>
          <a:p>
            <a:endParaRPr/>
          </a:p>
          <a:p>
            <a:r>
              <a:t>证据/边界：当前系统实测；ReAct、LangGraph、MCP 与 A2A 只作线上架构参照。</a:t>
            </a:r>
          </a:p>
          <a:p>
            <a:endParaRPr/>
          </a:p>
          <a:p>
            <a:r>
              <a:t>预期问题：八个模块会不会让前台更复杂？不会要求用户操作模块名，但必须把模块产生的关键状态翻译成业务语言。</a:t>
            </a:r>
          </a:p>
          <a:p>
            <a:r>
              <a:t>
[Sources]
- https://arxiv.org/abs/2210.03629
- https://docs.langchain.com/oss/javascript/langgraph/persistence
- https://modelcontextprotocol.io/specification/draft/client/elicitation
- https://a2a-protocol.org/v0.3.0/specification/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>
            <a:endParaRPr/>
          </a:p>
          <a:p>
            <a:r>
              <a:t>转场：接下来不按功能打勾，而按用户实际审查的对象看主流方案。</a:t>
            </a:r>
          </a:p>
          <a:p>
            <a:endParaRPr/>
          </a:p>
          <a:p>
            <a:r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>
            <a:endParaRPr/>
          </a:p>
          <a:p>
            <a:r>
              <a:t>预期问题：Loop Engineering 是正式术语还是本方案的归纳？</a:t>
            </a:r>
          </a:p>
          <a:p>
            <a:r>
              <a:t>
[Sources]
- https://arxiv.org/abs/2005.14165
- https://arxiv.org/abs/2210.03629
- https://www.anthropic.com/engineering/effective-context-engineering-for-ai-agents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这一页先纠正原稿最大的比较问题：Microsoft 365 Copilot、Glean、Atlassian Rovo、ChatGPT、Codex App、OpenClaw 和 ReAct 不是同一层对象。</a:t>
            </a:r>
          </a:p>
          <a:p>
            <a:endParaRPr/>
          </a:p>
          <a:p>
            <a:r>
              <a:t>市场至少要分成办公套件内嵌、企业知识与智能体平台、通用研究工作台、任务执行工作台、方法与协议五类。真正可比的是用户要审查什么对象，以及状态、证据、成果、人工门和动作事实如何衔接。</a:t>
            </a:r>
          </a:p>
          <a:p>
            <a:endParaRPr/>
          </a:p>
          <a:p>
            <a:r>
              <a:t>因此，本页不是竞品排名，也不据官方资料的缺失推断某个产品做不到某事。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https://learn.microsoft.com/en-us/microsoft-365/copilot/researcher-agent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https://www.glean.com/platform</a:t>
            </a:r>
          </a:p>
          <a:p>
            <a:r>
              <a:t>- https://docs.glean.com/user-guide/assistant/deep-research</a:t>
            </a:r>
          </a:p>
          <a:p>
            <a:r>
              <a:t>- https://www.atlassian.com/software/rovo/features</a:t>
            </a:r>
          </a:p>
          <a:p>
            <a:r>
              <a:t>- https://www.notion.com/help/enterprise-search</a:t>
            </a:r>
          </a:p>
          <a:p>
            <a:r>
              <a:t>- https://help.openai.com/en/articles/10500283-deep-research</a:t>
            </a:r>
          </a:p>
          <a:p>
            <a:r>
              <a:t>- https://support.claude.com/en/articles/11088861-use-research-on-claude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- https://docs.openclaw.ai/</a:t>
            </a:r>
          </a:p>
          <a:p>
            <a:r>
              <a:t>- https://react-lm.github.io/</a:t>
            </a:r>
          </a:p>
          <a:p>
            <a:r>
              <a:t>- https://modelcontextprotocol.io/specification/</a:t>
            </a:r>
          </a:p>
          <a:p>
            <a:r>
              <a:t>- https://a2a-protocol.org/latest/specification/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这一页讲直接办公套件竞争。Microsoft 的强项是与 Microsoft 365 工作内容和权限体系相连，Researcher with Computer Use 还能在安全虚拟环境里操作网站和应用。Google 的强项是 Workspace 原生上下文和 Workspace Studio 的跨应用自动化。</a:t>
            </a:r>
          </a:p>
          <a:p>
            <a:endParaRPr/>
          </a:p>
          <a:p>
            <a:r>
              <a:t>这意味着 Office Agent 不能用“多来源”“整库”“有引用”来定义独占差异。当前更准确的说法是：Office Agent 正在验证服务端冻结范围、分支证据门、成果校验和人工控制是否能在一条办公链路里闭合。</a:t>
            </a:r>
          </a:p>
          <a:p>
            <a:endParaRPr/>
          </a:p>
          <a:p>
            <a:r>
              <a:t>[Sources]</a:t>
            </a:r>
          </a:p>
          <a:p>
            <a:r>
              <a:t>- https://support.microsoft.com/en-us/microsoft-365-copilot/get-started-using-researcher-with-computer-use-in-microsoft-365-copilot-frontier</a:t>
            </a:r>
          </a:p>
          <a:p>
            <a:r>
              <a:t>- https://learn.microsoft.com/en-us/microsoft-365/copilot/researcher-agent</a:t>
            </a:r>
          </a:p>
          <a:p>
            <a:r>
              <a:t>- https://support.microsoft.com/en-us/microsoft-365-copilot/get-started-with-analyst-in-microsoft-copilot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https://workspace.google.com/blog/product-announcements/introducing-workspace-intelligence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Notion AI 是原稿遗漏的重要直接竞品。它把工作空间、连接应用和互联网放进统一入口，支持收窄范围、引用回开和研究模式；官方文档还说明，部分连接器能在连接应用中采取动作。</a:t>
            </a:r>
          </a:p>
          <a:p>
            <a:endParaRPr/>
          </a:p>
          <a:p>
            <a:r>
              <a:t>同一赛道还包括 Glean 与 Atlassian Rovo。Glean 以权限感知的企业搜索和知识图谱为底座，向深度研究、智能体和动作扩展；Rovo 把搜索、对话、深度研究、智能体与自动化嵌入 Jira 和 Confluence。这里用 Notion 的界面作为日常知识工作入口的可视例子，不代表只研究了 Notion。</a:t>
            </a:r>
          </a:p>
          <a:p>
            <a:endParaRPr/>
          </a:p>
          <a:p>
            <a:r>
              <a:t>因此，Office Agent 不能把全源检索、企业连接或引用回开本身写成独占能力。可以继续验证的，是服务端证据准入、模型采用、分支缺口、确定性办公成果与动作事实是否能形成更严格的合同。</a:t>
            </a:r>
          </a:p>
          <a:p>
            <a:endParaRPr/>
          </a:p>
          <a:p>
            <a:r>
              <a:t>[Sources]</a:t>
            </a:r>
          </a:p>
          <a:p>
            <a:r>
              <a:t>- https://www.notion.com/help/enterprise-search</a:t>
            </a:r>
          </a:p>
          <a:p>
            <a:r>
              <a:t>- https://www.notion.com/help/notion-ai-faqs</a:t>
            </a:r>
          </a:p>
          <a:p>
            <a:r>
              <a:t>- https://www.notion.com/help/notion-ai-connectors</a:t>
            </a:r>
          </a:p>
          <a:p>
            <a:r>
              <a:t>- https://www.glean.com/platform</a:t>
            </a:r>
          </a:p>
          <a:p>
            <a:r>
              <a:t>- https://docs.glean.com/user-guide/assistant/deep-research</a:t>
            </a:r>
          </a:p>
          <a:p>
            <a:r>
              <a:t>- https://www.atlassian.com/software/rovo/features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ChatGPT 深度研究已经覆盖来源选择、计划审阅、进度展示、运行中中断、引用报告和多格式下载。Claude Research 也会在内部上下文和 Web 上开展多步研究，并输出可检查引用。</a:t>
            </a:r>
          </a:p>
          <a:p>
            <a:endParaRPr/>
          </a:p>
          <a:p>
            <a:r>
              <a:t>所以 Office Agent 的市场表达不能停留在“会研究、有来源、能暂停”。更值得验证的是：每条业务结论是否经过服务端来源准入；部分采用能否保留；证据缺口是否能单分支恢复；成果是否由独立 Verifier 证明已经生成。</a:t>
            </a:r>
          </a:p>
          <a:p>
            <a:endParaRPr/>
          </a:p>
          <a:p>
            <a:r>
              <a:t>[Sources]</a:t>
            </a:r>
          </a:p>
          <a:p>
            <a:r>
              <a:t>- https://help.openai.com/en/articles/10500283-deep-research</a:t>
            </a:r>
          </a:p>
          <a:p>
            <a:r>
              <a:t>- https://openai.com/index/introducing-deep-research/</a:t>
            </a:r>
          </a:p>
          <a:p>
            <a:r>
              <a:t>- https://help.openai.com/en/articles/11487775-apps-in-chatgpt</a:t>
            </a:r>
          </a:p>
          <a:p>
            <a:r>
              <a:t>- https://support.claude.com/en/articles/11088861-use-research-on-claude</a:t>
            </a:r>
          </a:p>
          <a:p>
            <a:r>
              <a:t>- https://www.anthropic.com/news/integrations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Codex App 和 Claude Code 不是 Office Agent 的直接办公套件竞品，但它们定义了长任务执行工作台的用户预期：任务有独立状态，执行有隔离环境，变更有 Diff，验证有命令回执，人工可以中断、批准和恢复。</a:t>
            </a:r>
          </a:p>
          <a:p>
            <a:endParaRPr/>
          </a:p>
          <a:p>
            <a:r>
              <a:t>Office Agent 的候选差异不在于“也能跑长任务”，而在于把办公来源、业务 Finding、Evidence Gate、办公 Artifact、人工 Decision 和未执行边界放进同一条事实链。</a:t>
            </a:r>
          </a:p>
          <a:p>
            <a:endParaRPr/>
          </a:p>
          <a:p>
            <a:r>
              <a:t>[Sources]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这一页把前面的产品叙事收敛为五个可审查对象。</a:t>
            </a:r>
          </a:p>
          <a:p>
            <a:endParaRPr/>
          </a:p>
          <a:p>
            <a:r>
              <a:t>办公套件强在原生上下文和平台动作；研究工作台强在来源、计划、进度和报告；代码执行工作台强在任务、隔离环境、变更和验证。Office Agent 当前尝试把冻结资料库、Task / Run / Branch、Evidence Gate、办公成果与 Verifier 回执放在同一条链路里。</a:t>
            </a:r>
          </a:p>
          <a:p>
            <a:endParaRPr/>
          </a:p>
          <a:p>
            <a:r>
              <a:t>这仍然只是结构上的候选差异，不能替代固定配置的同场实测。</a:t>
            </a:r>
          </a:p>
          <a:p>
            <a:endParaRPr/>
          </a:p>
          <a:p>
            <a:r>
              <a:t>[Sources]</a:t>
            </a:r>
          </a:p>
          <a:p>
            <a:r>
              <a:t>- https://learn.microsoft.com/en-us/microsoft-365/copilot/researcher-agent</a:t>
            </a:r>
          </a:p>
          <a:p>
            <a:r>
              <a:t>- https://workspace.google.com/blog/product-announcements/introducing-google-workspace-studio-agents-for-everyday-work</a:t>
            </a:r>
          </a:p>
          <a:p>
            <a:r>
              <a:t>- https://www.notion.com/help/enterprise-search</a:t>
            </a:r>
          </a:p>
          <a:p>
            <a:r>
              <a:t>- https://help.openai.com/en/articles/10500283-deep-research</a:t>
            </a:r>
          </a:p>
          <a:p>
            <a:r>
              <a:t>- https://support.claude.com/en/articles/11088861-use-research-on-claude</a:t>
            </a:r>
          </a:p>
          <a:p>
            <a:r>
              <a:t>- https://openai.com/index/introducing-the-codex-app/</a:t>
            </a:r>
          </a:p>
          <a:p>
            <a:r>
              <a:t>- https://code.claude.com/docs/en/how-claude-code-works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这一页给出最重要的结论。Office Agent 当前可以陈述的是“可证伪的合同集成差异候选”，不是已经胜过竞品。</a:t>
            </a:r>
          </a:p>
          <a:p>
            <a:endParaRPr/>
          </a:p>
          <a:p>
            <a:r>
              <a:t>已有证据：整库索引冻结，计划进入服务端 Branch / Topology，Finding 绑定批准来源与 Anchor，模型返回和采用分开，隔离 Artifact 有 Verifier 和历史版本。</a:t>
            </a:r>
          </a:p>
          <a:p>
            <a:endParaRPr/>
          </a:p>
          <a:p>
            <a:r>
              <a:t>未有证据：原生办公套件 Connector、源文件写回、远端 Worker、分布式 lease、多实例协调、生产认证和用户研究。</a:t>
            </a:r>
          </a:p>
          <a:p>
            <a:endParaRPr/>
          </a:p>
          <a:p>
            <a:r>
              <a:t>下一步应做固定配置同场实测，至少回答四个问题：结论能否定位，暂停后能否只补一支，成果是否真写出，计划、批准和执行是否严格分开。</a:t>
            </a:r>
          </a:p>
          <a:p>
            <a:endParaRPr/>
          </a:p>
          <a:p>
            <a:r>
              <a:t>[Sources]</a:t>
            </a:r>
          </a:p>
          <a:p>
            <a:r>
              <a:t>- E:/Project/Lenovo CAAI AI Agent/README.md</a:t>
            </a:r>
          </a:p>
          <a:p>
            <a:r>
              <a:t>- E:/Project/Lenovo CAAI AI Agent/docs/ARCHITECTURE.md</a:t>
            </a:r>
          </a:p>
          <a:p>
            <a:r>
              <a:t>- E:/Project/Lenovo CAAI AI Agent/docs/contracts/UI_SERVER_FACT_MATRIX.md</a:t>
            </a:r>
          </a:p>
          <a:p>
            <a:r>
              <a:t>- E:/Project/Lenovo CAAI AI Agent/docs/research/DEMO1-DEMO2-DURABLE-TASK-AND-ADAPTIVE-ORCHESTRATION-RESEARCH-20260830.md</a:t>
            </a:r>
          </a:p>
          <a:p>
            <a:r>
              <a:t>- E:/Project/Lenovo CAAI AI Agent/docs/decisions/DR-0053-durable-task-lineage-and-explainable-topology-admission.md</a:t>
            </a:r>
          </a:p>
          <a:p>
            <a:r>
              <a:t>- E:/Project/Lenovo CAAI AI Agent/docs/decisions/DR-0055-durable-workunit-and-contribution-ledger.md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>
            <a:endParaRPr/>
          </a:p>
          <a:p>
            <a:r>
              <a:t>转场：当这条流程跨多轮运行，风险会被循环放大。</a:t>
            </a:r>
          </a:p>
          <a:p>
            <a:endParaRPr/>
          </a:p>
          <a:p>
            <a:r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>
            <a:endParaRPr/>
          </a:p>
          <a:p>
            <a:r>
              <a:t>预期问题：为什么不让模型自己判断哪些输出可信？</a:t>
            </a:r>
          </a:p>
          <a:p>
            <a:r>
              <a:t>
[Sources]
- https://www.microsoft.com/en-us/research/publication/guidelines-for-human-ai-interaction/
- https://help.openai.com/en/articles/10500283-deep-research
- https://modelcontextprotocol.io/specification/draft/client/elicitation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受影响、如何暂停恢复或接管。这里不能夸大当前实现：系统默认 12 轮、公开上限 24 轮，并受文件数、模型调用次数和主动运行时间的独立预算约束；暂停和停止只在模型调用之间的安全点生效，也不会硬取消正在进行的请求。它解决了一部分状态透明与局部恢复问题，还不是无限自治的长任务执行器。</a:t>
            </a:r>
          </a:p>
          <a:p>
            <a:endParaRPr/>
          </a:p>
          <a:p>
            <a:r>
              <a:t>转场：下一页把 Observe、Plan、Act、Verify、Commit 和外围控制放在一起看。</a:t>
            </a:r>
          </a:p>
          <a:p>
            <a:endParaRPr/>
          </a:p>
          <a:p>
            <a:r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>
            <a:endParaRPr/>
          </a:p>
          <a:p>
            <a:r>
              <a:t>预期问题：12 轮是否足够？默认值不是质量承诺；是否足够仍要由任务完成条件、预算与场景实测共同判断。</a:t>
            </a:r>
          </a:p>
          <a:p>
            <a:r>
              <a:t>
[Sources]
- https://www.microsoft.com/en-us/research/publication/guidelines-for-human-ai-interaction/
- https://docs.langchain.com/oss/javascript/langgraph/persistence
- https://arxiv.org/abs/2210.03629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>
            <a:endParaRPr/>
          </a:p>
          <a:p>
            <a:r>
              <a:t>转场：下面不再讲抽象模块，直接看六个办公场景。</a:t>
            </a:r>
          </a:p>
          <a:p>
            <a:endParaRPr/>
          </a:p>
          <a:p>
            <a:r>
              <a:t>证据/边界：https://docs.langchain.com/oss/javascript/langgraph/persistence ；https://openai.github.io/openai-agents-python/human_in_the_loop/ ；https://a2a-protocol.org/v0.3.0/specification/</a:t>
            </a:r>
          </a:p>
          <a:p>
            <a:endParaRPr/>
          </a:p>
          <a:p>
            <a:r>
              <a:t>预期问题：什么时候可以把它称为完整 Control Loop？</a:t>
            </a:r>
          </a:p>
          <a:p>
            <a:r>
              <a:t>
[Sources]
- https://docs.langchain.com/oss/javascript/langgraph/persistence
- https://openai.github.io/openai-agents-python/human_in_the_loop/
- https://a2a-protocol.org/v0.3.0/specification/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>
            <a:endParaRPr/>
          </a:p>
          <a:p>
            <a:r>
              <a:t>转场：接下来用四页真实界面，把前面讲的系统纵切完整走一遍。</a:t>
            </a:r>
          </a:p>
          <a:p>
            <a:endParaRPr/>
          </a:p>
          <a:p>
            <a:r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>
            <a:endParaRPr/>
          </a:p>
          <a:p>
            <a:r>
              <a:t>预期问题：怎样证明界面真的更清晰？需要目标用户任务测试，不是更多截图。</a:t>
            </a:r>
          </a:p>
          <a:p>
            <a:r>
              <a:t>
[Sources]
- https://www.microsoft.com/en-us/research/publication/guidelines-for-human-ai-interaction/
- https://www.w3.org/WAI/WCAG21/Understanding/status-messages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这页回答最直接的问题：我们到底做了什么。不是又做了一张 Agent 对话页面，而是把一条办公任务纵切跑通了。</a:t>
            </a:r>
          </a:p>
          <a:p>
            <a:endParaRPr/>
          </a:p>
          <a:p>
            <a:r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>
            <a:endParaRPr/>
          </a:p>
          <a:p>
            <a:r>
              <a:t>右侧不是概念图，而是当前系统完成一条固定办公任务后的完整运行界面：左侧是资料库，中间是任务、Agent 路径和成果，右侧是有序 Control Loop 记录。</a:t>
            </a:r>
          </a:p>
          <a:p>
            <a:endParaRPr/>
          </a:p>
          <a:p>
            <a:r>
              <a:t>这条链已经证明的是固定公开数据上的受限纵切；尚未证明的是通用语义正确、任意办公文件写入、生产级 Connector 和生产 SLA。</a:t>
            </a:r>
          </a:p>
          <a:p>
            <a:endParaRPr/>
          </a:p>
          <a:p>
            <a:r>
              <a:t>转场：下一页从用户输入开始，看“自主选择资料”具体怎样发生。</a:t>
            </a:r>
          </a:p>
          <a:p>
            <a:endParaRPr/>
          </a:p>
          <a:p>
            <a:r>
              <a:t>证据/边界：当前系统实测；截图来自固定公开数据运行，不是竞品对照或生产环境。</a:t>
            </a:r>
          </a:p>
          <a:p>
            <a:endParaRPr/>
          </a:p>
          <a:p>
            <a:r>
              <a:t>预期问题：这是不是一个为固定演示写死的流程？当前确有固定成果适配器，但 Workspace、合同、分支、证据门、Snapshot 和 Trace 是通用运行时结构。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>
            <a:endParaRPr/>
          </a:p>
          <a:p>
            <a:r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>
            <a:endParaRPr/>
          </a:p>
          <a:p>
            <a:r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>
            <a:endParaRPr/>
          </a:p>
          <a:p>
            <a:r>
              <a:t>这里不能把“自主选择资料”说成“已经穷举所有相关资料”。系统默认 12 轮、公开上限 24 轮，但资料选择仍可能不完整，所以完成结果仍需证据核对、成果检查和人工复核。</a:t>
            </a:r>
          </a:p>
          <a:p>
            <a:endParaRPr/>
          </a:p>
          <a:p>
            <a:r>
              <a:t>转场：如果选择到的来源文字不能唯一定位，系统不会把整项任务推倒重来。</a:t>
            </a:r>
          </a:p>
          <a:p>
            <a:endParaRPr/>
          </a:p>
          <a:p>
            <a:r>
              <a:t>证据/边界：当前系统实测；全库范围、服务端 Planner 和前台 Trace 的显示均以本次 Snapshot 为准。</a:t>
            </a:r>
          </a:p>
          <a:p>
            <a:endParaRPr/>
          </a:p>
          <a:p>
            <a:r>
              <a:t>预期问题：为什么不把全部 96 份文件都交给模型？因为服务端需要控制上下文、成本和来源范围，并保留每轮选择依据。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>
            <a:endParaRPr/>
          </a:p>
          <a:p>
            <a:r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>
            <a:endParaRPr/>
          </a:p>
          <a:p>
            <a:r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>
            <a:endParaRPr/>
          </a:p>
          <a:p>
            <a:r>
              <a:t>用户确认后，只恢复目标 Branch。已完成 ArtifactVersion、其他 Branch 和已有核对记录不被覆盖。这是局部恢复和整轮重跑在用户体验上的关键差别。</a:t>
            </a:r>
          </a:p>
          <a:p>
            <a:endParaRPr/>
          </a:p>
          <a:p>
            <a:r>
              <a:t>转场：最后看成果已经生成后，系统如何区分文件事实、业务效果和模型说明。</a:t>
            </a:r>
          </a:p>
          <a:p>
            <a:endParaRPr/>
          </a:p>
          <a:p>
            <a:r>
              <a:t>证据/边界：当前系统实测；位置确认只证明 locator 与来源成员关系，不证明自然语言蕴含、穷举或算术全面正确。</a:t>
            </a:r>
          </a:p>
          <a:p>
            <a:endParaRPr/>
          </a:p>
          <a:p>
            <a:r>
              <a:t>预期问题：为什么还要人选位置？格式原生 Locator 尚未完全覆盖，当前保留可审计的人工决定比服务端猜一个位置更稳妥。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>
            <a:endParaRPr/>
          </a:p>
          <a:p>
            <a:r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>
            <a:endParaRPr/>
          </a:p>
          <a:p>
            <a:r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>
            <a:endParaRPr/>
          </a:p>
          <a:p>
            <a:r>
              <a:t>当前边界仍然清楚：固定检查只证明特定字段、结构和效果，不是通用语义真值证明器；成果通过也不代表业务价值或最终判断自动成立。</a:t>
            </a:r>
          </a:p>
          <a:p>
            <a:endParaRPr/>
          </a:p>
          <a:p>
            <a:r>
              <a:t>转场：有了这条当前纵切，下面把它重新放回 07-16 的三个 Demo，分别看时间、组织和动作三个维度哪些已经落地、哪些仍是目标。</a:t>
            </a:r>
          </a:p>
          <a:p>
            <a:endParaRPr/>
          </a:p>
          <a:p>
            <a:r>
              <a:t>证据/边界：当前系统实测；固定成果适配器与叙事对账覆盖既定场景，不外推到任意办公任务。</a:t>
            </a:r>
          </a:p>
          <a:p>
            <a:endParaRPr/>
          </a:p>
          <a:p>
            <a:r>
              <a:t>预期问题：固定检查会不会把模型变得多余？不会，模型仍负责规划、跨资料归纳和提出候选；确定性检查负责约束可复算事实。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>
            <a:endParaRPr/>
          </a:p>
          <a:p>
            <a:r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>
            <a:endParaRPr/>
          </a:p>
          <a:p>
            <a:r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>
            <a:endParaRPr/>
          </a:p>
          <a:p>
            <a:r>
              <a:t>前台变化是用户不必重开对话、重讲背景；他在同一任务里看见哪个分支完成、哪个分支为何停、选择后恢复什么、旧成果是否保留。</a:t>
            </a:r>
          </a:p>
          <a:p>
            <a:endParaRPr/>
          </a:p>
          <a:p>
            <a:r>
              <a:t>转场：时间连续性解决以后，Demo 2 处理的是同时有很多待办和复杂分工时，工作如何被组织。</a:t>
            </a:r>
          </a:p>
          <a:p>
            <a:endParaRPr/>
          </a:p>
          <a:p>
            <a:r>
              <a:t>证据/边界：https://docs.langchain.com/oss/javascript/langgraph/persistence ；https://openai.github.io/openai-agents-python/human_in_the_loop/</a:t>
            </a:r>
          </a:p>
          <a:p>
            <a:endParaRPr/>
          </a:p>
          <a:p>
            <a:r>
              <a:t>预期问题：现在已经支持手机和电脑控制同一生产任务吗？没有，当前证明的是服务端状态、分支与恢复机制，生产身份和跨端控制仍是目标。</a:t>
            </a:r>
          </a:p>
          <a:p>
            <a:r>
              <a:t>
[Sources]
- https://docs.langchain.com/oss/javascript/langgraph/persistence
- https://openai.github.io/openai-agents-python/human_in_the_loop/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2 仍然保留 07-16 的智能工作驾驶舱作为目标产品面，但这一页不再只讲目标框图，而是先回答一个可以直接演示的输入、过程和输出。</a:t>
            </a:r>
          </a:p>
          <a:p>
            <a:endParaRPr/>
          </a:p>
          <a:p>
            <a:r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>
            <a:endParaRPr/>
          </a:p>
          <a:p>
            <a:r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>
            <a:endParaRPr/>
          </a:p>
          <a:p>
            <a:r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>
            <a:endParaRPr/>
          </a:p>
          <a:p>
            <a:r>
              <a:t>边界必须讲清：这是单服务进程、顺序批次、每批最多三个只读执行单元的受控演示样例。它没有持久任务队列、租约、远端执行单元或多实例协调，也不是完整的智能工作驾驶舱；自动化和截图同样不能证明这种协作方式更快、更准或更易理解。</a:t>
            </a:r>
          </a:p>
          <a:p>
            <a:endParaRPr/>
          </a:p>
          <a:p>
            <a:r>
              <a:t>转场：无论任务由单 Agent、Workflow 还是 Swarm 完成，只要下一步涉及真实发送、付款或生产变更，都要进入 Demo 3 的动作风险门。</a:t>
            </a:r>
          </a:p>
          <a:p>
            <a:endParaRPr/>
          </a:p>
          <a:p>
            <a:r>
              <a:t>证据/边界：https://docs.openclaw.ai/concepts/multi-agent ；https://a2a-protocol.org/v0.3.0/specification/ ；https://www.nngroup.com/articles/progressive-disclosure/</a:t>
            </a:r>
          </a:p>
          <a:p>
            <a:endParaRPr/>
          </a:p>
          <a:p>
            <a:r>
              <a:t>预期问题：多个执行单元一定比单一流程好吗？不一定，当前也没有效果证据；只有同任务、同模型、同来源和同预算下的增量收益高于协调与验证开销时，才应该启用自适应协作。</a:t>
            </a:r>
          </a:p>
          <a:p>
            <a:r>
              <a:t>
[Sources]
- https://a2a-protocol.org/v0.3.0/specification/
- https://docs.openclaw.ai/concepts/multi-agent
- https://www.nngroup.com/articles/progressive-disclosure/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>
            <a:endParaRPr/>
          </a:p>
          <a:p>
            <a:r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>
            <a:endParaRPr/>
          </a:p>
          <a:p>
            <a:r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>
            <a:endParaRPr/>
          </a:p>
          <a:p>
            <a:r>
              <a:t>前台的直接变化是按钮不能只写“确认”。用户必须先看见对象、影响、证据、风险级别、可逆性和执行回执，才能知道自己的点击究竟会改变什么。</a:t>
            </a:r>
          </a:p>
          <a:p>
            <a:endParaRPr/>
          </a:p>
          <a:p>
            <a:r>
              <a:t>转场：三个 Demo 的方向保留，但下一步必须继续用可证伪证据而不是更多概念升级结论。</a:t>
            </a:r>
          </a:p>
          <a:p>
            <a:endParaRPr/>
          </a:p>
          <a:p>
            <a:r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>
            <a:endParaRPr/>
          </a:p>
          <a:p>
            <a:r>
              <a:t>预期问题：当前是不是已经具备 L0-L5 的生产执行能力？没有，L0-L5 是目标控制模型，当前只有固定成果和未执行边界的有限实现。</a:t>
            </a:r>
          </a:p>
          <a:p>
            <a:r>
              <a:t>
[Sources]
- https://openai.github.io/openai-agents-python/human_in_the_loop/
- https://modelcontextprotocol.io/specification/draft/client/elicitation
- https://www.microsoft.com/en-us/research/publication/guidelines-for-human-ai-interaction/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>
            <a:endParaRPr/>
          </a:p>
          <a:p>
            <a:r>
              <a:t>转场：请评审决定的不是一句“看起来不错”，而是是否同意按这五道门继续生产证据。</a:t>
            </a:r>
          </a:p>
          <a:p>
            <a:endParaRPr/>
          </a:p>
          <a:p>
            <a:r>
              <a:t>证据/边界：https://modelcontextprotocol.io/specification/draft/client/elicitation ；https://a2a-protocol.org/v0.3.0/specification/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>
            <a:endParaRPr/>
          </a:p>
          <a:p>
            <a:r>
              <a:t>预期问题：当前可以对外承诺什么？只能承诺固定公开数据上的系统实测与明确边界，不承诺全面领先、生产 SLA 或用户价值。</a:t>
            </a:r>
          </a:p>
          <a:p>
            <a:r>
              <a:t>
[Sources]
- https://modelcontextprotocol.io/specification/draft/client/elicitation
- https://a2a-protocol.org/v0.3.0/specification/
- https://www.w3.org/TR/prov-o/
- https://www.microsoft.com/en-us/research/publication/guidelines-for-human-ai-interaction/
- https://research.google/pubs/measuring-the-user-experience-on-a-large-scale-user-centered-metrics-for-web-applications/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73B63-64A6-49FB-92CA-98599AE10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A79B0-CD14-4729-87EB-41197E446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A9851-1F46-45B4-8BB8-B96A7396FA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4E705-15E4-4238-ABC1-11F7E348E6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6B467-A513-417E-A1FE-797AA77D05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8690A-A245-447D-BDD3-7718B6599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B551-4566-4A7B-A2A8-0D1228B8E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31168-B733-4D49-9906-5EA12CB547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77E46-9507-4059-9676-0733D8D306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3F26-D70A-493D-A097-A3383A46A4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7EF0-994E-4B85-A34D-602EB83ED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DE32E-AFB7-4EA7-A72C-955084A1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DA28C-5A3B-4CCC-A90B-B9C13B6F7F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F45CB-9981-4994-9668-77C47C6143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8D752-4902-4996-B0CD-C7CD61C8E7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09F7-28AB-46FF-8419-DBB8D7D4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8DC56-A8E7-4BD1-915D-C4841CFB5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6D2AE-8180-4B09-B716-D6EC25F0B68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5A8DE-8041-47AD-B9ED-42699A2D4E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3DD2F-D196-4F55-990A-AA695956C7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F5CAB-96FB-484D-8E1C-AB69687F06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4AFA2-4CEE-4687-96AA-4B814650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63B1D-B346-4EC5-B1E6-ACCF2CD47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94E2E-4933-46C5-A39B-BCF1A3A6E79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57C62-2FF3-4F54-924B-1BC5D2A5259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B78E8-C228-4914-BE23-9AB561B90D8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7BAE1-3938-4028-A2BD-70D0A70B95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AB74B9-D988-43C8-A924-661919EE46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BA2B6-17B5-4B3D-99B4-42884887DF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811CB-0F37-4E9E-B84C-E99912DF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69C0D-965F-4710-9B28-244F7AA92C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A8546-8721-4E88-8FD3-85A8EBAE4D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7FC25-BAD5-4FD2-B3CB-C3176B33F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691BD-6C43-4914-BCAC-FAE94CE1BA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0E50E-E3B9-4A97-A925-2C9E3670BB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FA721-87C0-48C2-9AF3-3923B9533A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0CB6-536A-46C7-B8D1-09DE2224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EE5B-0CC6-4BC1-A05C-46C13654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E72B0-1968-45E1-847A-9B8734A2336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D38CC-5F92-44B9-B89C-BFAE9BFADE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F017F-FADE-464B-943E-AA17BC64D3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C8A01-77E2-46A3-BF35-7873ED72C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0610-91B0-4504-B501-17B2D9C4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AAF14-EE10-4DD5-A8C7-4D3024D5A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F4811-2D1C-420A-A7A8-0254EE775D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48F6-47A2-48D7-8EB8-19E41C61B3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024CB-6D56-43AA-9368-51313185EC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A87BF-A459-4BB4-AE90-23B34840E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773E-3CE6-468B-B7D4-EF9BEDB4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88E7C-15FE-4E85-83EF-0AF774B62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B964-C7F6-407C-8F06-E876917255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1C6E-246B-45EC-9853-63C4164DAE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4D176-C5C6-4A68-9440-1BD7EED9CE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57EB8-E38A-4FA4-8087-89E9D9F7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929DE-A6B4-416F-BCAF-2EECDB20B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75D7-E443-4E27-B00E-BA7311B94E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641C2-0D46-41E7-BCB7-E380B4AAD5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A4E26-B3FC-4D5A-9EAC-83BC0C326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BC2FE-7575-4327-8980-9928A3BE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6D394-7B76-47BA-AEA2-F0F7CBEDD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38E22-E1DB-4FF9-8A9F-9FBA25CFD42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2026-09-02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2DE97-63AA-43DD-8E0D-6EFD38D9248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67BDF-EF4D-4D30-B0AF-C22BE27BAAE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publication/guidelines-for-human-ai-interactio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210.0362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10.0362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langchain.com/oss/javascript/langgraph/persistenc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210.03629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openai.com/en/articles/10500283-deep-research" TargetMode="External"/><Relationship Id="rId3" Type="http://schemas.openxmlformats.org/officeDocument/2006/relationships/hyperlink" Target="https://learn.microsoft.com/en-us/microsoft-365/copilot/researcher-agent" TargetMode="External"/><Relationship Id="rId7" Type="http://schemas.openxmlformats.org/officeDocument/2006/relationships/hyperlink" Target="https://www.notion.com/help/enterprise-search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tlassian.com/software/rovo/features" TargetMode="External"/><Relationship Id="rId5" Type="http://schemas.openxmlformats.org/officeDocument/2006/relationships/hyperlink" Target="https://www.glean.com/platform" TargetMode="External"/><Relationship Id="rId4" Type="http://schemas.openxmlformats.org/officeDocument/2006/relationships/hyperlink" Target="https://workspace.google.com/blog/product-announcements/introducing-google-workspace-studio-agents-for-everyday-work" TargetMode="External"/><Relationship Id="rId9" Type="http://schemas.openxmlformats.org/officeDocument/2006/relationships/hyperlink" Target="https://support.claude.com/en/articles/11088861-use-research-on-clau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orkspace.google.com/blog/product-announcements/introducing-google-workspace-studio-agents-for-everyday-work" TargetMode="External"/><Relationship Id="rId5" Type="http://schemas.openxmlformats.org/officeDocument/2006/relationships/hyperlink" Target="https://support.microsoft.com/en-us/microsoft-365-copilot/get-started-using-researcher-with-computer-use-in-microsoft-365-copilot-frontier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notion.com/help/notion-ai-connectors" TargetMode="External"/><Relationship Id="rId4" Type="http://schemas.openxmlformats.org/officeDocument/2006/relationships/hyperlink" Target="https://www.notion.com/help/enterprise-search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upport.claude.com/en/articles/11088861-use-research-on-claude" TargetMode="External"/><Relationship Id="rId5" Type="http://schemas.openxmlformats.org/officeDocument/2006/relationships/hyperlink" Target="https://help.openai.com/en/articles/10500283-deep-research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de.claude.com/docs/en/how-claude-code-works" TargetMode="External"/><Relationship Id="rId5" Type="http://schemas.openxmlformats.org/officeDocument/2006/relationships/hyperlink" Target="https://openai.com/index/introducing-the-codex-app/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microsoft-365/copilot/researcher-agent" TargetMode="External"/><Relationship Id="rId7" Type="http://schemas.openxmlformats.org/officeDocument/2006/relationships/hyperlink" Target="https://code.claude.com/docs/en/how-claude-code-work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elp.openai.com/en/articles/10500283-deep-research" TargetMode="External"/><Relationship Id="rId5" Type="http://schemas.openxmlformats.org/officeDocument/2006/relationships/hyperlink" Target="https://www.notion.com/help/enterprise-search" TargetMode="External"/><Relationship Id="rId4" Type="http://schemas.openxmlformats.org/officeDocument/2006/relationships/hyperlink" Target="https://workspace.google.com/blog/product-announcements/introducing-google-workspace-studio-agents-for-everyday-work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Dickey007s/lenovo_agent" TargetMode="Externa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publication/guidelines-for-human-ai-interactio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odelcontextprotocol.io/specification/draft/client/elicitation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publication/guidelines-for-human-ai-interaction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langchain.com/oss/javascript/langgraph/persistenc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javascript/langgraph/persistenc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ai.github.io/openai-agents-python/human_in_the_loo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publication/guidelines-for-human-ai-interaction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earch.google/pubs/measuring-the-user-experience-on-a-large-scale-user-centered-metrics-for-web-application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javascript/langgraph/persistenc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ai.github.io/openai-agents-python/human_in_the_loop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odelcontextprotocol.io/specification/draft/client/elicitation" TargetMode="External"/><Relationship Id="rId4" Type="http://schemas.openxmlformats.org/officeDocument/2006/relationships/hyperlink" Target="https://openai.github.io/openai-agents-python/human_in_the_loop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prov-o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search.google/pubs/measuring-the-user-experience-on-a-large-scale-user-centered-metrics-for-web-applica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B715578-E22E-488D-AF4B-55770B0D64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93D88B7-E996-42CC-BF8D-4032A2D31F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9680C2E-A317-4C5E-AEA3-8D1ECC1E5F5C}"/>
              </a:ext>
            </a:extLst>
          </p:cNvPr>
          <p:cNvSpPr>
            <a:spLocks noGrp="1"/>
          </p:cNvSpPr>
          <p:nvPr/>
        </p:nvSpPr>
        <p:spPr>
          <a:xfrm>
            <a:off x="590550" y="1625918"/>
            <a:ext cx="4422056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未来办公智能体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093AA40-AAC0-43D3-9EAF-D557D50FBFF6}"/>
              </a:ext>
            </a:extLst>
          </p:cNvPr>
          <p:cNvSpPr>
            <a:spLocks noGrp="1"/>
          </p:cNvSpPr>
          <p:nvPr/>
        </p:nvSpPr>
        <p:spPr>
          <a:xfrm>
            <a:off x="590550" y="2311718"/>
            <a:ext cx="3727361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从一次回答到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A0E0AF2-7853-4026-8576-B212CE8A67C5}"/>
              </a:ext>
            </a:extLst>
          </p:cNvPr>
          <p:cNvSpPr>
            <a:spLocks noGrp="1"/>
          </p:cNvSpPr>
          <p:nvPr/>
        </p:nvSpPr>
        <p:spPr>
          <a:xfrm>
            <a:off x="590550" y="2997518"/>
            <a:ext cx="4342238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43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可治理工作系统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8CCDC5A-99CF-4114-AF98-CB38C79BFBBB}"/>
              </a:ext>
            </a:extLst>
          </p:cNvPr>
          <p:cNvSpPr>
            <a:spLocks noGrp="1"/>
          </p:cNvSpPr>
          <p:nvPr/>
        </p:nvSpPr>
        <p:spPr>
          <a:xfrm>
            <a:off x="600456" y="380619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技术演进、主流方案与办公场景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CFBE839-0A7A-4C02-9C0C-4E96B6D3DE11}"/>
              </a:ext>
            </a:extLst>
          </p:cNvPr>
          <p:cNvSpPr>
            <a:spLocks noGrp="1"/>
          </p:cNvSpPr>
          <p:nvPr/>
        </p:nvSpPr>
        <p:spPr>
          <a:xfrm>
            <a:off x="600456" y="4130040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与前台交互影响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B9259938-C638-49EE-B27C-72450E2F8D53}"/>
              </a:ext>
            </a:extLst>
          </p:cNvPr>
          <p:cNvSpPr>
            <a:spLocks noGrp="1"/>
          </p:cNvSpPr>
          <p:nvPr/>
        </p:nvSpPr>
        <p:spPr>
          <a:xfrm>
            <a:off x="5905500" y="857250"/>
            <a:ext cx="5791200" cy="47625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1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09" y="1333500"/>
            <a:ext cx="5049982" cy="3857625"/>
          </a:xfrm>
          <a:prstGeom prst="rect">
            <a:avLst/>
          </a:prstGeom>
        </p:spPr>
      </p:pic>
      <p:sp>
        <p:nvSpPr>
          <p:cNvPr id="31" name="TextBox 31">
            <a:extLst>
              <a:ext uri="{FF2B5EF4-FFF2-40B4-BE49-F238E27FC236}">
                <a16:creationId xmlns:a16="http://schemas.microsoft.com/office/drawing/2014/main" id="{C85E010A-CA14-4B4B-AA09-C0B2317C78FB}"/>
              </a:ext>
            </a:extLst>
          </p:cNvPr>
          <p:cNvSpPr>
            <a:spLocks noGrp="1"/>
          </p:cNvSpPr>
          <p:nvPr/>
        </p:nvSpPr>
        <p:spPr>
          <a:xfrm>
            <a:off x="11217840" y="64398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01 / 24</a:t>
            </a:r>
          </a:p>
        </p:txBody>
      </p:sp>
    </p:spTree>
    <p:extLst>
      <p:ext uri="{BB962C8B-B14F-4D97-AF65-F5344CB8AC3E}">
        <p14:creationId xmlns:p14="http://schemas.microsoft.com/office/powerpoint/2010/main" val="17780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38E8D2B-E5C8-4CE7-AD7E-A58330E8E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46E4946-A662-42D0-A363-27C8208C3724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F51B341-72F4-4AEB-8CD2-46E1D21116E7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539932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这次改版带来的能力跃迁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D9A681F-021D-4F98-9E32-4F7C40EA22F8}"/>
              </a:ext>
            </a:extLst>
          </p:cNvPr>
          <p:cNvSpPr>
            <a:spLocks noGrp="1"/>
          </p:cNvSpPr>
          <p:nvPr/>
        </p:nvSpPr>
        <p:spPr>
          <a:xfrm>
            <a:off x="484632" y="1278255"/>
            <a:ext cx="750163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三类控制不变，验证对象从“回答”扩展到“真实办公成果”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3DD1BB71-904C-454E-8111-1BDB95A325D5}"/>
              </a:ext>
            </a:extLst>
          </p:cNvPr>
          <p:cNvSpPr>
            <a:spLocks noGrp="1"/>
          </p:cNvSpPr>
          <p:nvPr/>
        </p:nvSpPr>
        <p:spPr>
          <a:xfrm>
            <a:off x="495300" y="2286000"/>
            <a:ext cx="33909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EE59030-AB7F-40DB-938F-84F64681BB42}"/>
              </a:ext>
            </a:extLst>
          </p:cNvPr>
          <p:cNvSpPr>
            <a:spLocks noGrp="1"/>
          </p:cNvSpPr>
          <p:nvPr/>
        </p:nvSpPr>
        <p:spPr>
          <a:xfrm>
            <a:off x="495300" y="2286000"/>
            <a:ext cx="3390900" cy="762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D88A378-4B52-4D08-9CC3-096F684F243E}"/>
              </a:ext>
            </a:extLst>
          </p:cNvPr>
          <p:cNvSpPr>
            <a:spLocks noGrp="1"/>
          </p:cNvSpPr>
          <p:nvPr/>
        </p:nvSpPr>
        <p:spPr>
          <a:xfrm>
            <a:off x="866775" y="2667000"/>
            <a:ext cx="23812" cy="71438"/>
          </a:xfrm>
          <a:custGeom>
            <a:avLst/>
            <a:gdLst/>
            <a:ahLst/>
            <a:cxnLst/>
            <a:rect l="l" t="t" r="r" b="b"/>
            <a:pathLst>
              <a:path w="23812" h="71438">
                <a:moveTo>
                  <a:pt x="0" y="0"/>
                </a:moveTo>
                <a:lnTo>
                  <a:pt x="0" y="47625"/>
                </a:lnTo>
                <a:lnTo>
                  <a:pt x="23812" y="71438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1DDF89E-BEA7-46F0-8B2D-98223258CABF}"/>
              </a:ext>
            </a:extLst>
          </p:cNvPr>
          <p:cNvSpPr>
            <a:spLocks noGrp="1"/>
          </p:cNvSpPr>
          <p:nvPr/>
        </p:nvSpPr>
        <p:spPr>
          <a:xfrm>
            <a:off x="760214" y="2605806"/>
            <a:ext cx="219694" cy="224739"/>
          </a:xfrm>
          <a:custGeom>
            <a:avLst/>
            <a:gdLst/>
            <a:ahLst/>
            <a:cxnLst/>
            <a:rect l="l" t="t" r="r" b="b"/>
            <a:pathLst>
              <a:path w="219694" h="224739">
                <a:moveTo>
                  <a:pt x="0" y="96913"/>
                </a:moveTo>
                <a:cubicBezTo>
                  <a:pt x="5524" y="42685"/>
                  <a:pt x="50876" y="1245"/>
                  <a:pt x="105381" y="623"/>
                </a:cubicBezTo>
                <a:cubicBezTo>
                  <a:pt x="159885" y="0"/>
                  <a:pt x="206172" y="40393"/>
                  <a:pt x="212933" y="94481"/>
                </a:cubicBezTo>
                <a:cubicBezTo>
                  <a:pt x="219694" y="148568"/>
                  <a:pt x="184774" y="199112"/>
                  <a:pt x="131794" y="211925"/>
                </a:cubicBezTo>
                <a:cubicBezTo>
                  <a:pt x="78813" y="224739"/>
                  <a:pt x="24655" y="195737"/>
                  <a:pt x="5953" y="144538"/>
                </a:cubicBezTo>
                <a:moveTo>
                  <a:pt x="0" y="204069"/>
                </a:moveTo>
                <a:lnTo>
                  <a:pt x="0" y="144538"/>
                </a:lnTo>
                <a:lnTo>
                  <a:pt x="59531" y="144538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2473466-7DE3-4DA0-8F66-4B5E7C118D59}"/>
              </a:ext>
            </a:extLst>
          </p:cNvPr>
          <p:cNvSpPr>
            <a:spLocks noGrp="1"/>
          </p:cNvSpPr>
          <p:nvPr/>
        </p:nvSpPr>
        <p:spPr>
          <a:xfrm>
            <a:off x="115138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 · 持续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598C3AE-05AE-49BC-B890-5A96E54C4B12}"/>
              </a:ext>
            </a:extLst>
          </p:cNvPr>
          <p:cNvSpPr>
            <a:spLocks noGrp="1"/>
          </p:cNvSpPr>
          <p:nvPr/>
        </p:nvSpPr>
        <p:spPr>
          <a:xfrm>
            <a:off x="714756" y="3044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同一任务跨轮推进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34C6E0-6300-49D1-9F6F-05930BAD4367}"/>
              </a:ext>
            </a:extLst>
          </p:cNvPr>
          <p:cNvSpPr>
            <a:spLocks noGrp="1"/>
          </p:cNvSpPr>
          <p:nvPr/>
        </p:nvSpPr>
        <p:spPr>
          <a:xfrm>
            <a:off x="717423" y="4129564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看清为什么停、从哪里继续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6E48E7C5-DD8A-40CA-AED2-7FC8CF91585E}"/>
              </a:ext>
            </a:extLst>
          </p:cNvPr>
          <p:cNvSpPr>
            <a:spLocks noGrp="1"/>
          </p:cNvSpPr>
          <p:nvPr/>
        </p:nvSpPr>
        <p:spPr>
          <a:xfrm>
            <a:off x="4171950" y="2286000"/>
            <a:ext cx="33909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819EA8BD-4656-4A16-BD38-3386BD4D4732}"/>
              </a:ext>
            </a:extLst>
          </p:cNvPr>
          <p:cNvSpPr>
            <a:spLocks noGrp="1"/>
          </p:cNvSpPr>
          <p:nvPr/>
        </p:nvSpPr>
        <p:spPr>
          <a:xfrm>
            <a:off x="4171950" y="2286000"/>
            <a:ext cx="3390900" cy="762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E2D4C5-8847-4259-A98E-93B805E8F68E}"/>
              </a:ext>
            </a:extLst>
          </p:cNvPr>
          <p:cNvSpPr>
            <a:spLocks noGrp="1"/>
          </p:cNvSpPr>
          <p:nvPr/>
        </p:nvSpPr>
        <p:spPr>
          <a:xfrm>
            <a:off x="4460081" y="27622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182A56E-B4B1-4410-B49D-925D111BBF76}"/>
              </a:ext>
            </a:extLst>
          </p:cNvPr>
          <p:cNvSpPr>
            <a:spLocks noGrp="1"/>
          </p:cNvSpPr>
          <p:nvPr/>
        </p:nvSpPr>
        <p:spPr>
          <a:xfrm>
            <a:off x="4460081" y="2619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5837DCB1-248C-43B8-942B-70DD6D0CBB7E}"/>
              </a:ext>
            </a:extLst>
          </p:cNvPr>
          <p:cNvSpPr>
            <a:spLocks noGrp="1"/>
          </p:cNvSpPr>
          <p:nvPr/>
        </p:nvSpPr>
        <p:spPr>
          <a:xfrm>
            <a:off x="4579144" y="2619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2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2" y="0"/>
                </a:cubicBezTo>
                <a:cubicBezTo>
                  <a:pt x="10661" y="0"/>
                  <a:pt x="0" y="10661"/>
                  <a:pt x="0" y="23812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A94E7608-5A51-4B67-A11A-8B66DF449B36}"/>
              </a:ext>
            </a:extLst>
          </p:cNvPr>
          <p:cNvSpPr>
            <a:spLocks noGrp="1"/>
          </p:cNvSpPr>
          <p:nvPr/>
        </p:nvSpPr>
        <p:spPr>
          <a:xfrm>
            <a:off x="4483894" y="26670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E91634E9-9315-481F-85F8-B3EEA76C5C7F}"/>
              </a:ext>
            </a:extLst>
          </p:cNvPr>
          <p:cNvSpPr>
            <a:spLocks noGrp="1"/>
          </p:cNvSpPr>
          <p:nvPr/>
        </p:nvSpPr>
        <p:spPr>
          <a:xfrm>
            <a:off x="4507706" y="2702719"/>
            <a:ext cx="95250" cy="83344"/>
          </a:xfrm>
          <a:custGeom>
            <a:avLst/>
            <a:gdLst/>
            <a:ahLst/>
            <a:cxnLst/>
            <a:rect l="l" t="t" r="r" b="b"/>
            <a:pathLst>
              <a:path w="95250" h="83344">
                <a:moveTo>
                  <a:pt x="0" y="83344"/>
                </a:moveTo>
                <a:lnTo>
                  <a:pt x="71438" y="83344"/>
                </a:lnTo>
                <a:cubicBezTo>
                  <a:pt x="84589" y="83344"/>
                  <a:pt x="95250" y="72683"/>
                  <a:pt x="95250" y="59531"/>
                </a:cubicBezTo>
                <a:lnTo>
                  <a:pt x="952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540953B0-407B-4497-8EAA-F721B1ED1C2F}"/>
              </a:ext>
            </a:extLst>
          </p:cNvPr>
          <p:cNvSpPr>
            <a:spLocks noGrp="1"/>
          </p:cNvSpPr>
          <p:nvPr/>
        </p:nvSpPr>
        <p:spPr>
          <a:xfrm>
            <a:off x="4567238" y="2702719"/>
            <a:ext cx="71438" cy="35719"/>
          </a:xfrm>
          <a:custGeom>
            <a:avLst/>
            <a:gdLst/>
            <a:ahLst/>
            <a:cxnLst/>
            <a:rect l="l" t="t" r="r" b="b"/>
            <a:pathLst>
              <a:path w="71438" h="35719">
                <a:moveTo>
                  <a:pt x="0" y="35719"/>
                </a:moveTo>
                <a:lnTo>
                  <a:pt x="35719" y="0"/>
                </a:lnTo>
                <a:lnTo>
                  <a:pt x="71438" y="35719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E0669F03-66E1-45A6-B2F8-D613164864E1}"/>
              </a:ext>
            </a:extLst>
          </p:cNvPr>
          <p:cNvSpPr>
            <a:spLocks noGrp="1"/>
          </p:cNvSpPr>
          <p:nvPr/>
        </p:nvSpPr>
        <p:spPr>
          <a:xfrm>
            <a:off x="482803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 · 协作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EF7C2A0-11A8-47EA-864D-D8B2E812A11D}"/>
              </a:ext>
            </a:extLst>
          </p:cNvPr>
          <p:cNvSpPr>
            <a:spLocks noGrp="1"/>
          </p:cNvSpPr>
          <p:nvPr/>
        </p:nvSpPr>
        <p:spPr>
          <a:xfrm>
            <a:off x="4391406" y="30441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复杂任务按需组织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4E0C4C76-1F4D-478A-B90E-FC175EAEE798}"/>
              </a:ext>
            </a:extLst>
          </p:cNvPr>
          <p:cNvSpPr>
            <a:spLocks noGrp="1"/>
          </p:cNvSpPr>
          <p:nvPr/>
        </p:nvSpPr>
        <p:spPr>
          <a:xfrm>
            <a:off x="4394073" y="4129564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看清依赖关系和待确认事项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A1C1882F-5AC1-4943-9E90-8390995EA939}"/>
              </a:ext>
            </a:extLst>
          </p:cNvPr>
          <p:cNvSpPr>
            <a:spLocks noGrp="1"/>
          </p:cNvSpPr>
          <p:nvPr/>
        </p:nvSpPr>
        <p:spPr>
          <a:xfrm>
            <a:off x="7848600" y="2286000"/>
            <a:ext cx="384810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C1980E7F-3C25-4BCA-86F1-4305F16A7CFF}"/>
              </a:ext>
            </a:extLst>
          </p:cNvPr>
          <p:cNvSpPr>
            <a:spLocks noGrp="1"/>
          </p:cNvSpPr>
          <p:nvPr/>
        </p:nvSpPr>
        <p:spPr>
          <a:xfrm>
            <a:off x="7848600" y="2286000"/>
            <a:ext cx="38481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C6D79606-9016-4B66-BE38-569A27A3BD29}"/>
              </a:ext>
            </a:extLst>
          </p:cNvPr>
          <p:cNvSpPr>
            <a:spLocks noGrp="1"/>
          </p:cNvSpPr>
          <p:nvPr/>
        </p:nvSpPr>
        <p:spPr>
          <a:xfrm>
            <a:off x="8096851" y="2607469"/>
            <a:ext cx="232508" cy="212479"/>
          </a:xfrm>
          <a:custGeom>
            <a:avLst/>
            <a:gdLst/>
            <a:ahLst/>
            <a:cxnLst/>
            <a:rect l="l" t="t" r="r" b="b"/>
            <a:pathLst>
              <a:path w="232508" h="212479">
                <a:moveTo>
                  <a:pt x="116795" y="212479"/>
                </a:moveTo>
                <a:cubicBezTo>
                  <a:pt x="42208" y="189358"/>
                  <a:pt x="0" y="110638"/>
                  <a:pt x="22021" y="35719"/>
                </a:cubicBezTo>
                <a:cubicBezTo>
                  <a:pt x="59115" y="37416"/>
                  <a:pt x="95413" y="24605"/>
                  <a:pt x="123224" y="0"/>
                </a:cubicBezTo>
                <a:cubicBezTo>
                  <a:pt x="151035" y="24605"/>
                  <a:pt x="187333" y="37416"/>
                  <a:pt x="224427" y="35719"/>
                </a:cubicBezTo>
                <a:cubicBezTo>
                  <a:pt x="232508" y="63212"/>
                  <a:pt x="232135" y="92499"/>
                  <a:pt x="223356" y="11977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48A8B298-031F-4FBA-BB53-A61FAAB32A77}"/>
              </a:ext>
            </a:extLst>
          </p:cNvPr>
          <p:cNvSpPr>
            <a:spLocks noGrp="1"/>
          </p:cNvSpPr>
          <p:nvPr/>
        </p:nvSpPr>
        <p:spPr>
          <a:xfrm>
            <a:off x="8255794" y="2774156"/>
            <a:ext cx="71438" cy="47625"/>
          </a:xfrm>
          <a:custGeom>
            <a:avLst/>
            <a:gdLst/>
            <a:ahLst/>
            <a:cxnLst/>
            <a:rect l="l" t="t" r="r" b="b"/>
            <a:pathLst>
              <a:path w="71438" h="47625">
                <a:moveTo>
                  <a:pt x="0" y="23812"/>
                </a:moveTo>
                <a:lnTo>
                  <a:pt x="23812" y="47625"/>
                </a:lnTo>
                <a:lnTo>
                  <a:pt x="71438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613D30C4-C2BF-4CE1-B0F7-1A2FAC66FDCA}"/>
              </a:ext>
            </a:extLst>
          </p:cNvPr>
          <p:cNvSpPr>
            <a:spLocks noGrp="1"/>
          </p:cNvSpPr>
          <p:nvPr/>
        </p:nvSpPr>
        <p:spPr>
          <a:xfrm>
            <a:off x="8504682" y="2573655"/>
            <a:ext cx="194797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 · 治理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8243C96-280A-46B2-92B2-D2B5CBBA184A}"/>
              </a:ext>
            </a:extLst>
          </p:cNvPr>
          <p:cNvSpPr>
            <a:spLocks noGrp="1"/>
          </p:cNvSpPr>
          <p:nvPr/>
        </p:nvSpPr>
        <p:spPr>
          <a:xfrm>
            <a:off x="8068056" y="3044190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真实动作前展示后果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038D71ED-4955-43EF-B810-9366A193B79F}"/>
              </a:ext>
            </a:extLst>
          </p:cNvPr>
          <p:cNvSpPr>
            <a:spLocks noGrp="1"/>
          </p:cNvSpPr>
          <p:nvPr/>
        </p:nvSpPr>
        <p:spPr>
          <a:xfrm>
            <a:off x="8070723" y="4129564"/>
            <a:ext cx="27162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看清会改变什么、什么不会发生</a:t>
            </a:r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B7964AD5-5CEC-4B00-B50E-F38BBDAE1892}"/>
              </a:ext>
            </a:extLst>
          </p:cNvPr>
          <p:cNvSpPr>
            <a:spLocks noGrp="1"/>
          </p:cNvSpPr>
          <p:nvPr/>
        </p:nvSpPr>
        <p:spPr>
          <a:xfrm>
            <a:off x="1123950" y="5181600"/>
            <a:ext cx="9944100" cy="9525"/>
          </a:xfrm>
          <a:custGeom>
            <a:avLst/>
            <a:gdLst/>
            <a:ahLst/>
            <a:cxnLst/>
            <a:rect l="l" t="t" r="r" b="b"/>
            <a:pathLst>
              <a:path w="9944100" h="9525">
                <a:moveTo>
                  <a:pt x="0" y="0"/>
                </a:moveTo>
                <a:lnTo>
                  <a:pt x="9944100" y="0"/>
                </a:lnTo>
              </a:path>
            </a:pathLst>
          </a:custGeom>
          <a:noFill/>
          <a:ln w="38100">
            <a:solidFill>
              <a:srgbClr val="1769E0"/>
            </a:solidFill>
          </a:ln>
        </p:spPr>
      </p:sp>
      <p:sp>
        <p:nvSpPr>
          <p:cNvPr id="48" name="Ellipse 48">
            <a:extLst>
              <a:ext uri="{FF2B5EF4-FFF2-40B4-BE49-F238E27FC236}">
                <a16:creationId xmlns:a16="http://schemas.microsoft.com/office/drawing/2014/main" id="{1C18CC42-D4AA-4E2B-8E1D-17B6A62E138D}"/>
              </a:ext>
            </a:extLst>
          </p:cNvPr>
          <p:cNvSpPr>
            <a:spLocks noGrp="1"/>
          </p:cNvSpPr>
          <p:nvPr/>
        </p:nvSpPr>
        <p:spPr>
          <a:xfrm>
            <a:off x="971550" y="5029200"/>
            <a:ext cx="304800" cy="3048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70966C71-D604-4A8F-B761-91F0DF11CAD0}"/>
              </a:ext>
            </a:extLst>
          </p:cNvPr>
          <p:cNvSpPr>
            <a:spLocks noGrp="1"/>
          </p:cNvSpPr>
          <p:nvPr/>
        </p:nvSpPr>
        <p:spPr>
          <a:xfrm>
            <a:off x="1456182" y="4878705"/>
            <a:ext cx="694088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 dirty="0" err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核心升级：智能体进展必须落到可核对的工作事实</a:t>
            </a:r>
            <a:endParaRPr sz="2100" b="1" dirty="0">
              <a:solidFill>
                <a:srgbClr val="132A3A"/>
              </a:solidFill>
              <a:latin typeface="Segoe UI Semibold"/>
              <a:ea typeface="Segoe UI Semibold"/>
              <a:cs typeface="Segoe UI Semi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6ABD4ECB-7B54-4502-A799-F953B2794AEA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 dirty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 dirty="0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microsoft.com/research/.../human-ai-interaction</a:t>
            </a:r>
            <a:r>
              <a:rPr sz="1163" dirty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 dirty="0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arxiv.org/abs/2210.03629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5291F2CA-A66F-4AAC-921E-33E3A1114319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02 / 24</a:t>
            </a:r>
          </a:p>
        </p:txBody>
      </p:sp>
    </p:spTree>
    <p:extLst>
      <p:ext uri="{BB962C8B-B14F-4D97-AF65-F5344CB8AC3E}">
        <p14:creationId xmlns:p14="http://schemas.microsoft.com/office/powerpoint/2010/main" val="104279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7330176-6432-4296-B6BD-A4B266AAC0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2602AC-7B8A-4293-90B2-711647D8F3FD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588843-1278-446C-889B-1CA49E775E83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686230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一个底座、两层增强、三类控制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6DCEC65-9958-4B2C-B236-24590036A78A}"/>
              </a:ext>
            </a:extLst>
          </p:cNvPr>
          <p:cNvSpPr>
            <a:spLocks noGrp="1"/>
          </p:cNvSpPr>
          <p:nvPr/>
        </p:nvSpPr>
        <p:spPr>
          <a:xfrm>
            <a:off x="486156" y="1596390"/>
            <a:ext cx="335134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三类控制：决定“能不能继续”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1C4D3A0-51CB-44FC-928F-69EC1D6B0BE4}"/>
              </a:ext>
            </a:extLst>
          </p:cNvPr>
          <p:cNvSpPr>
            <a:spLocks noGrp="1"/>
          </p:cNvSpPr>
          <p:nvPr/>
        </p:nvSpPr>
        <p:spPr>
          <a:xfrm>
            <a:off x="495300" y="20002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3AA0D2C-D04A-4DD2-B02C-13266AF83904}"/>
              </a:ext>
            </a:extLst>
          </p:cNvPr>
          <p:cNvSpPr>
            <a:spLocks noGrp="1"/>
          </p:cNvSpPr>
          <p:nvPr/>
        </p:nvSpPr>
        <p:spPr>
          <a:xfrm>
            <a:off x="780256" y="2304256"/>
            <a:ext cx="20637" cy="20637"/>
          </a:xfrm>
          <a:custGeom>
            <a:avLst/>
            <a:gdLst/>
            <a:ahLst/>
            <a:cxnLst/>
            <a:rect l="l" t="t" r="r" b="b"/>
            <a:pathLst>
              <a:path w="20637" h="20637">
                <a:moveTo>
                  <a:pt x="0" y="10319"/>
                </a:moveTo>
                <a:cubicBezTo>
                  <a:pt x="0" y="16018"/>
                  <a:pt x="4620" y="20637"/>
                  <a:pt x="10319" y="20637"/>
                </a:cubicBezTo>
                <a:cubicBezTo>
                  <a:pt x="16018" y="20637"/>
                  <a:pt x="20637" y="16018"/>
                  <a:pt x="20637" y="10319"/>
                </a:cubicBezTo>
                <a:cubicBezTo>
                  <a:pt x="20637" y="4620"/>
                  <a:pt x="16018" y="0"/>
                  <a:pt x="10319" y="0"/>
                </a:cubicBezTo>
                <a:cubicBezTo>
                  <a:pt x="4620" y="0"/>
                  <a:pt x="0" y="4620"/>
                  <a:pt x="0" y="10319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1BAA3F0-BD6B-4471-B733-6A9B9D51D01B}"/>
              </a:ext>
            </a:extLst>
          </p:cNvPr>
          <p:cNvSpPr>
            <a:spLocks noGrp="1"/>
          </p:cNvSpPr>
          <p:nvPr/>
        </p:nvSpPr>
        <p:spPr>
          <a:xfrm>
            <a:off x="738981" y="2262981"/>
            <a:ext cx="103187" cy="103187"/>
          </a:xfrm>
          <a:custGeom>
            <a:avLst/>
            <a:gdLst/>
            <a:ahLst/>
            <a:cxnLst/>
            <a:rect l="l" t="t" r="r" b="b"/>
            <a:pathLst>
              <a:path w="103187" h="103187">
                <a:moveTo>
                  <a:pt x="51594" y="0"/>
                </a:moveTo>
                <a:cubicBezTo>
                  <a:pt x="23099" y="0"/>
                  <a:pt x="0" y="23099"/>
                  <a:pt x="0" y="51594"/>
                </a:cubicBezTo>
                <a:cubicBezTo>
                  <a:pt x="0" y="80088"/>
                  <a:pt x="23099" y="103187"/>
                  <a:pt x="51594" y="103187"/>
                </a:cubicBezTo>
                <a:cubicBezTo>
                  <a:pt x="80088" y="103187"/>
                  <a:pt x="103187" y="80088"/>
                  <a:pt x="103187" y="51594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DBA61AF-1163-4802-B18A-E7C137895D89}"/>
              </a:ext>
            </a:extLst>
          </p:cNvPr>
          <p:cNvSpPr>
            <a:spLocks noGrp="1"/>
          </p:cNvSpPr>
          <p:nvPr/>
        </p:nvSpPr>
        <p:spPr>
          <a:xfrm>
            <a:off x="689749" y="2217875"/>
            <a:ext cx="197464" cy="197481"/>
          </a:xfrm>
          <a:custGeom>
            <a:avLst/>
            <a:gdLst/>
            <a:ahLst/>
            <a:cxnLst/>
            <a:rect l="l" t="t" r="r" b="b"/>
            <a:pathLst>
              <a:path w="197464" h="197481">
                <a:moveTo>
                  <a:pt x="111144" y="4399"/>
                </a:moveTo>
                <a:cubicBezTo>
                  <a:pt x="71936" y="0"/>
                  <a:pt x="34229" y="20855"/>
                  <a:pt x="17114" y="56404"/>
                </a:cubicBezTo>
                <a:cubicBezTo>
                  <a:pt x="0" y="91952"/>
                  <a:pt x="7215" y="134434"/>
                  <a:pt x="35106" y="162340"/>
                </a:cubicBezTo>
                <a:cubicBezTo>
                  <a:pt x="62997" y="190245"/>
                  <a:pt x="105476" y="197481"/>
                  <a:pt x="141033" y="180385"/>
                </a:cubicBezTo>
                <a:cubicBezTo>
                  <a:pt x="176590" y="163288"/>
                  <a:pt x="197464" y="125591"/>
                  <a:pt x="193085" y="86381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0481D914-3569-4F71-A369-E539088045B7}"/>
              </a:ext>
            </a:extLst>
          </p:cNvPr>
          <p:cNvSpPr>
            <a:spLocks noGrp="1"/>
          </p:cNvSpPr>
          <p:nvPr/>
        </p:nvSpPr>
        <p:spPr>
          <a:xfrm>
            <a:off x="821531" y="2221706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0" y="30956"/>
                </a:moveTo>
                <a:lnTo>
                  <a:pt x="0" y="61912"/>
                </a:lnTo>
                <a:lnTo>
                  <a:pt x="30956" y="61912"/>
                </a:lnTo>
                <a:lnTo>
                  <a:pt x="61912" y="30956"/>
                </a:lnTo>
                <a:lnTo>
                  <a:pt x="30956" y="30956"/>
                </a:lnTo>
                <a:lnTo>
                  <a:pt x="30956" y="0"/>
                </a:lnTo>
                <a:lnTo>
                  <a:pt x="0" y="3095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9A0F07F-318F-44B8-B0FD-81AF2A84A4AE}"/>
              </a:ext>
            </a:extLst>
          </p:cNvPr>
          <p:cNvSpPr>
            <a:spLocks noGrp="1"/>
          </p:cNvSpPr>
          <p:nvPr/>
        </p:nvSpPr>
        <p:spPr>
          <a:xfrm>
            <a:off x="790575" y="2283618"/>
            <a:ext cx="30956" cy="30956"/>
          </a:xfrm>
          <a:custGeom>
            <a:avLst/>
            <a:gdLst/>
            <a:ahLst/>
            <a:cxnLst/>
            <a:rect l="l" t="t" r="r" b="b"/>
            <a:pathLst>
              <a:path w="30956" h="30956">
                <a:moveTo>
                  <a:pt x="30956" y="0"/>
                </a:moveTo>
                <a:lnTo>
                  <a:pt x="0" y="3095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A97F416-D1BF-4BE8-9F7D-BD0B1BBDD726}"/>
              </a:ext>
            </a:extLst>
          </p:cNvPr>
          <p:cNvSpPr>
            <a:spLocks noGrp="1"/>
          </p:cNvSpPr>
          <p:nvPr/>
        </p:nvSpPr>
        <p:spPr>
          <a:xfrm>
            <a:off x="1019556" y="2186940"/>
            <a:ext cx="15862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任务控制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5880296-B3A8-49F7-BD95-69740D8A75EF}"/>
              </a:ext>
            </a:extLst>
          </p:cNvPr>
          <p:cNvSpPr>
            <a:spLocks noGrp="1"/>
          </p:cNvSpPr>
          <p:nvPr/>
        </p:nvSpPr>
        <p:spPr>
          <a:xfrm>
            <a:off x="660273" y="2529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目标、范围、预算、暂停、停止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12C9FE3A-D97F-4DFE-958A-34E2BE601C90}"/>
              </a:ext>
            </a:extLst>
          </p:cNvPr>
          <p:cNvSpPr>
            <a:spLocks noGrp="1"/>
          </p:cNvSpPr>
          <p:nvPr/>
        </p:nvSpPr>
        <p:spPr>
          <a:xfrm>
            <a:off x="495300" y="32194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C6BFD831-FA0F-4640-A15E-E2EE0D0CE13D}"/>
              </a:ext>
            </a:extLst>
          </p:cNvPr>
          <p:cNvSpPr>
            <a:spLocks noGrp="1"/>
          </p:cNvSpPr>
          <p:nvPr/>
        </p:nvSpPr>
        <p:spPr>
          <a:xfrm>
            <a:off x="759618" y="3502818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0" y="61912"/>
                </a:move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81E8C63-17AA-47C0-9688-85B9405C70B4}"/>
              </a:ext>
            </a:extLst>
          </p:cNvPr>
          <p:cNvSpPr>
            <a:spLocks noGrp="1"/>
          </p:cNvSpPr>
          <p:nvPr/>
        </p:nvSpPr>
        <p:spPr>
          <a:xfrm>
            <a:off x="780256" y="3446183"/>
            <a:ext cx="97895" cy="97910"/>
          </a:xfrm>
          <a:custGeom>
            <a:avLst/>
            <a:gdLst/>
            <a:ahLst/>
            <a:cxnLst/>
            <a:rect l="l" t="t" r="r" b="b"/>
            <a:pathLst>
              <a:path w="97895" h="97910">
                <a:moveTo>
                  <a:pt x="0" y="25679"/>
                </a:moveTo>
                <a:lnTo>
                  <a:pt x="4778" y="20148"/>
                </a:lnTo>
                <a:cubicBezTo>
                  <a:pt x="24929" y="0"/>
                  <a:pt x="57598" y="2"/>
                  <a:pt x="77746" y="20154"/>
                </a:cubicBezTo>
                <a:cubicBezTo>
                  <a:pt x="97895" y="40305"/>
                  <a:pt x="97892" y="72974"/>
                  <a:pt x="77741" y="93122"/>
                </a:cubicBezTo>
                <a:lnTo>
                  <a:pt x="72231" y="9791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CE4C404-4D37-4B8A-8DB6-0E5266CBB6BD}"/>
              </a:ext>
            </a:extLst>
          </p:cNvPr>
          <p:cNvSpPr>
            <a:spLocks noGrp="1"/>
          </p:cNvSpPr>
          <p:nvPr/>
        </p:nvSpPr>
        <p:spPr>
          <a:xfrm>
            <a:off x="708023" y="3523456"/>
            <a:ext cx="92870" cy="97889"/>
          </a:xfrm>
          <a:custGeom>
            <a:avLst/>
            <a:gdLst/>
            <a:ahLst/>
            <a:cxnLst/>
            <a:rect l="l" t="t" r="r" b="b"/>
            <a:pathLst>
              <a:path w="92870" h="97889">
                <a:moveTo>
                  <a:pt x="92870" y="72231"/>
                </a:moveTo>
                <a:lnTo>
                  <a:pt x="88773" y="77741"/>
                </a:lnTo>
                <a:cubicBezTo>
                  <a:pt x="68399" y="97889"/>
                  <a:pt x="35606" y="97889"/>
                  <a:pt x="15232" y="77741"/>
                </a:cubicBezTo>
                <a:cubicBezTo>
                  <a:pt x="5485" y="68104"/>
                  <a:pt x="0" y="54966"/>
                  <a:pt x="0" y="41259"/>
                </a:cubicBezTo>
                <a:cubicBezTo>
                  <a:pt x="0" y="27552"/>
                  <a:pt x="5485" y="14415"/>
                  <a:pt x="15232" y="4778"/>
                </a:cubicBezTo>
                <a:lnTo>
                  <a:pt x="20639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4158181-748D-4A30-8C30-6B33EF6232A7}"/>
              </a:ext>
            </a:extLst>
          </p:cNvPr>
          <p:cNvSpPr>
            <a:spLocks noGrp="1"/>
          </p:cNvSpPr>
          <p:nvPr/>
        </p:nvSpPr>
        <p:spPr>
          <a:xfrm>
            <a:off x="1019556" y="3406140"/>
            <a:ext cx="20819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证据控制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05E5D6E-B00F-4AA4-BB6B-DBC61402D2EF}"/>
              </a:ext>
            </a:extLst>
          </p:cNvPr>
          <p:cNvSpPr>
            <a:spLocks noGrp="1"/>
          </p:cNvSpPr>
          <p:nvPr/>
        </p:nvSpPr>
        <p:spPr>
          <a:xfrm>
            <a:off x="660273" y="37485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来源、冲突、验证、采用与拒绝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ACA89BB4-72CB-4C73-B3A3-CBD5796902CC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2590800" cy="1066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A4A5CE2B-80D3-48FA-880D-C1F838132469}"/>
              </a:ext>
            </a:extLst>
          </p:cNvPr>
          <p:cNvSpPr>
            <a:spLocks noGrp="1"/>
          </p:cNvSpPr>
          <p:nvPr/>
        </p:nvSpPr>
        <p:spPr>
          <a:xfrm>
            <a:off x="683781" y="4660106"/>
            <a:ext cx="201506" cy="184148"/>
          </a:xfrm>
          <a:custGeom>
            <a:avLst/>
            <a:gdLst/>
            <a:ahLst/>
            <a:cxnLst/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6E23B2E6-8317-4C99-9BF8-B5C511A14C44}"/>
              </a:ext>
            </a:extLst>
          </p:cNvPr>
          <p:cNvSpPr>
            <a:spLocks noGrp="1"/>
          </p:cNvSpPr>
          <p:nvPr/>
        </p:nvSpPr>
        <p:spPr>
          <a:xfrm>
            <a:off x="821531" y="4804568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740F38D2-BDF3-47B5-A8F0-3890A3DECC79}"/>
              </a:ext>
            </a:extLst>
          </p:cNvPr>
          <p:cNvSpPr>
            <a:spLocks noGrp="1"/>
          </p:cNvSpPr>
          <p:nvPr/>
        </p:nvSpPr>
        <p:spPr>
          <a:xfrm>
            <a:off x="1019556" y="4625340"/>
            <a:ext cx="18019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动作控制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69A483B2-0200-4C9A-B8B5-578CF945E300}"/>
              </a:ext>
            </a:extLst>
          </p:cNvPr>
          <p:cNvSpPr>
            <a:spLocks noGrp="1"/>
          </p:cNvSpPr>
          <p:nvPr/>
        </p:nvSpPr>
        <p:spPr>
          <a:xfrm>
            <a:off x="660273" y="4967764"/>
            <a:ext cx="24819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dirty="0" err="1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风险、审批、执行许可、动作回执</a:t>
            </a:r>
            <a:endParaRPr sz="1280" dirty="0">
              <a:solidFill>
                <a:srgbClr val="5A6B7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E324429-8DF7-4523-BE59-579C54CED583}"/>
              </a:ext>
            </a:extLst>
          </p:cNvPr>
          <p:cNvSpPr>
            <a:spLocks noGrp="1"/>
          </p:cNvSpPr>
          <p:nvPr/>
        </p:nvSpPr>
        <p:spPr>
          <a:xfrm>
            <a:off x="3381756" y="1596390"/>
            <a:ext cx="40891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两层增强：任务越复杂，运行时越强</a:t>
            </a:r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CF20C72E-1DAA-4AC7-9840-B638CCD5C974}"/>
              </a:ext>
            </a:extLst>
          </p:cNvPr>
          <p:cNvSpPr>
            <a:spLocks noGrp="1"/>
          </p:cNvSpPr>
          <p:nvPr/>
        </p:nvSpPr>
        <p:spPr>
          <a:xfrm>
            <a:off x="3390900" y="2000250"/>
            <a:ext cx="5124450" cy="100965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A1AFD19C-9322-4004-97A9-1F9951EADA11}"/>
              </a:ext>
            </a:extLst>
          </p:cNvPr>
          <p:cNvSpPr>
            <a:spLocks noGrp="1"/>
          </p:cNvSpPr>
          <p:nvPr/>
        </p:nvSpPr>
        <p:spPr>
          <a:xfrm>
            <a:off x="3636963" y="2387601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3618E1E-C8AA-4C16-9D81-F76D12D873E4}"/>
              </a:ext>
            </a:extLst>
          </p:cNvPr>
          <p:cNvSpPr>
            <a:spLocks noGrp="1"/>
          </p:cNvSpPr>
          <p:nvPr/>
        </p:nvSpPr>
        <p:spPr>
          <a:xfrm>
            <a:off x="3636963" y="225425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73D3483E-2A6A-4274-989D-55F39B2A6A42}"/>
              </a:ext>
            </a:extLst>
          </p:cNvPr>
          <p:cNvSpPr>
            <a:spLocks noGrp="1"/>
          </p:cNvSpPr>
          <p:nvPr/>
        </p:nvSpPr>
        <p:spPr>
          <a:xfrm>
            <a:off x="3748088" y="2254250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0" y="22225"/>
                </a:moveTo>
                <a:cubicBezTo>
                  <a:pt x="0" y="34500"/>
                  <a:pt x="9950" y="44450"/>
                  <a:pt x="22225" y="44450"/>
                </a:cubicBezTo>
                <a:cubicBezTo>
                  <a:pt x="34500" y="44450"/>
                  <a:pt x="44450" y="34500"/>
                  <a:pt x="44450" y="22225"/>
                </a:cubicBezTo>
                <a:cubicBezTo>
                  <a:pt x="44450" y="9950"/>
                  <a:pt x="34500" y="0"/>
                  <a:pt x="22225" y="0"/>
                </a:cubicBezTo>
                <a:cubicBezTo>
                  <a:pt x="9950" y="0"/>
                  <a:pt x="0" y="9950"/>
                  <a:pt x="0" y="22225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7912FE70-AC4F-46B7-A1B9-67A1711DD2E1}"/>
              </a:ext>
            </a:extLst>
          </p:cNvPr>
          <p:cNvSpPr>
            <a:spLocks noGrp="1"/>
          </p:cNvSpPr>
          <p:nvPr/>
        </p:nvSpPr>
        <p:spPr>
          <a:xfrm>
            <a:off x="3659188" y="2298700"/>
            <a:ext cx="9525" cy="88900"/>
          </a:xfrm>
          <a:custGeom>
            <a:avLst/>
            <a:gdLst/>
            <a:ahLst/>
            <a:cxnLst/>
            <a:rect l="l" t="t" r="r" b="b"/>
            <a:pathLst>
              <a:path w="9525" h="88900">
                <a:moveTo>
                  <a:pt x="0" y="0"/>
                </a:moveTo>
                <a:lnTo>
                  <a:pt x="0" y="8890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FE148198-CB67-4B0C-BEA6-05A33D78B8A6}"/>
              </a:ext>
            </a:extLst>
          </p:cNvPr>
          <p:cNvSpPr>
            <a:spLocks noGrp="1"/>
          </p:cNvSpPr>
          <p:nvPr/>
        </p:nvSpPr>
        <p:spPr>
          <a:xfrm>
            <a:off x="3681413" y="2332038"/>
            <a:ext cx="88900" cy="77788"/>
          </a:xfrm>
          <a:custGeom>
            <a:avLst/>
            <a:gdLst/>
            <a:ahLst/>
            <a:cxnLst/>
            <a:rect l="l" t="t" r="r" b="b"/>
            <a:pathLst>
              <a:path w="88900" h="77788">
                <a:moveTo>
                  <a:pt x="0" y="77788"/>
                </a:moveTo>
                <a:lnTo>
                  <a:pt x="66675" y="77788"/>
                </a:lnTo>
                <a:cubicBezTo>
                  <a:pt x="78950" y="77788"/>
                  <a:pt x="88900" y="67837"/>
                  <a:pt x="88900" y="55563"/>
                </a:cubicBezTo>
                <a:lnTo>
                  <a:pt x="8890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5FFF0CF5-16F8-4F92-AE36-A1C835C109CD}"/>
              </a:ext>
            </a:extLst>
          </p:cNvPr>
          <p:cNvSpPr>
            <a:spLocks noGrp="1"/>
          </p:cNvSpPr>
          <p:nvPr/>
        </p:nvSpPr>
        <p:spPr>
          <a:xfrm>
            <a:off x="3736975" y="2332038"/>
            <a:ext cx="66675" cy="33338"/>
          </a:xfrm>
          <a:custGeom>
            <a:avLst/>
            <a:gdLst/>
            <a:ahLst/>
            <a:cxnLst/>
            <a:rect l="l" t="t" r="r" b="b"/>
            <a:pathLst>
              <a:path w="66675" h="33338">
                <a:moveTo>
                  <a:pt x="0" y="33338"/>
                </a:moveTo>
                <a:lnTo>
                  <a:pt x="33338" y="0"/>
                </a:lnTo>
                <a:lnTo>
                  <a:pt x="66675" y="33338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001C356A-93D6-4D05-BFAC-B5274E684E4F}"/>
              </a:ext>
            </a:extLst>
          </p:cNvPr>
          <p:cNvSpPr>
            <a:spLocks noGrp="1"/>
          </p:cNvSpPr>
          <p:nvPr/>
        </p:nvSpPr>
        <p:spPr>
          <a:xfrm>
            <a:off x="3973449" y="2192179"/>
            <a:ext cx="3640515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2：受治理的自适应协作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2F2741B5-A2EB-4141-BFB4-3315650EF180}"/>
              </a:ext>
            </a:extLst>
          </p:cNvPr>
          <p:cNvSpPr>
            <a:spLocks noGrp="1"/>
          </p:cNvSpPr>
          <p:nvPr/>
        </p:nvSpPr>
        <p:spPr>
          <a:xfrm>
            <a:off x="3576447" y="2742724"/>
            <a:ext cx="40506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980" dirty="0" err="1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下一步：持久队列、远程执行与多实例调度</a:t>
            </a:r>
            <a:endParaRPr sz="980" dirty="0">
              <a:solidFill>
                <a:srgbClr val="B5470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6CBACDD7-4756-406E-883D-090D1053E613}"/>
              </a:ext>
            </a:extLst>
          </p:cNvPr>
          <p:cNvSpPr>
            <a:spLocks noGrp="1"/>
          </p:cNvSpPr>
          <p:nvPr/>
        </p:nvSpPr>
        <p:spPr>
          <a:xfrm>
            <a:off x="5953125" y="30099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52" name="Rectangle 52">
            <a:extLst>
              <a:ext uri="{FF2B5EF4-FFF2-40B4-BE49-F238E27FC236}">
                <a16:creationId xmlns:a16="http://schemas.microsoft.com/office/drawing/2014/main" id="{4165D7C2-E437-490F-A65A-4917E8AF0727}"/>
              </a:ext>
            </a:extLst>
          </p:cNvPr>
          <p:cNvSpPr>
            <a:spLocks noGrp="1"/>
          </p:cNvSpPr>
          <p:nvPr/>
        </p:nvSpPr>
        <p:spPr>
          <a:xfrm>
            <a:off x="3390900" y="3219450"/>
            <a:ext cx="5124450" cy="1009650"/>
          </a:xfrm>
          <a:prstGeom prst="roundRect">
            <a:avLst>
              <a:gd name="adj" fmla="val 5660"/>
            </a:avLst>
          </a:pr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A79B8FDF-CB97-40A5-93D3-8E51992E6479}"/>
              </a:ext>
            </a:extLst>
          </p:cNvPr>
          <p:cNvSpPr>
            <a:spLocks noGrp="1"/>
          </p:cNvSpPr>
          <p:nvPr/>
        </p:nvSpPr>
        <p:spPr>
          <a:xfrm>
            <a:off x="3625850" y="3469163"/>
            <a:ext cx="177801" cy="82075"/>
          </a:xfrm>
          <a:custGeom>
            <a:avLst/>
            <a:gdLst/>
            <a:ahLst/>
            <a:cxnLst/>
            <a:rect l="l" t="t" r="r" b="b"/>
            <a:pathLst>
              <a:path w="177801" h="82075">
                <a:moveTo>
                  <a:pt x="177801" y="82075"/>
                </a:moveTo>
                <a:cubicBezTo>
                  <a:pt x="172214" y="41876"/>
                  <a:pt x="140416" y="10388"/>
                  <a:pt x="100165" y="5194"/>
                </a:cubicBezTo>
                <a:cubicBezTo>
                  <a:pt x="59913" y="0"/>
                  <a:pt x="21164" y="22386"/>
                  <a:pt x="5556" y="59850"/>
                </a:cubicBezTo>
                <a:moveTo>
                  <a:pt x="0" y="15400"/>
                </a:moveTo>
                <a:lnTo>
                  <a:pt x="0" y="59850"/>
                </a:lnTo>
                <a:lnTo>
                  <a:pt x="44450" y="5985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7633F003-4D1A-4C84-A87C-8FE122199A4C}"/>
              </a:ext>
            </a:extLst>
          </p:cNvPr>
          <p:cNvSpPr>
            <a:spLocks noGrp="1"/>
          </p:cNvSpPr>
          <p:nvPr/>
        </p:nvSpPr>
        <p:spPr>
          <a:xfrm>
            <a:off x="3625850" y="3573463"/>
            <a:ext cx="177801" cy="82075"/>
          </a:xfrm>
          <a:custGeom>
            <a:avLst/>
            <a:gdLst/>
            <a:ahLst/>
            <a:cxnLst/>
            <a:rect l="l" t="t" r="r" b="b"/>
            <a:pathLst>
              <a:path w="177801" h="82075">
                <a:moveTo>
                  <a:pt x="0" y="0"/>
                </a:moveTo>
                <a:cubicBezTo>
                  <a:pt x="5587" y="40199"/>
                  <a:pt x="37384" y="71688"/>
                  <a:pt x="77636" y="76881"/>
                </a:cubicBezTo>
                <a:cubicBezTo>
                  <a:pt x="117888" y="82075"/>
                  <a:pt x="156637" y="59689"/>
                  <a:pt x="172244" y="22225"/>
                </a:cubicBezTo>
                <a:moveTo>
                  <a:pt x="177801" y="66675"/>
                </a:moveTo>
                <a:lnTo>
                  <a:pt x="177801" y="22225"/>
                </a:lnTo>
                <a:lnTo>
                  <a:pt x="133350" y="22225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2C450CC4-7A8D-4F2A-AB98-A232A442AFE9}"/>
              </a:ext>
            </a:extLst>
          </p:cNvPr>
          <p:cNvSpPr>
            <a:spLocks noGrp="1"/>
          </p:cNvSpPr>
          <p:nvPr/>
        </p:nvSpPr>
        <p:spPr>
          <a:xfrm>
            <a:off x="3972306" y="3425190"/>
            <a:ext cx="33610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增强 1：智能体控制循环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29319758-343E-46F4-9F72-B8101479BF1C}"/>
              </a:ext>
            </a:extLst>
          </p:cNvPr>
          <p:cNvSpPr>
            <a:spLocks noGrp="1"/>
          </p:cNvSpPr>
          <p:nvPr/>
        </p:nvSpPr>
        <p:spPr>
          <a:xfrm>
            <a:off x="3574923" y="3767614"/>
            <a:ext cx="51432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dirty="0" err="1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长任务按轮推进，受影响分支单独补证，历史成果可恢复</a:t>
            </a:r>
            <a:endParaRPr sz="1280" dirty="0">
              <a:solidFill>
                <a:srgbClr val="5A6B7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0" name="Freeform 60">
            <a:extLst>
              <a:ext uri="{FF2B5EF4-FFF2-40B4-BE49-F238E27FC236}">
                <a16:creationId xmlns:a16="http://schemas.microsoft.com/office/drawing/2014/main" id="{7BA50BED-1351-478F-93FD-3E24ABEDB264}"/>
              </a:ext>
            </a:extLst>
          </p:cNvPr>
          <p:cNvSpPr>
            <a:spLocks noGrp="1"/>
          </p:cNvSpPr>
          <p:nvPr/>
        </p:nvSpPr>
        <p:spPr>
          <a:xfrm>
            <a:off x="5953125" y="422910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130652D5-27BF-49B8-8B21-30B90C37B82B}"/>
              </a:ext>
            </a:extLst>
          </p:cNvPr>
          <p:cNvSpPr>
            <a:spLocks noGrp="1"/>
          </p:cNvSpPr>
          <p:nvPr/>
        </p:nvSpPr>
        <p:spPr>
          <a:xfrm>
            <a:off x="3390900" y="4438650"/>
            <a:ext cx="5124450" cy="1066800"/>
          </a:xfrm>
          <a:prstGeom prst="roundRect">
            <a:avLst>
              <a:gd name="adj" fmla="val 5357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990FD43E-3A16-48FC-B3BE-0104484BB287}"/>
              </a:ext>
            </a:extLst>
          </p:cNvPr>
          <p:cNvSpPr>
            <a:spLocks noGrp="1"/>
          </p:cNvSpPr>
          <p:nvPr/>
        </p:nvSpPr>
        <p:spPr>
          <a:xfrm>
            <a:off x="3617119" y="4695825"/>
            <a:ext cx="214312" cy="95250"/>
          </a:xfrm>
          <a:custGeom>
            <a:avLst/>
            <a:gdLst/>
            <a:ahLst/>
            <a:cxnLst/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4AA43975-7CA9-44D9-A222-ECD3703CC3C4}"/>
              </a:ext>
            </a:extLst>
          </p:cNvPr>
          <p:cNvSpPr>
            <a:spLocks noGrp="1"/>
          </p:cNvSpPr>
          <p:nvPr/>
        </p:nvSpPr>
        <p:spPr>
          <a:xfrm>
            <a:off x="3617119" y="4791075"/>
            <a:ext cx="214312" cy="95250"/>
          </a:xfrm>
          <a:custGeom>
            <a:avLst/>
            <a:gdLst/>
            <a:ahLst/>
            <a:cxnLst/>
            <a:rect l="l" t="t" r="r" b="b"/>
            <a:pathLst>
              <a:path w="214312" h="95250">
                <a:moveTo>
                  <a:pt x="0" y="35719"/>
                </a:moveTo>
                <a:cubicBezTo>
                  <a:pt x="0" y="15992"/>
                  <a:pt x="15992" y="0"/>
                  <a:pt x="35719" y="0"/>
                </a:cubicBezTo>
                <a:lnTo>
                  <a:pt x="178594" y="0"/>
                </a:lnTo>
                <a:cubicBezTo>
                  <a:pt x="198321" y="0"/>
                  <a:pt x="214312" y="15992"/>
                  <a:pt x="214312" y="35719"/>
                </a:cubicBezTo>
                <a:lnTo>
                  <a:pt x="214312" y="59531"/>
                </a:lnTo>
                <a:cubicBezTo>
                  <a:pt x="214312" y="79258"/>
                  <a:pt x="198321" y="95250"/>
                  <a:pt x="178594" y="95250"/>
                </a:cubicBezTo>
                <a:lnTo>
                  <a:pt x="35719" y="95250"/>
                </a:lnTo>
                <a:cubicBezTo>
                  <a:pt x="15992" y="95250"/>
                  <a:pt x="0" y="79258"/>
                  <a:pt x="0" y="59531"/>
                </a:cubicBezTo>
                <a:lnTo>
                  <a:pt x="0" y="357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4" name="Freeform 64">
            <a:extLst>
              <a:ext uri="{FF2B5EF4-FFF2-40B4-BE49-F238E27FC236}">
                <a16:creationId xmlns:a16="http://schemas.microsoft.com/office/drawing/2014/main" id="{638A4378-6CBA-4422-BAEB-AB7375DA3843}"/>
              </a:ext>
            </a:extLst>
          </p:cNvPr>
          <p:cNvSpPr>
            <a:spLocks noGrp="1"/>
          </p:cNvSpPr>
          <p:nvPr/>
        </p:nvSpPr>
        <p:spPr>
          <a:xfrm>
            <a:off x="3664744" y="47434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5" name="Freeform 65">
            <a:extLst>
              <a:ext uri="{FF2B5EF4-FFF2-40B4-BE49-F238E27FC236}">
                <a16:creationId xmlns:a16="http://schemas.microsoft.com/office/drawing/2014/main" id="{EB7CFC32-8F53-4E32-A26B-2B23AAE5E08A}"/>
              </a:ext>
            </a:extLst>
          </p:cNvPr>
          <p:cNvSpPr>
            <a:spLocks noGrp="1"/>
          </p:cNvSpPr>
          <p:nvPr/>
        </p:nvSpPr>
        <p:spPr>
          <a:xfrm>
            <a:off x="3664744" y="483870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119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CC90294E-8DF7-4E51-B88D-88B94DE7828E}"/>
              </a:ext>
            </a:extLst>
          </p:cNvPr>
          <p:cNvSpPr>
            <a:spLocks noGrp="1"/>
          </p:cNvSpPr>
          <p:nvPr/>
        </p:nvSpPr>
        <p:spPr>
          <a:xfrm>
            <a:off x="4008882" y="4650105"/>
            <a:ext cx="40644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底座：统一任务运行底座</a:t>
            </a:r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A825F446-6BF9-47FA-84B8-018C2E38EC73}"/>
              </a:ext>
            </a:extLst>
          </p:cNvPr>
          <p:cNvSpPr>
            <a:spLocks noGrp="1"/>
          </p:cNvSpPr>
          <p:nvPr/>
        </p:nvSpPr>
        <p:spPr>
          <a:xfrm>
            <a:off x="3574923" y="5043964"/>
            <a:ext cx="46805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稳定承接任务状态、执行能力、证据、策略与历史记录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AAA74CE-0008-4326-9EC8-5533BA826D06}"/>
              </a:ext>
            </a:extLst>
          </p:cNvPr>
          <p:cNvSpPr>
            <a:spLocks noGrp="1"/>
          </p:cNvSpPr>
          <p:nvPr/>
        </p:nvSpPr>
        <p:spPr>
          <a:xfrm>
            <a:off x="8811006" y="159639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前台最终只回答三件事</a:t>
            </a:r>
          </a:p>
        </p:txBody>
      </p:sp>
      <p:sp>
        <p:nvSpPr>
          <p:cNvPr id="72" name="Rectangle 72">
            <a:extLst>
              <a:ext uri="{FF2B5EF4-FFF2-40B4-BE49-F238E27FC236}">
                <a16:creationId xmlns:a16="http://schemas.microsoft.com/office/drawing/2014/main" id="{E1B26533-A567-4865-8AAC-001E7EDD2580}"/>
              </a:ext>
            </a:extLst>
          </p:cNvPr>
          <p:cNvSpPr>
            <a:spLocks noGrp="1"/>
          </p:cNvSpPr>
          <p:nvPr/>
        </p:nvSpPr>
        <p:spPr>
          <a:xfrm>
            <a:off x="8820150" y="2000250"/>
            <a:ext cx="2876550" cy="3505200"/>
          </a:xfrm>
          <a:prstGeom prst="roundRect">
            <a:avLst>
              <a:gd name="adj" fmla="val 1987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73" name="Ellipse 73">
            <a:extLst>
              <a:ext uri="{FF2B5EF4-FFF2-40B4-BE49-F238E27FC236}">
                <a16:creationId xmlns:a16="http://schemas.microsoft.com/office/drawing/2014/main" id="{E9830093-7DF6-4A3C-BD70-DCE60E6EA7E8}"/>
              </a:ext>
            </a:extLst>
          </p:cNvPr>
          <p:cNvSpPr>
            <a:spLocks noGrp="1"/>
          </p:cNvSpPr>
          <p:nvPr/>
        </p:nvSpPr>
        <p:spPr>
          <a:xfrm>
            <a:off x="8953500" y="22479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67A6957D-C599-4AFB-91EC-7696F912AFEB}"/>
              </a:ext>
            </a:extLst>
          </p:cNvPr>
          <p:cNvSpPr>
            <a:spLocks noGrp="1"/>
          </p:cNvSpPr>
          <p:nvPr/>
        </p:nvSpPr>
        <p:spPr>
          <a:xfrm>
            <a:off x="9068912" y="23388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4CB61C3A-E0DE-403C-A0B8-4602F1280B0B}"/>
              </a:ext>
            </a:extLst>
          </p:cNvPr>
          <p:cNvSpPr>
            <a:spLocks noGrp="1"/>
          </p:cNvSpPr>
          <p:nvPr/>
        </p:nvSpPr>
        <p:spPr>
          <a:xfrm>
            <a:off x="9423273" y="2224564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任务现在走到哪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E61E9AC7-4769-490A-8F76-FCA146125BDA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78" name="Ellipse 78">
            <a:extLst>
              <a:ext uri="{FF2B5EF4-FFF2-40B4-BE49-F238E27FC236}">
                <a16:creationId xmlns:a16="http://schemas.microsoft.com/office/drawing/2014/main" id="{9421D9E2-B343-4879-8AB3-D5BE2B72E3CF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EF433420-ACE2-4F28-A8A1-A2CD0FD65D89}"/>
              </a:ext>
            </a:extLst>
          </p:cNvPr>
          <p:cNvSpPr>
            <a:spLocks noGrp="1"/>
          </p:cNvSpPr>
          <p:nvPr/>
        </p:nvSpPr>
        <p:spPr>
          <a:xfrm>
            <a:off x="9068912" y="32342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8A8839D3-F576-4DCF-AA3B-AF248BC1CFEA}"/>
              </a:ext>
            </a:extLst>
          </p:cNvPr>
          <p:cNvSpPr>
            <a:spLocks noGrp="1"/>
          </p:cNvSpPr>
          <p:nvPr/>
        </p:nvSpPr>
        <p:spPr>
          <a:xfrm>
            <a:off x="9423273" y="3119914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当前结论凭什么成立</a:t>
            </a:r>
          </a:p>
        </p:txBody>
      </p:sp>
      <p:sp>
        <p:nvSpPr>
          <p:cNvPr id="82" name="Freeform 82">
            <a:extLst>
              <a:ext uri="{FF2B5EF4-FFF2-40B4-BE49-F238E27FC236}">
                <a16:creationId xmlns:a16="http://schemas.microsoft.com/office/drawing/2014/main" id="{35CB09E2-8D32-44B0-B99E-68E8E6C6E028}"/>
              </a:ext>
            </a:extLst>
          </p:cNvPr>
          <p:cNvSpPr>
            <a:spLocks noGrp="1"/>
          </p:cNvSpPr>
          <p:nvPr/>
        </p:nvSpPr>
        <p:spPr>
          <a:xfrm>
            <a:off x="9048750" y="3790950"/>
            <a:ext cx="2419350" cy="9525"/>
          </a:xfrm>
          <a:custGeom>
            <a:avLst/>
            <a:gdLst/>
            <a:ahLst/>
            <a:cxnLst/>
            <a:rect l="l" t="t" r="r" b="b"/>
            <a:pathLst>
              <a:path w="2419350" h="9525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83" name="Ellipse 83">
            <a:extLst>
              <a:ext uri="{FF2B5EF4-FFF2-40B4-BE49-F238E27FC236}">
                <a16:creationId xmlns:a16="http://schemas.microsoft.com/office/drawing/2014/main" id="{A400E67D-EEA7-4534-9BC2-67C0B1B951FB}"/>
              </a:ext>
            </a:extLst>
          </p:cNvPr>
          <p:cNvSpPr>
            <a:spLocks noGrp="1"/>
          </p:cNvSpPr>
          <p:nvPr/>
        </p:nvSpPr>
        <p:spPr>
          <a:xfrm>
            <a:off x="8953500" y="40386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99494709-B4DC-44E9-83CC-0A4065375959}"/>
              </a:ext>
            </a:extLst>
          </p:cNvPr>
          <p:cNvSpPr>
            <a:spLocks noGrp="1"/>
          </p:cNvSpPr>
          <p:nvPr/>
        </p:nvSpPr>
        <p:spPr>
          <a:xfrm>
            <a:off x="9068912" y="41295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9E0AC32C-94FE-4AC2-BE21-C870E96EF9F7}"/>
              </a:ext>
            </a:extLst>
          </p:cNvPr>
          <p:cNvSpPr>
            <a:spLocks noGrp="1"/>
          </p:cNvSpPr>
          <p:nvPr/>
        </p:nvSpPr>
        <p:spPr>
          <a:xfrm>
            <a:off x="9423273" y="4015264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哪些动作发生了</a:t>
            </a: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6C27DEC1-8B69-45B3-AF10-CFE36C2B29FF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arxiv.org/abs/2210.03629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docs.langchain.com/.../langgraph/persistence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E96ACB87-707C-4BF5-927C-AD41CA139D65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03 / 24</a:t>
            </a:r>
          </a:p>
        </p:txBody>
      </p:sp>
    </p:spTree>
    <p:extLst>
      <p:ext uri="{BB962C8B-B14F-4D97-AF65-F5344CB8AC3E}">
        <p14:creationId xmlns:p14="http://schemas.microsoft.com/office/powerpoint/2010/main" val="1410991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2DE3F5B-D579-46FA-B7F7-DBCC6557B8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D2DE7C-2F77-415C-9047-90A301E5BB42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4788990-16C6-447A-A361-903BC1F4292A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745743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智能体最小运行时：八个稳定职责</a:t>
            </a:r>
          </a:p>
        </p:txBody>
      </p:sp>
      <p:sp>
        <p:nvSpPr>
          <p:cNvPr id="10" name="Ellipse 10">
            <a:extLst>
              <a:ext uri="{FF2B5EF4-FFF2-40B4-BE49-F238E27FC236}">
                <a16:creationId xmlns:a16="http://schemas.microsoft.com/office/drawing/2014/main" id="{46518A69-799E-45F7-A427-A42B950B7313}"/>
              </a:ext>
            </a:extLst>
          </p:cNvPr>
          <p:cNvSpPr>
            <a:spLocks noGrp="1"/>
          </p:cNvSpPr>
          <p:nvPr/>
        </p:nvSpPr>
        <p:spPr>
          <a:xfrm>
            <a:off x="8639175" y="1285875"/>
            <a:ext cx="133350" cy="13335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Ellipse 12">
            <a:extLst>
              <a:ext uri="{FF2B5EF4-FFF2-40B4-BE49-F238E27FC236}">
                <a16:creationId xmlns:a16="http://schemas.microsoft.com/office/drawing/2014/main" id="{D606AA04-7B9A-4A69-9CB4-070F23E62AB9}"/>
              </a:ext>
            </a:extLst>
          </p:cNvPr>
          <p:cNvSpPr>
            <a:spLocks noGrp="1"/>
          </p:cNvSpPr>
          <p:nvPr/>
        </p:nvSpPr>
        <p:spPr>
          <a:xfrm>
            <a:off x="9667875" y="1285875"/>
            <a:ext cx="133350" cy="13335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" name="Ellipse 14">
            <a:extLst>
              <a:ext uri="{FF2B5EF4-FFF2-40B4-BE49-F238E27FC236}">
                <a16:creationId xmlns:a16="http://schemas.microsoft.com/office/drawing/2014/main" id="{BDAF4DF8-D282-4550-8168-8EAC74A298A8}"/>
              </a:ext>
            </a:extLst>
          </p:cNvPr>
          <p:cNvSpPr>
            <a:spLocks noGrp="1"/>
          </p:cNvSpPr>
          <p:nvPr/>
        </p:nvSpPr>
        <p:spPr>
          <a:xfrm>
            <a:off x="10791825" y="1285875"/>
            <a:ext cx="133350" cy="133350"/>
          </a:xfrm>
          <a:prstGeom prst="ellipse">
            <a:avLst/>
          </a:prstGeom>
          <a:solidFill>
            <a:srgbClr val="7C8A98"/>
          </a:solidFill>
          <a:ln>
            <a:noFill/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DF6B0AE-98EE-4754-ACE0-7452C20358CC}"/>
              </a:ext>
            </a:extLst>
          </p:cNvPr>
          <p:cNvSpPr>
            <a:spLocks noGrp="1"/>
          </p:cNvSpPr>
          <p:nvPr/>
        </p:nvSpPr>
        <p:spPr>
          <a:xfrm>
            <a:off x="661416" y="16392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责任阶段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EA532EF-CEC4-4CBE-8DB5-B96ADAB79807}"/>
              </a:ext>
            </a:extLst>
          </p:cNvPr>
          <p:cNvSpPr>
            <a:spLocks noGrp="1"/>
          </p:cNvSpPr>
          <p:nvPr/>
        </p:nvSpPr>
        <p:spPr>
          <a:xfrm>
            <a:off x="2033016" y="1639252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两个稳定模块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6A6AC09-050F-4CC2-80FE-A447EFD7C850}"/>
              </a:ext>
            </a:extLst>
          </p:cNvPr>
          <p:cNvSpPr>
            <a:spLocks noGrp="1"/>
          </p:cNvSpPr>
          <p:nvPr/>
        </p:nvSpPr>
        <p:spPr>
          <a:xfrm>
            <a:off x="6814566" y="1639252"/>
            <a:ext cx="11980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后端必须负责什么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E35826A-5C09-4D55-AA68-61B251F080CD}"/>
              </a:ext>
            </a:extLst>
          </p:cNvPr>
          <p:cNvSpPr>
            <a:spLocks noGrp="1"/>
          </p:cNvSpPr>
          <p:nvPr/>
        </p:nvSpPr>
        <p:spPr>
          <a:xfrm>
            <a:off x="9614916" y="1639252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前台要回答什么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EE121254-C558-4328-A593-FA4381435FF7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C1F4C1E8-8590-419D-9ED3-D57CC993B62D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1769E0"/>
          </a:solidFill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AAD06CA-8691-40F1-BE90-9CE6D275F3A3}"/>
              </a:ext>
            </a:extLst>
          </p:cNvPr>
          <p:cNvSpPr>
            <a:spLocks noGrp="1"/>
          </p:cNvSpPr>
          <p:nvPr/>
        </p:nvSpPr>
        <p:spPr>
          <a:xfrm>
            <a:off x="679323" y="20721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C5056BF-4467-46E8-A4C8-C7A2150CDD15}"/>
              </a:ext>
            </a:extLst>
          </p:cNvPr>
          <p:cNvSpPr>
            <a:spLocks noGrp="1"/>
          </p:cNvSpPr>
          <p:nvPr/>
        </p:nvSpPr>
        <p:spPr>
          <a:xfrm>
            <a:off x="676656" y="23202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定范围</a:t>
            </a: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73007D9F-96A9-49A3-8D6F-199A53F943D5}"/>
              </a:ext>
            </a:extLst>
          </p:cNvPr>
          <p:cNvSpPr>
            <a:spLocks noGrp="1"/>
          </p:cNvSpPr>
          <p:nvPr/>
        </p:nvSpPr>
        <p:spPr>
          <a:xfrm>
            <a:off x="2072481" y="2107406"/>
            <a:ext cx="144462" cy="134143"/>
          </a:xfrm>
          <a:custGeom>
            <a:avLst/>
            <a:gdLst/>
            <a:ahLst/>
            <a:cxnLst/>
            <a:rect l="l" t="t" r="r" b="b"/>
            <a:pathLst>
              <a:path w="144462" h="134143">
                <a:moveTo>
                  <a:pt x="20637" y="0"/>
                </a:moveTo>
                <a:lnTo>
                  <a:pt x="51594" y="0"/>
                </a:lnTo>
                <a:lnTo>
                  <a:pt x="72231" y="20637"/>
                </a:lnTo>
                <a:lnTo>
                  <a:pt x="123825" y="20637"/>
                </a:lnTo>
                <a:cubicBezTo>
                  <a:pt x="135222" y="20637"/>
                  <a:pt x="144462" y="29877"/>
                  <a:pt x="144462" y="41275"/>
                </a:cubicBez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1274EDB-5E8C-4E98-A87C-8D4307788E77}"/>
              </a:ext>
            </a:extLst>
          </p:cNvPr>
          <p:cNvSpPr>
            <a:spLocks noGrp="1"/>
          </p:cNvSpPr>
          <p:nvPr/>
        </p:nvSpPr>
        <p:spPr>
          <a:xfrm>
            <a:off x="2031206" y="2148681"/>
            <a:ext cx="144462" cy="134143"/>
          </a:xfrm>
          <a:custGeom>
            <a:avLst/>
            <a:gdLst/>
            <a:ahLst/>
            <a:cxnLst/>
            <a:rect l="l" t="t" r="r" b="b"/>
            <a:pathLst>
              <a:path w="144462" h="134143">
                <a:moveTo>
                  <a:pt x="144462" y="92868"/>
                </a:moveTo>
                <a:lnTo>
                  <a:pt x="144462" y="113506"/>
                </a:lnTo>
                <a:cubicBezTo>
                  <a:pt x="144462" y="124904"/>
                  <a:pt x="135222" y="134143"/>
                  <a:pt x="123825" y="134143"/>
                </a:cubicBezTo>
                <a:lnTo>
                  <a:pt x="20637" y="134143"/>
                </a:lnTo>
                <a:cubicBezTo>
                  <a:pt x="9240" y="134143"/>
                  <a:pt x="0" y="124904"/>
                  <a:pt x="0" y="113506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A402715-B532-4404-BDD7-EB702F1557BA}"/>
              </a:ext>
            </a:extLst>
          </p:cNvPr>
          <p:cNvSpPr>
            <a:spLocks noGrp="1"/>
          </p:cNvSpPr>
          <p:nvPr/>
        </p:nvSpPr>
        <p:spPr>
          <a:xfrm>
            <a:off x="2336673" y="2129314"/>
            <a:ext cx="3011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Workspace Catalog &amp; Safe Preview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5B059252-6734-4037-8ECC-955C6AC62E06}"/>
              </a:ext>
            </a:extLst>
          </p:cNvPr>
          <p:cNvSpPr>
            <a:spLocks noGrp="1"/>
          </p:cNvSpPr>
          <p:nvPr/>
        </p:nvSpPr>
        <p:spPr>
          <a:xfrm>
            <a:off x="2051844" y="2451894"/>
            <a:ext cx="144462" cy="165099"/>
          </a:xfrm>
          <a:custGeom>
            <a:avLst/>
            <a:gdLst/>
            <a:ahLst/>
            <a:cxnLst/>
            <a:rect l="l" t="t" r="r" b="b"/>
            <a:pathLst>
              <a:path w="144462" h="165099">
                <a:moveTo>
                  <a:pt x="41275" y="0"/>
                </a:moveTo>
                <a:lnTo>
                  <a:pt x="20637" y="0"/>
                </a:lnTo>
                <a:cubicBezTo>
                  <a:pt x="9240" y="0"/>
                  <a:pt x="0" y="9240"/>
                  <a:pt x="0" y="20637"/>
                </a:cubicBezTo>
                <a:lnTo>
                  <a:pt x="0" y="144462"/>
                </a:lnTo>
                <a:cubicBezTo>
                  <a:pt x="0" y="155860"/>
                  <a:pt x="9240" y="165099"/>
                  <a:pt x="20637" y="165099"/>
                </a:cubicBezTo>
                <a:lnTo>
                  <a:pt x="123825" y="165099"/>
                </a:lnTo>
                <a:cubicBezTo>
                  <a:pt x="135222" y="165099"/>
                  <a:pt x="144462" y="155860"/>
                  <a:pt x="144462" y="144462"/>
                </a:cubicBezTo>
                <a:lnTo>
                  <a:pt x="144462" y="20637"/>
                </a:lnTo>
                <a:cubicBezTo>
                  <a:pt x="144462" y="9240"/>
                  <a:pt x="135222" y="0"/>
                  <a:pt x="123825" y="0"/>
                </a:cubicBezTo>
                <a:lnTo>
                  <a:pt x="103187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424FCE2F-0199-43E5-9203-FA20CC2EB0A5}"/>
              </a:ext>
            </a:extLst>
          </p:cNvPr>
          <p:cNvSpPr>
            <a:spLocks noGrp="1"/>
          </p:cNvSpPr>
          <p:nvPr/>
        </p:nvSpPr>
        <p:spPr>
          <a:xfrm>
            <a:off x="2093118" y="2431256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cubicBezTo>
                  <a:pt x="0" y="9240"/>
                  <a:pt x="9240" y="0"/>
                  <a:pt x="20637" y="0"/>
                </a:cubicBezTo>
                <a:lnTo>
                  <a:pt x="41275" y="0"/>
                </a:lnTo>
                <a:cubicBezTo>
                  <a:pt x="52673" y="0"/>
                  <a:pt x="61912" y="9240"/>
                  <a:pt x="61912" y="20637"/>
                </a:cubicBezTo>
                <a:cubicBezTo>
                  <a:pt x="61912" y="32035"/>
                  <a:pt x="52673" y="41275"/>
                  <a:pt x="41275" y="41275"/>
                </a:cubicBezTo>
                <a:lnTo>
                  <a:pt x="20637" y="41275"/>
                </a:lnTo>
                <a:cubicBezTo>
                  <a:pt x="9240" y="41275"/>
                  <a:pt x="0" y="32035"/>
                  <a:pt x="0" y="20637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4969E945-41B5-4CC4-A4E8-C908F60B64C2}"/>
              </a:ext>
            </a:extLst>
          </p:cNvPr>
          <p:cNvSpPr>
            <a:spLocks noGrp="1"/>
          </p:cNvSpPr>
          <p:nvPr/>
        </p:nvSpPr>
        <p:spPr>
          <a:xfrm>
            <a:off x="2093118" y="2524125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33779E7-96AA-407C-A3F1-94AD2170AC48}"/>
              </a:ext>
            </a:extLst>
          </p:cNvPr>
          <p:cNvSpPr>
            <a:spLocks noGrp="1"/>
          </p:cNvSpPr>
          <p:nvPr/>
        </p:nvSpPr>
        <p:spPr>
          <a:xfrm>
            <a:off x="2336673" y="24531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Task Contract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56061CA-F634-470A-97FB-80EE48C854CE}"/>
              </a:ext>
            </a:extLst>
          </p:cNvPr>
          <p:cNvSpPr>
            <a:spLocks noGrp="1"/>
          </p:cNvSpPr>
          <p:nvPr/>
        </p:nvSpPr>
        <p:spPr>
          <a:xfrm>
            <a:off x="6813423" y="20721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限定能读的资料；冻结目标、范围、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36985B1-A794-4A06-9CF7-49AD97933885}"/>
              </a:ext>
            </a:extLst>
          </p:cNvPr>
          <p:cNvSpPr>
            <a:spLocks noGrp="1"/>
          </p:cNvSpPr>
          <p:nvPr/>
        </p:nvSpPr>
        <p:spPr>
          <a:xfrm>
            <a:off x="6813423" y="231981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完成条件和禁止事项。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9AFC82A-1528-498E-9F9A-3E926D66F3E4}"/>
              </a:ext>
            </a:extLst>
          </p:cNvPr>
          <p:cNvSpPr>
            <a:spLocks noGrp="1"/>
          </p:cNvSpPr>
          <p:nvPr/>
        </p:nvSpPr>
        <p:spPr>
          <a:xfrm>
            <a:off x="9613773" y="2072164"/>
            <a:ext cx="165297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“你读了哪些资料？”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4F677B4-FFD5-4466-BF9C-D675D11CFEFC}"/>
              </a:ext>
            </a:extLst>
          </p:cNvPr>
          <p:cNvSpPr>
            <a:spLocks noGrp="1"/>
          </p:cNvSpPr>
          <p:nvPr/>
        </p:nvSpPr>
        <p:spPr>
          <a:xfrm>
            <a:off x="9614916" y="236315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目录、来源范围、任务自述</a:t>
            </a:r>
          </a:p>
        </p:txBody>
      </p:sp>
      <p:sp>
        <p:nvSpPr>
          <p:cNvPr id="40" name="Rectangle 40">
            <a:extLst>
              <a:ext uri="{FF2B5EF4-FFF2-40B4-BE49-F238E27FC236}">
                <a16:creationId xmlns:a16="http://schemas.microsoft.com/office/drawing/2014/main" id="{D4686093-CC60-4742-887B-28E7ACE47EBC}"/>
              </a:ext>
            </a:extLst>
          </p:cNvPr>
          <p:cNvSpPr>
            <a:spLocks noGrp="1"/>
          </p:cNvSpPr>
          <p:nvPr/>
        </p:nvSpPr>
        <p:spPr>
          <a:xfrm>
            <a:off x="495300" y="28765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EDF1F4"/>
          </a:solidFill>
          <a:ln w="19050">
            <a:solidFill>
              <a:srgbClr val="CBD5DF"/>
            </a:solidFill>
          </a:ln>
        </p:spPr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EDF447C4-CADA-42A4-92EA-6E3E1AE91AF9}"/>
              </a:ext>
            </a:extLst>
          </p:cNvPr>
          <p:cNvSpPr>
            <a:spLocks noGrp="1"/>
          </p:cNvSpPr>
          <p:nvPr/>
        </p:nvSpPr>
        <p:spPr>
          <a:xfrm>
            <a:off x="495300" y="28765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1769E0"/>
          </a:solidFill>
          <a:ln>
            <a:noFill/>
          </a:ln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C5F9BFDC-EA4D-490F-8B21-00CF0533BD13}"/>
              </a:ext>
            </a:extLst>
          </p:cNvPr>
          <p:cNvSpPr>
            <a:spLocks noGrp="1"/>
          </p:cNvSpPr>
          <p:nvPr/>
        </p:nvSpPr>
        <p:spPr>
          <a:xfrm>
            <a:off x="679323" y="30627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68D5DCD-87EC-4FD8-A23D-4C62E52A10E6}"/>
              </a:ext>
            </a:extLst>
          </p:cNvPr>
          <p:cNvSpPr>
            <a:spLocks noGrp="1"/>
          </p:cNvSpPr>
          <p:nvPr/>
        </p:nvSpPr>
        <p:spPr>
          <a:xfrm>
            <a:off x="676656" y="331089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定计划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05AA426B-5015-4821-AC03-5FDF6D97EB11}"/>
              </a:ext>
            </a:extLst>
          </p:cNvPr>
          <p:cNvSpPr>
            <a:spLocks noGrp="1"/>
          </p:cNvSpPr>
          <p:nvPr/>
        </p:nvSpPr>
        <p:spPr>
          <a:xfrm>
            <a:off x="2031206" y="3242468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B16D99FC-AED4-46A6-BF78-B073A74204F4}"/>
              </a:ext>
            </a:extLst>
          </p:cNvPr>
          <p:cNvSpPr>
            <a:spLocks noGrp="1"/>
          </p:cNvSpPr>
          <p:nvPr/>
        </p:nvSpPr>
        <p:spPr>
          <a:xfrm>
            <a:off x="2175668" y="3098006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637" y="41275"/>
                </a:move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  <a:cubicBezTo>
                  <a:pt x="0" y="32035"/>
                  <a:pt x="9240" y="41275"/>
                  <a:pt x="20637" y="41275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392F555E-A7CC-4404-BFA7-DD208B9C2399}"/>
              </a:ext>
            </a:extLst>
          </p:cNvPr>
          <p:cNvSpPr>
            <a:spLocks noGrp="1"/>
          </p:cNvSpPr>
          <p:nvPr/>
        </p:nvSpPr>
        <p:spPr>
          <a:xfrm>
            <a:off x="2051844" y="3118644"/>
            <a:ext cx="154781" cy="144462"/>
          </a:xfrm>
          <a:custGeom>
            <a:avLst/>
            <a:gdLst/>
            <a:ahLst/>
            <a:cxnLst/>
            <a:rect l="l" t="t" r="r" b="b"/>
            <a:pathLst>
              <a:path w="154781" h="144462">
                <a:moveTo>
                  <a:pt x="61912" y="144462"/>
                </a:moveTo>
                <a:lnTo>
                  <a:pt x="118665" y="144462"/>
                </a:lnTo>
                <a:cubicBezTo>
                  <a:pt x="138611" y="144462"/>
                  <a:pt x="154781" y="128293"/>
                  <a:pt x="154781" y="108347"/>
                </a:cubicBezTo>
                <a:cubicBezTo>
                  <a:pt x="154781" y="88400"/>
                  <a:pt x="138611" y="72231"/>
                  <a:pt x="118665" y="72231"/>
                </a:cubicBezTo>
                <a:lnTo>
                  <a:pt x="36116" y="72231"/>
                </a:lnTo>
                <a:cubicBezTo>
                  <a:pt x="16169" y="72231"/>
                  <a:pt x="0" y="56062"/>
                  <a:pt x="0" y="36116"/>
                </a:cubicBezTo>
                <a:cubicBezTo>
                  <a:pt x="0" y="16169"/>
                  <a:pt x="16169" y="0"/>
                  <a:pt x="36116" y="0"/>
                </a:cubicBezTo>
                <a:lnTo>
                  <a:pt x="82550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3F06DDA2-8E54-409D-9BB1-399CFFA741AE}"/>
              </a:ext>
            </a:extLst>
          </p:cNvPr>
          <p:cNvSpPr>
            <a:spLocks noGrp="1"/>
          </p:cNvSpPr>
          <p:nvPr/>
        </p:nvSpPr>
        <p:spPr>
          <a:xfrm>
            <a:off x="2336673" y="3119914"/>
            <a:ext cx="667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Planner</a:t>
            </a:r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636556BF-9BAB-4891-B976-990CB20ED1F8}"/>
              </a:ext>
            </a:extLst>
          </p:cNvPr>
          <p:cNvSpPr>
            <a:spLocks noGrp="1"/>
          </p:cNvSpPr>
          <p:nvPr/>
        </p:nvSpPr>
        <p:spPr>
          <a:xfrm>
            <a:off x="2017281" y="3421856"/>
            <a:ext cx="201506" cy="184148"/>
          </a:xfrm>
          <a:custGeom>
            <a:avLst/>
            <a:gdLst/>
            <a:ahLst/>
            <a:cxnLst/>
            <a:rect l="l" t="t" r="r" b="b"/>
            <a:pathLst>
              <a:path w="201506" h="184148">
                <a:moveTo>
                  <a:pt x="101222" y="184148"/>
                </a:moveTo>
                <a:cubicBezTo>
                  <a:pt x="36580" y="164110"/>
                  <a:pt x="0" y="95886"/>
                  <a:pt x="19085" y="30956"/>
                </a:cubicBezTo>
                <a:cubicBezTo>
                  <a:pt x="51233" y="32427"/>
                  <a:pt x="82691" y="21324"/>
                  <a:pt x="106794" y="0"/>
                </a:cubicBezTo>
                <a:cubicBezTo>
                  <a:pt x="130897" y="21324"/>
                  <a:pt x="162355" y="32427"/>
                  <a:pt x="194503" y="30956"/>
                </a:cubicBezTo>
                <a:cubicBezTo>
                  <a:pt x="201506" y="54783"/>
                  <a:pt x="201183" y="80166"/>
                  <a:pt x="193575" y="103806"/>
                </a:cubicBez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C79C404F-5F43-43C5-A934-E542B6BA61C3}"/>
              </a:ext>
            </a:extLst>
          </p:cNvPr>
          <p:cNvSpPr>
            <a:spLocks noGrp="1"/>
          </p:cNvSpPr>
          <p:nvPr/>
        </p:nvSpPr>
        <p:spPr>
          <a:xfrm>
            <a:off x="2155031" y="3566318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49207104-02F5-4906-A577-007CE1786693}"/>
              </a:ext>
            </a:extLst>
          </p:cNvPr>
          <p:cNvSpPr>
            <a:spLocks noGrp="1"/>
          </p:cNvSpPr>
          <p:nvPr/>
        </p:nvSpPr>
        <p:spPr>
          <a:xfrm>
            <a:off x="2336673" y="3443764"/>
            <a:ext cx="3745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Admission, Policy Compiler &amp; Plan Validator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CA81DCC3-8661-46BC-9F6F-E1862DC7E2FE}"/>
              </a:ext>
            </a:extLst>
          </p:cNvPr>
          <p:cNvSpPr>
            <a:spLocks noGrp="1"/>
          </p:cNvSpPr>
          <p:nvPr/>
        </p:nvSpPr>
        <p:spPr>
          <a:xfrm>
            <a:off x="6813423" y="30627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模型先提议路线；服务端再校验预算、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AEDC23C4-052E-45BE-9F50-3632908AE17E}"/>
              </a:ext>
            </a:extLst>
          </p:cNvPr>
          <p:cNvSpPr>
            <a:spLocks noGrp="1"/>
          </p:cNvSpPr>
          <p:nvPr/>
        </p:nvSpPr>
        <p:spPr>
          <a:xfrm>
            <a:off x="6813423" y="33104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依赖、资料范围和副作用。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13ACA6BA-F6CE-4DE2-BD64-0371BD3A1BF9}"/>
              </a:ext>
            </a:extLst>
          </p:cNvPr>
          <p:cNvSpPr>
            <a:spLocks noGrp="1"/>
          </p:cNvSpPr>
          <p:nvPr/>
        </p:nvSpPr>
        <p:spPr>
          <a:xfrm>
            <a:off x="9613773" y="3062764"/>
            <a:ext cx="14727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“为什么这样拆？”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8C6B96AE-F2F4-4BCD-B338-250AE1892CFE}"/>
              </a:ext>
            </a:extLst>
          </p:cNvPr>
          <p:cNvSpPr>
            <a:spLocks noGrp="1"/>
          </p:cNvSpPr>
          <p:nvPr/>
        </p:nvSpPr>
        <p:spPr>
          <a:xfrm>
            <a:off x="9614916" y="3353752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分支、依赖、驳回与修复原因</a:t>
            </a:r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6CEEF4FF-9132-429C-B1D9-DF37A214E7DE}"/>
              </a:ext>
            </a:extLst>
          </p:cNvPr>
          <p:cNvSpPr>
            <a:spLocks noGrp="1"/>
          </p:cNvSpPr>
          <p:nvPr/>
        </p:nvSpPr>
        <p:spPr>
          <a:xfrm>
            <a:off x="495300" y="38671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E8C6769F-F8EB-456E-81F0-A1C413631B1E}"/>
              </a:ext>
            </a:extLst>
          </p:cNvPr>
          <p:cNvSpPr>
            <a:spLocks noGrp="1"/>
          </p:cNvSpPr>
          <p:nvPr/>
        </p:nvSpPr>
        <p:spPr>
          <a:xfrm>
            <a:off x="495300" y="38671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A3F52236-1036-4187-92DF-CE71332450C8}"/>
              </a:ext>
            </a:extLst>
          </p:cNvPr>
          <p:cNvSpPr>
            <a:spLocks noGrp="1"/>
          </p:cNvSpPr>
          <p:nvPr/>
        </p:nvSpPr>
        <p:spPr>
          <a:xfrm>
            <a:off x="679323" y="40533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95CABB53-118F-44E5-BF31-718A4D0FE4D0}"/>
              </a:ext>
            </a:extLst>
          </p:cNvPr>
          <p:cNvSpPr>
            <a:spLocks noGrp="1"/>
          </p:cNvSpPr>
          <p:nvPr/>
        </p:nvSpPr>
        <p:spPr>
          <a:xfrm>
            <a:off x="676656" y="43014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推进执行</a:t>
            </a:r>
          </a:p>
        </p:txBody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E3264995-8FEC-47FA-81D3-5B24C145D7A6}"/>
              </a:ext>
            </a:extLst>
          </p:cNvPr>
          <p:cNvSpPr>
            <a:spLocks noGrp="1"/>
          </p:cNvSpPr>
          <p:nvPr/>
        </p:nvSpPr>
        <p:spPr>
          <a:xfrm>
            <a:off x="2051844" y="4222749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3712A960-E720-4942-88E4-94C507E64E6A}"/>
              </a:ext>
            </a:extLst>
          </p:cNvPr>
          <p:cNvSpPr>
            <a:spLocks noGrp="1"/>
          </p:cNvSpPr>
          <p:nvPr/>
        </p:nvSpPr>
        <p:spPr>
          <a:xfrm>
            <a:off x="2051844" y="4098925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4" name="Freeform 64">
            <a:extLst>
              <a:ext uri="{FF2B5EF4-FFF2-40B4-BE49-F238E27FC236}">
                <a16:creationId xmlns:a16="http://schemas.microsoft.com/office/drawing/2014/main" id="{D5F41EB2-048F-4395-A95B-69A7E96132ED}"/>
              </a:ext>
            </a:extLst>
          </p:cNvPr>
          <p:cNvSpPr>
            <a:spLocks noGrp="1"/>
          </p:cNvSpPr>
          <p:nvPr/>
        </p:nvSpPr>
        <p:spPr>
          <a:xfrm>
            <a:off x="2155031" y="4098925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0" y="20637"/>
                </a:moveTo>
                <a:cubicBezTo>
                  <a:pt x="0" y="32035"/>
                  <a:pt x="9240" y="41275"/>
                  <a:pt x="20637" y="41275"/>
                </a:cubicBezTo>
                <a:cubicBezTo>
                  <a:pt x="32035" y="41275"/>
                  <a:pt x="41275" y="32035"/>
                  <a:pt x="41275" y="20637"/>
                </a:cubicBezTo>
                <a:cubicBezTo>
                  <a:pt x="41275" y="9240"/>
                  <a:pt x="32035" y="0"/>
                  <a:pt x="20637" y="0"/>
                </a:cubicBezTo>
                <a:cubicBezTo>
                  <a:pt x="9240" y="0"/>
                  <a:pt x="0" y="9240"/>
                  <a:pt x="0" y="206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5" name="Freeform 65">
            <a:extLst>
              <a:ext uri="{FF2B5EF4-FFF2-40B4-BE49-F238E27FC236}">
                <a16:creationId xmlns:a16="http://schemas.microsoft.com/office/drawing/2014/main" id="{B520FE62-6DE9-4BDD-940D-E27AAD03829E}"/>
              </a:ext>
            </a:extLst>
          </p:cNvPr>
          <p:cNvSpPr>
            <a:spLocks noGrp="1"/>
          </p:cNvSpPr>
          <p:nvPr/>
        </p:nvSpPr>
        <p:spPr>
          <a:xfrm>
            <a:off x="2072481" y="4140200"/>
            <a:ext cx="9525" cy="82550"/>
          </a:xfrm>
          <a:custGeom>
            <a:avLst/>
            <a:gdLst/>
            <a:ahLst/>
            <a:cxnLst/>
            <a:rect l="l" t="t" r="r" b="b"/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6" name="Freeform 66">
            <a:extLst>
              <a:ext uri="{FF2B5EF4-FFF2-40B4-BE49-F238E27FC236}">
                <a16:creationId xmlns:a16="http://schemas.microsoft.com/office/drawing/2014/main" id="{0290A269-6774-4DC3-B4C1-D7FFAA7C30E6}"/>
              </a:ext>
            </a:extLst>
          </p:cNvPr>
          <p:cNvSpPr>
            <a:spLocks noGrp="1"/>
          </p:cNvSpPr>
          <p:nvPr/>
        </p:nvSpPr>
        <p:spPr>
          <a:xfrm>
            <a:off x="2093118" y="4171156"/>
            <a:ext cx="82550" cy="72231"/>
          </a:xfrm>
          <a:custGeom>
            <a:avLst/>
            <a:gdLst/>
            <a:ahLst/>
            <a:cxnLst/>
            <a:rect l="l" t="t" r="r" b="b"/>
            <a:pathLst>
              <a:path w="82550" h="72231">
                <a:moveTo>
                  <a:pt x="0" y="72231"/>
                </a:moveTo>
                <a:lnTo>
                  <a:pt x="61912" y="72231"/>
                </a:lnTo>
                <a:cubicBezTo>
                  <a:pt x="73310" y="72231"/>
                  <a:pt x="82550" y="62991"/>
                  <a:pt x="82550" y="51594"/>
                </a:cubicBezTo>
                <a:lnTo>
                  <a:pt x="8255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7" name="Freeform 67">
            <a:extLst>
              <a:ext uri="{FF2B5EF4-FFF2-40B4-BE49-F238E27FC236}">
                <a16:creationId xmlns:a16="http://schemas.microsoft.com/office/drawing/2014/main" id="{1B67424F-C5A9-42BD-B94F-01827ED5D85E}"/>
              </a:ext>
            </a:extLst>
          </p:cNvPr>
          <p:cNvSpPr>
            <a:spLocks noGrp="1"/>
          </p:cNvSpPr>
          <p:nvPr/>
        </p:nvSpPr>
        <p:spPr>
          <a:xfrm>
            <a:off x="2144712" y="4171156"/>
            <a:ext cx="61912" cy="30956"/>
          </a:xfrm>
          <a:custGeom>
            <a:avLst/>
            <a:gdLst/>
            <a:ahLst/>
            <a:cxnLst/>
            <a:rect l="l" t="t" r="r" b="b"/>
            <a:pathLst>
              <a:path w="61912" h="30956">
                <a:moveTo>
                  <a:pt x="0" y="30956"/>
                </a:moveTo>
                <a:lnTo>
                  <a:pt x="30956" y="0"/>
                </a:lnTo>
                <a:lnTo>
                  <a:pt x="61912" y="30956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8F6A6016-DB01-4D33-8604-E5A807CA12E9}"/>
              </a:ext>
            </a:extLst>
          </p:cNvPr>
          <p:cNvSpPr>
            <a:spLocks noGrp="1"/>
          </p:cNvSpPr>
          <p:nvPr/>
        </p:nvSpPr>
        <p:spPr>
          <a:xfrm>
            <a:off x="2336673" y="4110514"/>
            <a:ext cx="25010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Scheduler &amp; Worker Manager</a:t>
            </a:r>
          </a:p>
        </p:txBody>
      </p:sp>
      <p:sp>
        <p:nvSpPr>
          <p:cNvPr id="70" name="Freeform 70">
            <a:extLst>
              <a:ext uri="{FF2B5EF4-FFF2-40B4-BE49-F238E27FC236}">
                <a16:creationId xmlns:a16="http://schemas.microsoft.com/office/drawing/2014/main" id="{E9809513-3695-402C-B0AB-C085E2B01C59}"/>
              </a:ext>
            </a:extLst>
          </p:cNvPr>
          <p:cNvSpPr>
            <a:spLocks noGrp="1"/>
          </p:cNvSpPr>
          <p:nvPr/>
        </p:nvSpPr>
        <p:spPr>
          <a:xfrm>
            <a:off x="2058088" y="4443412"/>
            <a:ext cx="127898" cy="127898"/>
          </a:xfrm>
          <a:custGeom>
            <a:avLst/>
            <a:gdLst/>
            <a:ahLst/>
            <a:cxnLst/>
            <a:rect l="l" t="t" r="r" b="b"/>
            <a:pathLst>
              <a:path w="127898" h="127898">
                <a:moveTo>
                  <a:pt x="43130" y="0"/>
                </a:moveTo>
                <a:lnTo>
                  <a:pt x="127898" y="84768"/>
                </a:lnTo>
                <a:lnTo>
                  <a:pt x="106704" y="105963"/>
                </a:lnTo>
                <a:cubicBezTo>
                  <a:pt x="91664" y="121604"/>
                  <a:pt x="69346" y="127898"/>
                  <a:pt x="48350" y="122419"/>
                </a:cubicBezTo>
                <a:cubicBezTo>
                  <a:pt x="27355" y="116941"/>
                  <a:pt x="10958" y="100544"/>
                  <a:pt x="5479" y="79548"/>
                </a:cubicBezTo>
                <a:cubicBezTo>
                  <a:pt x="0" y="58552"/>
                  <a:pt x="6294" y="36234"/>
                  <a:pt x="21936" y="21195"/>
                </a:cubicBezTo>
                <a:lnTo>
                  <a:pt x="43130" y="0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1" name="Freeform 71">
            <a:extLst>
              <a:ext uri="{FF2B5EF4-FFF2-40B4-BE49-F238E27FC236}">
                <a16:creationId xmlns:a16="http://schemas.microsoft.com/office/drawing/2014/main" id="{B769731A-6F49-4F1B-812B-397C7BD45107}"/>
              </a:ext>
            </a:extLst>
          </p:cNvPr>
          <p:cNvSpPr>
            <a:spLocks noGrp="1"/>
          </p:cNvSpPr>
          <p:nvPr/>
        </p:nvSpPr>
        <p:spPr>
          <a:xfrm>
            <a:off x="2041525" y="4551759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0" y="36116"/>
                </a:moveTo>
                <a:lnTo>
                  <a:pt x="36116" y="0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2" name="Freeform 72">
            <a:extLst>
              <a:ext uri="{FF2B5EF4-FFF2-40B4-BE49-F238E27FC236}">
                <a16:creationId xmlns:a16="http://schemas.microsoft.com/office/drawing/2014/main" id="{90E7BFAD-CDA9-4620-A4EF-786DA6F3DE04}"/>
              </a:ext>
            </a:extLst>
          </p:cNvPr>
          <p:cNvSpPr>
            <a:spLocks noGrp="1"/>
          </p:cNvSpPr>
          <p:nvPr/>
        </p:nvSpPr>
        <p:spPr>
          <a:xfrm>
            <a:off x="2118915" y="4422775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993F4EBA-8516-481E-AA43-33283C91681A}"/>
              </a:ext>
            </a:extLst>
          </p:cNvPr>
          <p:cNvSpPr>
            <a:spLocks noGrp="1"/>
          </p:cNvSpPr>
          <p:nvPr/>
        </p:nvSpPr>
        <p:spPr>
          <a:xfrm>
            <a:off x="2170509" y="4474368"/>
            <a:ext cx="36116" cy="36116"/>
          </a:xfrm>
          <a:custGeom>
            <a:avLst/>
            <a:gdLst/>
            <a:ahLst/>
            <a:cxnLst/>
            <a:rect l="l" t="t" r="r" b="b"/>
            <a:pathLst>
              <a:path w="36116" h="36116">
                <a:moveTo>
                  <a:pt x="36116" y="0"/>
                </a:moveTo>
                <a:lnTo>
                  <a:pt x="0" y="36116"/>
                </a:lnTo>
              </a:path>
            </a:pathLst>
          </a:custGeom>
          <a:noFill/>
          <a:ln w="19050">
            <a:solidFill>
              <a:srgbClr val="7C8A98"/>
            </a:solidFill>
          </a:ln>
        </p:spPr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07FA76FE-9884-4A31-9B26-619BE356CD5C}"/>
              </a:ext>
            </a:extLst>
          </p:cNvPr>
          <p:cNvSpPr>
            <a:spLocks noGrp="1"/>
          </p:cNvSpPr>
          <p:nvPr/>
        </p:nvSpPr>
        <p:spPr>
          <a:xfrm>
            <a:off x="2336673" y="4434364"/>
            <a:ext cx="11600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Tool Gateway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1C256967-34FE-4A84-9B43-4C5DBCB5F344}"/>
              </a:ext>
            </a:extLst>
          </p:cNvPr>
          <p:cNvSpPr>
            <a:spLocks noGrp="1"/>
          </p:cNvSpPr>
          <p:nvPr/>
        </p:nvSpPr>
        <p:spPr>
          <a:xfrm>
            <a:off x="6813423" y="4053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决定分支顺序、依赖、谁来做；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89D75C9D-0858-4552-8685-85765A3829BF}"/>
              </a:ext>
            </a:extLst>
          </p:cNvPr>
          <p:cNvSpPr>
            <a:spLocks noGrp="1"/>
          </p:cNvSpPr>
          <p:nvPr/>
        </p:nvSpPr>
        <p:spPr>
          <a:xfrm>
            <a:off x="6813423" y="4301014"/>
            <a:ext cx="30969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当前支持显式批次与受限只读执行单元。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63E417FD-220E-4469-A906-1674A990D002}"/>
              </a:ext>
            </a:extLst>
          </p:cNvPr>
          <p:cNvSpPr>
            <a:spLocks noGrp="1"/>
          </p:cNvSpPr>
          <p:nvPr/>
        </p:nvSpPr>
        <p:spPr>
          <a:xfrm>
            <a:off x="9613773" y="4053364"/>
            <a:ext cx="165297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“现在做到哪一步？”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683CB452-3618-4460-B017-052337733ADE}"/>
              </a:ext>
            </a:extLst>
          </p:cNvPr>
          <p:cNvSpPr>
            <a:spLocks noGrp="1"/>
          </p:cNvSpPr>
          <p:nvPr/>
        </p:nvSpPr>
        <p:spPr>
          <a:xfrm>
            <a:off x="9614916" y="4325302"/>
            <a:ext cx="18694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当前：单进程，每波最多 3 个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89598480-E3C6-458D-A3D0-850AFA77DDD1}"/>
              </a:ext>
            </a:extLst>
          </p:cNvPr>
          <p:cNvSpPr>
            <a:spLocks noGrp="1"/>
          </p:cNvSpPr>
          <p:nvPr/>
        </p:nvSpPr>
        <p:spPr>
          <a:xfrm>
            <a:off x="9614916" y="4515802"/>
            <a:ext cx="15244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Tool Gateway 仍是目标</a:t>
            </a:r>
          </a:p>
        </p:txBody>
      </p:sp>
      <p:sp>
        <p:nvSpPr>
          <p:cNvPr id="82" name="Rectangle 82">
            <a:extLst>
              <a:ext uri="{FF2B5EF4-FFF2-40B4-BE49-F238E27FC236}">
                <a16:creationId xmlns:a16="http://schemas.microsoft.com/office/drawing/2014/main" id="{204D0C32-7EFD-4002-AE21-B42324EC05BF}"/>
              </a:ext>
            </a:extLst>
          </p:cNvPr>
          <p:cNvSpPr>
            <a:spLocks noGrp="1"/>
          </p:cNvSpPr>
          <p:nvPr/>
        </p:nvSpPr>
        <p:spPr>
          <a:xfrm>
            <a:off x="495300" y="4857750"/>
            <a:ext cx="11201400" cy="876300"/>
          </a:xfrm>
          <a:prstGeom prst="roundRect">
            <a:avLst>
              <a:gd name="adj" fmla="val 6522"/>
            </a:avLst>
          </a:prstGeom>
          <a:solidFill>
            <a:srgbClr val="EDF1F4"/>
          </a:solidFill>
          <a:ln w="19050">
            <a:solidFill>
              <a:srgbClr val="CBD5DF"/>
            </a:solidFill>
          </a:ln>
        </p:spPr>
      </p:sp>
      <p:sp>
        <p:nvSpPr>
          <p:cNvPr id="83" name="Rectangle 83">
            <a:extLst>
              <a:ext uri="{FF2B5EF4-FFF2-40B4-BE49-F238E27FC236}">
                <a16:creationId xmlns:a16="http://schemas.microsoft.com/office/drawing/2014/main" id="{FE0D107B-E6D8-4FC9-8C71-BCC46698B9A9}"/>
              </a:ext>
            </a:extLst>
          </p:cNvPr>
          <p:cNvSpPr>
            <a:spLocks noGrp="1"/>
          </p:cNvSpPr>
          <p:nvPr/>
        </p:nvSpPr>
        <p:spPr>
          <a:xfrm>
            <a:off x="495300" y="4857750"/>
            <a:ext cx="1276350" cy="876300"/>
          </a:xfrm>
          <a:prstGeom prst="roundRect">
            <a:avLst>
              <a:gd name="adj" fmla="val 6522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EF2A6CA2-9FD3-4B28-8C35-18328B02406D}"/>
              </a:ext>
            </a:extLst>
          </p:cNvPr>
          <p:cNvSpPr>
            <a:spLocks noGrp="1"/>
          </p:cNvSpPr>
          <p:nvPr/>
        </p:nvSpPr>
        <p:spPr>
          <a:xfrm>
            <a:off x="679323" y="50439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0B64E376-B598-4073-8EA2-7CC45E2EA248}"/>
              </a:ext>
            </a:extLst>
          </p:cNvPr>
          <p:cNvSpPr>
            <a:spLocks noGrp="1"/>
          </p:cNvSpPr>
          <p:nvPr/>
        </p:nvSpPr>
        <p:spPr>
          <a:xfrm>
            <a:off x="676656" y="5292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成果恢复</a:t>
            </a:r>
          </a:p>
        </p:txBody>
      </p:sp>
      <p:sp>
        <p:nvSpPr>
          <p:cNvPr id="86" name="Freeform 86">
            <a:extLst>
              <a:ext uri="{FF2B5EF4-FFF2-40B4-BE49-F238E27FC236}">
                <a16:creationId xmlns:a16="http://schemas.microsoft.com/office/drawing/2014/main" id="{F3FCE4F2-49A8-4FD0-8EC3-D4B6005093B1}"/>
              </a:ext>
            </a:extLst>
          </p:cNvPr>
          <p:cNvSpPr>
            <a:spLocks noGrp="1"/>
          </p:cNvSpPr>
          <p:nvPr/>
        </p:nvSpPr>
        <p:spPr>
          <a:xfrm>
            <a:off x="2144712" y="5079206"/>
            <a:ext cx="51594" cy="51594"/>
          </a:xfrm>
          <a:custGeom>
            <a:avLst/>
            <a:gdLst/>
            <a:ahLst/>
            <a:cxnLst/>
            <a:rect l="l" t="t" r="r" b="b"/>
            <a:pathLst>
              <a:path w="51594" h="51594">
                <a:moveTo>
                  <a:pt x="0" y="0"/>
                </a:moveTo>
                <a:lnTo>
                  <a:pt x="0" y="41275"/>
                </a:lnTo>
                <a:cubicBezTo>
                  <a:pt x="0" y="46974"/>
                  <a:pt x="4620" y="51594"/>
                  <a:pt x="10319" y="51594"/>
                </a:cubicBezTo>
                <a:lnTo>
                  <a:pt x="51594" y="51594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C119D490-37E9-4A9B-8B70-1CBC5CDBE919}"/>
              </a:ext>
            </a:extLst>
          </p:cNvPr>
          <p:cNvSpPr>
            <a:spLocks noGrp="1"/>
          </p:cNvSpPr>
          <p:nvPr/>
        </p:nvSpPr>
        <p:spPr>
          <a:xfrm>
            <a:off x="2051844" y="5079206"/>
            <a:ext cx="144462" cy="185737"/>
          </a:xfrm>
          <a:custGeom>
            <a:avLst/>
            <a:gdLst/>
            <a:ahLst/>
            <a:cxnLst/>
            <a:rect l="l" t="t" r="r" b="b"/>
            <a:pathLst>
              <a:path w="144462" h="185737">
                <a:moveTo>
                  <a:pt x="123825" y="185737"/>
                </a:moveTo>
                <a:lnTo>
                  <a:pt x="20637" y="185737"/>
                </a:lnTo>
                <a:cubicBezTo>
                  <a:pt x="9240" y="185737"/>
                  <a:pt x="0" y="176497"/>
                  <a:pt x="0" y="165099"/>
                </a:cubicBezTo>
                <a:lnTo>
                  <a:pt x="0" y="20637"/>
                </a:lnTo>
                <a:cubicBezTo>
                  <a:pt x="0" y="9240"/>
                  <a:pt x="9240" y="0"/>
                  <a:pt x="20637" y="0"/>
                </a:cubicBezTo>
                <a:lnTo>
                  <a:pt x="92868" y="0"/>
                </a:lnTo>
                <a:lnTo>
                  <a:pt x="144462" y="51594"/>
                </a:lnTo>
                <a:lnTo>
                  <a:pt x="144462" y="165099"/>
                </a:lnTo>
                <a:cubicBezTo>
                  <a:pt x="144462" y="176497"/>
                  <a:pt x="135222" y="185737"/>
                  <a:pt x="123825" y="185737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C6E533ED-BA44-4BC1-94CA-5D051741929D}"/>
              </a:ext>
            </a:extLst>
          </p:cNvPr>
          <p:cNvSpPr>
            <a:spLocks noGrp="1"/>
          </p:cNvSpPr>
          <p:nvPr/>
        </p:nvSpPr>
        <p:spPr>
          <a:xfrm>
            <a:off x="2082800" y="5161756"/>
            <a:ext cx="82550" cy="72231"/>
          </a:xfrm>
          <a:custGeom>
            <a:avLst/>
            <a:gdLst/>
            <a:ahLst/>
            <a:cxnLst/>
            <a:rect l="l" t="t" r="r" b="b"/>
            <a:pathLst>
              <a:path w="82550" h="72231">
                <a:moveTo>
                  <a:pt x="0" y="0"/>
                </a:moveTo>
                <a:lnTo>
                  <a:pt x="82550" y="0"/>
                </a:lnTo>
                <a:lnTo>
                  <a:pt x="82550" y="72231"/>
                </a:lnTo>
                <a:lnTo>
                  <a:pt x="0" y="72231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9" name="Freeform 89">
            <a:extLst>
              <a:ext uri="{FF2B5EF4-FFF2-40B4-BE49-F238E27FC236}">
                <a16:creationId xmlns:a16="http://schemas.microsoft.com/office/drawing/2014/main" id="{4A6A04FF-9A10-4226-9EA8-8DC106B739D8}"/>
              </a:ext>
            </a:extLst>
          </p:cNvPr>
          <p:cNvSpPr>
            <a:spLocks noGrp="1"/>
          </p:cNvSpPr>
          <p:nvPr/>
        </p:nvSpPr>
        <p:spPr>
          <a:xfrm>
            <a:off x="2082800" y="5203031"/>
            <a:ext cx="82550" cy="9525"/>
          </a:xfrm>
          <a:custGeom>
            <a:avLst/>
            <a:gdLst/>
            <a:ahLst/>
            <a:cxnLst/>
            <a:rect l="l" t="t" r="r" b="b"/>
            <a:pathLst>
              <a:path w="82550" h="9525">
                <a:moveTo>
                  <a:pt x="0" y="0"/>
                </a:moveTo>
                <a:lnTo>
                  <a:pt x="82550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0" name="Freeform 90">
            <a:extLst>
              <a:ext uri="{FF2B5EF4-FFF2-40B4-BE49-F238E27FC236}">
                <a16:creationId xmlns:a16="http://schemas.microsoft.com/office/drawing/2014/main" id="{D0F84752-E599-4CE6-A2B2-B94CA8237B8C}"/>
              </a:ext>
            </a:extLst>
          </p:cNvPr>
          <p:cNvSpPr>
            <a:spLocks noGrp="1"/>
          </p:cNvSpPr>
          <p:nvPr/>
        </p:nvSpPr>
        <p:spPr>
          <a:xfrm>
            <a:off x="2113756" y="5161756"/>
            <a:ext cx="9525" cy="72231"/>
          </a:xfrm>
          <a:custGeom>
            <a:avLst/>
            <a:gdLst/>
            <a:ahLst/>
            <a:cxnLst/>
            <a:rect l="l" t="t" r="r" b="b"/>
            <a:pathLst>
              <a:path w="9525" h="72231">
                <a:moveTo>
                  <a:pt x="0" y="0"/>
                </a:moveTo>
                <a:lnTo>
                  <a:pt x="0" y="72231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DDBA5358-0FB8-44C8-B294-2C0C52D90CF3}"/>
              </a:ext>
            </a:extLst>
          </p:cNvPr>
          <p:cNvSpPr>
            <a:spLocks noGrp="1"/>
          </p:cNvSpPr>
          <p:nvPr/>
        </p:nvSpPr>
        <p:spPr>
          <a:xfrm>
            <a:off x="2336673" y="5101114"/>
            <a:ext cx="26711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Artifact Workspace &amp; Verifier</a:t>
            </a:r>
          </a:p>
        </p:txBody>
      </p:sp>
      <p:sp>
        <p:nvSpPr>
          <p:cNvPr id="93" name="Freeform 93">
            <a:extLst>
              <a:ext uri="{FF2B5EF4-FFF2-40B4-BE49-F238E27FC236}">
                <a16:creationId xmlns:a16="http://schemas.microsoft.com/office/drawing/2014/main" id="{10C70C33-1DB5-4808-B856-7C22D35547D1}"/>
              </a:ext>
            </a:extLst>
          </p:cNvPr>
          <p:cNvSpPr>
            <a:spLocks noGrp="1"/>
          </p:cNvSpPr>
          <p:nvPr/>
        </p:nvSpPr>
        <p:spPr>
          <a:xfrm>
            <a:off x="2041525" y="5403056"/>
            <a:ext cx="165099" cy="61912"/>
          </a:xfrm>
          <a:custGeom>
            <a:avLst/>
            <a:gdLst/>
            <a:ahLst/>
            <a:cxnLst/>
            <a:rect l="l" t="t" r="r" b="b"/>
            <a:pathLst>
              <a:path w="165099" h="61912">
                <a:moveTo>
                  <a:pt x="0" y="30956"/>
                </a:moveTo>
                <a:cubicBezTo>
                  <a:pt x="0" y="48053"/>
                  <a:pt x="36959" y="61912"/>
                  <a:pt x="82550" y="61912"/>
                </a:cubicBezTo>
                <a:cubicBezTo>
                  <a:pt x="128141" y="61912"/>
                  <a:pt x="165099" y="48053"/>
                  <a:pt x="165099" y="30956"/>
                </a:cubicBezTo>
                <a:cubicBezTo>
                  <a:pt x="165099" y="13860"/>
                  <a:pt x="128141" y="0"/>
                  <a:pt x="82550" y="0"/>
                </a:cubicBezTo>
                <a:cubicBezTo>
                  <a:pt x="36959" y="0"/>
                  <a:pt x="0" y="13860"/>
                  <a:pt x="0" y="30956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77BC470B-3A76-4F99-9F0D-1D30DCCD5785}"/>
              </a:ext>
            </a:extLst>
          </p:cNvPr>
          <p:cNvSpPr>
            <a:spLocks noGrp="1"/>
          </p:cNvSpPr>
          <p:nvPr/>
        </p:nvSpPr>
        <p:spPr>
          <a:xfrm>
            <a:off x="2041525" y="5434012"/>
            <a:ext cx="165099" cy="92868"/>
          </a:xfrm>
          <a:custGeom>
            <a:avLst/>
            <a:gdLst/>
            <a:ahLst/>
            <a:cxnLst/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5" name="Freeform 95">
            <a:extLst>
              <a:ext uri="{FF2B5EF4-FFF2-40B4-BE49-F238E27FC236}">
                <a16:creationId xmlns:a16="http://schemas.microsoft.com/office/drawing/2014/main" id="{EA95F2F6-340E-4BE3-947D-06555FE1E210}"/>
              </a:ext>
            </a:extLst>
          </p:cNvPr>
          <p:cNvSpPr>
            <a:spLocks noGrp="1"/>
          </p:cNvSpPr>
          <p:nvPr/>
        </p:nvSpPr>
        <p:spPr>
          <a:xfrm>
            <a:off x="2041525" y="5495925"/>
            <a:ext cx="165099" cy="92868"/>
          </a:xfrm>
          <a:custGeom>
            <a:avLst/>
            <a:gdLst/>
            <a:ahLst/>
            <a:cxnLst/>
            <a:rect l="l" t="t" r="r" b="b"/>
            <a:pathLst>
              <a:path w="165099" h="92868">
                <a:moveTo>
                  <a:pt x="0" y="0"/>
                </a:moveTo>
                <a:lnTo>
                  <a:pt x="0" y="61912"/>
                </a:lnTo>
                <a:cubicBezTo>
                  <a:pt x="0" y="79009"/>
                  <a:pt x="36959" y="92868"/>
                  <a:pt x="82550" y="92868"/>
                </a:cubicBezTo>
                <a:cubicBezTo>
                  <a:pt x="128141" y="92868"/>
                  <a:pt x="165099" y="79009"/>
                  <a:pt x="165099" y="61912"/>
                </a:cubicBezTo>
                <a:lnTo>
                  <a:pt x="165099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DF0DD5D1-ADF1-4874-A9AE-C3E04F5CEDAD}"/>
              </a:ext>
            </a:extLst>
          </p:cNvPr>
          <p:cNvSpPr>
            <a:spLocks noGrp="1"/>
          </p:cNvSpPr>
          <p:nvPr/>
        </p:nvSpPr>
        <p:spPr>
          <a:xfrm>
            <a:off x="2336673" y="5424964"/>
            <a:ext cx="353400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Checkpoint, Event &amp; Governance Control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87FB8FB9-DDF8-4E41-B6D6-58B1E1F9E178}"/>
              </a:ext>
            </a:extLst>
          </p:cNvPr>
          <p:cNvSpPr>
            <a:spLocks noGrp="1"/>
          </p:cNvSpPr>
          <p:nvPr/>
        </p:nvSpPr>
        <p:spPr>
          <a:xfrm>
            <a:off x="6813423" y="5043964"/>
            <a:ext cx="31243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保存成果版本与校验；让 Snapshot 成为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CEFDFA38-71C0-4B0D-8A12-0B9B41D5B829}"/>
              </a:ext>
            </a:extLst>
          </p:cNvPr>
          <p:cNvSpPr>
            <a:spLocks noGrp="1"/>
          </p:cNvSpPr>
          <p:nvPr/>
        </p:nvSpPr>
        <p:spPr>
          <a:xfrm>
            <a:off x="6813423" y="529161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状态权威，事件只负责有序投影。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2AC27158-ACB9-4934-9017-03F298101ECE}"/>
              </a:ext>
            </a:extLst>
          </p:cNvPr>
          <p:cNvSpPr>
            <a:spLocks noGrp="1"/>
          </p:cNvSpPr>
          <p:nvPr/>
        </p:nvSpPr>
        <p:spPr>
          <a:xfrm>
            <a:off x="9613773" y="5043964"/>
            <a:ext cx="255409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“结果能否下载、核对、恢复？”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AA951B94-7BA2-4885-9AC7-B0142A7FCE71}"/>
              </a:ext>
            </a:extLst>
          </p:cNvPr>
          <p:cNvSpPr>
            <a:spLocks noGrp="1"/>
          </p:cNvSpPr>
          <p:nvPr/>
        </p:nvSpPr>
        <p:spPr>
          <a:xfrm>
            <a:off x="9614916" y="5334952"/>
            <a:ext cx="2413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固定成果校验、版本、审计与重启恢复</a:t>
            </a: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446E77BB-AFBE-402F-A434-773C46ADA30D}"/>
              </a:ext>
            </a:extLst>
          </p:cNvPr>
          <p:cNvSpPr>
            <a:spLocks noGrp="1"/>
          </p:cNvSpPr>
          <p:nvPr/>
        </p:nvSpPr>
        <p:spPr>
          <a:xfrm>
            <a:off x="109511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04 / 24</a:t>
            </a:r>
          </a:p>
        </p:txBody>
      </p:sp>
    </p:spTree>
    <p:extLst>
      <p:ext uri="{BB962C8B-B14F-4D97-AF65-F5344CB8AC3E}">
        <p14:creationId xmlns:p14="http://schemas.microsoft.com/office/powerpoint/2010/main" val="104238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DF54192-DC96-4111-8857-AD69E598AC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99227EB-656C-4294-8BD0-23697CDD208A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8413605-1953-4580-997E-5A92BCC11DAB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637464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技术演进：工程对象不断外扩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34BC057-066B-4645-871A-F9AF79A11832}"/>
              </a:ext>
            </a:extLst>
          </p:cNvPr>
          <p:cNvSpPr>
            <a:spLocks noGrp="1"/>
          </p:cNvSpPr>
          <p:nvPr/>
        </p:nvSpPr>
        <p:spPr>
          <a:xfrm>
            <a:off x="484632" y="1259205"/>
            <a:ext cx="75713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不是模型突然变成智能体，而是系统逐步接管更多责任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20A7A94-894D-4784-BC84-B24DE003CC66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11201400" cy="2076450"/>
          </a:xfrm>
          <a:custGeom>
            <a:avLst/>
            <a:gdLst/>
            <a:ahLst/>
            <a:cxnLst/>
            <a:rect l="l" t="t" r="r" b="b"/>
            <a:pathLst>
              <a:path w="11201400" h="2076450">
                <a:moveTo>
                  <a:pt x="0" y="0"/>
                </a:moveTo>
                <a:lnTo>
                  <a:pt x="11201400" y="0"/>
                </a:lnTo>
                <a:lnTo>
                  <a:pt x="11201400" y="2076450"/>
                </a:lnTo>
                <a:lnTo>
                  <a:pt x="0" y="207645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814A4D2-F9BC-4FB6-9B0A-0E165971188D}"/>
              </a:ext>
            </a:extLst>
          </p:cNvPr>
          <p:cNvSpPr>
            <a:spLocks noGrp="1"/>
          </p:cNvSpPr>
          <p:nvPr/>
        </p:nvSpPr>
        <p:spPr>
          <a:xfrm>
            <a:off x="495300" y="2362200"/>
            <a:ext cx="2076450" cy="2076450"/>
          </a:xfrm>
          <a:custGeom>
            <a:avLst/>
            <a:gdLst/>
            <a:ahLst/>
            <a:cxnLst/>
            <a:rect l="l" t="t" r="r" b="b"/>
            <a:pathLst>
              <a:path w="2076450" h="2076450">
                <a:moveTo>
                  <a:pt x="0" y="0"/>
                </a:moveTo>
                <a:lnTo>
                  <a:pt x="1809750" y="0"/>
                </a:lnTo>
                <a:lnTo>
                  <a:pt x="2076450" y="1038225"/>
                </a:lnTo>
                <a:lnTo>
                  <a:pt x="1809750" y="2076450"/>
                </a:lnTo>
                <a:lnTo>
                  <a:pt x="0" y="207645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33EBFE2-2AED-4AE8-8822-2391C399DB65}"/>
              </a:ext>
            </a:extLst>
          </p:cNvPr>
          <p:cNvSpPr>
            <a:spLocks noGrp="1"/>
          </p:cNvSpPr>
          <p:nvPr/>
        </p:nvSpPr>
        <p:spPr>
          <a:xfrm>
            <a:off x="676656" y="2663190"/>
            <a:ext cx="9172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提示词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06C59B6-3244-4E80-A25B-AE6003B349ED}"/>
              </a:ext>
            </a:extLst>
          </p:cNvPr>
          <p:cNvSpPr>
            <a:spLocks noGrp="1"/>
          </p:cNvSpPr>
          <p:nvPr/>
        </p:nvSpPr>
        <p:spPr>
          <a:xfrm>
            <a:off x="67665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C48BCEB-6BB0-4B09-B356-422ECF351EA5}"/>
              </a:ext>
            </a:extLst>
          </p:cNvPr>
          <p:cNvSpPr>
            <a:spLocks noGrp="1"/>
          </p:cNvSpPr>
          <p:nvPr/>
        </p:nvSpPr>
        <p:spPr>
          <a:xfrm>
            <a:off x="679323" y="37676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单次指令与示例</a:t>
            </a:r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FA610C2D-A95B-43CC-A029-A9D21E180D38}"/>
              </a:ext>
            </a:extLst>
          </p:cNvPr>
          <p:cNvSpPr>
            <a:spLocks noGrp="1"/>
          </p:cNvSpPr>
          <p:nvPr/>
        </p:nvSpPr>
        <p:spPr>
          <a:xfrm>
            <a:off x="2571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05CE828-87F3-48B4-A9D9-DC251974BDE5}"/>
              </a:ext>
            </a:extLst>
          </p:cNvPr>
          <p:cNvSpPr>
            <a:spLocks noGrp="1"/>
          </p:cNvSpPr>
          <p:nvPr/>
        </p:nvSpPr>
        <p:spPr>
          <a:xfrm>
            <a:off x="2905506" y="2663190"/>
            <a:ext cx="13708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智能体循环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30EEB74-B72C-4A9E-8DED-171C6B020A04}"/>
              </a:ext>
            </a:extLst>
          </p:cNvPr>
          <p:cNvSpPr>
            <a:spLocks noGrp="1"/>
          </p:cNvSpPr>
          <p:nvPr/>
        </p:nvSpPr>
        <p:spPr>
          <a:xfrm>
            <a:off x="2905506" y="2948940"/>
            <a:ext cx="7338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4AA6E6F-87FA-4CA4-96CA-688EB9672B2C}"/>
              </a:ext>
            </a:extLst>
          </p:cNvPr>
          <p:cNvSpPr>
            <a:spLocks noGrp="1"/>
          </p:cNvSpPr>
          <p:nvPr/>
        </p:nvSpPr>
        <p:spPr>
          <a:xfrm>
            <a:off x="2908173" y="3767614"/>
            <a:ext cx="177534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行动与反馈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6D55A120-EAB1-46E8-A6E4-3CE114AC248B}"/>
              </a:ext>
            </a:extLst>
          </p:cNvPr>
          <p:cNvSpPr>
            <a:spLocks noGrp="1"/>
          </p:cNvSpPr>
          <p:nvPr/>
        </p:nvSpPr>
        <p:spPr>
          <a:xfrm>
            <a:off x="4476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6FA5F1D-E000-415E-932F-192AC89DE7A5}"/>
              </a:ext>
            </a:extLst>
          </p:cNvPr>
          <p:cNvSpPr>
            <a:spLocks noGrp="1"/>
          </p:cNvSpPr>
          <p:nvPr/>
        </p:nvSpPr>
        <p:spPr>
          <a:xfrm>
            <a:off x="4810506" y="2663190"/>
            <a:ext cx="10057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8D02304-7E5B-4739-93D6-F68F133EF705}"/>
              </a:ext>
            </a:extLst>
          </p:cNvPr>
          <p:cNvSpPr>
            <a:spLocks noGrp="1"/>
          </p:cNvSpPr>
          <p:nvPr/>
        </p:nvSpPr>
        <p:spPr>
          <a:xfrm>
            <a:off x="4810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FF9DB3F-852F-488E-9737-DD2BE293DBA7}"/>
              </a:ext>
            </a:extLst>
          </p:cNvPr>
          <p:cNvSpPr>
            <a:spLocks noGrp="1"/>
          </p:cNvSpPr>
          <p:nvPr/>
        </p:nvSpPr>
        <p:spPr>
          <a:xfrm>
            <a:off x="4813173" y="37676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状态与信息选择</a:t>
            </a: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578B9F29-C4EE-4164-A231-937E0847B0B9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8D39ECA-A57B-4001-B269-FA60DFE63F37}"/>
              </a:ext>
            </a:extLst>
          </p:cNvPr>
          <p:cNvSpPr>
            <a:spLocks noGrp="1"/>
          </p:cNvSpPr>
          <p:nvPr/>
        </p:nvSpPr>
        <p:spPr>
          <a:xfrm>
            <a:off x="6715506" y="2663190"/>
            <a:ext cx="10057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运行框架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99B4130-7767-4EFF-B6CD-444225ED9F75}"/>
              </a:ext>
            </a:extLst>
          </p:cNvPr>
          <p:cNvSpPr>
            <a:spLocks noGrp="1"/>
          </p:cNvSpPr>
          <p:nvPr/>
        </p:nvSpPr>
        <p:spPr>
          <a:xfrm>
            <a:off x="6715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F06169F-C35C-442A-98D8-5C9FC320CE26}"/>
              </a:ext>
            </a:extLst>
          </p:cNvPr>
          <p:cNvSpPr>
            <a:spLocks noGrp="1"/>
          </p:cNvSpPr>
          <p:nvPr/>
        </p:nvSpPr>
        <p:spPr>
          <a:xfrm>
            <a:off x="6718173" y="37676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工具、权限、沙箱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16C63A90-1A0E-42C0-BBE7-1C097E29E34A}"/>
              </a:ext>
            </a:extLst>
          </p:cNvPr>
          <p:cNvSpPr>
            <a:spLocks noGrp="1"/>
          </p:cNvSpPr>
          <p:nvPr/>
        </p:nvSpPr>
        <p:spPr>
          <a:xfrm>
            <a:off x="8286750" y="2362200"/>
            <a:ext cx="1905000" cy="2076450"/>
          </a:xfrm>
          <a:custGeom>
            <a:avLst/>
            <a:gdLst/>
            <a:ahLst/>
            <a:cxnLst/>
            <a:rect l="l" t="t" r="r" b="b"/>
            <a:pathLst>
              <a:path w="1905000" h="2076450">
                <a:moveTo>
                  <a:pt x="0" y="0"/>
                </a:moveTo>
                <a:lnTo>
                  <a:pt x="1638300" y="0"/>
                </a:lnTo>
                <a:lnTo>
                  <a:pt x="1905000" y="1038225"/>
                </a:lnTo>
                <a:lnTo>
                  <a:pt x="163830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02DA3E7-047F-41D1-ABA5-26CD01E2DE4E}"/>
              </a:ext>
            </a:extLst>
          </p:cNvPr>
          <p:cNvSpPr>
            <a:spLocks noGrp="1"/>
          </p:cNvSpPr>
          <p:nvPr/>
        </p:nvSpPr>
        <p:spPr>
          <a:xfrm>
            <a:off x="8620506" y="2663190"/>
            <a:ext cx="58595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循环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8A1A74C-508F-4304-91C2-D5D006453C15}"/>
              </a:ext>
            </a:extLst>
          </p:cNvPr>
          <p:cNvSpPr>
            <a:spLocks noGrp="1"/>
          </p:cNvSpPr>
          <p:nvPr/>
        </p:nvSpPr>
        <p:spPr>
          <a:xfrm>
            <a:off x="8620506" y="2948940"/>
            <a:ext cx="143765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工程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C390F03B-1DB6-4FD4-BD35-BA699A9D4D64}"/>
              </a:ext>
            </a:extLst>
          </p:cNvPr>
          <p:cNvSpPr>
            <a:spLocks noGrp="1"/>
          </p:cNvSpPr>
          <p:nvPr/>
        </p:nvSpPr>
        <p:spPr>
          <a:xfrm>
            <a:off x="8623173" y="37676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触发、验证、恢复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EC1C2F5-DDAD-44E6-8679-3D34048BFBB4}"/>
              </a:ext>
            </a:extLst>
          </p:cNvPr>
          <p:cNvSpPr>
            <a:spLocks noGrp="1"/>
          </p:cNvSpPr>
          <p:nvPr/>
        </p:nvSpPr>
        <p:spPr>
          <a:xfrm>
            <a:off x="10191750" y="2362200"/>
            <a:ext cx="1504950" cy="2076450"/>
          </a:xfrm>
          <a:custGeom>
            <a:avLst/>
            <a:gdLst/>
            <a:ahLst/>
            <a:cxnLst/>
            <a:rect l="l" t="t" r="r" b="b"/>
            <a:pathLst>
              <a:path w="1504950" h="2076450">
                <a:moveTo>
                  <a:pt x="0" y="0"/>
                </a:moveTo>
                <a:lnTo>
                  <a:pt x="1504950" y="0"/>
                </a:lnTo>
                <a:lnTo>
                  <a:pt x="1504950" y="2076450"/>
                </a:lnTo>
                <a:lnTo>
                  <a:pt x="0" y="2076450"/>
                </a:lnTo>
                <a:lnTo>
                  <a:pt x="266700" y="1038225"/>
                </a:lnTo>
                <a:close/>
              </a:path>
            </a:pathLst>
          </a:custGeom>
          <a:solidFill>
            <a:srgbClr val="132A3A"/>
          </a:solidFill>
          <a:ln>
            <a:noFill/>
          </a:ln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6BF873D-999B-44F0-9717-540D5A3C6755}"/>
              </a:ext>
            </a:extLst>
          </p:cNvPr>
          <p:cNvSpPr>
            <a:spLocks noGrp="1"/>
          </p:cNvSpPr>
          <p:nvPr/>
        </p:nvSpPr>
        <p:spPr>
          <a:xfrm>
            <a:off x="10563606" y="26631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办公交付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20C7FF3-E5A2-442A-8236-E5A394496BA5}"/>
              </a:ext>
            </a:extLst>
          </p:cNvPr>
          <p:cNvSpPr>
            <a:spLocks noGrp="1"/>
          </p:cNvSpPr>
          <p:nvPr/>
        </p:nvSpPr>
        <p:spPr>
          <a:xfrm>
            <a:off x="10566273" y="310086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业务成果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1599296-9794-4D45-88A2-E3D2A8D0BCF4}"/>
              </a:ext>
            </a:extLst>
          </p:cNvPr>
          <p:cNvSpPr>
            <a:spLocks noGrp="1"/>
          </p:cNvSpPr>
          <p:nvPr/>
        </p:nvSpPr>
        <p:spPr>
          <a:xfrm>
            <a:off x="10566273" y="3386614"/>
            <a:ext cx="8711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证据与边界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A74238D-EE66-4B92-80C2-ADD6E0136BFF}"/>
              </a:ext>
            </a:extLst>
          </p:cNvPr>
          <p:cNvSpPr>
            <a:spLocks noGrp="1"/>
          </p:cNvSpPr>
          <p:nvPr/>
        </p:nvSpPr>
        <p:spPr>
          <a:xfrm>
            <a:off x="10566273" y="37676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用户可复核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53E7F00E-BF14-4C50-94A0-984F98640E79}"/>
              </a:ext>
            </a:extLst>
          </p:cNvPr>
          <p:cNvSpPr>
            <a:spLocks noGrp="1"/>
          </p:cNvSpPr>
          <p:nvPr/>
        </p:nvSpPr>
        <p:spPr>
          <a:xfrm>
            <a:off x="573088" y="5019675"/>
            <a:ext cx="155575" cy="44450"/>
          </a:xfrm>
          <a:custGeom>
            <a:avLst/>
            <a:gdLst/>
            <a:ahLst/>
            <a:cxnLst/>
            <a:rect l="l" t="t" r="r" b="b"/>
            <a:pathLst>
              <a:path w="155575" h="44450">
                <a:moveTo>
                  <a:pt x="0" y="44450"/>
                </a:moveTo>
                <a:lnTo>
                  <a:pt x="155575" y="44450"/>
                </a:lnTo>
                <a:lnTo>
                  <a:pt x="111125" y="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8D1A2FBF-09B1-4833-8351-3A3C91A83A5B}"/>
              </a:ext>
            </a:extLst>
          </p:cNvPr>
          <p:cNvSpPr>
            <a:spLocks noGrp="1"/>
          </p:cNvSpPr>
          <p:nvPr/>
        </p:nvSpPr>
        <p:spPr>
          <a:xfrm>
            <a:off x="528638" y="5108575"/>
            <a:ext cx="155575" cy="44450"/>
          </a:xfrm>
          <a:custGeom>
            <a:avLst/>
            <a:gdLst/>
            <a:ahLst/>
            <a:cxnLst/>
            <a:rect l="l" t="t" r="r" b="b"/>
            <a:pathLst>
              <a:path w="155575" h="44450">
                <a:moveTo>
                  <a:pt x="155575" y="0"/>
                </a:moveTo>
                <a:lnTo>
                  <a:pt x="0" y="0"/>
                </a:lnTo>
                <a:lnTo>
                  <a:pt x="44450" y="44450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2F820ED5-8788-48D2-BAA9-1FA2000D19FF}"/>
              </a:ext>
            </a:extLst>
          </p:cNvPr>
          <p:cNvSpPr>
            <a:spLocks noGrp="1"/>
          </p:cNvSpPr>
          <p:nvPr/>
        </p:nvSpPr>
        <p:spPr>
          <a:xfrm>
            <a:off x="903732" y="49358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交互对象同步变化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5E2FDD1-778A-48CF-B879-1BCA4FD78125}"/>
              </a:ext>
            </a:extLst>
          </p:cNvPr>
          <p:cNvSpPr>
            <a:spLocks noGrp="1"/>
          </p:cNvSpPr>
          <p:nvPr/>
        </p:nvSpPr>
        <p:spPr>
          <a:xfrm>
            <a:off x="907923" y="5386864"/>
            <a:ext cx="57305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从调整一句提示词，到审查任务状态、来源、成果、恢复点与动作后果。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5663DA7-5FC4-46E9-91D0-A682DA0FE8A3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arxiv.org/abs/2005.14165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arxiv.org/abs/2210.03629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A6EA0E21-920B-457C-AEE8-4E27D57B7FA1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05 / 24</a:t>
            </a:r>
          </a:p>
        </p:txBody>
      </p:sp>
    </p:spTree>
    <p:extLst>
      <p:ext uri="{BB962C8B-B14F-4D97-AF65-F5344CB8AC3E}">
        <p14:creationId xmlns:p14="http://schemas.microsoft.com/office/powerpoint/2010/main" val="1914767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356A749-0F3F-4D17-AAEE-1FB63A12F0F4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先分赛道：直接竞品、邻近工具与底层方法不能混比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D50437-DC10-4D46-AD82-9CA57C21B9D0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E4BC8E-F48F-4CBF-A23E-DF641EDD9B16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对比应从“用户在审什么”出发，而不是把所有智能体功能堆进同一张表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30DA11-5631-49E0-81DD-014BCC6ADB6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3684A-8094-44B9-966D-C13403873553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76200" cy="6096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A45E7C-0190-49E3-AD89-6375711F5EDD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A98907-A455-440F-8958-276AB44960DB}"/>
              </a:ext>
            </a:extLst>
          </p:cNvPr>
          <p:cNvSpPr>
            <a:spLocks noGrp="1"/>
          </p:cNvSpPr>
          <p:nvPr/>
        </p:nvSpPr>
        <p:spPr>
          <a:xfrm>
            <a:off x="2914650" y="17240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Microsoft 365 Copilot / Google Workspace with Gemini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20AC16-0CD1-4EA1-8CBC-D1C7A1039594}"/>
              </a:ext>
            </a:extLst>
          </p:cNvPr>
          <p:cNvSpPr>
            <a:spLocks noGrp="1"/>
          </p:cNvSpPr>
          <p:nvPr/>
        </p:nvSpPr>
        <p:spPr>
          <a:xfrm>
            <a:off x="2914650" y="20193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审：邮件、文档、会议、企业资料与自动化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ADCE08-1273-4051-8F6A-98803AC1572D}"/>
              </a:ext>
            </a:extLst>
          </p:cNvPr>
          <p:cNvSpPr>
            <a:spLocks noGrp="1"/>
          </p:cNvSpPr>
          <p:nvPr/>
        </p:nvSpPr>
        <p:spPr>
          <a:xfrm>
            <a:off x="9925050" y="18192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5A6439F-E5A9-456C-B576-ED0A40A56D1B}"/>
              </a:ext>
            </a:extLst>
          </p:cNvPr>
          <p:cNvSpPr>
            <a:spLocks noGrp="1"/>
          </p:cNvSpPr>
          <p:nvPr/>
        </p:nvSpPr>
        <p:spPr>
          <a:xfrm>
            <a:off x="495300" y="240030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8971E6-FF98-4DF6-A086-A80FDE1B3B2D}"/>
              </a:ext>
            </a:extLst>
          </p:cNvPr>
          <p:cNvSpPr>
            <a:spLocks noGrp="1"/>
          </p:cNvSpPr>
          <p:nvPr/>
        </p:nvSpPr>
        <p:spPr>
          <a:xfrm>
            <a:off x="495300" y="2400300"/>
            <a:ext cx="76200" cy="609600"/>
          </a:xfrm>
          <a:prstGeom prst="rect">
            <a:avLst/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DA0DD9-2849-4F4A-B7AA-4B35DE4389A5}"/>
              </a:ext>
            </a:extLst>
          </p:cNvPr>
          <p:cNvSpPr>
            <a:spLocks noGrp="1"/>
          </p:cNvSpPr>
          <p:nvPr/>
        </p:nvSpPr>
        <p:spPr>
          <a:xfrm>
            <a:off x="742950" y="24860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企业知识与智能体平台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6115D0-3036-4715-A382-EA72BC97E466}"/>
              </a:ext>
            </a:extLst>
          </p:cNvPr>
          <p:cNvSpPr>
            <a:spLocks noGrp="1"/>
          </p:cNvSpPr>
          <p:nvPr/>
        </p:nvSpPr>
        <p:spPr>
          <a:xfrm>
            <a:off x="2914650" y="246697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Glean / Atlassian Rovo / Notion AI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3FD446-90F3-4B52-A672-704D178762C2}"/>
              </a:ext>
            </a:extLst>
          </p:cNvPr>
          <p:cNvSpPr>
            <a:spLocks noGrp="1"/>
          </p:cNvSpPr>
          <p:nvPr/>
        </p:nvSpPr>
        <p:spPr>
          <a:xfrm>
            <a:off x="2914650" y="276225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审：权限化知识、连接应用、搜索、研究与业务动作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BAF9A7-E046-4174-A76E-A04D59B39728}"/>
              </a:ext>
            </a:extLst>
          </p:cNvPr>
          <p:cNvSpPr>
            <a:spLocks noGrp="1"/>
          </p:cNvSpPr>
          <p:nvPr/>
        </p:nvSpPr>
        <p:spPr>
          <a:xfrm>
            <a:off x="9925050" y="256222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直接竞品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16E9245-C48C-431E-9473-8427E9AEAE8E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29F564-6396-476E-AD07-3AD89A1EDC55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76200" cy="6096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744285-9CAA-466D-92B7-203C492AB850}"/>
              </a:ext>
            </a:extLst>
          </p:cNvPr>
          <p:cNvSpPr>
            <a:spLocks noGrp="1"/>
          </p:cNvSpPr>
          <p:nvPr/>
        </p:nvSpPr>
        <p:spPr>
          <a:xfrm>
            <a:off x="742950" y="32289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通用研究工作台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247459-2C28-45A8-8763-A62A5C6706FB}"/>
              </a:ext>
            </a:extLst>
          </p:cNvPr>
          <p:cNvSpPr>
            <a:spLocks noGrp="1"/>
          </p:cNvSpPr>
          <p:nvPr/>
        </p:nvSpPr>
        <p:spPr>
          <a:xfrm>
            <a:off x="2914650" y="32099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ChatGPT 深度研究 / Claude Research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40A2E4-FCF3-412F-B2B6-68BAC857CC68}"/>
              </a:ext>
            </a:extLst>
          </p:cNvPr>
          <p:cNvSpPr>
            <a:spLocks noGrp="1"/>
          </p:cNvSpPr>
          <p:nvPr/>
        </p:nvSpPr>
        <p:spPr>
          <a:xfrm>
            <a:off x="2914650" y="35052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审：来源范围、研究计划、进度、引用与报告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01E642-168E-408E-A0DB-0EADBB21CD04}"/>
              </a:ext>
            </a:extLst>
          </p:cNvPr>
          <p:cNvSpPr>
            <a:spLocks noGrp="1"/>
          </p:cNvSpPr>
          <p:nvPr/>
        </p:nvSpPr>
        <p:spPr>
          <a:xfrm>
            <a:off x="9925050" y="33051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部分直接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D97BB1-055F-4B55-A712-0B7DC9CF2FAD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F5D217-7C99-4568-9CB8-1F23F37574E0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76200" cy="609600"/>
          </a:xfrm>
          <a:prstGeom prst="rect">
            <a:avLst/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687EC4-BBFB-4608-80A0-A4173019CA41}"/>
              </a:ext>
            </a:extLst>
          </p:cNvPr>
          <p:cNvSpPr>
            <a:spLocks noGrp="1"/>
          </p:cNvSpPr>
          <p:nvPr/>
        </p:nvSpPr>
        <p:spPr>
          <a:xfrm>
            <a:off x="742950" y="39719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任务执行工作台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0DC522-DDD5-4D3E-BB28-45B85931293E}"/>
              </a:ext>
            </a:extLst>
          </p:cNvPr>
          <p:cNvSpPr>
            <a:spLocks noGrp="1"/>
          </p:cNvSpPr>
          <p:nvPr/>
        </p:nvSpPr>
        <p:spPr>
          <a:xfrm>
            <a:off x="2914650" y="395287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Codex App / Claude Code / OpenClaw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2B9282-0DF1-4F23-8E62-6AB1FA667AC5}"/>
              </a:ext>
            </a:extLst>
          </p:cNvPr>
          <p:cNvSpPr>
            <a:spLocks noGrp="1"/>
          </p:cNvSpPr>
          <p:nvPr/>
        </p:nvSpPr>
        <p:spPr>
          <a:xfrm>
            <a:off x="2914650" y="424815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审：任务线程、工作区、变更、命令与验证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52EF60-E6A4-4ED1-BD8D-14E111027D10}"/>
              </a:ext>
            </a:extLst>
          </p:cNvPr>
          <p:cNvSpPr>
            <a:spLocks noGrp="1"/>
          </p:cNvSpPr>
          <p:nvPr/>
        </p:nvSpPr>
        <p:spPr>
          <a:xfrm>
            <a:off x="9925050" y="404812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邻近工具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56D819F-67A0-4020-AEE2-9E74D5DDD9D0}"/>
              </a:ext>
            </a:extLst>
          </p:cNvPr>
          <p:cNvSpPr>
            <a:spLocks noGrp="1"/>
          </p:cNvSpPr>
          <p:nvPr/>
        </p:nvSpPr>
        <p:spPr>
          <a:xfrm>
            <a:off x="495300" y="4629150"/>
            <a:ext cx="112014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28D0AD-E0A9-4FE6-9B43-2A1291758ACF}"/>
              </a:ext>
            </a:extLst>
          </p:cNvPr>
          <p:cNvSpPr>
            <a:spLocks noGrp="1"/>
          </p:cNvSpPr>
          <p:nvPr/>
        </p:nvSpPr>
        <p:spPr>
          <a:xfrm>
            <a:off x="495300" y="4629150"/>
            <a:ext cx="76200" cy="609600"/>
          </a:xfrm>
          <a:prstGeom prst="rect">
            <a:avLst/>
          </a:prstGeom>
          <a:solidFill>
            <a:srgbClr val="7C8A98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E009236-05A5-401B-9EEC-E2C717395488}"/>
              </a:ext>
            </a:extLst>
          </p:cNvPr>
          <p:cNvSpPr>
            <a:spLocks noGrp="1"/>
          </p:cNvSpPr>
          <p:nvPr/>
        </p:nvSpPr>
        <p:spPr>
          <a:xfrm>
            <a:off x="742950" y="47148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方法与协议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7471C8-877D-4627-9118-6BE4C93C4985}"/>
              </a:ext>
            </a:extLst>
          </p:cNvPr>
          <p:cNvSpPr>
            <a:spLocks noGrp="1"/>
          </p:cNvSpPr>
          <p:nvPr/>
        </p:nvSpPr>
        <p:spPr>
          <a:xfrm>
            <a:off x="2914650" y="4695825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3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ReAct / MCP / A2A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12CFC2-3D3F-40D3-A819-0A62F28240C3}"/>
              </a:ext>
            </a:extLst>
          </p:cNvPr>
          <p:cNvSpPr>
            <a:spLocks noGrp="1"/>
          </p:cNvSpPr>
          <p:nvPr/>
        </p:nvSpPr>
        <p:spPr>
          <a:xfrm>
            <a:off x="2914650" y="4991100"/>
            <a:ext cx="676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85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定义循环、工具连接与智能体通信，不定义完整产品体验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8323EFB-0BD4-4317-85A0-733FCC3378E4}"/>
              </a:ext>
            </a:extLst>
          </p:cNvPr>
          <p:cNvSpPr>
            <a:spLocks noGrp="1"/>
          </p:cNvSpPr>
          <p:nvPr/>
        </p:nvSpPr>
        <p:spPr>
          <a:xfrm>
            <a:off x="9925050" y="4791075"/>
            <a:ext cx="1409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7C8A98"/>
                </a:solidFill>
                <a:latin typeface="Segoe UI Semibold"/>
                <a:ea typeface="Segoe UI Semibold"/>
                <a:cs typeface="Segoe UI Semibold"/>
              </a:rPr>
              <a:t>不是竞品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9452AD1-598E-4545-83D4-4666B0721840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CB1E67-7257-4127-B03D-A45DBCA5155B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104FDE-0E9F-4D2D-A3E0-BB235E1E1EC6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应比较：工作对象 → 持久状态 → 证据 → 成果 → 人工门 → 动作事实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FD970CC-F081-40F8-90D4-8F74809F18CD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3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4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Glean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6"/>
              </a:rPr>
              <a:t>Rovo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7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8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9"/>
              </a:rPr>
              <a:t>Anthropic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BF197CA-8AEB-4213-AD20-365B30CB52A8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06 / 24</a:t>
            </a:r>
          </a:p>
        </p:txBody>
      </p:sp>
    </p:spTree>
    <p:extLst>
      <p:ext uri="{BB962C8B-B14F-4D97-AF65-F5344CB8AC3E}">
        <p14:creationId xmlns:p14="http://schemas.microsoft.com/office/powerpoint/2010/main" val="202730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6421D51-2CBA-4DE6-AE24-3E74B66402AD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办公套件竞品：优势在原生上下文和真实应用动作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B5EBEF-3770-487B-85C2-881881D20815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F51EE5-A24A-45A1-86AE-D046FD362FBB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Microsoft 与 Google 都已把研究、内容和自动化嵌入日常办公面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F9930E-441F-4379-8ACA-D95E64C006B0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Microsoft 365 Copilot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680884-55EB-4779-B7D5-BA1120554B3F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Google Workspace with Gemini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003D6E-66E0-4F8F-89EF-9CEBB0ECD1BB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78F9514-BC25-44CA-BAE9-96E88BD485CC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5391150" cy="2505075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5560" y="1952625"/>
            <a:ext cx="4350630" cy="2447925"/>
          </a:xfrm>
          <a:prstGeom prst="roundRect">
            <a:avLst>
              <a:gd name="adj" fmla="val 1556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F9BAA99-20FB-4123-85EF-536CDA1B267D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5391150" cy="2505075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97592" y="1952625"/>
            <a:ext cx="4407066" cy="2447925"/>
          </a:xfrm>
          <a:prstGeom prst="roundRect">
            <a:avLst>
              <a:gd name="adj" fmla="val 1556"/>
            </a:avLst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38D97B0-4F39-4A22-9966-AE2F2479E3F9}"/>
              </a:ext>
            </a:extLst>
          </p:cNvPr>
          <p:cNvSpPr>
            <a:spLocks noGrp="1"/>
          </p:cNvSpPr>
          <p:nvPr/>
        </p:nvSpPr>
        <p:spPr>
          <a:xfrm>
            <a:off x="495300" y="46863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D6690A-74E7-4819-BB4F-7F9A105BD5AF}"/>
              </a:ext>
            </a:extLst>
          </p:cNvPr>
          <p:cNvSpPr>
            <a:spLocks noGrp="1"/>
          </p:cNvSpPr>
          <p:nvPr/>
        </p:nvSpPr>
        <p:spPr>
          <a:xfrm>
            <a:off x="647700" y="461962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工作对象：工作内容与互联网；可查看来源范围和研究任务。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E4D7FE-C9A1-48D7-9096-1E4ECC2FA4E3}"/>
              </a:ext>
            </a:extLst>
          </p:cNvPr>
          <p:cNvSpPr>
            <a:spLocks noGrp="1"/>
          </p:cNvSpPr>
          <p:nvPr/>
        </p:nvSpPr>
        <p:spPr>
          <a:xfrm>
            <a:off x="495300" y="51339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A68E71-8338-4BD9-A898-DBDDC0735910}"/>
              </a:ext>
            </a:extLst>
          </p:cNvPr>
          <p:cNvSpPr>
            <a:spLocks noGrp="1"/>
          </p:cNvSpPr>
          <p:nvPr/>
        </p:nvSpPr>
        <p:spPr>
          <a:xfrm>
            <a:off x="647700" y="506730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控制点：隔离环境使用网站或应用；动作前可请求确认。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9A2682E-F379-4CAF-82A6-2B9AB14F6C73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82DB0E-66E1-45F2-9981-B434388BC792}"/>
              </a:ext>
            </a:extLst>
          </p:cNvPr>
          <p:cNvSpPr>
            <a:spLocks noGrp="1"/>
          </p:cNvSpPr>
          <p:nvPr/>
        </p:nvSpPr>
        <p:spPr>
          <a:xfrm>
            <a:off x="6457950" y="4619625"/>
            <a:ext cx="523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工作对象：Gmail、Drive、Docs、Chat；统一理解办公上下文。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E25CBEF-C74A-430C-8526-A16327545FA3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A5E8AA-0D89-4530-9378-7CDAF392E786}"/>
              </a:ext>
            </a:extLst>
          </p:cNvPr>
          <p:cNvSpPr>
            <a:spLocks noGrp="1"/>
          </p:cNvSpPr>
          <p:nvPr/>
        </p:nvSpPr>
        <p:spPr>
          <a:xfrm>
            <a:off x="6457950" y="506730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控制点：Workspace Studio 创建并分享跨应用智能体和自动化。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CF357FE-DF1F-4E3D-B42B-FD110EB9B437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F901ED-A031-4439-8391-1695F8D26E7D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3D572-D1A5-430D-BB21-993DBF10A80A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现阶段不应把“多来源、整库、引用”写成独占；它尚缺原生套件集成与真实业务动作。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3D6430-2FC1-4874-B2F0-DD36383EF0B0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Microsoft Researcher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6"/>
              </a:rPr>
              <a:t>Google Workspace Studio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2E5C77-DDFF-4B1A-9276-A6EA73708C84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07 / 24</a:t>
            </a:r>
          </a:p>
        </p:txBody>
      </p:sp>
    </p:spTree>
    <p:extLst>
      <p:ext uri="{BB962C8B-B14F-4D97-AF65-F5344CB8AC3E}">
        <p14:creationId xmlns:p14="http://schemas.microsoft.com/office/powerpoint/2010/main" val="143680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F7D4FCB-222F-4C66-A959-4EE93551BF08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知识工作台：Notion AI 已把“全源搜索”做成日常入口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AF1D39-A0B4-4C76-82E1-01D655E40C1D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CA6A64-9AF8-4E40-8FDB-AC94EB6ADF7D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Notion 空间、连接应用和互联网被统一成可选择的研究范围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312471-D631-4428-9E18-646C7BF32981}"/>
              </a:ext>
            </a:extLst>
          </p:cNvPr>
          <p:cNvSpPr>
            <a:spLocks noGrp="1"/>
          </p:cNvSpPr>
          <p:nvPr/>
        </p:nvSpPr>
        <p:spPr>
          <a:xfrm>
            <a:off x="495300" y="1733550"/>
            <a:ext cx="6667500" cy="369570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1334" y="1762125"/>
            <a:ext cx="5575432" cy="3638550"/>
          </a:xfrm>
          <a:prstGeom prst="roundRect">
            <a:avLst>
              <a:gd name="adj" fmla="val 1047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45B739D-B71E-47EA-8788-2BD834E5B0D8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9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Notion AI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96412FC-B8D7-41CC-956F-A116065F9D61}"/>
              </a:ext>
            </a:extLst>
          </p:cNvPr>
          <p:cNvSpPr>
            <a:spLocks noGrp="1"/>
          </p:cNvSpPr>
          <p:nvPr/>
        </p:nvSpPr>
        <p:spPr>
          <a:xfrm>
            <a:off x="7524750" y="23336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832E31-75D6-4899-B7CC-6BA38A2EFA1B}"/>
              </a:ext>
            </a:extLst>
          </p:cNvPr>
          <p:cNvSpPr>
            <a:spLocks noGrp="1"/>
          </p:cNvSpPr>
          <p:nvPr/>
        </p:nvSpPr>
        <p:spPr>
          <a:xfrm>
            <a:off x="7677150" y="2266950"/>
            <a:ext cx="3848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66"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工作对象：Notion 页面、数据库、Slack、Drive、Jira 等连接源与互联网。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E44BD0E-E12D-4AC5-B68E-7198C1AB55FC}"/>
              </a:ext>
            </a:extLst>
          </p:cNvPr>
          <p:cNvSpPr>
            <a:spLocks noGrp="1"/>
          </p:cNvSpPr>
          <p:nvPr/>
        </p:nvSpPr>
        <p:spPr>
          <a:xfrm>
            <a:off x="7524750" y="307657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2ECE3D-E313-43AB-88B9-5AA3D1B6C87F}"/>
              </a:ext>
            </a:extLst>
          </p:cNvPr>
          <p:cNvSpPr>
            <a:spLocks noGrp="1"/>
          </p:cNvSpPr>
          <p:nvPr/>
        </p:nvSpPr>
        <p:spPr>
          <a:xfrm>
            <a:off x="7677150" y="3009900"/>
            <a:ext cx="3848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用户可收窄来源范围，并从回答引用回到原始内容。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EB28DC-4EEC-4389-B50B-E01A9D5A6048}"/>
              </a:ext>
            </a:extLst>
          </p:cNvPr>
          <p:cNvSpPr>
            <a:spLocks noGrp="1"/>
          </p:cNvSpPr>
          <p:nvPr/>
        </p:nvSpPr>
        <p:spPr>
          <a:xfrm>
            <a:off x="7524750" y="3714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C447FB-5843-451A-8B49-66FAC75CBF18}"/>
              </a:ext>
            </a:extLst>
          </p:cNvPr>
          <p:cNvSpPr>
            <a:spLocks noGrp="1"/>
          </p:cNvSpPr>
          <p:nvPr/>
        </p:nvSpPr>
        <p:spPr>
          <a:xfrm>
            <a:off x="7677150" y="3648075"/>
            <a:ext cx="38481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研究模式面向开放问题；部分连接器还能执行动作。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DFB2E2F-7D0B-4F84-B953-8C039A007796}"/>
              </a:ext>
            </a:extLst>
          </p:cNvPr>
          <p:cNvSpPr>
            <a:spLocks noGrp="1"/>
          </p:cNvSpPr>
          <p:nvPr/>
        </p:nvSpPr>
        <p:spPr>
          <a:xfrm>
            <a:off x="7524750" y="43529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4CCDEB-CC9B-4B1C-8372-A4A06CA4BF5D}"/>
              </a:ext>
            </a:extLst>
          </p:cNvPr>
          <p:cNvSpPr>
            <a:spLocks noGrp="1"/>
          </p:cNvSpPr>
          <p:nvPr/>
        </p:nvSpPr>
        <p:spPr>
          <a:xfrm>
            <a:off x="7677150" y="4286250"/>
            <a:ext cx="3848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25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因此“全源搜索 + 引用”已经是市场基线，不是 Office Agent 独占点。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AEF3377-1AB6-4AC6-960B-66DA2BC7F23E}"/>
              </a:ext>
            </a:extLst>
          </p:cNvPr>
          <p:cNvSpPr>
            <a:spLocks noGrp="1"/>
          </p:cNvSpPr>
          <p:nvPr/>
        </p:nvSpPr>
        <p:spPr>
          <a:xfrm>
            <a:off x="495300" y="561975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F79DCE-5364-4D30-9826-4C195369F0A1}"/>
              </a:ext>
            </a:extLst>
          </p:cNvPr>
          <p:cNvSpPr>
            <a:spLocks noGrp="1"/>
          </p:cNvSpPr>
          <p:nvPr/>
        </p:nvSpPr>
        <p:spPr>
          <a:xfrm>
            <a:off x="495300" y="561975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5D4EA5-3A08-46C0-9F6D-8835AEDD69DB}"/>
              </a:ext>
            </a:extLst>
          </p:cNvPr>
          <p:cNvSpPr>
            <a:spLocks noGrp="1"/>
          </p:cNvSpPr>
          <p:nvPr/>
        </p:nvSpPr>
        <p:spPr>
          <a:xfrm>
            <a:off x="704850" y="569595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候选差异应落到：结论采用、分支缺口、办公成果校验和外部动作边界能否互相对账。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697DAC-2CC7-495E-9038-1C9F95179718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4"/>
              </a:rPr>
              <a:t>Notion Enterprise Search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Notion AI Connectors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33CE18-B4B2-4997-A802-3E53EF3BF693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08 / 24</a:t>
            </a:r>
          </a:p>
        </p:txBody>
      </p:sp>
    </p:spTree>
    <p:extLst>
      <p:ext uri="{BB962C8B-B14F-4D97-AF65-F5344CB8AC3E}">
        <p14:creationId xmlns:p14="http://schemas.microsoft.com/office/powerpoint/2010/main" val="96358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23E266CD-FBB5-4F35-BED3-1B05CAD3D1B2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跨来源研究：用户已经在审计划、来源、进度与报告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7FED76-71B2-4681-AC8B-43FE3E81EA75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C2FA96-D1F9-4414-97DD-C38691830C19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ChatGPT 与 Claude 都把可中断研究和可检查引用放到了前台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1B6F59-9ED8-4CD6-A008-6305CB54E49B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ChatGPT 深度研究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6A1C21-2554-4EDB-8731-1CD90347B34A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Research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079475-C7CD-45FE-B63E-1DED9A1381CA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E66548C-3E1B-42B2-A81A-3E204247FBC4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53911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9992" y="1952625"/>
            <a:ext cx="3861765" cy="2419350"/>
          </a:xfrm>
          <a:prstGeom prst="roundRect">
            <a:avLst>
              <a:gd name="adj" fmla="val 1575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F81499-9142-44B8-915E-D13FF8C8E7D1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539115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035403" y="1952625"/>
            <a:ext cx="3931444" cy="2419350"/>
          </a:xfrm>
          <a:prstGeom prst="roundRect">
            <a:avLst>
              <a:gd name="adj" fmla="val 1575"/>
            </a:avLst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FBEFCD-638E-4E75-94B3-40A443AF1285}"/>
              </a:ext>
            </a:extLst>
          </p:cNvPr>
          <p:cNvSpPr>
            <a:spLocks noGrp="1"/>
          </p:cNvSpPr>
          <p:nvPr/>
        </p:nvSpPr>
        <p:spPr>
          <a:xfrm>
            <a:off x="495300" y="46577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14587C-2D4D-4634-AF84-A5E477C003DC}"/>
              </a:ext>
            </a:extLst>
          </p:cNvPr>
          <p:cNvSpPr>
            <a:spLocks noGrp="1"/>
          </p:cNvSpPr>
          <p:nvPr/>
        </p:nvSpPr>
        <p:spPr>
          <a:xfrm>
            <a:off x="647700" y="459105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可选互联网、文件、连接应用和指定网站；计划可审、运行可中断。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00E645A-E459-4ACF-8146-521BCA6585D3}"/>
              </a:ext>
            </a:extLst>
          </p:cNvPr>
          <p:cNvSpPr>
            <a:spLocks noGrp="1"/>
          </p:cNvSpPr>
          <p:nvPr/>
        </p:nvSpPr>
        <p:spPr>
          <a:xfrm>
            <a:off x="495300" y="52006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58FDC2-6A51-4499-8899-C2E6A2783A0E}"/>
              </a:ext>
            </a:extLst>
          </p:cNvPr>
          <p:cNvSpPr>
            <a:spLocks noGrp="1"/>
          </p:cNvSpPr>
          <p:nvPr/>
        </p:nvSpPr>
        <p:spPr>
          <a:xfrm>
            <a:off x="647700" y="513397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最终报告带引用，并可下载为 Markdown、Word 或 PDF。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7C83A5E-5449-4C0B-8B7C-99B167195044}"/>
              </a:ext>
            </a:extLst>
          </p:cNvPr>
          <p:cNvSpPr>
            <a:spLocks noGrp="1"/>
          </p:cNvSpPr>
          <p:nvPr/>
        </p:nvSpPr>
        <p:spPr>
          <a:xfrm>
            <a:off x="6305550" y="46577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504272-0171-4321-92BA-4E44BB47DF09}"/>
              </a:ext>
            </a:extLst>
          </p:cNvPr>
          <p:cNvSpPr>
            <a:spLocks noGrp="1"/>
          </p:cNvSpPr>
          <p:nvPr/>
        </p:nvSpPr>
        <p:spPr>
          <a:xfrm>
            <a:off x="6457950" y="4591050"/>
            <a:ext cx="52387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在互联网与已连接内部资料中开展多步研究，引用可检查。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3F9B5C-F5D9-4D56-9856-AA852CD5C836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EBCC39-2284-4478-BC2C-69E548313872}"/>
              </a:ext>
            </a:extLst>
          </p:cNvPr>
          <p:cNvSpPr>
            <a:spLocks noGrp="1"/>
          </p:cNvSpPr>
          <p:nvPr/>
        </p:nvSpPr>
        <p:spPr>
          <a:xfrm>
            <a:off x="6457950" y="5133975"/>
            <a:ext cx="523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73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73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用户可开关研究模式、补充来源，并在过程中继续引导。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DA41057-3B59-426C-B1E4-D896A9DDE393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947CC5-392E-463F-ACF7-C1ED52C6D2CC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B07E6B-8748-4B84-B974-93A413CA7ED0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“有来源、有进度、可中断”也是市场基线；Office Agent 必须用成果与治理合同继续拉开验证。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877B8F-B4C7-4043-B479-E650C286AA74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OpenAI 深度研究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6"/>
              </a:rPr>
              <a:t>Claude Research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9C5057-F970-4E4E-8742-1BDC98AFFBA5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09 / 24</a:t>
            </a:r>
          </a:p>
        </p:txBody>
      </p:sp>
    </p:spTree>
    <p:extLst>
      <p:ext uri="{BB962C8B-B14F-4D97-AF65-F5344CB8AC3E}">
        <p14:creationId xmlns:p14="http://schemas.microsoft.com/office/powerpoint/2010/main" val="284885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463F1FD-A50C-45E1-BD6E-EDD4F87B9117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任务执行工作台：用户审“改了什么、验证了没有”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9C4B8E-161E-454C-BF29-63E3D47591B9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F9F091-3696-46AA-88D2-809D3D7637AB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Codex App 与 Claude Code 是相邻执行范式，不是同一办公资料产品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279B6-E27D-46C6-98AA-CC7CEB5A546F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Codex App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24062E-3D86-48F3-9D07-7C7FE1BCBE0E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5391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800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Claude Code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9976F8-4FC8-4074-8092-31E4B5CEA27A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19050" cy="411480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D86A08E-FC1C-481D-A278-AA9F34DD32E0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53911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11294" b="11294"/>
          <a:stretch>
            <a:fillRect/>
          </a:stretch>
        </p:blipFill>
        <p:spPr>
          <a:xfrm>
            <a:off x="523875" y="1952625"/>
            <a:ext cx="5334000" cy="2324100"/>
          </a:xfrm>
          <a:prstGeom prst="roundRect">
            <a:avLst>
              <a:gd name="adj" fmla="val 1639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18EB7BC9-A40F-478A-98B5-93C0F9A3C7CC}"/>
              </a:ext>
            </a:extLst>
          </p:cNvPr>
          <p:cNvSpPr>
            <a:spLocks noGrp="1"/>
          </p:cNvSpPr>
          <p:nvPr/>
        </p:nvSpPr>
        <p:spPr>
          <a:xfrm>
            <a:off x="6305550" y="1924050"/>
            <a:ext cx="539115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34125" y="2077508"/>
            <a:ext cx="5334000" cy="2074333"/>
          </a:xfrm>
          <a:prstGeom prst="roundRect">
            <a:avLst>
              <a:gd name="adj" fmla="val 1639"/>
            </a:avLst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6CB525-FF85-48E8-AFB9-BBCE119C871F}"/>
              </a:ext>
            </a:extLst>
          </p:cNvPr>
          <p:cNvSpPr>
            <a:spLocks noGrp="1"/>
          </p:cNvSpPr>
          <p:nvPr/>
        </p:nvSpPr>
        <p:spPr>
          <a:xfrm>
            <a:off x="495300" y="45910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AD695F-5ABF-4C82-9053-1CE57CF1D5B9}"/>
              </a:ext>
            </a:extLst>
          </p:cNvPr>
          <p:cNvSpPr>
            <a:spLocks noGrp="1"/>
          </p:cNvSpPr>
          <p:nvPr/>
        </p:nvSpPr>
        <p:spPr>
          <a:xfrm>
            <a:off x="647700" y="4524375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任务按项目和线程组织；隔离工作树、差异审查、技能与自动化进入同一工作台。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4016542-6E62-44DA-B8B8-889BB4A46E2D}"/>
              </a:ext>
            </a:extLst>
          </p:cNvPr>
          <p:cNvSpPr>
            <a:spLocks noGrp="1"/>
          </p:cNvSpPr>
          <p:nvPr/>
        </p:nvSpPr>
        <p:spPr>
          <a:xfrm>
            <a:off x="495300" y="52578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46C6A3-D190-4CF0-957D-A98F64D90F7E}"/>
              </a:ext>
            </a:extLst>
          </p:cNvPr>
          <p:cNvSpPr>
            <a:spLocks noGrp="1"/>
          </p:cNvSpPr>
          <p:nvPr/>
        </p:nvSpPr>
        <p:spPr>
          <a:xfrm>
            <a:off x="647700" y="5191125"/>
            <a:ext cx="523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沙箱和权限控制执行边界；结果进入可继续处理的审查队列。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C192AF-3CAA-4E55-B372-64B40BA4D34C}"/>
              </a:ext>
            </a:extLst>
          </p:cNvPr>
          <p:cNvSpPr>
            <a:spLocks noGrp="1"/>
          </p:cNvSpPr>
          <p:nvPr/>
        </p:nvSpPr>
        <p:spPr>
          <a:xfrm>
            <a:off x="6305550" y="45910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41BA52-4AF7-4DC2-AF0C-D55A65B13639}"/>
              </a:ext>
            </a:extLst>
          </p:cNvPr>
          <p:cNvSpPr>
            <a:spLocks noGrp="1"/>
          </p:cNvSpPr>
          <p:nvPr/>
        </p:nvSpPr>
        <p:spPr>
          <a:xfrm>
            <a:off x="6457950" y="4524375"/>
            <a:ext cx="5238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围绕项目、终端和版本库运行“收集上下文 → 行动 → 验证”的循环。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89757BB-559F-4C5B-ADCF-BFD3BAB2557C}"/>
              </a:ext>
            </a:extLst>
          </p:cNvPr>
          <p:cNvSpPr>
            <a:spLocks noGrp="1"/>
          </p:cNvSpPr>
          <p:nvPr/>
        </p:nvSpPr>
        <p:spPr>
          <a:xfrm>
            <a:off x="6305550" y="52578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26C931-CB9B-4C86-961B-7D6572CCB1F6}"/>
              </a:ext>
            </a:extLst>
          </p:cNvPr>
          <p:cNvSpPr>
            <a:spLocks noGrp="1"/>
          </p:cNvSpPr>
          <p:nvPr/>
        </p:nvSpPr>
        <p:spPr>
          <a:xfrm>
            <a:off x="6457950" y="5191125"/>
            <a:ext cx="523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会话可恢复或分叉；检查点与权限模式承担人工控制。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D498498-7B32-4904-93DC-C9E643426EE3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2F644D-4A71-4986-AEAE-8313480117DF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8CC7BC-2FF5-4EDA-A6BD-3BF6C154E52A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463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长任务连续、隔离执行和人工审查已在代码智能体中成熟；Office Agent 要证明的是办公事实链。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844D53-7132-4C34-B334-7D496A12F61B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Codex App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6"/>
              </a:rPr>
              <a:t>Claude Code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1EDB15-1089-4C82-80E1-8004054F0989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10 / 24</a:t>
            </a:r>
          </a:p>
        </p:txBody>
      </p:sp>
    </p:spTree>
    <p:extLst>
      <p:ext uri="{BB962C8B-B14F-4D97-AF65-F5344CB8AC3E}">
        <p14:creationId xmlns:p14="http://schemas.microsoft.com/office/powerpoint/2010/main" val="1110527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E2F42607-065B-4B0B-A238-2FA3FCE59EE9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真正该比的，不是功能数量，而是五个可审查对象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AD3DC7-D796-4353-ACE1-EE598C390482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0A2404-0539-4D31-B334-C1DAC6B25C29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以下为官方定位与当前实现的结构化归纳，不是同场实测结果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B981DD0-5F78-4699-8036-76B841F9EFBD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13144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143C1-46C5-448B-B635-F6778CBC874A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比较对象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393452-B463-459A-9230-43B72C8E2718}"/>
              </a:ext>
            </a:extLst>
          </p:cNvPr>
          <p:cNvSpPr>
            <a:spLocks noGrp="1"/>
          </p:cNvSpPr>
          <p:nvPr/>
        </p:nvSpPr>
        <p:spPr>
          <a:xfrm>
            <a:off x="1809750" y="1657350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7538A4-0E83-4E5F-9426-F52DBE705F29}"/>
              </a:ext>
            </a:extLst>
          </p:cNvPr>
          <p:cNvSpPr>
            <a:spLocks noGrp="1"/>
          </p:cNvSpPr>
          <p:nvPr/>
        </p:nvSpPr>
        <p:spPr>
          <a:xfrm>
            <a:off x="1885950" y="1743075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办公套件内嵌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52F054-9424-442D-837D-B76FDBD67679}"/>
              </a:ext>
            </a:extLst>
          </p:cNvPr>
          <p:cNvSpPr>
            <a:spLocks noGrp="1"/>
          </p:cNvSpPr>
          <p:nvPr/>
        </p:nvSpPr>
        <p:spPr>
          <a:xfrm>
            <a:off x="4095750" y="1657350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19861F-878F-4456-BEAF-518A7E949353}"/>
              </a:ext>
            </a:extLst>
          </p:cNvPr>
          <p:cNvSpPr>
            <a:spLocks noGrp="1"/>
          </p:cNvSpPr>
          <p:nvPr/>
        </p:nvSpPr>
        <p:spPr>
          <a:xfrm>
            <a:off x="4171950" y="1743075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研究工作台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70CBCA7-BF35-40B9-9664-058B7AAB6D97}"/>
              </a:ext>
            </a:extLst>
          </p:cNvPr>
          <p:cNvSpPr>
            <a:spLocks noGrp="1"/>
          </p:cNvSpPr>
          <p:nvPr/>
        </p:nvSpPr>
        <p:spPr>
          <a:xfrm>
            <a:off x="6381750" y="165735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4CAC00-9E2A-4DEF-AAB5-43E60DEEA0EF}"/>
              </a:ext>
            </a:extLst>
          </p:cNvPr>
          <p:cNvSpPr>
            <a:spLocks noGrp="1"/>
          </p:cNvSpPr>
          <p:nvPr/>
        </p:nvSpPr>
        <p:spPr>
          <a:xfrm>
            <a:off x="6457950" y="174307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代码执行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729B0D4-C313-454D-9635-3D9A50B9A9CB}"/>
              </a:ext>
            </a:extLst>
          </p:cNvPr>
          <p:cNvSpPr>
            <a:spLocks noGrp="1"/>
          </p:cNvSpPr>
          <p:nvPr/>
        </p:nvSpPr>
        <p:spPr>
          <a:xfrm>
            <a:off x="8572500" y="1657350"/>
            <a:ext cx="3124200" cy="400050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F55CF1-2C7B-4744-B59E-E6AF2F0B8ECD}"/>
              </a:ext>
            </a:extLst>
          </p:cNvPr>
          <p:cNvSpPr>
            <a:spLocks noGrp="1"/>
          </p:cNvSpPr>
          <p:nvPr/>
        </p:nvSpPr>
        <p:spPr>
          <a:xfrm>
            <a:off x="8648700" y="174307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75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Office Agent 当前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938D75-F0B2-4B83-BF47-9FD0C70B252A}"/>
              </a:ext>
            </a:extLst>
          </p:cNvPr>
          <p:cNvSpPr>
            <a:spLocks noGrp="1"/>
          </p:cNvSpPr>
          <p:nvPr/>
        </p:nvSpPr>
        <p:spPr>
          <a:xfrm>
            <a:off x="495300" y="20574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298911-8ECE-4E6C-92B0-91AAA2FB80A8}"/>
              </a:ext>
            </a:extLst>
          </p:cNvPr>
          <p:cNvSpPr>
            <a:spLocks noGrp="1"/>
          </p:cNvSpPr>
          <p:nvPr/>
        </p:nvSpPr>
        <p:spPr>
          <a:xfrm>
            <a:off x="581025" y="21526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工作对象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768284-1E8B-4E95-AD65-9762A1ADA5E2}"/>
              </a:ext>
            </a:extLst>
          </p:cNvPr>
          <p:cNvSpPr>
            <a:spLocks noGrp="1"/>
          </p:cNvSpPr>
          <p:nvPr/>
        </p:nvSpPr>
        <p:spPr>
          <a:xfrm>
            <a:off x="1809750" y="20574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2AE38B-87CC-432A-B13F-075E945FB45B}"/>
              </a:ext>
            </a:extLst>
          </p:cNvPr>
          <p:cNvSpPr>
            <a:spLocks noGrp="1"/>
          </p:cNvSpPr>
          <p:nvPr/>
        </p:nvSpPr>
        <p:spPr>
          <a:xfrm>
            <a:off x="1895475" y="21526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邮件、文档、会议、企业图谱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382D19-8B82-4475-AE35-7FE36D35589D}"/>
              </a:ext>
            </a:extLst>
          </p:cNvPr>
          <p:cNvSpPr>
            <a:spLocks noGrp="1"/>
          </p:cNvSpPr>
          <p:nvPr/>
        </p:nvSpPr>
        <p:spPr>
          <a:xfrm>
            <a:off x="4095750" y="20574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170912-D44A-40F6-8E8E-370CB6FD8E42}"/>
              </a:ext>
            </a:extLst>
          </p:cNvPr>
          <p:cNvSpPr>
            <a:spLocks noGrp="1"/>
          </p:cNvSpPr>
          <p:nvPr/>
        </p:nvSpPr>
        <p:spPr>
          <a:xfrm>
            <a:off x="4181475" y="21526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网页、文件、连接应用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F29CD93-C00B-4A7B-A7CD-54A9D0B8E37E}"/>
              </a:ext>
            </a:extLst>
          </p:cNvPr>
          <p:cNvSpPr>
            <a:spLocks noGrp="1"/>
          </p:cNvSpPr>
          <p:nvPr/>
        </p:nvSpPr>
        <p:spPr>
          <a:xfrm>
            <a:off x="6381750" y="20574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0BC671-3242-4B71-AC42-7A81CDB5A405}"/>
              </a:ext>
            </a:extLst>
          </p:cNvPr>
          <p:cNvSpPr>
            <a:spLocks noGrp="1"/>
          </p:cNvSpPr>
          <p:nvPr/>
        </p:nvSpPr>
        <p:spPr>
          <a:xfrm>
            <a:off x="6467475" y="21526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仓库、终端、任务线程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797E12B-26B8-4542-BE2B-3E638DC1A8A2}"/>
              </a:ext>
            </a:extLst>
          </p:cNvPr>
          <p:cNvSpPr>
            <a:spLocks noGrp="1"/>
          </p:cNvSpPr>
          <p:nvPr/>
        </p:nvSpPr>
        <p:spPr>
          <a:xfrm>
            <a:off x="8572500" y="20574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4BD3CE-D961-4AA7-AEE9-8CFC787F1F59}"/>
              </a:ext>
            </a:extLst>
          </p:cNvPr>
          <p:cNvSpPr>
            <a:spLocks noGrp="1"/>
          </p:cNvSpPr>
          <p:nvPr/>
        </p:nvSpPr>
        <p:spPr>
          <a:xfrm>
            <a:off x="8658225" y="21526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冻结资料库、任务 / 运行 / 分支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6ECA33-1F71-43D4-B79B-00DCF5951DAE}"/>
              </a:ext>
            </a:extLst>
          </p:cNvPr>
          <p:cNvSpPr>
            <a:spLocks noGrp="1"/>
          </p:cNvSpPr>
          <p:nvPr/>
        </p:nvSpPr>
        <p:spPr>
          <a:xfrm>
            <a:off x="495300" y="2762250"/>
            <a:ext cx="13144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5808D3-E16A-4348-A09A-D323D93948CB}"/>
              </a:ext>
            </a:extLst>
          </p:cNvPr>
          <p:cNvSpPr>
            <a:spLocks noGrp="1"/>
          </p:cNvSpPr>
          <p:nvPr/>
        </p:nvSpPr>
        <p:spPr>
          <a:xfrm>
            <a:off x="581025" y="285750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708DF97-972E-4263-86D5-7C44923B7C3E}"/>
              </a:ext>
            </a:extLst>
          </p:cNvPr>
          <p:cNvSpPr>
            <a:spLocks noGrp="1"/>
          </p:cNvSpPr>
          <p:nvPr/>
        </p:nvSpPr>
        <p:spPr>
          <a:xfrm>
            <a:off x="1809750" y="27622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01E9E2-4244-4B87-953F-EF8F09972BBA}"/>
              </a:ext>
            </a:extLst>
          </p:cNvPr>
          <p:cNvSpPr>
            <a:spLocks noGrp="1"/>
          </p:cNvSpPr>
          <p:nvPr/>
        </p:nvSpPr>
        <p:spPr>
          <a:xfrm>
            <a:off x="1895475" y="28575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应用活动、自动化流程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CAA2B6-3418-4572-95B8-630097BD91D9}"/>
              </a:ext>
            </a:extLst>
          </p:cNvPr>
          <p:cNvSpPr>
            <a:spLocks noGrp="1"/>
          </p:cNvSpPr>
          <p:nvPr/>
        </p:nvSpPr>
        <p:spPr>
          <a:xfrm>
            <a:off x="4095750" y="27622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553F17-7E54-4322-8D83-6BCEB50C9FB3}"/>
              </a:ext>
            </a:extLst>
          </p:cNvPr>
          <p:cNvSpPr>
            <a:spLocks noGrp="1"/>
          </p:cNvSpPr>
          <p:nvPr/>
        </p:nvSpPr>
        <p:spPr>
          <a:xfrm>
            <a:off x="4181475" y="28575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研究计划、来源与报告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7E2966-2FE7-480D-A42B-BF8A5D5F3559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21907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DC80ED5-5C0C-4705-B7E2-357779D3E7F6}"/>
              </a:ext>
            </a:extLst>
          </p:cNvPr>
          <p:cNvSpPr>
            <a:spLocks noGrp="1"/>
          </p:cNvSpPr>
          <p:nvPr/>
        </p:nvSpPr>
        <p:spPr>
          <a:xfrm>
            <a:off x="6467475" y="285750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会话、工作区、检查点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E0EA0CC-FF69-4247-9824-C52E27193B32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C59E6D-59B1-4451-B28D-AF4E487D074B}"/>
              </a:ext>
            </a:extLst>
          </p:cNvPr>
          <p:cNvSpPr>
            <a:spLocks noGrp="1"/>
          </p:cNvSpPr>
          <p:nvPr/>
        </p:nvSpPr>
        <p:spPr>
          <a:xfrm>
            <a:off x="8658225" y="285750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双版本状态、分支与成果历史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683420-EFDD-4923-A65B-61556643E28C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9140ACE-EB23-4BC5-ACDC-8DBE5436524B}"/>
              </a:ext>
            </a:extLst>
          </p:cNvPr>
          <p:cNvSpPr>
            <a:spLocks noGrp="1"/>
          </p:cNvSpPr>
          <p:nvPr/>
        </p:nvSpPr>
        <p:spPr>
          <a:xfrm>
            <a:off x="581025" y="35623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9E562CF-63E2-45BE-A6A5-65ADD7BB6905}"/>
              </a:ext>
            </a:extLst>
          </p:cNvPr>
          <p:cNvSpPr>
            <a:spLocks noGrp="1"/>
          </p:cNvSpPr>
          <p:nvPr/>
        </p:nvSpPr>
        <p:spPr>
          <a:xfrm>
            <a:off x="1809750" y="34671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9191EB4-D7BD-4FA6-A6E7-DB928B319634}"/>
              </a:ext>
            </a:extLst>
          </p:cNvPr>
          <p:cNvSpPr>
            <a:spLocks noGrp="1"/>
          </p:cNvSpPr>
          <p:nvPr/>
        </p:nvSpPr>
        <p:spPr>
          <a:xfrm>
            <a:off x="1895475" y="35623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来源链接、应用上下文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FA28BA-0380-4B1E-A80C-676DC38A3363}"/>
              </a:ext>
            </a:extLst>
          </p:cNvPr>
          <p:cNvSpPr>
            <a:spLocks noGrp="1"/>
          </p:cNvSpPr>
          <p:nvPr/>
        </p:nvSpPr>
        <p:spPr>
          <a:xfrm>
            <a:off x="4095750" y="34671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278A2E-E141-4A01-9AA3-ED7D716AF49D}"/>
              </a:ext>
            </a:extLst>
          </p:cNvPr>
          <p:cNvSpPr>
            <a:spLocks noGrp="1"/>
          </p:cNvSpPr>
          <p:nvPr/>
        </p:nvSpPr>
        <p:spPr>
          <a:xfrm>
            <a:off x="4181475" y="35623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引用、步骤、来源列表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F185FC-63D1-4EF0-9651-5DCEADF69557}"/>
              </a:ext>
            </a:extLst>
          </p:cNvPr>
          <p:cNvSpPr>
            <a:spLocks noGrp="1"/>
          </p:cNvSpPr>
          <p:nvPr/>
        </p:nvSpPr>
        <p:spPr>
          <a:xfrm>
            <a:off x="6381750" y="34671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F0A971B-9454-4ED4-966B-B099E155290E}"/>
              </a:ext>
            </a:extLst>
          </p:cNvPr>
          <p:cNvSpPr>
            <a:spLocks noGrp="1"/>
          </p:cNvSpPr>
          <p:nvPr/>
        </p:nvSpPr>
        <p:spPr>
          <a:xfrm>
            <a:off x="6467475" y="35623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差异、命令与测试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9C078BF-31F2-4646-88D1-9C2C33600958}"/>
              </a:ext>
            </a:extLst>
          </p:cNvPr>
          <p:cNvSpPr>
            <a:spLocks noGrp="1"/>
          </p:cNvSpPr>
          <p:nvPr/>
        </p:nvSpPr>
        <p:spPr>
          <a:xfrm>
            <a:off x="8572500" y="34671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4D14FCB-85FC-4723-B9C9-EE56379B9CF2}"/>
              </a:ext>
            </a:extLst>
          </p:cNvPr>
          <p:cNvSpPr>
            <a:spLocks noGrp="1"/>
          </p:cNvSpPr>
          <p:nvPr/>
        </p:nvSpPr>
        <p:spPr>
          <a:xfrm>
            <a:off x="8658225" y="35623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文件引用 + 原文锚点 + 证据门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03EF39-0478-4F25-8930-53EAC2E89E6F}"/>
              </a:ext>
            </a:extLst>
          </p:cNvPr>
          <p:cNvSpPr>
            <a:spLocks noGrp="1"/>
          </p:cNvSpPr>
          <p:nvPr/>
        </p:nvSpPr>
        <p:spPr>
          <a:xfrm>
            <a:off x="495300" y="4171950"/>
            <a:ext cx="13144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4662E0-2EB2-4861-A2A8-459C43D4C0D2}"/>
              </a:ext>
            </a:extLst>
          </p:cNvPr>
          <p:cNvSpPr>
            <a:spLocks noGrp="1"/>
          </p:cNvSpPr>
          <p:nvPr/>
        </p:nvSpPr>
        <p:spPr>
          <a:xfrm>
            <a:off x="581025" y="426720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9AB9110-6B1A-45FC-8E0E-9D53BEC8A5F1}"/>
              </a:ext>
            </a:extLst>
          </p:cNvPr>
          <p:cNvSpPr>
            <a:spLocks noGrp="1"/>
          </p:cNvSpPr>
          <p:nvPr/>
        </p:nvSpPr>
        <p:spPr>
          <a:xfrm>
            <a:off x="1809750" y="41719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E579706-C2C8-487A-8212-5AE19A506072}"/>
              </a:ext>
            </a:extLst>
          </p:cNvPr>
          <p:cNvSpPr>
            <a:spLocks noGrp="1"/>
          </p:cNvSpPr>
          <p:nvPr/>
        </p:nvSpPr>
        <p:spPr>
          <a:xfrm>
            <a:off x="1895475" y="42672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文档、消息、图表、自动化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BE7F613-B5BA-4948-BEDE-DEAB3D028463}"/>
              </a:ext>
            </a:extLst>
          </p:cNvPr>
          <p:cNvSpPr>
            <a:spLocks noGrp="1"/>
          </p:cNvSpPr>
          <p:nvPr/>
        </p:nvSpPr>
        <p:spPr>
          <a:xfrm>
            <a:off x="4095750" y="4171950"/>
            <a:ext cx="228600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1DCD301-5141-43B7-8793-3BC5577A3A4C}"/>
              </a:ext>
            </a:extLst>
          </p:cNvPr>
          <p:cNvSpPr>
            <a:spLocks noGrp="1"/>
          </p:cNvSpPr>
          <p:nvPr/>
        </p:nvSpPr>
        <p:spPr>
          <a:xfrm>
            <a:off x="4181475" y="426720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带引用报告与导出文件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D78272C-E6B6-43A9-A639-6193709FE984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2190750" cy="704850"/>
          </a:xfrm>
          <a:prstGeom prst="rect">
            <a:avLst/>
          </a:prstGeom>
          <a:solidFill>
            <a:srgbClr val="F9FBFD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AC8625B-2E49-4238-B134-BF1C219CE15C}"/>
              </a:ext>
            </a:extLst>
          </p:cNvPr>
          <p:cNvSpPr>
            <a:spLocks noGrp="1"/>
          </p:cNvSpPr>
          <p:nvPr/>
        </p:nvSpPr>
        <p:spPr>
          <a:xfrm>
            <a:off x="6467475" y="426720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代码修改、分支、合并请求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408AC45-CFF0-4363-9449-4B5653B07435}"/>
              </a:ext>
            </a:extLst>
          </p:cNvPr>
          <p:cNvSpPr>
            <a:spLocks noGrp="1"/>
          </p:cNvSpPr>
          <p:nvPr/>
        </p:nvSpPr>
        <p:spPr>
          <a:xfrm>
            <a:off x="8572500" y="417195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F7BE6E1-E166-4E5B-B504-1566869D3618}"/>
              </a:ext>
            </a:extLst>
          </p:cNvPr>
          <p:cNvSpPr>
            <a:spLocks noGrp="1"/>
          </p:cNvSpPr>
          <p:nvPr/>
        </p:nvSpPr>
        <p:spPr>
          <a:xfrm>
            <a:off x="8658225" y="426720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隔离办公成果 + 校验回执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5A66CD-64B5-48BA-B28B-AD5DDF79FFDA}"/>
              </a:ext>
            </a:extLst>
          </p:cNvPr>
          <p:cNvSpPr>
            <a:spLocks noGrp="1"/>
          </p:cNvSpPr>
          <p:nvPr/>
        </p:nvSpPr>
        <p:spPr>
          <a:xfrm>
            <a:off x="495300" y="4876800"/>
            <a:ext cx="13144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8694210-58D2-4904-B344-4AA6E8A67E64}"/>
              </a:ext>
            </a:extLst>
          </p:cNvPr>
          <p:cNvSpPr>
            <a:spLocks noGrp="1"/>
          </p:cNvSpPr>
          <p:nvPr/>
        </p:nvSpPr>
        <p:spPr>
          <a:xfrm>
            <a:off x="581025" y="4972050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人工与动作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28039D7-83F9-413B-B2CD-D97315FC88C8}"/>
              </a:ext>
            </a:extLst>
          </p:cNvPr>
          <p:cNvSpPr>
            <a:spLocks noGrp="1"/>
          </p:cNvSpPr>
          <p:nvPr/>
        </p:nvSpPr>
        <p:spPr>
          <a:xfrm>
            <a:off x="1809750" y="48768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B5BAF31-B362-4380-B27F-81AB3367DCB6}"/>
              </a:ext>
            </a:extLst>
          </p:cNvPr>
          <p:cNvSpPr>
            <a:spLocks noGrp="1"/>
          </p:cNvSpPr>
          <p:nvPr/>
        </p:nvSpPr>
        <p:spPr>
          <a:xfrm>
            <a:off x="1895475" y="49720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设置范围；动作受平台权限控制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9008012-42E7-475F-B571-B195ADDEDCC8}"/>
              </a:ext>
            </a:extLst>
          </p:cNvPr>
          <p:cNvSpPr>
            <a:spLocks noGrp="1"/>
          </p:cNvSpPr>
          <p:nvPr/>
        </p:nvSpPr>
        <p:spPr>
          <a:xfrm>
            <a:off x="4095750" y="4876800"/>
            <a:ext cx="228600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F4D27A5-9A93-466B-853C-B3385E70DD07}"/>
              </a:ext>
            </a:extLst>
          </p:cNvPr>
          <p:cNvSpPr>
            <a:spLocks noGrp="1"/>
          </p:cNvSpPr>
          <p:nvPr/>
        </p:nvSpPr>
        <p:spPr>
          <a:xfrm>
            <a:off x="4181475" y="497205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审计划、可中断；研究连接多为只读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252DFFC-C88B-4871-AEA0-8829070AEFFA}"/>
              </a:ext>
            </a:extLst>
          </p:cNvPr>
          <p:cNvSpPr>
            <a:spLocks noGrp="1"/>
          </p:cNvSpPr>
          <p:nvPr/>
        </p:nvSpPr>
        <p:spPr>
          <a:xfrm>
            <a:off x="6381750" y="4876800"/>
            <a:ext cx="2190750" cy="704850"/>
          </a:xfrm>
          <a:prstGeom prst="rect">
            <a:avLst/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350D578-3532-4096-BA3E-F37B23D1C4E3}"/>
              </a:ext>
            </a:extLst>
          </p:cNvPr>
          <p:cNvSpPr>
            <a:spLocks noGrp="1"/>
          </p:cNvSpPr>
          <p:nvPr/>
        </p:nvSpPr>
        <p:spPr>
          <a:xfrm>
            <a:off x="6467475" y="4972050"/>
            <a:ext cx="2019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2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审权限、Diff 与命令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3111584-D67E-4777-9761-1D99C24E6301}"/>
              </a:ext>
            </a:extLst>
          </p:cNvPr>
          <p:cNvSpPr>
            <a:spLocks noGrp="1"/>
          </p:cNvSpPr>
          <p:nvPr/>
        </p:nvSpPr>
        <p:spPr>
          <a:xfrm>
            <a:off x="8572500" y="4876800"/>
            <a:ext cx="3124200" cy="704850"/>
          </a:xfrm>
          <a:prstGeom prst="rect">
            <a:avLst/>
          </a:prstGeom>
          <a:solidFill>
            <a:srgbClr val="F7FAFF"/>
          </a:solidFill>
          <a:ln w="13335">
            <a:solidFill>
              <a:srgbClr val="CBD5DF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B97D65E-9686-4EAF-84C4-EF2ED7BCDB28}"/>
              </a:ext>
            </a:extLst>
          </p:cNvPr>
          <p:cNvSpPr>
            <a:spLocks noGrp="1"/>
          </p:cNvSpPr>
          <p:nvPr/>
        </p:nvSpPr>
        <p:spPr>
          <a:xfrm>
            <a:off x="8658225" y="49720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238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选分支、决策、回滚；外部动作未实现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761105D-2CBD-4B97-855C-87CD5B849F3E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FA17978-85DC-4898-BC59-E23E01E9B926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EF64581-DC88-418F-91AD-22684E9217E5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575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差异候选不是“能不能做”，而是这些事实能否在同一链路里相互对账。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4008D46-1218-4481-86C4-726585895CFF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官方依据：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3"/>
              </a:rPr>
              <a:t>Microsoft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4"/>
              </a:rPr>
              <a:t>Google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Notion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6"/>
              </a:rPr>
              <a:t>OpenAI</a:t>
            </a: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7"/>
              </a:rPr>
              <a:t>Anthropic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9A74E59-2F23-4531-AE67-039226430BE0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11 / 24</a:t>
            </a:r>
          </a:p>
        </p:txBody>
      </p:sp>
    </p:spTree>
    <p:extLst>
      <p:ext uri="{BB962C8B-B14F-4D97-AF65-F5344CB8AC3E}">
        <p14:creationId xmlns:p14="http://schemas.microsoft.com/office/powerpoint/2010/main" val="701628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BD65E18-5423-44D3-8F9B-74503C48BD45}"/>
              </a:ext>
            </a:extLst>
          </p:cNvPr>
          <p:cNvSpPr>
            <a:spLocks noGrp="1"/>
          </p:cNvSpPr>
          <p:nvPr/>
        </p:nvSpPr>
        <p:spPr>
          <a:xfrm>
            <a:off x="476250" y="323850"/>
            <a:ext cx="11239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31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Office Agent 的候选差异：不是能力更多，而是证明链更完整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C887E6-02D3-48CA-9A1D-B45CDE4586AF}"/>
              </a:ext>
            </a:extLst>
          </p:cNvPr>
          <p:cNvSpPr>
            <a:spLocks noGrp="1"/>
          </p:cNvSpPr>
          <p:nvPr/>
        </p:nvSpPr>
        <p:spPr>
          <a:xfrm>
            <a:off x="495300" y="1085850"/>
            <a:ext cx="11201400" cy="19050"/>
          </a:xfrm>
          <a:prstGeom prst="rect">
            <a:avLst/>
          </a:prstGeom>
          <a:solidFill>
            <a:srgbClr val="CBD5D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0481C7-0E2C-4D7C-A372-87F735438A4B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114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38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538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当前只验证了一条受控办公纵切；要成为市场差异，仍需固定配置同场实测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6FC639-67A0-4B00-8C3D-A3CDC797E083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5429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rcRect t="23308" b="23308"/>
          <a:stretch>
            <a:fillRect/>
          </a:stretch>
        </p:blipFill>
        <p:spPr>
          <a:xfrm>
            <a:off x="523875" y="1724025"/>
            <a:ext cx="5372100" cy="2190750"/>
          </a:xfrm>
          <a:prstGeom prst="roundRect">
            <a:avLst>
              <a:gd name="adj" fmla="val 1739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78F1A6-6BCB-47C9-9D9F-A304CF07645F}"/>
              </a:ext>
            </a:extLst>
          </p:cNvPr>
          <p:cNvSpPr>
            <a:spLocks noGrp="1"/>
          </p:cNvSpPr>
          <p:nvPr/>
        </p:nvSpPr>
        <p:spPr>
          <a:xfrm>
            <a:off x="6267450" y="1695450"/>
            <a:ext cx="542925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3335">
            <a:solidFill>
              <a:srgbClr val="CBD5DF"/>
            </a:solidFill>
            <a:prstDash val="solid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rcRect t="23308" b="23308"/>
          <a:stretch>
            <a:fillRect/>
          </a:stretch>
        </p:blipFill>
        <p:spPr>
          <a:xfrm>
            <a:off x="6296025" y="1724025"/>
            <a:ext cx="5372100" cy="2190750"/>
          </a:xfrm>
          <a:prstGeom prst="roundRect">
            <a:avLst>
              <a:gd name="adj" fmla="val 1739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7D4F0F9-0A44-4EE7-8F73-261BE17285E8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2D8736"/>
                </a:solidFill>
                <a:latin typeface="Segoe UI Semibold"/>
                <a:ea typeface="Segoe UI Semibold"/>
                <a:cs typeface="Segoe UI Semibold"/>
              </a:rPr>
              <a:t>当前有证据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38380E-5D5B-4C22-8693-1CDF9196B337}"/>
              </a:ext>
            </a:extLst>
          </p:cNvPr>
          <p:cNvSpPr>
            <a:spLocks noGrp="1"/>
          </p:cNvSpPr>
          <p:nvPr/>
        </p:nvSpPr>
        <p:spPr>
          <a:xfrm>
            <a:off x="495300" y="4476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19F078-5882-40DE-A3FD-35CEF8D76E15}"/>
              </a:ext>
            </a:extLst>
          </p:cNvPr>
          <p:cNvSpPr>
            <a:spLocks noGrp="1"/>
          </p:cNvSpPr>
          <p:nvPr/>
        </p:nvSpPr>
        <p:spPr>
          <a:xfrm>
            <a:off x="647700" y="441007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整库索引冻结；计划由服务端编译为分支与路线。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15F3F7B-5623-4108-B11F-B159CE63EB4B}"/>
              </a:ext>
            </a:extLst>
          </p:cNvPr>
          <p:cNvSpPr>
            <a:spLocks noGrp="1"/>
          </p:cNvSpPr>
          <p:nvPr/>
        </p:nvSpPr>
        <p:spPr>
          <a:xfrm>
            <a:off x="495300" y="48863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C3E014-8F83-4B80-90B3-DA4C9C6968B0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发现项绑定批准来源与原文锚点；模型返回与采用分开。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3A021DE-2548-4A4D-9966-8A75892E5512}"/>
              </a:ext>
            </a:extLst>
          </p:cNvPr>
          <p:cNvSpPr>
            <a:spLocks noGrp="1"/>
          </p:cNvSpPr>
          <p:nvPr/>
        </p:nvSpPr>
        <p:spPr>
          <a:xfrm>
            <a:off x="495300" y="52959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2D8736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CAEE63-E881-4A18-844F-3DA4B411D1E6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隔离成果 + 校验回执 + 版本 / 提交历史。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DC7997-FC0D-49C6-BDE5-5A15248E02B3}"/>
              </a:ext>
            </a:extLst>
          </p:cNvPr>
          <p:cNvSpPr>
            <a:spLocks noGrp="1"/>
          </p:cNvSpPr>
          <p:nvPr/>
        </p:nvSpPr>
        <p:spPr>
          <a:xfrm>
            <a:off x="6267450" y="405765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725" b="1">
                <a:solidFill>
                  <a:srgbClr val="D86E00"/>
                </a:solidFill>
                <a:latin typeface="Segoe UI Semibold"/>
                <a:ea typeface="Segoe UI Semibold"/>
                <a:cs typeface="Segoe UI Semibold"/>
              </a:rPr>
              <a:t>仍没有证据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A506742-4612-4FE2-B352-2825D4DBB753}"/>
              </a:ext>
            </a:extLst>
          </p:cNvPr>
          <p:cNvSpPr>
            <a:spLocks noGrp="1"/>
          </p:cNvSpPr>
          <p:nvPr/>
        </p:nvSpPr>
        <p:spPr>
          <a:xfrm>
            <a:off x="6267450" y="447675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98D9C-9CD5-4BA4-A79F-AE18519230BB}"/>
              </a:ext>
            </a:extLst>
          </p:cNvPr>
          <p:cNvSpPr>
            <a:spLocks noGrp="1"/>
          </p:cNvSpPr>
          <p:nvPr/>
        </p:nvSpPr>
        <p:spPr>
          <a:xfrm>
            <a:off x="6419850" y="441007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微软 / 谷歌 / Notion 原生连接器与源文件写回。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40CEF8E-5F75-4F3F-81C0-1E75F326EB8F}"/>
              </a:ext>
            </a:extLst>
          </p:cNvPr>
          <p:cNvSpPr>
            <a:spLocks noGrp="1"/>
          </p:cNvSpPr>
          <p:nvPr/>
        </p:nvSpPr>
        <p:spPr>
          <a:xfrm>
            <a:off x="6267450" y="4886325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C50D01-0193-4A9A-AD7B-3BBEEBC5A7C6}"/>
              </a:ext>
            </a:extLst>
          </p:cNvPr>
          <p:cNvSpPr>
            <a:spLocks noGrp="1"/>
          </p:cNvSpPr>
          <p:nvPr/>
        </p:nvSpPr>
        <p:spPr>
          <a:xfrm>
            <a:off x="6419850" y="4819650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远程执行单元、分布式租约、多实例协调与生产认证。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98D7854-8E4B-4097-BE29-BD25930DDBE4}"/>
              </a:ext>
            </a:extLst>
          </p:cNvPr>
          <p:cNvSpPr>
            <a:spLocks noGrp="1"/>
          </p:cNvSpPr>
          <p:nvPr/>
        </p:nvSpPr>
        <p:spPr>
          <a:xfrm>
            <a:off x="6267450" y="529590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D86E00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B31779-1537-4BFF-88F0-B30AE1323BE5}"/>
              </a:ext>
            </a:extLst>
          </p:cNvPr>
          <p:cNvSpPr>
            <a:spLocks noGrp="1"/>
          </p:cNvSpPr>
          <p:nvPr/>
        </p:nvSpPr>
        <p:spPr>
          <a:xfrm>
            <a:off x="6419850" y="5229225"/>
            <a:ext cx="527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F293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用户研究与真实效率、信任、业务价值提升。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99F3392-7D02-4CC1-B221-805750D4B5FA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11201400" cy="523875"/>
          </a:xfrm>
          <a:prstGeom prst="roundRect">
            <a:avLst>
              <a:gd name="adj" fmla="val 14545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CBACE1-C0B0-416E-8527-03DE40629FA3}"/>
              </a:ext>
            </a:extLst>
          </p:cNvPr>
          <p:cNvSpPr>
            <a:spLocks noGrp="1"/>
          </p:cNvSpPr>
          <p:nvPr/>
        </p:nvSpPr>
        <p:spPr>
          <a:xfrm>
            <a:off x="495300" y="5676900"/>
            <a:ext cx="66675" cy="5238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2ECBFB-6CE0-4DF7-BC5C-24E1F89EC4BE}"/>
              </a:ext>
            </a:extLst>
          </p:cNvPr>
          <p:cNvSpPr>
            <a:spLocks noGrp="1"/>
          </p:cNvSpPr>
          <p:nvPr/>
        </p:nvSpPr>
        <p:spPr>
          <a:xfrm>
            <a:off x="704850" y="5753100"/>
            <a:ext cx="10810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defRPr>
            </a:pPr>
            <a:r>
              <a:rPr sz="1388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同场证伪四题：结论能否定位？能否只补一支？成果是否真写出？计划、批准、执行是否分开？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CA82EA-CF6F-4639-B935-33D66EDF84AD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Segoe UI"/>
                <a:ea typeface="Segoe UI"/>
                <a:cs typeface="Segoe UI"/>
              </a:defRPr>
            </a:pPr>
            <a:r>
              <a:rPr sz="1163" b="0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系统与评测依据：</a:t>
            </a:r>
            <a:r>
              <a:rPr sz="1163" b="0" u="sng">
                <a:solidFill>
                  <a:srgbClr val="1769E0"/>
                </a:solidFill>
                <a:latin typeface="Segoe UI"/>
                <a:ea typeface="Segoe UI"/>
                <a:cs typeface="Segoe UI"/>
                <a:hlinkClick r:id="rId5"/>
              </a:rPr>
              <a:t>当前产品仓库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BB8824-A3D4-495A-AC98-83F7EC4DC41C}"/>
              </a:ext>
            </a:extLst>
          </p:cNvPr>
          <p:cNvSpPr>
            <a:spLocks noGrp="1"/>
          </p:cNvSpPr>
          <p:nvPr/>
        </p:nvSpPr>
        <p:spPr>
          <a:xfrm>
            <a:off x="11191875" y="64579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0">
                <a:solidFill>
                  <a:srgbClr val="7C8A98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12 / 24</a:t>
            </a:r>
          </a:p>
        </p:txBody>
      </p:sp>
    </p:spTree>
    <p:extLst>
      <p:ext uri="{BB962C8B-B14F-4D97-AF65-F5344CB8AC3E}">
        <p14:creationId xmlns:p14="http://schemas.microsoft.com/office/powerpoint/2010/main" val="116856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7B747E1-0A14-48A2-9BEF-E99393F600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A77661-EC77-4335-AB87-31AED2B037CC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2206316-AA94-4585-8EBF-88242DC9292D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734996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技术差异如何一步步改变用户流程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D71EB4A-0377-4DDA-99BB-FA2A5FD1D252}"/>
              </a:ext>
            </a:extLst>
          </p:cNvPr>
          <p:cNvSpPr>
            <a:spLocks noGrp="1"/>
          </p:cNvSpPr>
          <p:nvPr/>
        </p:nvSpPr>
        <p:spPr>
          <a:xfrm>
            <a:off x="484632" y="1240155"/>
            <a:ext cx="628459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不是增加更多状态，而是重新分配“谁负责判断”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31F71D1-5A84-4E46-84FA-FDA536884AC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2" name="Ellipse 12">
            <a:extLst>
              <a:ext uri="{FF2B5EF4-FFF2-40B4-BE49-F238E27FC236}">
                <a16:creationId xmlns:a16="http://schemas.microsoft.com/office/drawing/2014/main" id="{0380F3C0-E598-4BF7-8C95-FA3E72622090}"/>
              </a:ext>
            </a:extLst>
          </p:cNvPr>
          <p:cNvSpPr>
            <a:spLocks noGrp="1"/>
          </p:cNvSpPr>
          <p:nvPr/>
        </p:nvSpPr>
        <p:spPr>
          <a:xfrm>
            <a:off x="1200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E68BF6A-59D0-42D9-A99D-F6FE4FE70A38}"/>
              </a:ext>
            </a:extLst>
          </p:cNvPr>
          <p:cNvSpPr>
            <a:spLocks noGrp="1"/>
          </p:cNvSpPr>
          <p:nvPr/>
        </p:nvSpPr>
        <p:spPr>
          <a:xfrm>
            <a:off x="1372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Ellipse 14">
            <a:extLst>
              <a:ext uri="{FF2B5EF4-FFF2-40B4-BE49-F238E27FC236}">
                <a16:creationId xmlns:a16="http://schemas.microsoft.com/office/drawing/2014/main" id="{E140F302-92CF-4ACA-8733-2699B9861977}"/>
              </a:ext>
            </a:extLst>
          </p:cNvPr>
          <p:cNvSpPr>
            <a:spLocks noGrp="1"/>
          </p:cNvSpPr>
          <p:nvPr/>
        </p:nvSpPr>
        <p:spPr>
          <a:xfrm>
            <a:off x="3486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BDF0345-D28B-4A72-B7D4-2948AE98DB63}"/>
              </a:ext>
            </a:extLst>
          </p:cNvPr>
          <p:cNvSpPr>
            <a:spLocks noGrp="1"/>
          </p:cNvSpPr>
          <p:nvPr/>
        </p:nvSpPr>
        <p:spPr>
          <a:xfrm>
            <a:off x="3658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6" name="Ellipse 16">
            <a:extLst>
              <a:ext uri="{FF2B5EF4-FFF2-40B4-BE49-F238E27FC236}">
                <a16:creationId xmlns:a16="http://schemas.microsoft.com/office/drawing/2014/main" id="{EFB106CF-28E0-4946-BCEF-76ACC9E6D1EE}"/>
              </a:ext>
            </a:extLst>
          </p:cNvPr>
          <p:cNvSpPr>
            <a:spLocks noGrp="1"/>
          </p:cNvSpPr>
          <p:nvPr/>
        </p:nvSpPr>
        <p:spPr>
          <a:xfrm>
            <a:off x="5772150" y="2247900"/>
            <a:ext cx="457200" cy="4572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96F8BFF-C4F0-4C61-BD21-984021FEA78D}"/>
              </a:ext>
            </a:extLst>
          </p:cNvPr>
          <p:cNvSpPr>
            <a:spLocks noGrp="1"/>
          </p:cNvSpPr>
          <p:nvPr/>
        </p:nvSpPr>
        <p:spPr>
          <a:xfrm>
            <a:off x="5944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Ellipse 18">
            <a:extLst>
              <a:ext uri="{FF2B5EF4-FFF2-40B4-BE49-F238E27FC236}">
                <a16:creationId xmlns:a16="http://schemas.microsoft.com/office/drawing/2014/main" id="{0ADAF005-5F56-48EC-96DA-DAE286116F4C}"/>
              </a:ext>
            </a:extLst>
          </p:cNvPr>
          <p:cNvSpPr>
            <a:spLocks noGrp="1"/>
          </p:cNvSpPr>
          <p:nvPr/>
        </p:nvSpPr>
        <p:spPr>
          <a:xfrm>
            <a:off x="8058150" y="224790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442CAC1-3DC9-4270-8F08-1FE75E61CD38}"/>
              </a:ext>
            </a:extLst>
          </p:cNvPr>
          <p:cNvSpPr>
            <a:spLocks noGrp="1"/>
          </p:cNvSpPr>
          <p:nvPr/>
        </p:nvSpPr>
        <p:spPr>
          <a:xfrm>
            <a:off x="8230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Ellipse 20">
            <a:extLst>
              <a:ext uri="{FF2B5EF4-FFF2-40B4-BE49-F238E27FC236}">
                <a16:creationId xmlns:a16="http://schemas.microsoft.com/office/drawing/2014/main" id="{A2F173F9-6DB0-432C-92E6-C4BCD8D6F9FA}"/>
              </a:ext>
            </a:extLst>
          </p:cNvPr>
          <p:cNvSpPr>
            <a:spLocks noGrp="1"/>
          </p:cNvSpPr>
          <p:nvPr/>
        </p:nvSpPr>
        <p:spPr>
          <a:xfrm>
            <a:off x="10344150" y="22479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0EF663-1677-40EB-8104-DF09929BCFDD}"/>
              </a:ext>
            </a:extLst>
          </p:cNvPr>
          <p:cNvSpPr>
            <a:spLocks noGrp="1"/>
          </p:cNvSpPr>
          <p:nvPr/>
        </p:nvSpPr>
        <p:spPr>
          <a:xfrm>
            <a:off x="10516712" y="241506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8DA11693-3ABF-43BE-AD98-3086DE922957}"/>
              </a:ext>
            </a:extLst>
          </p:cNvPr>
          <p:cNvSpPr>
            <a:spLocks noGrp="1"/>
          </p:cNvSpPr>
          <p:nvPr/>
        </p:nvSpPr>
        <p:spPr>
          <a:xfrm>
            <a:off x="49530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1D73E35-90A5-4DAF-B85C-5C7888C3D158}"/>
              </a:ext>
            </a:extLst>
          </p:cNvPr>
          <p:cNvSpPr>
            <a:spLocks noGrp="1"/>
          </p:cNvSpPr>
          <p:nvPr/>
        </p:nvSpPr>
        <p:spPr>
          <a:xfrm>
            <a:off x="676656" y="3082290"/>
            <a:ext cx="192572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资料范围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A1B4C43-F0B8-4676-83EF-7762F87EFB44}"/>
              </a:ext>
            </a:extLst>
          </p:cNvPr>
          <p:cNvSpPr>
            <a:spLocks noGrp="1"/>
          </p:cNvSpPr>
          <p:nvPr/>
        </p:nvSpPr>
        <p:spPr>
          <a:xfrm>
            <a:off x="679323" y="38057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只说业务目标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3A3E371-8702-46B5-B2EC-27AB4A749926}"/>
              </a:ext>
            </a:extLst>
          </p:cNvPr>
          <p:cNvSpPr>
            <a:spLocks noGrp="1"/>
          </p:cNvSpPr>
          <p:nvPr/>
        </p:nvSpPr>
        <p:spPr>
          <a:xfrm>
            <a:off x="679323" y="451056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整库范围已冻结</a:t>
            </a: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25CA4812-ACB4-465F-A7EF-D4EAFCE86771}"/>
              </a:ext>
            </a:extLst>
          </p:cNvPr>
          <p:cNvSpPr>
            <a:spLocks noGrp="1"/>
          </p:cNvSpPr>
          <p:nvPr/>
        </p:nvSpPr>
        <p:spPr>
          <a:xfrm>
            <a:off x="257175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53E9457-85CF-4B30-8068-69F0FAA193CE}"/>
              </a:ext>
            </a:extLst>
          </p:cNvPr>
          <p:cNvSpPr>
            <a:spLocks noGrp="1"/>
          </p:cNvSpPr>
          <p:nvPr/>
        </p:nvSpPr>
        <p:spPr>
          <a:xfrm>
            <a:off x="2753106" y="30822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计划编译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3200AB52-7CEA-47BC-805C-7362164C0FCE}"/>
              </a:ext>
            </a:extLst>
          </p:cNvPr>
          <p:cNvSpPr>
            <a:spLocks noGrp="1"/>
          </p:cNvSpPr>
          <p:nvPr/>
        </p:nvSpPr>
        <p:spPr>
          <a:xfrm>
            <a:off x="2755773" y="38057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查看分支与依赖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76A1F14-B796-4A2B-AE22-78BA51BBD925}"/>
              </a:ext>
            </a:extLst>
          </p:cNvPr>
          <p:cNvSpPr>
            <a:spLocks noGrp="1"/>
          </p:cNvSpPr>
          <p:nvPr/>
        </p:nvSpPr>
        <p:spPr>
          <a:xfrm>
            <a:off x="2755773" y="4510564"/>
            <a:ext cx="14032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说明可读资料、可做事项和禁止项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0DB96666-8129-49E8-8D34-3BB1957CCBDE}"/>
              </a:ext>
            </a:extLst>
          </p:cNvPr>
          <p:cNvSpPr>
            <a:spLocks noGrp="1"/>
          </p:cNvSpPr>
          <p:nvPr/>
        </p:nvSpPr>
        <p:spPr>
          <a:xfrm>
            <a:off x="464820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A3F7ED1E-E958-4D58-9581-E38391221A16}"/>
              </a:ext>
            </a:extLst>
          </p:cNvPr>
          <p:cNvSpPr>
            <a:spLocks noGrp="1"/>
          </p:cNvSpPr>
          <p:nvPr/>
        </p:nvSpPr>
        <p:spPr>
          <a:xfrm>
            <a:off x="4829556" y="30822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模型采用门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3FD57F9A-5293-4574-88A0-AD8BC1A83DF2}"/>
              </a:ext>
            </a:extLst>
          </p:cNvPr>
          <p:cNvSpPr>
            <a:spLocks noGrp="1"/>
          </p:cNvSpPr>
          <p:nvPr/>
        </p:nvSpPr>
        <p:spPr>
          <a:xfrm>
            <a:off x="4832223" y="38057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查看模型调用与采用回执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664D632-0EB0-49E6-90B9-FB68C18A5E91}"/>
              </a:ext>
            </a:extLst>
          </p:cNvPr>
          <p:cNvSpPr>
            <a:spLocks noGrp="1"/>
          </p:cNvSpPr>
          <p:nvPr/>
        </p:nvSpPr>
        <p:spPr>
          <a:xfrm>
            <a:off x="4833366" y="45348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Consolas"/>
                <a:ea typeface="Consolas"/>
                <a:cs typeface="Consolas"/>
              </a:rPr>
              <a:t>系统区分已调用与已采用</a:t>
            </a:r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DB671D68-8B58-4870-B047-79BBAACD5A03}"/>
              </a:ext>
            </a:extLst>
          </p:cNvPr>
          <p:cNvSpPr>
            <a:spLocks noGrp="1"/>
          </p:cNvSpPr>
          <p:nvPr/>
        </p:nvSpPr>
        <p:spPr>
          <a:xfrm>
            <a:off x="6724650" y="2952750"/>
            <a:ext cx="1866900" cy="234315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F66E69E1-B7D3-472D-B155-3C6B2E92E485}"/>
              </a:ext>
            </a:extLst>
          </p:cNvPr>
          <p:cNvSpPr>
            <a:spLocks noGrp="1"/>
          </p:cNvSpPr>
          <p:nvPr/>
        </p:nvSpPr>
        <p:spPr>
          <a:xfrm>
            <a:off x="6906006" y="30822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局部恢复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4942B07C-0C6E-430A-A25A-C51E2C54E94E}"/>
              </a:ext>
            </a:extLst>
          </p:cNvPr>
          <p:cNvSpPr>
            <a:spLocks noGrp="1"/>
          </p:cNvSpPr>
          <p:nvPr/>
        </p:nvSpPr>
        <p:spPr>
          <a:xfrm>
            <a:off x="6908673" y="3805714"/>
            <a:ext cx="13860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只处理受影响问题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BA5EC922-AEAF-4C68-A74F-B61B6775F82A}"/>
              </a:ext>
            </a:extLst>
          </p:cNvPr>
          <p:cNvSpPr>
            <a:spLocks noGrp="1"/>
          </p:cNvSpPr>
          <p:nvPr/>
        </p:nvSpPr>
        <p:spPr>
          <a:xfrm>
            <a:off x="6908673" y="45105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说明原因、影响和选择后果</a:t>
            </a:r>
          </a:p>
        </p:txBody>
      </p:sp>
      <p:sp>
        <p:nvSpPr>
          <p:cNvPr id="50" name="Rectangle 50">
            <a:extLst>
              <a:ext uri="{FF2B5EF4-FFF2-40B4-BE49-F238E27FC236}">
                <a16:creationId xmlns:a16="http://schemas.microsoft.com/office/drawing/2014/main" id="{DCB7EC00-C5F2-4E11-B7AB-794620AD2F8C}"/>
              </a:ext>
            </a:extLst>
          </p:cNvPr>
          <p:cNvSpPr>
            <a:spLocks noGrp="1"/>
          </p:cNvSpPr>
          <p:nvPr/>
        </p:nvSpPr>
        <p:spPr>
          <a:xfrm>
            <a:off x="8801100" y="2952750"/>
            <a:ext cx="2895600" cy="2343150"/>
          </a:xfrm>
          <a:prstGeom prst="roundRect">
            <a:avLst>
              <a:gd name="adj" fmla="val 2439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59AFF1BE-2377-4910-BC65-A8293BC965EB}"/>
              </a:ext>
            </a:extLst>
          </p:cNvPr>
          <p:cNvSpPr>
            <a:spLocks noGrp="1"/>
          </p:cNvSpPr>
          <p:nvPr/>
        </p:nvSpPr>
        <p:spPr>
          <a:xfrm>
            <a:off x="9020556" y="30822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可核对办公结论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D520C43F-20B5-4C79-A332-4BD4051D1050}"/>
              </a:ext>
            </a:extLst>
          </p:cNvPr>
          <p:cNvSpPr>
            <a:spLocks noGrp="1"/>
          </p:cNvSpPr>
          <p:nvPr/>
        </p:nvSpPr>
        <p:spPr>
          <a:xfrm>
            <a:off x="9023223" y="380571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下载成果，回开依据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F0FF31CA-02EA-49E4-A367-2E87B5421858}"/>
              </a:ext>
            </a:extLst>
          </p:cNvPr>
          <p:cNvSpPr>
            <a:spLocks noGrp="1"/>
          </p:cNvSpPr>
          <p:nvPr/>
        </p:nvSpPr>
        <p:spPr>
          <a:xfrm>
            <a:off x="9023223" y="4510564"/>
            <a:ext cx="2124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区分成果、模型说明与外部动作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4B7E2647-321A-4260-A08D-AFCEB3D82FFF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modelcontextprotocol.io/.../elicitation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2CB3B86E-A5C2-476D-97F0-B2DD30C99CB0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13 / 24</a:t>
            </a:r>
          </a:p>
        </p:txBody>
      </p:sp>
    </p:spTree>
    <p:extLst>
      <p:ext uri="{BB962C8B-B14F-4D97-AF65-F5344CB8AC3E}">
        <p14:creationId xmlns:p14="http://schemas.microsoft.com/office/powerpoint/2010/main" val="64244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EA7EA6A-5F4A-48E6-83B8-7845D6BB9E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4B58F6-B2C1-4731-B85A-A033DC918316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C7AD42-4E73-406A-A898-9C2F620FD73C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883825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长任务循环的风险，会被持续放大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A50F02E-C16F-4901-AF67-B7095A3313AA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7086600" cy="409575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400C901-9DDB-4A52-87D1-5020C4E9623C}"/>
              </a:ext>
            </a:extLst>
          </p:cNvPr>
          <p:cNvSpPr>
            <a:spLocks noGrp="1"/>
          </p:cNvSpPr>
          <p:nvPr/>
        </p:nvSpPr>
        <p:spPr>
          <a:xfrm>
            <a:off x="713232" y="1621155"/>
            <a:ext cx="120868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六类风险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F784044-D403-4035-AA6D-09D70BAA8E6C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6629400" cy="3238500"/>
          </a:xfrm>
          <a:custGeom>
            <a:avLst/>
            <a:gdLst/>
            <a:ahLst/>
            <a:cxnLst/>
            <a:rect l="l" t="t" r="r" b="b"/>
            <a:pathLst>
              <a:path w="6629400" h="3238500">
                <a:moveTo>
                  <a:pt x="0" y="0"/>
                </a:moveTo>
                <a:lnTo>
                  <a:pt x="6629400" y="0"/>
                </a:lnTo>
                <a:moveTo>
                  <a:pt x="3314700" y="0"/>
                </a:moveTo>
                <a:lnTo>
                  <a:pt x="3314700" y="3238500"/>
                </a:lnTo>
                <a:moveTo>
                  <a:pt x="0" y="1085850"/>
                </a:moveTo>
                <a:lnTo>
                  <a:pt x="6629400" y="1085850"/>
                </a:lnTo>
                <a:moveTo>
                  <a:pt x="0" y="2171700"/>
                </a:moveTo>
                <a:lnTo>
                  <a:pt x="6629400" y="2171700"/>
                </a:lnTo>
              </a:path>
            </a:pathLst>
          </a:custGeom>
          <a:solidFill>
            <a:srgbClr val="000000"/>
          </a:solidFill>
          <a:ln w="19050">
            <a:solidFill>
              <a:srgbClr val="E3E8ED"/>
            </a:solidFill>
          </a:ln>
        </p:spPr>
      </p:sp>
      <p:sp>
        <p:nvSpPr>
          <p:cNvPr id="12" name="Ellipse 12">
            <a:extLst>
              <a:ext uri="{FF2B5EF4-FFF2-40B4-BE49-F238E27FC236}">
                <a16:creationId xmlns:a16="http://schemas.microsoft.com/office/drawing/2014/main" id="{EB9DD24D-A333-4E8B-B9BD-D226E7AD014A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342900" cy="342900"/>
          </a:xfrm>
          <a:prstGeom prst="ellipse">
            <a:avLst/>
          </a:prstGeom>
          <a:solidFill>
            <a:srgbClr val="C0362C"/>
          </a:solidFill>
          <a:ln>
            <a:noFill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0F248BF-8E4E-4FF1-9356-BD21DF2A4441}"/>
              </a:ext>
            </a:extLst>
          </p:cNvPr>
          <p:cNvSpPr>
            <a:spLocks noGrp="1"/>
          </p:cNvSpPr>
          <p:nvPr/>
        </p:nvSpPr>
        <p:spPr>
          <a:xfrm>
            <a:off x="906351" y="24298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BE07A14-F22B-4167-8DA3-6B82AADCFE5E}"/>
              </a:ext>
            </a:extLst>
          </p:cNvPr>
          <p:cNvSpPr>
            <a:spLocks noGrp="1"/>
          </p:cNvSpPr>
          <p:nvPr/>
        </p:nvSpPr>
        <p:spPr>
          <a:xfrm>
            <a:off x="1248156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方向漂移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E15ADF1-B7D7-4B86-902B-D4EC66E335E9}"/>
              </a:ext>
            </a:extLst>
          </p:cNvPr>
          <p:cNvSpPr>
            <a:spLocks noGrp="1"/>
          </p:cNvSpPr>
          <p:nvPr/>
        </p:nvSpPr>
        <p:spPr>
          <a:xfrm>
            <a:off x="1250823" y="2605564"/>
            <a:ext cx="26465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中间目标逐步偏离任务约束</a:t>
            </a:r>
          </a:p>
        </p:txBody>
      </p:sp>
      <p:sp>
        <p:nvSpPr>
          <p:cNvPr id="16" name="Ellipse 16">
            <a:extLst>
              <a:ext uri="{FF2B5EF4-FFF2-40B4-BE49-F238E27FC236}">
                <a16:creationId xmlns:a16="http://schemas.microsoft.com/office/drawing/2014/main" id="{EF69CB88-6725-490D-8F48-81EFFE796900}"/>
              </a:ext>
            </a:extLst>
          </p:cNvPr>
          <p:cNvSpPr>
            <a:spLocks noGrp="1"/>
          </p:cNvSpPr>
          <p:nvPr/>
        </p:nvSpPr>
        <p:spPr>
          <a:xfrm>
            <a:off x="4095750" y="2305050"/>
            <a:ext cx="342900" cy="342900"/>
          </a:xfrm>
          <a:prstGeom prst="ellipse">
            <a:avLst/>
          </a:prstGeom>
          <a:solidFill>
            <a:srgbClr val="C0362C"/>
          </a:solidFill>
          <a:ln>
            <a:noFill/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ED9A71C-A019-4C3A-9E34-474C67B2A8E0}"/>
              </a:ext>
            </a:extLst>
          </p:cNvPr>
          <p:cNvSpPr>
            <a:spLocks noGrp="1"/>
          </p:cNvSpPr>
          <p:nvPr/>
        </p:nvSpPr>
        <p:spPr>
          <a:xfrm>
            <a:off x="4221051" y="24298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58527C0-3340-4F25-BA6A-959884D609E1}"/>
              </a:ext>
            </a:extLst>
          </p:cNvPr>
          <p:cNvSpPr>
            <a:spLocks noGrp="1"/>
          </p:cNvSpPr>
          <p:nvPr/>
        </p:nvSpPr>
        <p:spPr>
          <a:xfrm>
            <a:off x="4562856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上下文退化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92C5DFC-1353-454F-88BB-C73549769D23}"/>
              </a:ext>
            </a:extLst>
          </p:cNvPr>
          <p:cNvSpPr>
            <a:spLocks noGrp="1"/>
          </p:cNvSpPr>
          <p:nvPr/>
        </p:nvSpPr>
        <p:spPr>
          <a:xfrm>
            <a:off x="4565523" y="26055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旧版本、噪声与关键约束丢失</a:t>
            </a:r>
          </a:p>
        </p:txBody>
      </p:sp>
      <p:sp>
        <p:nvSpPr>
          <p:cNvPr id="20" name="Ellipse 20">
            <a:extLst>
              <a:ext uri="{FF2B5EF4-FFF2-40B4-BE49-F238E27FC236}">
                <a16:creationId xmlns:a16="http://schemas.microsoft.com/office/drawing/2014/main" id="{FE7FEA48-5E23-4D14-9E34-FA8CA7E2963C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03C2041-246C-47E9-99B3-B74300DA6818}"/>
              </a:ext>
            </a:extLst>
          </p:cNvPr>
          <p:cNvSpPr>
            <a:spLocks noGrp="1"/>
          </p:cNvSpPr>
          <p:nvPr/>
        </p:nvSpPr>
        <p:spPr>
          <a:xfrm>
            <a:off x="906351" y="35156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A735819-7F58-430B-97EE-3AD5BEA257D5}"/>
              </a:ext>
            </a:extLst>
          </p:cNvPr>
          <p:cNvSpPr>
            <a:spLocks noGrp="1"/>
          </p:cNvSpPr>
          <p:nvPr/>
        </p:nvSpPr>
        <p:spPr>
          <a:xfrm>
            <a:off x="1248156" y="3329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错误复利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7DECEBC-3854-443E-BE5A-2EB4C956F9FF}"/>
              </a:ext>
            </a:extLst>
          </p:cNvPr>
          <p:cNvSpPr>
            <a:spLocks noGrp="1"/>
          </p:cNvSpPr>
          <p:nvPr/>
        </p:nvSpPr>
        <p:spPr>
          <a:xfrm>
            <a:off x="1250823" y="36914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未经验证的事实进入后续成果</a:t>
            </a:r>
          </a:p>
        </p:txBody>
      </p:sp>
      <p:sp>
        <p:nvSpPr>
          <p:cNvPr id="24" name="Ellipse 24">
            <a:extLst>
              <a:ext uri="{FF2B5EF4-FFF2-40B4-BE49-F238E27FC236}">
                <a16:creationId xmlns:a16="http://schemas.microsoft.com/office/drawing/2014/main" id="{3C4994C9-756A-4CEA-9540-365F257E3E08}"/>
              </a:ext>
            </a:extLst>
          </p:cNvPr>
          <p:cNvSpPr>
            <a:spLocks noGrp="1"/>
          </p:cNvSpPr>
          <p:nvPr/>
        </p:nvSpPr>
        <p:spPr>
          <a:xfrm>
            <a:off x="4095750" y="339090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162339F-1188-434E-AB0A-3559B9AFBAAD}"/>
              </a:ext>
            </a:extLst>
          </p:cNvPr>
          <p:cNvSpPr>
            <a:spLocks noGrp="1"/>
          </p:cNvSpPr>
          <p:nvPr/>
        </p:nvSpPr>
        <p:spPr>
          <a:xfrm>
            <a:off x="4221051" y="35156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C8B75FF-C9B7-4195-BC48-4C73BD9C47AA}"/>
              </a:ext>
            </a:extLst>
          </p:cNvPr>
          <p:cNvSpPr>
            <a:spLocks noGrp="1"/>
          </p:cNvSpPr>
          <p:nvPr/>
        </p:nvSpPr>
        <p:spPr>
          <a:xfrm>
            <a:off x="4562856" y="3329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成本扩张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08B8A10-1EC8-4511-A2ED-9C43F9D35268}"/>
              </a:ext>
            </a:extLst>
          </p:cNvPr>
          <p:cNvSpPr>
            <a:spLocks noGrp="1"/>
          </p:cNvSpPr>
          <p:nvPr/>
        </p:nvSpPr>
        <p:spPr>
          <a:xfrm>
            <a:off x="4565523" y="369141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重试、工具与分支持续增长</a:t>
            </a:r>
          </a:p>
        </p:txBody>
      </p:sp>
      <p:sp>
        <p:nvSpPr>
          <p:cNvPr id="28" name="Ellipse 28">
            <a:extLst>
              <a:ext uri="{FF2B5EF4-FFF2-40B4-BE49-F238E27FC236}">
                <a16:creationId xmlns:a16="http://schemas.microsoft.com/office/drawing/2014/main" id="{1714183C-A1D4-46DC-BA25-38BE4DC699FD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342900" cy="342900"/>
          </a:xfrm>
          <a:prstGeom prst="ellipse">
            <a:avLst/>
          </a:prstGeom>
          <a:solidFill>
            <a:srgbClr val="B54708"/>
          </a:solidFill>
          <a:ln>
            <a:noFill/>
          </a:ln>
        </p:spPr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4B48104-EB4E-45E0-84E0-10F269F329AC}"/>
              </a:ext>
            </a:extLst>
          </p:cNvPr>
          <p:cNvSpPr>
            <a:spLocks noGrp="1"/>
          </p:cNvSpPr>
          <p:nvPr/>
        </p:nvSpPr>
        <p:spPr>
          <a:xfrm>
            <a:off x="906351" y="46015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102A0FB-AC67-4367-8C3E-F747D2C6C569}"/>
              </a:ext>
            </a:extLst>
          </p:cNvPr>
          <p:cNvSpPr>
            <a:spLocks noGrp="1"/>
          </p:cNvSpPr>
          <p:nvPr/>
        </p:nvSpPr>
        <p:spPr>
          <a:xfrm>
            <a:off x="1248156" y="4415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权限漂移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3779483-FA19-4529-9AC3-F2F250E75F15}"/>
              </a:ext>
            </a:extLst>
          </p:cNvPr>
          <p:cNvSpPr>
            <a:spLocks noGrp="1"/>
          </p:cNvSpPr>
          <p:nvPr/>
        </p:nvSpPr>
        <p:spPr>
          <a:xfrm>
            <a:off x="1250823" y="47772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工具链扩展后超出原始授权</a:t>
            </a:r>
          </a:p>
        </p:txBody>
      </p:sp>
      <p:sp>
        <p:nvSpPr>
          <p:cNvPr id="32" name="Ellipse 32">
            <a:extLst>
              <a:ext uri="{FF2B5EF4-FFF2-40B4-BE49-F238E27FC236}">
                <a16:creationId xmlns:a16="http://schemas.microsoft.com/office/drawing/2014/main" id="{CEAC99B0-D282-4BA5-BE12-4878E4EA084D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342900" cy="342900"/>
          </a:xfrm>
          <a:prstGeom prst="ellipse">
            <a:avLst/>
          </a:prstGeom>
          <a:solidFill>
            <a:srgbClr val="B54708"/>
          </a:solidFill>
          <a:ln>
            <a:noFill/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E88003F4-C283-4DF4-8A90-A248203DFB59}"/>
              </a:ext>
            </a:extLst>
          </p:cNvPr>
          <p:cNvSpPr>
            <a:spLocks noGrp="1"/>
          </p:cNvSpPr>
          <p:nvPr/>
        </p:nvSpPr>
        <p:spPr>
          <a:xfrm>
            <a:off x="4221051" y="460152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5092C8A5-C99F-4E06-A1F4-F5CD77F5B9DE}"/>
              </a:ext>
            </a:extLst>
          </p:cNvPr>
          <p:cNvSpPr>
            <a:spLocks noGrp="1"/>
          </p:cNvSpPr>
          <p:nvPr/>
        </p:nvSpPr>
        <p:spPr>
          <a:xfrm>
            <a:off x="4562856" y="44157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停止困难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523240F-FA51-49CA-B83D-CD68CDA83006}"/>
              </a:ext>
            </a:extLst>
          </p:cNvPr>
          <p:cNvSpPr>
            <a:spLocks noGrp="1"/>
          </p:cNvSpPr>
          <p:nvPr/>
        </p:nvSpPr>
        <p:spPr>
          <a:xfrm>
            <a:off x="4565523" y="47772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局部失败牵连整任务，用户难接管</a:t>
            </a:r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E6B24BB0-3F86-4B1E-A3A5-BB54E2E514E4}"/>
              </a:ext>
            </a:extLst>
          </p:cNvPr>
          <p:cNvSpPr>
            <a:spLocks noGrp="1"/>
          </p:cNvSpPr>
          <p:nvPr/>
        </p:nvSpPr>
        <p:spPr>
          <a:xfrm>
            <a:off x="7848600" y="1466850"/>
            <a:ext cx="3848100" cy="4095750"/>
          </a:xfrm>
          <a:prstGeom prst="roundRect">
            <a:avLst>
              <a:gd name="adj" fmla="val 1485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C0F0C69-7410-4B6D-946D-AA76480216EC}"/>
              </a:ext>
            </a:extLst>
          </p:cNvPr>
          <p:cNvSpPr>
            <a:spLocks noGrp="1"/>
          </p:cNvSpPr>
          <p:nvPr/>
        </p:nvSpPr>
        <p:spPr>
          <a:xfrm>
            <a:off x="8104632" y="164020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前台必须对应回答</a:t>
            </a:r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D9EBE186-4F54-4F98-BDA0-7E1E9C1ED3C6}"/>
              </a:ext>
            </a:extLst>
          </p:cNvPr>
          <p:cNvSpPr>
            <a:spLocks noGrp="1"/>
          </p:cNvSpPr>
          <p:nvPr/>
        </p:nvSpPr>
        <p:spPr>
          <a:xfrm>
            <a:off x="8220075" y="2314575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1D91B6F-46ED-48A6-ADE6-2CE657B68ABA}"/>
              </a:ext>
            </a:extLst>
          </p:cNvPr>
          <p:cNvSpPr>
            <a:spLocks noGrp="1"/>
          </p:cNvSpPr>
          <p:nvPr/>
        </p:nvSpPr>
        <p:spPr>
          <a:xfrm>
            <a:off x="8181975" y="22764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cubicBezTo>
                  <a:pt x="21322" y="0"/>
                  <a:pt x="0" y="21322"/>
                  <a:pt x="0" y="47625"/>
                </a:cubicBezTo>
                <a:cubicBezTo>
                  <a:pt x="0" y="73928"/>
                  <a:pt x="21322" y="95250"/>
                  <a:pt x="47625" y="95250"/>
                </a:cubicBezTo>
                <a:cubicBezTo>
                  <a:pt x="73928" y="95250"/>
                  <a:pt x="95250" y="73928"/>
                  <a:pt x="95250" y="476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4DAC7EBF-1731-43E3-B0B8-C3DDB5C11EB2}"/>
              </a:ext>
            </a:extLst>
          </p:cNvPr>
          <p:cNvSpPr>
            <a:spLocks noGrp="1"/>
          </p:cNvSpPr>
          <p:nvPr/>
        </p:nvSpPr>
        <p:spPr>
          <a:xfrm>
            <a:off x="8136530" y="2234839"/>
            <a:ext cx="182275" cy="182291"/>
          </a:xfrm>
          <a:custGeom>
            <a:avLst/>
            <a:gdLst/>
            <a:ahLst/>
            <a:cxnLst/>
            <a:rect l="l" t="t" r="r" b="b"/>
            <a:pathLst>
              <a:path w="182275" h="182291">
                <a:moveTo>
                  <a:pt x="102595" y="4060"/>
                </a:moveTo>
                <a:cubicBezTo>
                  <a:pt x="66403" y="0"/>
                  <a:pt x="31596" y="19251"/>
                  <a:pt x="15798" y="52065"/>
                </a:cubicBezTo>
                <a:cubicBezTo>
                  <a:pt x="0" y="84879"/>
                  <a:pt x="6660" y="124094"/>
                  <a:pt x="32406" y="149852"/>
                </a:cubicBezTo>
                <a:cubicBezTo>
                  <a:pt x="58152" y="175611"/>
                  <a:pt x="97362" y="182291"/>
                  <a:pt x="130185" y="166509"/>
                </a:cubicBezTo>
                <a:cubicBezTo>
                  <a:pt x="163007" y="150728"/>
                  <a:pt x="182275" y="115931"/>
                  <a:pt x="178233" y="79736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D380B6A2-77AD-414F-B7EB-AAAC633A2D3C}"/>
              </a:ext>
            </a:extLst>
          </p:cNvPr>
          <p:cNvSpPr>
            <a:spLocks noGrp="1"/>
          </p:cNvSpPr>
          <p:nvPr/>
        </p:nvSpPr>
        <p:spPr>
          <a:xfrm>
            <a:off x="8258175" y="22383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lnTo>
                  <a:pt x="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28575" y="28575"/>
                </a:lnTo>
                <a:lnTo>
                  <a:pt x="28575" y="0"/>
                </a:lnTo>
                <a:lnTo>
                  <a:pt x="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2B7B57FC-6E25-4939-9D01-D5B4611B91FC}"/>
              </a:ext>
            </a:extLst>
          </p:cNvPr>
          <p:cNvSpPr>
            <a:spLocks noGrp="1"/>
          </p:cNvSpPr>
          <p:nvPr/>
        </p:nvSpPr>
        <p:spPr>
          <a:xfrm>
            <a:off x="8229600" y="22955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0"/>
                </a:moveTo>
                <a:lnTo>
                  <a:pt x="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B70AD6A0-780A-4BD7-81FC-7E84D93EF0DA}"/>
              </a:ext>
            </a:extLst>
          </p:cNvPr>
          <p:cNvSpPr>
            <a:spLocks noGrp="1"/>
          </p:cNvSpPr>
          <p:nvPr/>
        </p:nvSpPr>
        <p:spPr>
          <a:xfrm>
            <a:off x="8489823" y="224361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当前目标是否仍然一致</a:t>
            </a:r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C05B55CF-5849-4292-8491-62AB1DAC8A70}"/>
              </a:ext>
            </a:extLst>
          </p:cNvPr>
          <p:cNvSpPr>
            <a:spLocks noGrp="1"/>
          </p:cNvSpPr>
          <p:nvPr/>
        </p:nvSpPr>
        <p:spPr>
          <a:xfrm>
            <a:off x="8248650" y="2714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0" y="38100"/>
                </a:lnTo>
                <a:cubicBezTo>
                  <a:pt x="0" y="43361"/>
                  <a:pt x="4264" y="47625"/>
                  <a:pt x="9525" y="47625"/>
                </a:cubicBezTo>
                <a:lnTo>
                  <a:pt x="47625" y="476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76504635-4CF0-438F-8A8C-D882E991A376}"/>
              </a:ext>
            </a:extLst>
          </p:cNvPr>
          <p:cNvSpPr>
            <a:spLocks noGrp="1"/>
          </p:cNvSpPr>
          <p:nvPr/>
        </p:nvSpPr>
        <p:spPr>
          <a:xfrm>
            <a:off x="8162925" y="2714625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114300" y="171450"/>
                </a:moveTo>
                <a:lnTo>
                  <a:pt x="19050" y="171450"/>
                </a:lnTo>
                <a:cubicBezTo>
                  <a:pt x="8529" y="171450"/>
                  <a:pt x="0" y="162921"/>
                  <a:pt x="0" y="1524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lnTo>
                  <a:pt x="85725" y="0"/>
                </a:lnTo>
                <a:lnTo>
                  <a:pt x="133350" y="47625"/>
                </a:lnTo>
                <a:lnTo>
                  <a:pt x="133350" y="152400"/>
                </a:lnTo>
                <a:cubicBezTo>
                  <a:pt x="133350" y="162921"/>
                  <a:pt x="124821" y="171450"/>
                  <a:pt x="114300" y="1714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653B4CA0-D632-4354-9ED9-F7D486F2EA98}"/>
              </a:ext>
            </a:extLst>
          </p:cNvPr>
          <p:cNvSpPr>
            <a:spLocks noGrp="1"/>
          </p:cNvSpPr>
          <p:nvPr/>
        </p:nvSpPr>
        <p:spPr>
          <a:xfrm>
            <a:off x="8201025" y="27717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6D07187E-6E2F-43CE-A8E0-10BA362BB956}"/>
              </a:ext>
            </a:extLst>
          </p:cNvPr>
          <p:cNvSpPr>
            <a:spLocks noGrp="1"/>
          </p:cNvSpPr>
          <p:nvPr/>
        </p:nvSpPr>
        <p:spPr>
          <a:xfrm>
            <a:off x="8201025" y="2809875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913EF1A2-919A-45D0-8C7E-F1C9551D454F}"/>
              </a:ext>
            </a:extLst>
          </p:cNvPr>
          <p:cNvSpPr>
            <a:spLocks noGrp="1"/>
          </p:cNvSpPr>
          <p:nvPr/>
        </p:nvSpPr>
        <p:spPr>
          <a:xfrm>
            <a:off x="8201025" y="2847975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302E0E14-2C7A-4B9C-95EF-599F8F311989}"/>
              </a:ext>
            </a:extLst>
          </p:cNvPr>
          <p:cNvSpPr>
            <a:spLocks noGrp="1"/>
          </p:cNvSpPr>
          <p:nvPr/>
        </p:nvSpPr>
        <p:spPr>
          <a:xfrm>
            <a:off x="8489823" y="2719864"/>
            <a:ext cx="155771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当前用了哪一版来源</a:t>
            </a:r>
          </a:p>
        </p:txBody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F22CE22F-0DEA-4BEE-8BFA-89FDD46ADF24}"/>
              </a:ext>
            </a:extLst>
          </p:cNvPr>
          <p:cNvSpPr>
            <a:spLocks noGrp="1"/>
          </p:cNvSpPr>
          <p:nvPr/>
        </p:nvSpPr>
        <p:spPr>
          <a:xfrm>
            <a:off x="8143875" y="3276600"/>
            <a:ext cx="57150" cy="76200"/>
          </a:xfrm>
          <a:custGeom>
            <a:avLst/>
            <a:gdLst/>
            <a:ahLst/>
            <a:cxnLst/>
            <a:rect l="l" t="t" r="r" b="b"/>
            <a:pathLst>
              <a:path w="57150" h="762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66675"/>
                </a:lnTo>
                <a:cubicBezTo>
                  <a:pt x="57150" y="71936"/>
                  <a:pt x="52886" y="76200"/>
                  <a:pt x="47625" y="76200"/>
                </a:cubicBezTo>
                <a:lnTo>
                  <a:pt x="9525" y="76200"/>
                </a:lnTo>
                <a:cubicBezTo>
                  <a:pt x="4264" y="76200"/>
                  <a:pt x="0" y="71936"/>
                  <a:pt x="0" y="666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D80191E9-C1A4-4CFC-8138-E10D54D0C7A0}"/>
              </a:ext>
            </a:extLst>
          </p:cNvPr>
          <p:cNvSpPr>
            <a:spLocks noGrp="1"/>
          </p:cNvSpPr>
          <p:nvPr/>
        </p:nvSpPr>
        <p:spPr>
          <a:xfrm>
            <a:off x="8258175" y="3238500"/>
            <a:ext cx="57150" cy="114300"/>
          </a:xfrm>
          <a:custGeom>
            <a:avLst/>
            <a:gdLst/>
            <a:ahLst/>
            <a:cxnLst/>
            <a:rect l="l" t="t" r="r" b="b"/>
            <a:pathLst>
              <a:path w="57150" h="1143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04775"/>
                </a:lnTo>
                <a:cubicBezTo>
                  <a:pt x="57150" y="110036"/>
                  <a:pt x="52886" y="114300"/>
                  <a:pt x="47625" y="114300"/>
                </a:cubicBezTo>
                <a:lnTo>
                  <a:pt x="9525" y="114300"/>
                </a:lnTo>
                <a:cubicBezTo>
                  <a:pt x="4264" y="114300"/>
                  <a:pt x="0" y="110036"/>
                  <a:pt x="0" y="1047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8BCC24DE-AD9C-4B38-A927-CD2084005F23}"/>
              </a:ext>
            </a:extLst>
          </p:cNvPr>
          <p:cNvSpPr>
            <a:spLocks noGrp="1"/>
          </p:cNvSpPr>
          <p:nvPr/>
        </p:nvSpPr>
        <p:spPr>
          <a:xfrm>
            <a:off x="8201025" y="3200400"/>
            <a:ext cx="57150" cy="152400"/>
          </a:xfrm>
          <a:custGeom>
            <a:avLst/>
            <a:gdLst/>
            <a:ahLst/>
            <a:cxnLst/>
            <a:rect l="l" t="t" r="r" b="b"/>
            <a:pathLst>
              <a:path w="57150" h="15240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47625" y="0"/>
                </a:lnTo>
                <a:cubicBezTo>
                  <a:pt x="52886" y="0"/>
                  <a:pt x="57150" y="4264"/>
                  <a:pt x="57150" y="9525"/>
                </a:cubicBezTo>
                <a:lnTo>
                  <a:pt x="57150" y="142875"/>
                </a:lnTo>
                <a:cubicBezTo>
                  <a:pt x="57150" y="148136"/>
                  <a:pt x="52886" y="152400"/>
                  <a:pt x="47625" y="152400"/>
                </a:cubicBezTo>
                <a:lnTo>
                  <a:pt x="9525" y="152400"/>
                </a:lnTo>
                <a:cubicBezTo>
                  <a:pt x="4264" y="152400"/>
                  <a:pt x="0" y="148136"/>
                  <a:pt x="0" y="14287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0EDF3E0B-B467-457C-861A-0651D6EBD366}"/>
              </a:ext>
            </a:extLst>
          </p:cNvPr>
          <p:cNvSpPr>
            <a:spLocks noGrp="1"/>
          </p:cNvSpPr>
          <p:nvPr/>
        </p:nvSpPr>
        <p:spPr>
          <a:xfrm>
            <a:off x="8153400" y="3352800"/>
            <a:ext cx="133350" cy="9525"/>
          </a:xfrm>
          <a:custGeom>
            <a:avLst/>
            <a:gdLst/>
            <a:ahLst/>
            <a:cxnLst/>
            <a:rect l="l" t="t" r="r" b="b"/>
            <a:pathLst>
              <a:path w="133350" h="952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F7A51163-7472-40F3-8DE2-BD495E3481B8}"/>
              </a:ext>
            </a:extLst>
          </p:cNvPr>
          <p:cNvSpPr>
            <a:spLocks noGrp="1"/>
          </p:cNvSpPr>
          <p:nvPr/>
        </p:nvSpPr>
        <p:spPr>
          <a:xfrm>
            <a:off x="8489823" y="3196114"/>
            <a:ext cx="190100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还剩多少轮次与调用预算</a:t>
            </a:r>
          </a:p>
        </p:txBody>
      </p:sp>
      <p:sp>
        <p:nvSpPr>
          <p:cNvPr id="59" name="Freeform 59">
            <a:extLst>
              <a:ext uri="{FF2B5EF4-FFF2-40B4-BE49-F238E27FC236}">
                <a16:creationId xmlns:a16="http://schemas.microsoft.com/office/drawing/2014/main" id="{DF1B06D6-97DA-483A-AD6E-19FDAC602397}"/>
              </a:ext>
            </a:extLst>
          </p:cNvPr>
          <p:cNvSpPr>
            <a:spLocks noGrp="1"/>
          </p:cNvSpPr>
          <p:nvPr/>
        </p:nvSpPr>
        <p:spPr>
          <a:xfrm>
            <a:off x="8162925" y="3743325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33350" h="95250">
                <a:moveTo>
                  <a:pt x="0" y="19050"/>
                </a:moveTo>
                <a:cubicBezTo>
                  <a:pt x="0" y="8529"/>
                  <a:pt x="8529" y="0"/>
                  <a:pt x="19050" y="0"/>
                </a:cubicBezTo>
                <a:lnTo>
                  <a:pt x="114300" y="0"/>
                </a:lnTo>
                <a:cubicBezTo>
                  <a:pt x="124821" y="0"/>
                  <a:pt x="133350" y="8529"/>
                  <a:pt x="133350" y="19050"/>
                </a:cubicBezTo>
                <a:lnTo>
                  <a:pt x="133350" y="76200"/>
                </a:lnTo>
                <a:cubicBezTo>
                  <a:pt x="133350" y="86721"/>
                  <a:pt x="124821" y="95250"/>
                  <a:pt x="114300" y="95250"/>
                </a:cubicBezTo>
                <a:lnTo>
                  <a:pt x="19050" y="95250"/>
                </a:lnTo>
                <a:cubicBezTo>
                  <a:pt x="8529" y="95250"/>
                  <a:pt x="0" y="86721"/>
                  <a:pt x="0" y="76200"/>
                </a:cubicBezTo>
                <a:lnTo>
                  <a:pt x="0" y="190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0" name="Freeform 60">
            <a:extLst>
              <a:ext uri="{FF2B5EF4-FFF2-40B4-BE49-F238E27FC236}">
                <a16:creationId xmlns:a16="http://schemas.microsoft.com/office/drawing/2014/main" id="{41D1CD17-FCBC-4E17-87A6-33FB4A203EB9}"/>
              </a:ext>
            </a:extLst>
          </p:cNvPr>
          <p:cNvSpPr>
            <a:spLocks noGrp="1"/>
          </p:cNvSpPr>
          <p:nvPr/>
        </p:nvSpPr>
        <p:spPr>
          <a:xfrm>
            <a:off x="8220075" y="3781425"/>
            <a:ext cx="19050" cy="19050"/>
          </a:xfrm>
          <a:custGeom>
            <a:avLst/>
            <a:gdLst/>
            <a:ahLst/>
            <a:cxnLst/>
            <a:rect l="l" t="t" r="r" b="b"/>
            <a:pathLst>
              <a:path w="19050" h="19050">
                <a:moveTo>
                  <a:pt x="0" y="9525"/>
                </a:moveTo>
                <a:cubicBezTo>
                  <a:pt x="0" y="14786"/>
                  <a:pt x="4264" y="19050"/>
                  <a:pt x="9525" y="19050"/>
                </a:cubicBezTo>
                <a:cubicBezTo>
                  <a:pt x="14786" y="19050"/>
                  <a:pt x="19050" y="14786"/>
                  <a:pt x="19050" y="9525"/>
                </a:cubicBezTo>
                <a:cubicBezTo>
                  <a:pt x="19050" y="4264"/>
                  <a:pt x="14786" y="0"/>
                  <a:pt x="9525" y="0"/>
                </a:cubicBezTo>
                <a:cubicBezTo>
                  <a:pt x="4264" y="0"/>
                  <a:pt x="0" y="4264"/>
                  <a:pt x="0" y="9525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1" name="Freeform 61">
            <a:extLst>
              <a:ext uri="{FF2B5EF4-FFF2-40B4-BE49-F238E27FC236}">
                <a16:creationId xmlns:a16="http://schemas.microsoft.com/office/drawing/2014/main" id="{4E1C6840-AE25-49FE-B4C1-97C30747C310}"/>
              </a:ext>
            </a:extLst>
          </p:cNvPr>
          <p:cNvSpPr>
            <a:spLocks noGrp="1"/>
          </p:cNvSpPr>
          <p:nvPr/>
        </p:nvSpPr>
        <p:spPr>
          <a:xfrm>
            <a:off x="8191500" y="3667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76200"/>
                </a:move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ubicBezTo>
                  <a:pt x="59142" y="0"/>
                  <a:pt x="76200" y="17058"/>
                  <a:pt x="76200" y="38100"/>
                </a:cubicBezTo>
                <a:lnTo>
                  <a:pt x="7620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A3337F1E-A495-4A85-BFAB-9E03B7EA2165}"/>
              </a:ext>
            </a:extLst>
          </p:cNvPr>
          <p:cNvSpPr>
            <a:spLocks noGrp="1"/>
          </p:cNvSpPr>
          <p:nvPr/>
        </p:nvSpPr>
        <p:spPr>
          <a:xfrm>
            <a:off x="8489823" y="36723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允许与禁止的动作范围</a:t>
            </a:r>
          </a:p>
        </p:txBody>
      </p:sp>
      <p:sp>
        <p:nvSpPr>
          <p:cNvPr id="64" name="Freeform 64">
            <a:extLst>
              <a:ext uri="{FF2B5EF4-FFF2-40B4-BE49-F238E27FC236}">
                <a16:creationId xmlns:a16="http://schemas.microsoft.com/office/drawing/2014/main" id="{38B4BE90-929A-435D-A601-942F0FCB98EF}"/>
              </a:ext>
            </a:extLst>
          </p:cNvPr>
          <p:cNvSpPr>
            <a:spLocks noGrp="1"/>
          </p:cNvSpPr>
          <p:nvPr/>
        </p:nvSpPr>
        <p:spPr>
          <a:xfrm>
            <a:off x="8162925" y="426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5" name="Freeform 65">
            <a:extLst>
              <a:ext uri="{FF2B5EF4-FFF2-40B4-BE49-F238E27FC236}">
                <a16:creationId xmlns:a16="http://schemas.microsoft.com/office/drawing/2014/main" id="{0AA9BF3D-E6CA-46DB-BE9B-67AB0CDD97B3}"/>
              </a:ext>
            </a:extLst>
          </p:cNvPr>
          <p:cNvSpPr>
            <a:spLocks noGrp="1"/>
          </p:cNvSpPr>
          <p:nvPr/>
        </p:nvSpPr>
        <p:spPr>
          <a:xfrm>
            <a:off x="8162925" y="4152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6" name="Freeform 66">
            <a:extLst>
              <a:ext uri="{FF2B5EF4-FFF2-40B4-BE49-F238E27FC236}">
                <a16:creationId xmlns:a16="http://schemas.microsoft.com/office/drawing/2014/main" id="{BEFC68B2-5C01-4D2B-9EB2-05A7DE8102D6}"/>
              </a:ext>
            </a:extLst>
          </p:cNvPr>
          <p:cNvSpPr>
            <a:spLocks noGrp="1"/>
          </p:cNvSpPr>
          <p:nvPr/>
        </p:nvSpPr>
        <p:spPr>
          <a:xfrm>
            <a:off x="8258175" y="4152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0" y="19050"/>
                </a:moveTo>
                <a:cubicBezTo>
                  <a:pt x="0" y="29571"/>
                  <a:pt x="8529" y="38100"/>
                  <a:pt x="19050" y="38100"/>
                </a:cubicBezTo>
                <a:cubicBezTo>
                  <a:pt x="29571" y="38100"/>
                  <a:pt x="38100" y="29571"/>
                  <a:pt x="38100" y="19050"/>
                </a:cubicBezTo>
                <a:cubicBezTo>
                  <a:pt x="38100" y="8529"/>
                  <a:pt x="29571" y="0"/>
                  <a:pt x="19050" y="0"/>
                </a:cubicBezTo>
                <a:cubicBezTo>
                  <a:pt x="8529" y="0"/>
                  <a:pt x="0" y="8529"/>
                  <a:pt x="0" y="190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7" name="Freeform 67">
            <a:extLst>
              <a:ext uri="{FF2B5EF4-FFF2-40B4-BE49-F238E27FC236}">
                <a16:creationId xmlns:a16="http://schemas.microsoft.com/office/drawing/2014/main" id="{EE317139-6C49-493A-9B65-8CCD1D7A1A23}"/>
              </a:ext>
            </a:extLst>
          </p:cNvPr>
          <p:cNvSpPr>
            <a:spLocks noGrp="1"/>
          </p:cNvSpPr>
          <p:nvPr/>
        </p:nvSpPr>
        <p:spPr>
          <a:xfrm>
            <a:off x="8181975" y="4191000"/>
            <a:ext cx="9525" cy="76200"/>
          </a:xfrm>
          <a:custGeom>
            <a:avLst/>
            <a:gdLst/>
            <a:ahLst/>
            <a:cxnLst/>
            <a:rect l="l" t="t" r="r" b="b"/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8" name="Freeform 68">
            <a:extLst>
              <a:ext uri="{FF2B5EF4-FFF2-40B4-BE49-F238E27FC236}">
                <a16:creationId xmlns:a16="http://schemas.microsoft.com/office/drawing/2014/main" id="{3A01E1B7-E561-4D1F-829A-0A6EEC1E5A2F}"/>
              </a:ext>
            </a:extLst>
          </p:cNvPr>
          <p:cNvSpPr>
            <a:spLocks noGrp="1"/>
          </p:cNvSpPr>
          <p:nvPr/>
        </p:nvSpPr>
        <p:spPr>
          <a:xfrm>
            <a:off x="8201025" y="4219575"/>
            <a:ext cx="76200" cy="66675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0" y="66675"/>
                </a:moveTo>
                <a:lnTo>
                  <a:pt x="57150" y="66675"/>
                </a:lnTo>
                <a:cubicBezTo>
                  <a:pt x="67671" y="66675"/>
                  <a:pt x="76200" y="58146"/>
                  <a:pt x="76200" y="47625"/>
                </a:cubicBezTo>
                <a:lnTo>
                  <a:pt x="762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69" name="Freeform 69">
            <a:extLst>
              <a:ext uri="{FF2B5EF4-FFF2-40B4-BE49-F238E27FC236}">
                <a16:creationId xmlns:a16="http://schemas.microsoft.com/office/drawing/2014/main" id="{E65920BD-5B37-42E3-82D7-146517CAB250}"/>
              </a:ext>
            </a:extLst>
          </p:cNvPr>
          <p:cNvSpPr>
            <a:spLocks noGrp="1"/>
          </p:cNvSpPr>
          <p:nvPr/>
        </p:nvSpPr>
        <p:spPr>
          <a:xfrm>
            <a:off x="8248650" y="4219575"/>
            <a:ext cx="57150" cy="28575"/>
          </a:xfrm>
          <a:custGeom>
            <a:avLst/>
            <a:gdLst/>
            <a:ahLst/>
            <a:cxnLst/>
            <a:rect l="l" t="t" r="r" b="b"/>
            <a:pathLst>
              <a:path w="57150" h="28575">
                <a:moveTo>
                  <a:pt x="0" y="28575"/>
                </a:moveTo>
                <a:lnTo>
                  <a:pt x="28575" y="0"/>
                </a:lnTo>
                <a:lnTo>
                  <a:pt x="57150" y="2857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FB03A772-34CE-485D-B13F-40AF0CD92039}"/>
              </a:ext>
            </a:extLst>
          </p:cNvPr>
          <p:cNvSpPr>
            <a:spLocks noGrp="1"/>
          </p:cNvSpPr>
          <p:nvPr/>
        </p:nvSpPr>
        <p:spPr>
          <a:xfrm>
            <a:off x="8489823" y="4148614"/>
            <a:ext cx="1554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哪条分支受到影响</a:t>
            </a:r>
          </a:p>
        </p:txBody>
      </p:sp>
      <p:sp>
        <p:nvSpPr>
          <p:cNvPr id="72" name="Freeform 72">
            <a:extLst>
              <a:ext uri="{FF2B5EF4-FFF2-40B4-BE49-F238E27FC236}">
                <a16:creationId xmlns:a16="http://schemas.microsoft.com/office/drawing/2014/main" id="{6025842A-0386-427E-A67A-B8F0452D2A0C}"/>
              </a:ext>
            </a:extLst>
          </p:cNvPr>
          <p:cNvSpPr>
            <a:spLocks noGrp="1"/>
          </p:cNvSpPr>
          <p:nvPr/>
        </p:nvSpPr>
        <p:spPr>
          <a:xfrm>
            <a:off x="8172450" y="4638675"/>
            <a:ext cx="38100" cy="133350"/>
          </a:xfrm>
          <a:custGeom>
            <a:avLst/>
            <a:gdLst/>
            <a:ahLst/>
            <a:cxnLst/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8E36EE10-44EB-43C6-BD11-AE749C1EAB76}"/>
              </a:ext>
            </a:extLst>
          </p:cNvPr>
          <p:cNvSpPr>
            <a:spLocks noGrp="1"/>
          </p:cNvSpPr>
          <p:nvPr/>
        </p:nvSpPr>
        <p:spPr>
          <a:xfrm>
            <a:off x="8248650" y="4638675"/>
            <a:ext cx="38100" cy="133350"/>
          </a:xfrm>
          <a:custGeom>
            <a:avLst/>
            <a:gdLst/>
            <a:ahLst/>
            <a:cxnLst/>
            <a:rect l="l" t="t" r="r" b="b"/>
            <a:pathLst>
              <a:path w="38100" h="133350">
                <a:moveTo>
                  <a:pt x="0" y="9525"/>
                </a:moveTo>
                <a:cubicBezTo>
                  <a:pt x="0" y="4264"/>
                  <a:pt x="4264" y="0"/>
                  <a:pt x="9525" y="0"/>
                </a:cubicBezTo>
                <a:lnTo>
                  <a:pt x="28575" y="0"/>
                </a:lnTo>
                <a:cubicBezTo>
                  <a:pt x="33836" y="0"/>
                  <a:pt x="38100" y="4264"/>
                  <a:pt x="38100" y="9525"/>
                </a:cubicBezTo>
                <a:lnTo>
                  <a:pt x="38100" y="123825"/>
                </a:lnTo>
                <a:cubicBezTo>
                  <a:pt x="38100" y="129086"/>
                  <a:pt x="33836" y="133350"/>
                  <a:pt x="28575" y="133350"/>
                </a:cubicBezTo>
                <a:lnTo>
                  <a:pt x="9525" y="133350"/>
                </a:lnTo>
                <a:cubicBezTo>
                  <a:pt x="4264" y="133350"/>
                  <a:pt x="0" y="129086"/>
                  <a:pt x="0" y="123825"/>
                </a:cubicBezTo>
                <a:lnTo>
                  <a:pt x="0" y="9525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513D82E0-01CF-4687-BD5A-2841F7D9B237}"/>
              </a:ext>
            </a:extLst>
          </p:cNvPr>
          <p:cNvSpPr>
            <a:spLocks noGrp="1"/>
          </p:cNvSpPr>
          <p:nvPr/>
        </p:nvSpPr>
        <p:spPr>
          <a:xfrm>
            <a:off x="8489823" y="4624864"/>
            <a:ext cx="17293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如何暂停、恢复或接管</a:t>
            </a:r>
          </a:p>
        </p:txBody>
      </p:sp>
      <p:sp>
        <p:nvSpPr>
          <p:cNvPr id="76" name="Rectangle 76">
            <a:extLst>
              <a:ext uri="{FF2B5EF4-FFF2-40B4-BE49-F238E27FC236}">
                <a16:creationId xmlns:a16="http://schemas.microsoft.com/office/drawing/2014/main" id="{1733BDF6-5DC3-4461-8C33-CB356FBF5526}"/>
              </a:ext>
            </a:extLst>
          </p:cNvPr>
          <p:cNvSpPr>
            <a:spLocks noGrp="1"/>
          </p:cNvSpPr>
          <p:nvPr/>
        </p:nvSpPr>
        <p:spPr>
          <a:xfrm>
            <a:off x="8115300" y="5048250"/>
            <a:ext cx="3276600" cy="323850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>
            <a:noFill/>
          </a:ln>
        </p:spPr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5E7A499E-9C1E-4858-8D91-19FC29689B6E}"/>
              </a:ext>
            </a:extLst>
          </p:cNvPr>
          <p:cNvSpPr>
            <a:spLocks noGrp="1"/>
          </p:cNvSpPr>
          <p:nvPr/>
        </p:nvSpPr>
        <p:spPr>
          <a:xfrm>
            <a:off x="8575677" y="5129689"/>
            <a:ext cx="23558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控制信息必须来自服务端事实</a:t>
            </a: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2F2EE200-930A-453A-8E2D-F13653960814}"/>
              </a:ext>
            </a:extLst>
          </p:cNvPr>
          <p:cNvSpPr>
            <a:spLocks noGrp="1"/>
          </p:cNvSpPr>
          <p:nvPr/>
        </p:nvSpPr>
        <p:spPr>
          <a:xfrm>
            <a:off x="600075" y="5926931"/>
            <a:ext cx="9525" cy="34925"/>
          </a:xfrm>
          <a:custGeom>
            <a:avLst/>
            <a:gdLst/>
            <a:ahLst/>
            <a:cxnLst/>
            <a:rect l="l" t="t" r="r" b="b"/>
            <a:pathLst>
              <a:path w="9525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0" name="Freeform 80">
            <a:extLst>
              <a:ext uri="{FF2B5EF4-FFF2-40B4-BE49-F238E27FC236}">
                <a16:creationId xmlns:a16="http://schemas.microsoft.com/office/drawing/2014/main" id="{31EB0D34-AC21-4801-AA68-6F173AE05AFC}"/>
              </a:ext>
            </a:extLst>
          </p:cNvPr>
          <p:cNvSpPr>
            <a:spLocks noGrp="1"/>
          </p:cNvSpPr>
          <p:nvPr/>
        </p:nvSpPr>
        <p:spPr>
          <a:xfrm>
            <a:off x="512019" y="5871643"/>
            <a:ext cx="176105" cy="151297"/>
          </a:xfrm>
          <a:custGeom>
            <a:avLst/>
            <a:gdLst/>
            <a:ahLst/>
            <a:cxnLst/>
            <a:rect l="l" t="t" r="r" b="b"/>
            <a:pathLst>
              <a:path w="176105" h="151297">
                <a:moveTo>
                  <a:pt x="73763" y="8061"/>
                </a:moveTo>
                <a:lnTo>
                  <a:pt x="2987" y="126230"/>
                </a:lnTo>
                <a:cubicBezTo>
                  <a:pt x="18" y="131371"/>
                  <a:pt x="0" y="137702"/>
                  <a:pt x="2939" y="142860"/>
                </a:cubicBezTo>
                <a:cubicBezTo>
                  <a:pt x="5879" y="148019"/>
                  <a:pt x="11335" y="151230"/>
                  <a:pt x="17271" y="151297"/>
                </a:cubicBezTo>
                <a:lnTo>
                  <a:pt x="158840" y="151297"/>
                </a:lnTo>
                <a:cubicBezTo>
                  <a:pt x="164774" y="151229"/>
                  <a:pt x="170227" y="148018"/>
                  <a:pt x="173166" y="142863"/>
                </a:cubicBezTo>
                <a:cubicBezTo>
                  <a:pt x="176105" y="137707"/>
                  <a:pt x="176089" y="131379"/>
                  <a:pt x="173124" y="126238"/>
                </a:cubicBezTo>
                <a:lnTo>
                  <a:pt x="102349" y="8052"/>
                </a:lnTo>
                <a:cubicBezTo>
                  <a:pt x="99320" y="3053"/>
                  <a:pt x="93900" y="0"/>
                  <a:pt x="88056" y="0"/>
                </a:cubicBezTo>
                <a:cubicBezTo>
                  <a:pt x="82211" y="0"/>
                  <a:pt x="76791" y="3053"/>
                  <a:pt x="73763" y="8052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1" name="Freeform 81">
            <a:extLst>
              <a:ext uri="{FF2B5EF4-FFF2-40B4-BE49-F238E27FC236}">
                <a16:creationId xmlns:a16="http://schemas.microsoft.com/office/drawing/2014/main" id="{6A51B4DD-20DF-4B25-A5C0-7CF16A31154A}"/>
              </a:ext>
            </a:extLst>
          </p:cNvPr>
          <p:cNvSpPr>
            <a:spLocks noGrp="1"/>
          </p:cNvSpPr>
          <p:nvPr/>
        </p:nvSpPr>
        <p:spPr>
          <a:xfrm>
            <a:off x="600075" y="59880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63597213-4A03-46AB-BEEA-B372A6D62A66}"/>
              </a:ext>
            </a:extLst>
          </p:cNvPr>
          <p:cNvSpPr>
            <a:spLocks noGrp="1"/>
          </p:cNvSpPr>
          <p:nvPr/>
        </p:nvSpPr>
        <p:spPr>
          <a:xfrm>
            <a:off x="812673" y="587263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99B42D41-A0EB-482B-919B-DC1BDBEA1518}"/>
              </a:ext>
            </a:extLst>
          </p:cNvPr>
          <p:cNvSpPr>
            <a:spLocks noGrp="1"/>
          </p:cNvSpPr>
          <p:nvPr/>
        </p:nvSpPr>
        <p:spPr>
          <a:xfrm>
            <a:off x="1746123" y="5872639"/>
            <a:ext cx="56122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默认 12 轮，公开上限 24 轮；仍受调用次数和主动停止约束。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EB6140B4-8A67-41C8-BBE6-7534CD5ECF71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docs.langchain.com/.../langgraph/persistence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C30B216A-EBE4-492D-AF65-42439D8B3FFE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14 / 24</a:t>
            </a:r>
          </a:p>
        </p:txBody>
      </p:sp>
    </p:spTree>
    <p:extLst>
      <p:ext uri="{BB962C8B-B14F-4D97-AF65-F5344CB8AC3E}">
        <p14:creationId xmlns:p14="http://schemas.microsoft.com/office/powerpoint/2010/main" val="140176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65EB6AF-08D6-4B83-9F5D-372C30B70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8D715E-8327-4CE4-9419-6023FBAA0F36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5219F9-A7CB-485C-89A2-220BFD4A7A33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848720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智能体控制循环：当前实现与缺口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30132F8-F0FB-437A-AA37-58E5CE4A99E6}"/>
              </a:ext>
            </a:extLst>
          </p:cNvPr>
          <p:cNvSpPr>
            <a:spLocks noGrp="1"/>
          </p:cNvSpPr>
          <p:nvPr/>
        </p:nvSpPr>
        <p:spPr>
          <a:xfrm>
            <a:off x="1200150" y="2647950"/>
            <a:ext cx="8610600" cy="9525"/>
          </a:xfrm>
          <a:custGeom>
            <a:avLst/>
            <a:gdLst/>
            <a:ahLst/>
            <a:cxnLst/>
            <a:rect l="l" t="t" r="r" b="b"/>
            <a:pathLst>
              <a:path w="8610600" h="9525">
                <a:moveTo>
                  <a:pt x="0" y="0"/>
                </a:moveTo>
                <a:lnTo>
                  <a:pt x="86106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7" name="Ellipse 17">
            <a:extLst>
              <a:ext uri="{FF2B5EF4-FFF2-40B4-BE49-F238E27FC236}">
                <a16:creationId xmlns:a16="http://schemas.microsoft.com/office/drawing/2014/main" id="{3E39581F-DB5D-4F21-892B-362C5596B2C1}"/>
              </a:ext>
            </a:extLst>
          </p:cNvPr>
          <p:cNvSpPr>
            <a:spLocks noGrp="1"/>
          </p:cNvSpPr>
          <p:nvPr/>
        </p:nvSpPr>
        <p:spPr>
          <a:xfrm>
            <a:off x="1219200" y="2133600"/>
            <a:ext cx="1028700" cy="10287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626FCE4-54D9-4AC3-9B84-936778A5738F}"/>
              </a:ext>
            </a:extLst>
          </p:cNvPr>
          <p:cNvSpPr>
            <a:spLocks noGrp="1"/>
          </p:cNvSpPr>
          <p:nvPr/>
        </p:nvSpPr>
        <p:spPr>
          <a:xfrm>
            <a:off x="1701800" y="2482850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22122C07-A3FE-4E8B-93F9-5BB8385EEF4A}"/>
              </a:ext>
            </a:extLst>
          </p:cNvPr>
          <p:cNvSpPr>
            <a:spLocks noGrp="1"/>
          </p:cNvSpPr>
          <p:nvPr/>
        </p:nvSpPr>
        <p:spPr>
          <a:xfrm>
            <a:off x="1590675" y="2419350"/>
            <a:ext cx="285751" cy="190500"/>
          </a:xfrm>
          <a:custGeom>
            <a:avLst/>
            <a:gdLst/>
            <a:ahLst/>
            <a:cxnLst/>
            <a:rect l="l" t="t" r="r" b="b"/>
            <a:pathLst>
              <a:path w="285751" h="190500">
                <a:moveTo>
                  <a:pt x="285751" y="95250"/>
                </a:moveTo>
                <a:cubicBezTo>
                  <a:pt x="247650" y="158750"/>
                  <a:pt x="200025" y="190500"/>
                  <a:pt x="142875" y="190500"/>
                </a:cubicBezTo>
                <a:cubicBezTo>
                  <a:pt x="85725" y="190500"/>
                  <a:pt x="38100" y="158750"/>
                  <a:pt x="0" y="95250"/>
                </a:cubicBezTo>
                <a:cubicBezTo>
                  <a:pt x="38100" y="31750"/>
                  <a:pt x="85725" y="0"/>
                  <a:pt x="142875" y="0"/>
                </a:cubicBezTo>
                <a:cubicBezTo>
                  <a:pt x="200025" y="0"/>
                  <a:pt x="247650" y="31750"/>
                  <a:pt x="285751" y="952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65A4F37-D3EB-40FE-AFF4-734136EE5946}"/>
              </a:ext>
            </a:extLst>
          </p:cNvPr>
          <p:cNvSpPr>
            <a:spLocks noGrp="1"/>
          </p:cNvSpPr>
          <p:nvPr/>
        </p:nvSpPr>
        <p:spPr>
          <a:xfrm>
            <a:off x="1359171" y="2872264"/>
            <a:ext cx="7487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2" name="Ellipse 22">
            <a:extLst>
              <a:ext uri="{FF2B5EF4-FFF2-40B4-BE49-F238E27FC236}">
                <a16:creationId xmlns:a16="http://schemas.microsoft.com/office/drawing/2014/main" id="{068431EF-B25C-4070-AA53-0D2FAFC1D84C}"/>
              </a:ext>
            </a:extLst>
          </p:cNvPr>
          <p:cNvSpPr>
            <a:spLocks noGrp="1"/>
          </p:cNvSpPr>
          <p:nvPr/>
        </p:nvSpPr>
        <p:spPr>
          <a:xfrm>
            <a:off x="3124200" y="2133600"/>
            <a:ext cx="1028700" cy="10287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B20E6552-6574-4609-A4BF-159BD1F2BB41}"/>
              </a:ext>
            </a:extLst>
          </p:cNvPr>
          <p:cNvSpPr>
            <a:spLocks noGrp="1"/>
          </p:cNvSpPr>
          <p:nvPr/>
        </p:nvSpPr>
        <p:spPr>
          <a:xfrm>
            <a:off x="3495675" y="2593976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31750"/>
                </a:moveTo>
                <a:cubicBezTo>
                  <a:pt x="0" y="49285"/>
                  <a:pt x="14215" y="63500"/>
                  <a:pt x="31750" y="63500"/>
                </a:cubicBez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EC652F9-F1E9-4937-A876-E61D5BCC5943}"/>
              </a:ext>
            </a:extLst>
          </p:cNvPr>
          <p:cNvSpPr>
            <a:spLocks noGrp="1"/>
          </p:cNvSpPr>
          <p:nvPr/>
        </p:nvSpPr>
        <p:spPr>
          <a:xfrm>
            <a:off x="3717926" y="23717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63500"/>
                </a:moveTo>
                <a:cubicBezTo>
                  <a:pt x="49285" y="63500"/>
                  <a:pt x="63500" y="49285"/>
                  <a:pt x="63500" y="31750"/>
                </a:cubicBezTo>
                <a:cubicBezTo>
                  <a:pt x="63500" y="14215"/>
                  <a:pt x="49285" y="0"/>
                  <a:pt x="31750" y="0"/>
                </a:cubicBezTo>
                <a:cubicBezTo>
                  <a:pt x="14215" y="0"/>
                  <a:pt x="0" y="14215"/>
                  <a:pt x="0" y="31750"/>
                </a:cubicBezTo>
                <a:cubicBezTo>
                  <a:pt x="0" y="49285"/>
                  <a:pt x="14215" y="63500"/>
                  <a:pt x="31750" y="63500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115E2048-910A-4961-B23D-19551C0B1048}"/>
              </a:ext>
            </a:extLst>
          </p:cNvPr>
          <p:cNvSpPr>
            <a:spLocks noGrp="1"/>
          </p:cNvSpPr>
          <p:nvPr/>
        </p:nvSpPr>
        <p:spPr>
          <a:xfrm>
            <a:off x="3527425" y="2403475"/>
            <a:ext cx="238125" cy="222250"/>
          </a:xfrm>
          <a:custGeom>
            <a:avLst/>
            <a:gdLst/>
            <a:ahLst/>
            <a:cxnLst/>
            <a:rect l="l" t="t" r="r" b="b"/>
            <a:pathLst>
              <a:path w="238125" h="222250">
                <a:moveTo>
                  <a:pt x="95250" y="222250"/>
                </a:moveTo>
                <a:lnTo>
                  <a:pt x="182563" y="222250"/>
                </a:lnTo>
                <a:cubicBezTo>
                  <a:pt x="213249" y="222250"/>
                  <a:pt x="238125" y="197374"/>
                  <a:pt x="238125" y="166688"/>
                </a:cubicBezTo>
                <a:cubicBezTo>
                  <a:pt x="238125" y="136001"/>
                  <a:pt x="213249" y="111125"/>
                  <a:pt x="182563" y="111125"/>
                </a:cubicBezTo>
                <a:lnTo>
                  <a:pt x="55563" y="111125"/>
                </a:lnTo>
                <a:cubicBezTo>
                  <a:pt x="24876" y="111125"/>
                  <a:pt x="0" y="86249"/>
                  <a:pt x="0" y="55563"/>
                </a:cubicBezTo>
                <a:cubicBezTo>
                  <a:pt x="0" y="24876"/>
                  <a:pt x="24876" y="0"/>
                  <a:pt x="55563" y="0"/>
                </a:cubicBezTo>
                <a:lnTo>
                  <a:pt x="12700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8F5DE7F-1067-4983-B6F3-0F15527799FD}"/>
              </a:ext>
            </a:extLst>
          </p:cNvPr>
          <p:cNvSpPr>
            <a:spLocks noGrp="1"/>
          </p:cNvSpPr>
          <p:nvPr/>
        </p:nvSpPr>
        <p:spPr>
          <a:xfrm>
            <a:off x="3453869" y="2872264"/>
            <a:ext cx="369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Ellipse 28">
            <a:extLst>
              <a:ext uri="{FF2B5EF4-FFF2-40B4-BE49-F238E27FC236}">
                <a16:creationId xmlns:a16="http://schemas.microsoft.com/office/drawing/2014/main" id="{3206F7BF-CDD7-42ED-9CAC-2CBB85A65F16}"/>
              </a:ext>
            </a:extLst>
          </p:cNvPr>
          <p:cNvSpPr>
            <a:spLocks noGrp="1"/>
          </p:cNvSpPr>
          <p:nvPr/>
        </p:nvSpPr>
        <p:spPr>
          <a:xfrm>
            <a:off x="5029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94AE0411-F9E9-4D41-92DA-C8E64BA4E166}"/>
              </a:ext>
            </a:extLst>
          </p:cNvPr>
          <p:cNvSpPr>
            <a:spLocks noGrp="1"/>
          </p:cNvSpPr>
          <p:nvPr/>
        </p:nvSpPr>
        <p:spPr>
          <a:xfrm>
            <a:off x="5442033" y="2419350"/>
            <a:ext cx="196768" cy="196768"/>
          </a:xfrm>
          <a:custGeom>
            <a:avLst/>
            <a:gdLst/>
            <a:ahLst/>
            <a:cxnLst/>
            <a:rect l="l" t="t" r="r" b="b"/>
            <a:pathLst>
              <a:path w="196768" h="196768">
                <a:moveTo>
                  <a:pt x="66354" y="0"/>
                </a:moveTo>
                <a:lnTo>
                  <a:pt x="196768" y="130413"/>
                </a:lnTo>
                <a:lnTo>
                  <a:pt x="164160" y="163021"/>
                </a:lnTo>
                <a:cubicBezTo>
                  <a:pt x="141022" y="187085"/>
                  <a:pt x="106687" y="196768"/>
                  <a:pt x="74386" y="188339"/>
                </a:cubicBezTo>
                <a:cubicBezTo>
                  <a:pt x="42084" y="179909"/>
                  <a:pt x="16858" y="154684"/>
                  <a:pt x="8429" y="122382"/>
                </a:cubicBezTo>
                <a:cubicBezTo>
                  <a:pt x="0" y="90081"/>
                  <a:pt x="9683" y="55745"/>
                  <a:pt x="33747" y="32607"/>
                </a:cubicBezTo>
                <a:lnTo>
                  <a:pt x="66354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0130714C-D9F1-45F1-948B-06C47B837959}"/>
              </a:ext>
            </a:extLst>
          </p:cNvPr>
          <p:cNvSpPr>
            <a:spLocks noGrp="1"/>
          </p:cNvSpPr>
          <p:nvPr/>
        </p:nvSpPr>
        <p:spPr>
          <a:xfrm>
            <a:off x="5416550" y="2586038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0" y="55563"/>
                </a:moveTo>
                <a:lnTo>
                  <a:pt x="55563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AF39A6D-A132-402E-986F-84FD35E84402}"/>
              </a:ext>
            </a:extLst>
          </p:cNvPr>
          <p:cNvSpPr>
            <a:spLocks noGrp="1"/>
          </p:cNvSpPr>
          <p:nvPr/>
        </p:nvSpPr>
        <p:spPr>
          <a:xfrm>
            <a:off x="5535613" y="2387600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0F328FDB-A979-4DB4-84A3-1FF6E718C7E2}"/>
              </a:ext>
            </a:extLst>
          </p:cNvPr>
          <p:cNvSpPr>
            <a:spLocks noGrp="1"/>
          </p:cNvSpPr>
          <p:nvPr/>
        </p:nvSpPr>
        <p:spPr>
          <a:xfrm>
            <a:off x="5614988" y="2466975"/>
            <a:ext cx="55563" cy="55563"/>
          </a:xfrm>
          <a:custGeom>
            <a:avLst/>
            <a:gdLst/>
            <a:ahLst/>
            <a:cxnLst/>
            <a:rect l="l" t="t" r="r" b="b"/>
            <a:pathLst>
              <a:path w="55563" h="55563">
                <a:moveTo>
                  <a:pt x="55563" y="0"/>
                </a:moveTo>
                <a:lnTo>
                  <a:pt x="0" y="55563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0A7D675-81B3-4F8C-9E02-08A5A0A0AABA}"/>
              </a:ext>
            </a:extLst>
          </p:cNvPr>
          <p:cNvSpPr>
            <a:spLocks noGrp="1"/>
          </p:cNvSpPr>
          <p:nvPr/>
        </p:nvSpPr>
        <p:spPr>
          <a:xfrm>
            <a:off x="5385584" y="2872264"/>
            <a:ext cx="3159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Ellipse 35">
            <a:extLst>
              <a:ext uri="{FF2B5EF4-FFF2-40B4-BE49-F238E27FC236}">
                <a16:creationId xmlns:a16="http://schemas.microsoft.com/office/drawing/2014/main" id="{1C6F47C8-E5E4-4860-8582-EF7EA04D5B93}"/>
              </a:ext>
            </a:extLst>
          </p:cNvPr>
          <p:cNvSpPr>
            <a:spLocks noGrp="1"/>
          </p:cNvSpPr>
          <p:nvPr/>
        </p:nvSpPr>
        <p:spPr>
          <a:xfrm>
            <a:off x="6934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AF026CF-AD88-4EF6-8634-1E7205A77CA8}"/>
              </a:ext>
            </a:extLst>
          </p:cNvPr>
          <p:cNvSpPr>
            <a:spLocks noGrp="1"/>
          </p:cNvSpPr>
          <p:nvPr/>
        </p:nvSpPr>
        <p:spPr>
          <a:xfrm>
            <a:off x="7284251" y="2371725"/>
            <a:ext cx="310011" cy="283306"/>
          </a:xfrm>
          <a:custGeom>
            <a:avLst/>
            <a:gdLst/>
            <a:ahLst/>
            <a:cxnLst/>
            <a:rect l="l" t="t" r="r" b="b"/>
            <a:pathLst>
              <a:path w="310011" h="283306">
                <a:moveTo>
                  <a:pt x="155727" y="283306"/>
                </a:moveTo>
                <a:cubicBezTo>
                  <a:pt x="56277" y="252479"/>
                  <a:pt x="0" y="147517"/>
                  <a:pt x="29362" y="47625"/>
                </a:cubicBezTo>
                <a:cubicBezTo>
                  <a:pt x="78821" y="49888"/>
                  <a:pt x="127218" y="32807"/>
                  <a:pt x="164299" y="0"/>
                </a:cubicBezTo>
                <a:cubicBezTo>
                  <a:pt x="201381" y="32807"/>
                  <a:pt x="249778" y="49888"/>
                  <a:pt x="299237" y="47625"/>
                </a:cubicBezTo>
                <a:cubicBezTo>
                  <a:pt x="310011" y="84282"/>
                  <a:pt x="309513" y="123332"/>
                  <a:pt x="297808" y="159703"/>
                </a:cubicBez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CB6418D1-C058-49AB-8024-DF1CEA9A1259}"/>
              </a:ext>
            </a:extLst>
          </p:cNvPr>
          <p:cNvSpPr>
            <a:spLocks noGrp="1"/>
          </p:cNvSpPr>
          <p:nvPr/>
        </p:nvSpPr>
        <p:spPr>
          <a:xfrm>
            <a:off x="7496175" y="2593976"/>
            <a:ext cx="95250" cy="63500"/>
          </a:xfrm>
          <a:custGeom>
            <a:avLst/>
            <a:gdLst/>
            <a:ahLst/>
            <a:cxnLst/>
            <a:rect l="l" t="t" r="r" b="b"/>
            <a:pathLst>
              <a:path w="95250" h="63500">
                <a:moveTo>
                  <a:pt x="0" y="31750"/>
                </a:moveTo>
                <a:lnTo>
                  <a:pt x="31750" y="63500"/>
                </a:lnTo>
                <a:lnTo>
                  <a:pt x="95250" y="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9EB3823-AB80-4DAB-B2D9-6D1C8CA2A7BD}"/>
              </a:ext>
            </a:extLst>
          </p:cNvPr>
          <p:cNvSpPr>
            <a:spLocks noGrp="1"/>
          </p:cNvSpPr>
          <p:nvPr/>
        </p:nvSpPr>
        <p:spPr>
          <a:xfrm>
            <a:off x="7164641" y="2872264"/>
            <a:ext cx="5678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0" name="Ellipse 40">
            <a:extLst>
              <a:ext uri="{FF2B5EF4-FFF2-40B4-BE49-F238E27FC236}">
                <a16:creationId xmlns:a16="http://schemas.microsoft.com/office/drawing/2014/main" id="{FD85CCF0-4AEE-4C52-A1B9-FA9A51BFC12D}"/>
              </a:ext>
            </a:extLst>
          </p:cNvPr>
          <p:cNvSpPr>
            <a:spLocks noGrp="1"/>
          </p:cNvSpPr>
          <p:nvPr/>
        </p:nvSpPr>
        <p:spPr>
          <a:xfrm>
            <a:off x="8839200" y="2133600"/>
            <a:ext cx="1028700" cy="1028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DE280964-17DD-47F8-BAF0-769E5BBCB06D}"/>
              </a:ext>
            </a:extLst>
          </p:cNvPr>
          <p:cNvSpPr>
            <a:spLocks noGrp="1"/>
          </p:cNvSpPr>
          <p:nvPr/>
        </p:nvSpPr>
        <p:spPr>
          <a:xfrm>
            <a:off x="9321800" y="2403475"/>
            <a:ext cx="158750" cy="222250"/>
          </a:xfrm>
          <a:custGeom>
            <a:avLst/>
            <a:gdLst/>
            <a:ahLst/>
            <a:cxnLst/>
            <a:rect l="l" t="t" r="r" b="b"/>
            <a:pathLst>
              <a:path w="158750" h="222250">
                <a:moveTo>
                  <a:pt x="0" y="31750"/>
                </a:moveTo>
                <a:cubicBezTo>
                  <a:pt x="0" y="14215"/>
                  <a:pt x="14215" y="0"/>
                  <a:pt x="31750" y="0"/>
                </a:cubicBezTo>
                <a:lnTo>
                  <a:pt x="127000" y="0"/>
                </a:lnTo>
                <a:cubicBezTo>
                  <a:pt x="144535" y="0"/>
                  <a:pt x="158750" y="14215"/>
                  <a:pt x="158750" y="31750"/>
                </a:cubicBezTo>
                <a:lnTo>
                  <a:pt x="158750" y="190500"/>
                </a:lnTo>
                <a:cubicBezTo>
                  <a:pt x="158750" y="208035"/>
                  <a:pt x="144535" y="222250"/>
                  <a:pt x="127000" y="222250"/>
                </a:cubicBezTo>
                <a:lnTo>
                  <a:pt x="31750" y="222250"/>
                </a:lnTo>
                <a:cubicBezTo>
                  <a:pt x="14215" y="222250"/>
                  <a:pt x="0" y="208035"/>
                  <a:pt x="0" y="190500"/>
                </a:cubicBezTo>
                <a:lnTo>
                  <a:pt x="0" y="317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DB5022BE-5297-41DC-84B7-9E0183AEDA41}"/>
              </a:ext>
            </a:extLst>
          </p:cNvPr>
          <p:cNvSpPr>
            <a:spLocks noGrp="1"/>
          </p:cNvSpPr>
          <p:nvPr/>
        </p:nvSpPr>
        <p:spPr>
          <a:xfrm>
            <a:off x="9274175" y="2435225"/>
            <a:ext cx="9525" cy="158750"/>
          </a:xfrm>
          <a:custGeom>
            <a:avLst/>
            <a:gdLst/>
            <a:ahLst/>
            <a:cxnLst/>
            <a:rect l="l" t="t" r="r" b="b"/>
            <a:pathLst>
              <a:path w="9525" h="158750">
                <a:moveTo>
                  <a:pt x="0" y="0"/>
                </a:moveTo>
                <a:lnTo>
                  <a:pt x="0" y="15875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B640EFC4-6FA9-46CC-9823-4454732C1395}"/>
              </a:ext>
            </a:extLst>
          </p:cNvPr>
          <p:cNvSpPr>
            <a:spLocks noGrp="1"/>
          </p:cNvSpPr>
          <p:nvPr/>
        </p:nvSpPr>
        <p:spPr>
          <a:xfrm>
            <a:off x="9226550" y="2451100"/>
            <a:ext cx="9525" cy="127000"/>
          </a:xfrm>
          <a:custGeom>
            <a:avLst/>
            <a:gdLst/>
            <a:ahLst/>
            <a:cxnLst/>
            <a:rect l="l" t="t" r="r" b="b"/>
            <a:pathLst>
              <a:path w="9525" h="127000">
                <a:moveTo>
                  <a:pt x="0" y="0"/>
                </a:moveTo>
                <a:lnTo>
                  <a:pt x="0" y="127000"/>
                </a:lnTo>
              </a:path>
            </a:pathLst>
          </a:custGeom>
          <a:noFill/>
          <a:ln w="19050">
            <a:solidFill>
              <a:srgbClr val="FFFFFF"/>
            </a:solidFill>
          </a:ln>
        </p:spPr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9A312A76-30C4-49A4-92B9-BB591171E456}"/>
              </a:ext>
            </a:extLst>
          </p:cNvPr>
          <p:cNvSpPr>
            <a:spLocks noGrp="1"/>
          </p:cNvSpPr>
          <p:nvPr/>
        </p:nvSpPr>
        <p:spPr>
          <a:xfrm>
            <a:off x="9033256" y="2872264"/>
            <a:ext cx="640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C878132A-E57B-41F0-9E58-C08D9F5A8C1B}"/>
              </a:ext>
            </a:extLst>
          </p:cNvPr>
          <p:cNvSpPr>
            <a:spLocks noGrp="1"/>
          </p:cNvSpPr>
          <p:nvPr/>
        </p:nvSpPr>
        <p:spPr>
          <a:xfrm>
            <a:off x="1733550" y="1981200"/>
            <a:ext cx="8934450" cy="666750"/>
          </a:xfrm>
          <a:custGeom>
            <a:avLst/>
            <a:gdLst/>
            <a:ahLst/>
            <a:cxnLst/>
            <a:rect l="l" t="t" r="r" b="b"/>
            <a:pathLst>
              <a:path w="8934450" h="666750">
                <a:moveTo>
                  <a:pt x="8134350" y="666750"/>
                </a:moveTo>
                <a:lnTo>
                  <a:pt x="8934450" y="666750"/>
                </a:lnTo>
                <a:lnTo>
                  <a:pt x="8934450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9565A489-FC05-4356-815D-B418EC431D55}"/>
              </a:ext>
            </a:extLst>
          </p:cNvPr>
          <p:cNvSpPr>
            <a:spLocks noGrp="1"/>
          </p:cNvSpPr>
          <p:nvPr/>
        </p:nvSpPr>
        <p:spPr>
          <a:xfrm>
            <a:off x="10075164" y="22869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默认 12 轮，上限 24 轮</a:t>
            </a:r>
          </a:p>
        </p:txBody>
      </p:sp>
      <p:sp>
        <p:nvSpPr>
          <p:cNvPr id="49" name="Rectangle 49">
            <a:extLst>
              <a:ext uri="{FF2B5EF4-FFF2-40B4-BE49-F238E27FC236}">
                <a16:creationId xmlns:a16="http://schemas.microsoft.com/office/drawing/2014/main" id="{C4E745B8-62D2-4E85-9559-51642CA90230}"/>
              </a:ext>
            </a:extLst>
          </p:cNvPr>
          <p:cNvSpPr>
            <a:spLocks noGrp="1"/>
          </p:cNvSpPr>
          <p:nvPr/>
        </p:nvSpPr>
        <p:spPr>
          <a:xfrm>
            <a:off x="495300" y="3600450"/>
            <a:ext cx="11201400" cy="18859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A557B97B-775D-4E50-84C5-55BBC49C4C1D}"/>
              </a:ext>
            </a:extLst>
          </p:cNvPr>
          <p:cNvSpPr>
            <a:spLocks noGrp="1"/>
          </p:cNvSpPr>
          <p:nvPr/>
        </p:nvSpPr>
        <p:spPr>
          <a:xfrm>
            <a:off x="714756" y="37490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外围控制与状态</a:t>
            </a:r>
          </a:p>
        </p:txBody>
      </p:sp>
      <p:sp>
        <p:nvSpPr>
          <p:cNvPr id="51" name="Freeform 51">
            <a:extLst>
              <a:ext uri="{FF2B5EF4-FFF2-40B4-BE49-F238E27FC236}">
                <a16:creationId xmlns:a16="http://schemas.microsoft.com/office/drawing/2014/main" id="{F98FE8DB-CA85-473C-A795-79BF503D8C5D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10744200" cy="1123950"/>
          </a:xfrm>
          <a:custGeom>
            <a:avLst/>
            <a:gdLst/>
            <a:ahLst/>
            <a:cxnLst/>
            <a:rect l="l" t="t" r="r" b="b"/>
            <a:pathLst>
              <a:path w="10744200" h="1123950">
                <a:moveTo>
                  <a:pt x="0" y="0"/>
                </a:moveTo>
                <a:lnTo>
                  <a:pt x="10744200" y="0"/>
                </a:lnTo>
                <a:moveTo>
                  <a:pt x="1790700" y="0"/>
                </a:moveTo>
                <a:lnTo>
                  <a:pt x="1790700" y="1123950"/>
                </a:lnTo>
                <a:moveTo>
                  <a:pt x="3581400" y="0"/>
                </a:moveTo>
                <a:lnTo>
                  <a:pt x="3581400" y="1123950"/>
                </a:lnTo>
                <a:moveTo>
                  <a:pt x="5372100" y="0"/>
                </a:moveTo>
                <a:lnTo>
                  <a:pt x="5372100" y="1123950"/>
                </a:lnTo>
                <a:moveTo>
                  <a:pt x="7162800" y="0"/>
                </a:moveTo>
                <a:lnTo>
                  <a:pt x="7162800" y="1123950"/>
                </a:lnTo>
                <a:moveTo>
                  <a:pt x="8953500" y="0"/>
                </a:moveTo>
                <a:lnTo>
                  <a:pt x="8953500" y="1123950"/>
                </a:lnTo>
              </a:path>
            </a:pathLst>
          </a:custGeom>
          <a:solidFill>
            <a:srgbClr val="000000"/>
          </a:solidFill>
          <a:ln w="19050">
            <a:solidFill>
              <a:srgbClr val="E3E8ED"/>
            </a:solidFill>
          </a:ln>
        </p:spPr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9E444F22-CC83-421C-8481-C3B12C6F0812}"/>
              </a:ext>
            </a:extLst>
          </p:cNvPr>
          <p:cNvSpPr>
            <a:spLocks noGrp="1"/>
          </p:cNvSpPr>
          <p:nvPr/>
        </p:nvSpPr>
        <p:spPr>
          <a:xfrm>
            <a:off x="850773" y="43581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4B37138F-1E46-40D9-A906-3527568A84D8}"/>
              </a:ext>
            </a:extLst>
          </p:cNvPr>
          <p:cNvSpPr>
            <a:spLocks noGrp="1"/>
          </p:cNvSpPr>
          <p:nvPr/>
        </p:nvSpPr>
        <p:spPr>
          <a:xfrm>
            <a:off x="851916" y="4725352"/>
            <a:ext cx="13605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当前：目标/范围冻结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D1EB285-A546-4077-9937-8966FC26BC53}"/>
              </a:ext>
            </a:extLst>
          </p:cNvPr>
          <p:cNvSpPr>
            <a:spLocks noGrp="1"/>
          </p:cNvSpPr>
          <p:nvPr/>
        </p:nvSpPr>
        <p:spPr>
          <a:xfrm>
            <a:off x="2641473" y="43581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7BCA100C-91EE-4F77-890F-513190FBDCC5}"/>
              </a:ext>
            </a:extLst>
          </p:cNvPr>
          <p:cNvSpPr>
            <a:spLocks noGrp="1"/>
          </p:cNvSpPr>
          <p:nvPr/>
        </p:nvSpPr>
        <p:spPr>
          <a:xfrm>
            <a:off x="2642616" y="4725352"/>
            <a:ext cx="12377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当前：分支级证据门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5452BB4D-95AB-4C04-B90E-2206AEE48729}"/>
              </a:ext>
            </a:extLst>
          </p:cNvPr>
          <p:cNvSpPr>
            <a:spLocks noGrp="1"/>
          </p:cNvSpPr>
          <p:nvPr/>
        </p:nvSpPr>
        <p:spPr>
          <a:xfrm>
            <a:off x="4432173" y="4358164"/>
            <a:ext cx="1225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预算与停止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C64EB961-76A5-4FDA-A2FB-7BD64209AFB9}"/>
              </a:ext>
            </a:extLst>
          </p:cNvPr>
          <p:cNvSpPr>
            <a:spLocks noGrp="1"/>
          </p:cNvSpPr>
          <p:nvPr/>
        </p:nvSpPr>
        <p:spPr>
          <a:xfrm>
            <a:off x="4433316" y="4725352"/>
            <a:ext cx="14383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部分：轮次/调用/期限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EAC3E1A7-CD9E-45A0-84BC-3E4AEDEC3AE9}"/>
              </a:ext>
            </a:extLst>
          </p:cNvPr>
          <p:cNvSpPr>
            <a:spLocks noGrp="1"/>
          </p:cNvSpPr>
          <p:nvPr/>
        </p:nvSpPr>
        <p:spPr>
          <a:xfrm>
            <a:off x="6222873" y="4358164"/>
            <a:ext cx="12250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纠偏与暂停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009B1B26-C8A0-4869-BB83-42A69F5445F6}"/>
              </a:ext>
            </a:extLst>
          </p:cNvPr>
          <p:cNvSpPr>
            <a:spLocks noGrp="1"/>
          </p:cNvSpPr>
          <p:nvPr/>
        </p:nvSpPr>
        <p:spPr>
          <a:xfrm>
            <a:off x="6224016" y="4725352"/>
            <a:ext cx="18185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部分：在安全点生效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086EDD13-D1D8-4B4E-ABE7-70743E74537A}"/>
              </a:ext>
            </a:extLst>
          </p:cNvPr>
          <p:cNvSpPr>
            <a:spLocks noGrp="1"/>
          </p:cNvSpPr>
          <p:nvPr/>
        </p:nvSpPr>
        <p:spPr>
          <a:xfrm>
            <a:off x="8013573" y="43581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持久状态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A94DAF7E-DFD8-4334-BE1C-843D30EC5B56}"/>
              </a:ext>
            </a:extLst>
          </p:cNvPr>
          <p:cNvSpPr>
            <a:spLocks noGrp="1"/>
          </p:cNvSpPr>
          <p:nvPr/>
        </p:nvSpPr>
        <p:spPr>
          <a:xfrm>
            <a:off x="8014716" y="4725352"/>
            <a:ext cx="16087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部分：可选数据库重启恢复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65724089-9972-47DB-947C-B92FB63ABC94}"/>
              </a:ext>
            </a:extLst>
          </p:cNvPr>
          <p:cNvSpPr>
            <a:spLocks noGrp="1"/>
          </p:cNvSpPr>
          <p:nvPr/>
        </p:nvSpPr>
        <p:spPr>
          <a:xfrm>
            <a:off x="9804273" y="4358164"/>
            <a:ext cx="51417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执行记录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D57F45CF-7470-4FCD-8A42-90BE77E844BB}"/>
              </a:ext>
            </a:extLst>
          </p:cNvPr>
          <p:cNvSpPr>
            <a:spLocks noGrp="1"/>
          </p:cNvSpPr>
          <p:nvPr/>
        </p:nvSpPr>
        <p:spPr>
          <a:xfrm>
            <a:off x="9805416" y="4725352"/>
            <a:ext cx="1938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1769E0"/>
                </a:solidFill>
                <a:latin typeface="Segoe UI"/>
                <a:ea typeface="Segoe UI"/>
                <a:cs typeface="Segoe UI"/>
              </a:rPr>
              <a:t>当前：有序事件与状态快照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7F8937E5-3984-4561-A60F-2CA63FF4ADCB}"/>
              </a:ext>
            </a:extLst>
          </p:cNvPr>
          <p:cNvSpPr>
            <a:spLocks noGrp="1"/>
          </p:cNvSpPr>
          <p:nvPr/>
        </p:nvSpPr>
        <p:spPr>
          <a:xfrm>
            <a:off x="486156" y="57111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当前本质：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DF054A3C-D8A2-40DE-BE90-8749BC0E044D}"/>
              </a:ext>
            </a:extLst>
          </p:cNvPr>
          <p:cNvSpPr>
            <a:spLocks noGrp="1"/>
          </p:cNvSpPr>
          <p:nvPr/>
        </p:nvSpPr>
        <p:spPr>
          <a:xfrm>
            <a:off x="1667256" y="571119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有反馈与恢复的只读办公任务纵切，不是完整执行器。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892F6306-F5D8-43A2-B4A9-D7B0695B763F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openai.github.io/.../human_in_the_loop/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971BC25C-8C2F-4D70-8892-7CA3D773055B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15 / 24</a:t>
            </a:r>
          </a:p>
        </p:txBody>
      </p:sp>
    </p:spTree>
    <p:extLst>
      <p:ext uri="{BB962C8B-B14F-4D97-AF65-F5344CB8AC3E}">
        <p14:creationId xmlns:p14="http://schemas.microsoft.com/office/powerpoint/2010/main" val="30281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415ECDC-4A9C-4BF2-BD49-69CCA1171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86948A-4754-46C9-8E3F-BEB9C29E95AD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504393-9026-4ED0-96B7-611FF21A0CA9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686230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前台交互只需要先回答五个问题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747306C-2117-4F45-B783-28313C473157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6286500" cy="4267200"/>
          </a:xfrm>
          <a:prstGeom prst="roundRect">
            <a:avLst>
              <a:gd name="adj" fmla="val 1339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011AB8-9418-44E4-BAF3-C053877C584C}"/>
              </a:ext>
            </a:extLst>
          </p:cNvPr>
          <p:cNvSpPr>
            <a:spLocks noGrp="1"/>
          </p:cNvSpPr>
          <p:nvPr/>
        </p:nvSpPr>
        <p:spPr>
          <a:xfrm>
            <a:off x="751332" y="1583055"/>
            <a:ext cx="26928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业务用户的阅读顺序</a:t>
            </a:r>
          </a:p>
        </p:txBody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304BED7E-3BD6-482F-88C7-C0DE67A40D7E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EE3365C-7B3A-4F03-9B78-A79B17B0D45A}"/>
              </a:ext>
            </a:extLst>
          </p:cNvPr>
          <p:cNvSpPr>
            <a:spLocks noGrp="1"/>
          </p:cNvSpPr>
          <p:nvPr/>
        </p:nvSpPr>
        <p:spPr>
          <a:xfrm>
            <a:off x="820262" y="21769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EF7E6DA-593A-41EC-AD8B-35C4D37B8095}"/>
              </a:ext>
            </a:extLst>
          </p:cNvPr>
          <p:cNvSpPr>
            <a:spLocks noGrp="1"/>
          </p:cNvSpPr>
          <p:nvPr/>
        </p:nvSpPr>
        <p:spPr>
          <a:xfrm>
            <a:off x="1229106" y="21297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现在完成了什么？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3D70BD0-3E0D-4F68-A345-B07A5EF2D533}"/>
              </a:ext>
            </a:extLst>
          </p:cNvPr>
          <p:cNvSpPr>
            <a:spLocks noGrp="1"/>
          </p:cNvSpPr>
          <p:nvPr/>
        </p:nvSpPr>
        <p:spPr>
          <a:xfrm>
            <a:off x="3708273" y="21864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成果文件与确定性检查置顶</a:t>
            </a:r>
          </a:p>
        </p:txBody>
      </p:sp>
      <p:sp>
        <p:nvSpPr>
          <p:cNvPr id="15" name="Ellipse 15">
            <a:extLst>
              <a:ext uri="{FF2B5EF4-FFF2-40B4-BE49-F238E27FC236}">
                <a16:creationId xmlns:a16="http://schemas.microsoft.com/office/drawing/2014/main" id="{CAD0C23A-A633-4321-BDC0-3079AF32FD87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6CDFF9B-AEED-48EC-B480-7AEE71011431}"/>
              </a:ext>
            </a:extLst>
          </p:cNvPr>
          <p:cNvSpPr>
            <a:spLocks noGrp="1"/>
          </p:cNvSpPr>
          <p:nvPr/>
        </p:nvSpPr>
        <p:spPr>
          <a:xfrm>
            <a:off x="820262" y="28436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45A44F3-D413-4BBD-A179-F9B2060AA698}"/>
              </a:ext>
            </a:extLst>
          </p:cNvPr>
          <p:cNvSpPr>
            <a:spLocks noGrp="1"/>
          </p:cNvSpPr>
          <p:nvPr/>
        </p:nvSpPr>
        <p:spPr>
          <a:xfrm>
            <a:off x="1229106" y="27965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依据是什么？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3EB9E3F-B99B-4CBC-8694-A332BD410E88}"/>
              </a:ext>
            </a:extLst>
          </p:cNvPr>
          <p:cNvSpPr>
            <a:spLocks noGrp="1"/>
          </p:cNvSpPr>
          <p:nvPr/>
        </p:nvSpPr>
        <p:spPr>
          <a:xfrm>
            <a:off x="3708273" y="285321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文件、原文位置与摘录可回开</a:t>
            </a:r>
          </a:p>
        </p:txBody>
      </p:sp>
      <p:sp>
        <p:nvSpPr>
          <p:cNvPr id="19" name="Ellipse 19">
            <a:extLst>
              <a:ext uri="{FF2B5EF4-FFF2-40B4-BE49-F238E27FC236}">
                <a16:creationId xmlns:a16="http://schemas.microsoft.com/office/drawing/2014/main" id="{59F3F454-0A26-4DC4-996A-A00B72D28B13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2CB6846-E3F4-4FFD-B3A6-DC3AA8F08D22}"/>
              </a:ext>
            </a:extLst>
          </p:cNvPr>
          <p:cNvSpPr>
            <a:spLocks noGrp="1"/>
          </p:cNvSpPr>
          <p:nvPr/>
        </p:nvSpPr>
        <p:spPr>
          <a:xfrm>
            <a:off x="820262" y="35104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D94169-7FD2-47D5-ADC2-842734BA175A}"/>
              </a:ext>
            </a:extLst>
          </p:cNvPr>
          <p:cNvSpPr>
            <a:spLocks noGrp="1"/>
          </p:cNvSpPr>
          <p:nvPr/>
        </p:nvSpPr>
        <p:spPr>
          <a:xfrm>
            <a:off x="1229106" y="34632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为什么停？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853E03E-449A-4CEC-9B1E-802BD8266D8A}"/>
              </a:ext>
            </a:extLst>
          </p:cNvPr>
          <p:cNvSpPr>
            <a:spLocks noGrp="1"/>
          </p:cNvSpPr>
          <p:nvPr/>
        </p:nvSpPr>
        <p:spPr>
          <a:xfrm>
            <a:off x="3708273" y="35199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说明问题、影响范围和可选动作</a:t>
            </a:r>
          </a:p>
        </p:txBody>
      </p:sp>
      <p:sp>
        <p:nvSpPr>
          <p:cNvPr id="23" name="Ellipse 23">
            <a:extLst>
              <a:ext uri="{FF2B5EF4-FFF2-40B4-BE49-F238E27FC236}">
                <a16:creationId xmlns:a16="http://schemas.microsoft.com/office/drawing/2014/main" id="{FCA7E531-F3DD-47DF-9956-8EE63E7F0E1B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4130A11-44F5-4D4A-9FCF-EF1BABD61F07}"/>
              </a:ext>
            </a:extLst>
          </p:cNvPr>
          <p:cNvSpPr>
            <a:spLocks noGrp="1"/>
          </p:cNvSpPr>
          <p:nvPr/>
        </p:nvSpPr>
        <p:spPr>
          <a:xfrm>
            <a:off x="820262" y="41771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1B08376-E271-4797-A1DD-6E11D55A708A}"/>
              </a:ext>
            </a:extLst>
          </p:cNvPr>
          <p:cNvSpPr>
            <a:spLocks noGrp="1"/>
          </p:cNvSpPr>
          <p:nvPr/>
        </p:nvSpPr>
        <p:spPr>
          <a:xfrm>
            <a:off x="1229106" y="4130040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我确认后会改变什么？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603AE6A-70F0-4C17-B160-659127B73D2C}"/>
              </a:ext>
            </a:extLst>
          </p:cNvPr>
          <p:cNvSpPr>
            <a:spLocks noGrp="1"/>
          </p:cNvSpPr>
          <p:nvPr/>
        </p:nvSpPr>
        <p:spPr>
          <a:xfrm>
            <a:off x="4203573" y="4186714"/>
            <a:ext cx="15029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只恢复哪条分支</a:t>
            </a:r>
          </a:p>
        </p:txBody>
      </p:sp>
      <p:sp>
        <p:nvSpPr>
          <p:cNvPr id="27" name="Ellipse 27">
            <a:extLst>
              <a:ext uri="{FF2B5EF4-FFF2-40B4-BE49-F238E27FC236}">
                <a16:creationId xmlns:a16="http://schemas.microsoft.com/office/drawing/2014/main" id="{3327603F-5662-4E0F-9154-02DBD3F7215E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D006CE-C762-4321-9C12-F10E41859917}"/>
              </a:ext>
            </a:extLst>
          </p:cNvPr>
          <p:cNvSpPr>
            <a:spLocks noGrp="1"/>
          </p:cNvSpPr>
          <p:nvPr/>
        </p:nvSpPr>
        <p:spPr>
          <a:xfrm>
            <a:off x="820262" y="484393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7C488D0-7436-418F-9E01-6FEF22FB879D}"/>
              </a:ext>
            </a:extLst>
          </p:cNvPr>
          <p:cNvSpPr>
            <a:spLocks noGrp="1"/>
          </p:cNvSpPr>
          <p:nvPr/>
        </p:nvSpPr>
        <p:spPr>
          <a:xfrm>
            <a:off x="1229106" y="47967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什么绝不会发生？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273EA66-0828-4F4A-848F-289602D188C5}"/>
              </a:ext>
            </a:extLst>
          </p:cNvPr>
          <p:cNvSpPr>
            <a:spLocks noGrp="1"/>
          </p:cNvSpPr>
          <p:nvPr/>
        </p:nvSpPr>
        <p:spPr>
          <a:xfrm>
            <a:off x="3708273" y="4853464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未执行边界与外部动作回执</a:t>
            </a: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3311AA4E-2929-4DE4-B9DA-7068E511A9E1}"/>
              </a:ext>
            </a:extLst>
          </p:cNvPr>
          <p:cNvSpPr>
            <a:spLocks noGrp="1"/>
          </p:cNvSpPr>
          <p:nvPr/>
        </p:nvSpPr>
        <p:spPr>
          <a:xfrm>
            <a:off x="7048500" y="1409700"/>
            <a:ext cx="4648200" cy="4267200"/>
          </a:xfrm>
          <a:prstGeom prst="roundRect">
            <a:avLst>
              <a:gd name="adj" fmla="val 1339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7520823-B11A-44C5-8B1C-4CF2FB952DD7}"/>
              </a:ext>
            </a:extLst>
          </p:cNvPr>
          <p:cNvSpPr>
            <a:spLocks noGrp="1"/>
          </p:cNvSpPr>
          <p:nvPr/>
        </p:nvSpPr>
        <p:spPr>
          <a:xfrm>
            <a:off x="7304532" y="15830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三层信息架构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A06653B-C4FB-4B81-BC29-3DCF79C799EB}"/>
              </a:ext>
            </a:extLst>
          </p:cNvPr>
          <p:cNvSpPr>
            <a:spLocks noGrp="1"/>
          </p:cNvSpPr>
          <p:nvPr/>
        </p:nvSpPr>
        <p:spPr>
          <a:xfrm>
            <a:off x="7315200" y="20955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FD9262C-D382-472A-8628-C9BF11F0EF08}"/>
              </a:ext>
            </a:extLst>
          </p:cNvPr>
          <p:cNvSpPr>
            <a:spLocks noGrp="1"/>
          </p:cNvSpPr>
          <p:nvPr/>
        </p:nvSpPr>
        <p:spPr>
          <a:xfrm>
            <a:off x="7534656" y="21869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首屏：当前结论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517F9879-C6E3-46E2-932B-D561966576E7}"/>
              </a:ext>
            </a:extLst>
          </p:cNvPr>
          <p:cNvSpPr>
            <a:spLocks noGrp="1"/>
          </p:cNvSpPr>
          <p:nvPr/>
        </p:nvSpPr>
        <p:spPr>
          <a:xfrm>
            <a:off x="7537323" y="25293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成果、复核状态、未执行边界</a:t>
            </a:r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9BFBC345-D1E9-4726-866D-F106B92EBE92}"/>
              </a:ext>
            </a:extLst>
          </p:cNvPr>
          <p:cNvSpPr>
            <a:spLocks noGrp="1"/>
          </p:cNvSpPr>
          <p:nvPr/>
        </p:nvSpPr>
        <p:spPr>
          <a:xfrm>
            <a:off x="7315200" y="30480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C657AD7-4C0F-4BFB-9B2B-5056F372B35C}"/>
              </a:ext>
            </a:extLst>
          </p:cNvPr>
          <p:cNvSpPr>
            <a:spLocks noGrp="1"/>
          </p:cNvSpPr>
          <p:nvPr/>
        </p:nvSpPr>
        <p:spPr>
          <a:xfrm>
            <a:off x="7534656" y="31394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展开：为什么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C00FD29-ECE4-4839-8CF7-D8443B52EA79}"/>
              </a:ext>
            </a:extLst>
          </p:cNvPr>
          <p:cNvSpPr>
            <a:spLocks noGrp="1"/>
          </p:cNvSpPr>
          <p:nvPr/>
        </p:nvSpPr>
        <p:spPr>
          <a:xfrm>
            <a:off x="7537323" y="34818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来源、校验、说明采用、局部决定</a:t>
            </a:r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D1451B06-AED4-456B-9971-EFFAEC164D24}"/>
              </a:ext>
            </a:extLst>
          </p:cNvPr>
          <p:cNvSpPr>
            <a:spLocks noGrp="1"/>
          </p:cNvSpPr>
          <p:nvPr/>
        </p:nvSpPr>
        <p:spPr>
          <a:xfrm>
            <a:off x="7315200" y="4000500"/>
            <a:ext cx="4114800" cy="781050"/>
          </a:xfrm>
          <a:prstGeom prst="roundRect">
            <a:avLst>
              <a:gd name="adj" fmla="val 731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FFFFF">
                <a:alpha val="25000"/>
              </a:srgbClr>
            </a:solidFill>
          </a:ln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66B0AD52-85A2-4CEA-AB2C-418006DD627C}"/>
              </a:ext>
            </a:extLst>
          </p:cNvPr>
          <p:cNvSpPr>
            <a:spLocks noGrp="1"/>
          </p:cNvSpPr>
          <p:nvPr/>
        </p:nvSpPr>
        <p:spPr>
          <a:xfrm>
            <a:off x="7534656" y="409194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审计：系统事实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F5C47769-2D41-4D50-98AD-F49EC901F98E}"/>
              </a:ext>
            </a:extLst>
          </p:cNvPr>
          <p:cNvSpPr>
            <a:spLocks noGrp="1"/>
          </p:cNvSpPr>
          <p:nvPr/>
        </p:nvSpPr>
        <p:spPr>
          <a:xfrm>
            <a:off x="7537323" y="4434364"/>
            <a:ext cx="345617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状态快照、版本、有序事件与决定记录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901082D0-5BA0-4484-B6B2-D958CAA6AD08}"/>
              </a:ext>
            </a:extLst>
          </p:cNvPr>
          <p:cNvSpPr>
            <a:spLocks noGrp="1"/>
          </p:cNvSpPr>
          <p:nvPr/>
        </p:nvSpPr>
        <p:spPr>
          <a:xfrm>
            <a:off x="486156" y="584454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仍需用户研究验证：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385EEC8-07BE-4BDD-8AB7-85C772D434D6}"/>
              </a:ext>
            </a:extLst>
          </p:cNvPr>
          <p:cNvSpPr>
            <a:spLocks noGrp="1"/>
          </p:cNvSpPr>
          <p:nvPr/>
        </p:nvSpPr>
        <p:spPr>
          <a:xfrm>
            <a:off x="2717673" y="5901214"/>
            <a:ext cx="64238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验证用户能否说清结果、来源、影响与下一步，并度量理解成本。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782C7D94-57E6-4CA0-82AC-1F7E6C44215C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microsoft.com/research/.../human-ai-interaction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research.google/.../user-experience-metrics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E5F6FD3F-C95E-4948-B2C9-8A2AECF9F7A9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16 / 24</a:t>
            </a:r>
          </a:p>
        </p:txBody>
      </p:sp>
    </p:spTree>
    <p:extLst>
      <p:ext uri="{BB962C8B-B14F-4D97-AF65-F5344CB8AC3E}">
        <p14:creationId xmlns:p14="http://schemas.microsoft.com/office/powerpoint/2010/main" val="1049808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0DDF4D6-2312-4550-BC52-6EAA153CF3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6DCB580-D401-4C3F-930D-FEAC2261B742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A272B59-1880-4272-B01D-82A1667B6046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8325288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我们到底做了什么：跑通办公任务纵切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738438B-1842-4972-8D60-12E71C8E2EAE}"/>
              </a:ext>
            </a:extLst>
          </p:cNvPr>
          <p:cNvSpPr>
            <a:spLocks noGrp="1"/>
          </p:cNvSpPr>
          <p:nvPr/>
        </p:nvSpPr>
        <p:spPr>
          <a:xfrm>
            <a:off x="484632" y="1221105"/>
            <a:ext cx="447389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1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不是回答页，而是一条可复核链路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41D6E58-E498-41EA-9C7A-89F43FC6A189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9525" cy="2876550"/>
          </a:xfrm>
          <a:custGeom>
            <a:avLst/>
            <a:gdLst/>
            <a:ahLst/>
            <a:cxnLst/>
            <a:rect l="l" t="t" r="r" b="b"/>
            <a:pathLst>
              <a:path w="9525" h="2876550">
                <a:moveTo>
                  <a:pt x="0" y="0"/>
                </a:moveTo>
                <a:lnTo>
                  <a:pt x="0" y="2876550"/>
                </a:lnTo>
              </a:path>
            </a:pathLst>
          </a:custGeom>
          <a:solidFill>
            <a:srgbClr val="000000"/>
          </a:solidFill>
          <a:ln w="38100">
            <a:solidFill>
              <a:srgbClr val="CBD5DF"/>
            </a:solidFill>
          </a:ln>
        </p:spPr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45188115-3934-4148-9231-8FBC1FEA72E4}"/>
              </a:ext>
            </a:extLst>
          </p:cNvPr>
          <p:cNvSpPr>
            <a:spLocks noGrp="1"/>
          </p:cNvSpPr>
          <p:nvPr/>
        </p:nvSpPr>
        <p:spPr>
          <a:xfrm>
            <a:off x="552450" y="18478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CB74573-163E-4CC2-915A-E498E294AF7F}"/>
              </a:ext>
            </a:extLst>
          </p:cNvPr>
          <p:cNvSpPr>
            <a:spLocks noGrp="1"/>
          </p:cNvSpPr>
          <p:nvPr/>
        </p:nvSpPr>
        <p:spPr>
          <a:xfrm>
            <a:off x="686912" y="19673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E6C3FE-5EEC-476D-B5A7-2EAEB102F771}"/>
              </a:ext>
            </a:extLst>
          </p:cNvPr>
          <p:cNvSpPr>
            <a:spLocks noGrp="1"/>
          </p:cNvSpPr>
          <p:nvPr/>
        </p:nvSpPr>
        <p:spPr>
          <a:xfrm>
            <a:off x="1095756" y="1786890"/>
            <a:ext cx="133685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资料库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9E8EBAE-937F-4A55-B63A-6D540003C519}"/>
              </a:ext>
            </a:extLst>
          </p:cNvPr>
          <p:cNvSpPr>
            <a:spLocks noGrp="1"/>
          </p:cNvSpPr>
          <p:nvPr/>
        </p:nvSpPr>
        <p:spPr>
          <a:xfrm>
            <a:off x="1098423" y="2110264"/>
            <a:ext cx="206405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15 个目录 · 96 份安全预览</a:t>
            </a:r>
          </a:p>
        </p:txBody>
      </p:sp>
      <p:sp>
        <p:nvSpPr>
          <p:cNvPr id="15" name="Ellipse 15">
            <a:extLst>
              <a:ext uri="{FF2B5EF4-FFF2-40B4-BE49-F238E27FC236}">
                <a16:creationId xmlns:a16="http://schemas.microsoft.com/office/drawing/2014/main" id="{061E174E-F3C8-40F5-8A98-8D74D1DA0DB0}"/>
              </a:ext>
            </a:extLst>
          </p:cNvPr>
          <p:cNvSpPr>
            <a:spLocks noGrp="1"/>
          </p:cNvSpPr>
          <p:nvPr/>
        </p:nvSpPr>
        <p:spPr>
          <a:xfrm>
            <a:off x="552450" y="25336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37CD97A-8984-4727-9D8E-9FFDC15A51C3}"/>
              </a:ext>
            </a:extLst>
          </p:cNvPr>
          <p:cNvSpPr>
            <a:spLocks noGrp="1"/>
          </p:cNvSpPr>
          <p:nvPr/>
        </p:nvSpPr>
        <p:spPr>
          <a:xfrm>
            <a:off x="686912" y="26531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809A272-2739-4C06-88C1-37687F76FE53}"/>
              </a:ext>
            </a:extLst>
          </p:cNvPr>
          <p:cNvSpPr>
            <a:spLocks noGrp="1"/>
          </p:cNvSpPr>
          <p:nvPr/>
        </p:nvSpPr>
        <p:spPr>
          <a:xfrm>
            <a:off x="1095756" y="2472690"/>
            <a:ext cx="179042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6BC929E-4FF4-4C3E-B3BB-D5FA403304CA}"/>
              </a:ext>
            </a:extLst>
          </p:cNvPr>
          <p:cNvSpPr>
            <a:spLocks noGrp="1"/>
          </p:cNvSpPr>
          <p:nvPr/>
        </p:nvSpPr>
        <p:spPr>
          <a:xfrm>
            <a:off x="1098423" y="27960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目标、范围、预算由服务端冻结</a:t>
            </a:r>
          </a:p>
        </p:txBody>
      </p:sp>
      <p:sp>
        <p:nvSpPr>
          <p:cNvPr id="19" name="Ellipse 19">
            <a:extLst>
              <a:ext uri="{FF2B5EF4-FFF2-40B4-BE49-F238E27FC236}">
                <a16:creationId xmlns:a16="http://schemas.microsoft.com/office/drawing/2014/main" id="{067CE459-76C6-4490-A34B-B81573ACE0E8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381000" cy="3810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1D6EB3D-E03B-47A7-BD08-F92B5898AA4C}"/>
              </a:ext>
            </a:extLst>
          </p:cNvPr>
          <p:cNvSpPr>
            <a:spLocks noGrp="1"/>
          </p:cNvSpPr>
          <p:nvPr/>
        </p:nvSpPr>
        <p:spPr>
          <a:xfrm>
            <a:off x="686912" y="33389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8CCA890-62C2-42E2-8387-6B1B24C57B5C}"/>
              </a:ext>
            </a:extLst>
          </p:cNvPr>
          <p:cNvSpPr>
            <a:spLocks noGrp="1"/>
          </p:cNvSpPr>
          <p:nvPr/>
        </p:nvSpPr>
        <p:spPr>
          <a:xfrm>
            <a:off x="1095756" y="3158490"/>
            <a:ext cx="21599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规划与分析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06787E0-9327-487E-9EB3-85873939F1B2}"/>
              </a:ext>
            </a:extLst>
          </p:cNvPr>
          <p:cNvSpPr>
            <a:spLocks noGrp="1"/>
          </p:cNvSpPr>
          <p:nvPr/>
        </p:nvSpPr>
        <p:spPr>
          <a:xfrm>
            <a:off x="1098423" y="34818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调用、校验、采用分别留回执</a:t>
            </a:r>
          </a:p>
        </p:txBody>
      </p:sp>
      <p:sp>
        <p:nvSpPr>
          <p:cNvPr id="23" name="Ellipse 23">
            <a:extLst>
              <a:ext uri="{FF2B5EF4-FFF2-40B4-BE49-F238E27FC236}">
                <a16:creationId xmlns:a16="http://schemas.microsoft.com/office/drawing/2014/main" id="{FD03B669-B794-4AF5-B58A-0BEADE038B6E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78175C8-C687-4616-900E-B4B7F0AB53BD}"/>
              </a:ext>
            </a:extLst>
          </p:cNvPr>
          <p:cNvSpPr>
            <a:spLocks noGrp="1"/>
          </p:cNvSpPr>
          <p:nvPr/>
        </p:nvSpPr>
        <p:spPr>
          <a:xfrm>
            <a:off x="686912" y="40247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8F404D4-49D1-4B09-ACA2-2EBB27BAEC5D}"/>
              </a:ext>
            </a:extLst>
          </p:cNvPr>
          <p:cNvSpPr>
            <a:spLocks noGrp="1"/>
          </p:cNvSpPr>
          <p:nvPr/>
        </p:nvSpPr>
        <p:spPr>
          <a:xfrm>
            <a:off x="1095756" y="3844290"/>
            <a:ext cx="265081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分支证据门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887249C-51F9-4983-8A5B-AB64273A875A}"/>
              </a:ext>
            </a:extLst>
          </p:cNvPr>
          <p:cNvSpPr>
            <a:spLocks noGrp="1"/>
          </p:cNvSpPr>
          <p:nvPr/>
        </p:nvSpPr>
        <p:spPr>
          <a:xfrm>
            <a:off x="1098423" y="41676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局部停、局部补证、保留已完成成果</a:t>
            </a:r>
          </a:p>
        </p:txBody>
      </p:sp>
      <p:sp>
        <p:nvSpPr>
          <p:cNvPr id="27" name="Ellipse 27">
            <a:extLst>
              <a:ext uri="{FF2B5EF4-FFF2-40B4-BE49-F238E27FC236}">
                <a16:creationId xmlns:a16="http://schemas.microsoft.com/office/drawing/2014/main" id="{BF47D3F4-5A06-494E-9E4E-F23E0439B3DE}"/>
              </a:ext>
            </a:extLst>
          </p:cNvPr>
          <p:cNvSpPr>
            <a:spLocks noGrp="1"/>
          </p:cNvSpPr>
          <p:nvPr/>
        </p:nvSpPr>
        <p:spPr>
          <a:xfrm>
            <a:off x="552450" y="4591050"/>
            <a:ext cx="381000" cy="381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75F424E2-D2B2-4B7B-B8F4-BF02356905D3}"/>
              </a:ext>
            </a:extLst>
          </p:cNvPr>
          <p:cNvSpPr>
            <a:spLocks noGrp="1"/>
          </p:cNvSpPr>
          <p:nvPr/>
        </p:nvSpPr>
        <p:spPr>
          <a:xfrm>
            <a:off x="686912" y="47105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DF4FA5D-6BFA-4682-91BB-2E511039BAB0}"/>
              </a:ext>
            </a:extLst>
          </p:cNvPr>
          <p:cNvSpPr>
            <a:spLocks noGrp="1"/>
          </p:cNvSpPr>
          <p:nvPr/>
        </p:nvSpPr>
        <p:spPr>
          <a:xfrm>
            <a:off x="1095756" y="4530090"/>
            <a:ext cx="22998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成果与回执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C7374FB-890A-4AE6-98AB-62E860ABA498}"/>
              </a:ext>
            </a:extLst>
          </p:cNvPr>
          <p:cNvSpPr>
            <a:spLocks noGrp="1"/>
          </p:cNvSpPr>
          <p:nvPr/>
        </p:nvSpPr>
        <p:spPr>
          <a:xfrm>
            <a:off x="1098423" y="4853464"/>
            <a:ext cx="34323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真实文件、确定性检查、状态快照与执行记录</a:t>
            </a: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74810C7B-AFA0-436D-AE1F-1E1444472F4B}"/>
              </a:ext>
            </a:extLst>
          </p:cNvPr>
          <p:cNvSpPr>
            <a:spLocks noGrp="1"/>
          </p:cNvSpPr>
          <p:nvPr/>
        </p:nvSpPr>
        <p:spPr>
          <a:xfrm>
            <a:off x="495300" y="5257800"/>
            <a:ext cx="3733800" cy="800100"/>
          </a:xfrm>
          <a:prstGeom prst="roundRect">
            <a:avLst>
              <a:gd name="adj" fmla="val 7143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C1936F6-608B-4F5F-BC69-BF3E6A62AD0D}"/>
              </a:ext>
            </a:extLst>
          </p:cNvPr>
          <p:cNvSpPr>
            <a:spLocks noGrp="1"/>
          </p:cNvSpPr>
          <p:nvPr/>
        </p:nvSpPr>
        <p:spPr>
          <a:xfrm>
            <a:off x="714756" y="5387340"/>
            <a:ext cx="309691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用户得到的不是一句“完成”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4DD3958-D23B-4A97-A0C5-C8729B496B0D}"/>
              </a:ext>
            </a:extLst>
          </p:cNvPr>
          <p:cNvSpPr>
            <a:spLocks noGrp="1"/>
          </p:cNvSpPr>
          <p:nvPr/>
        </p:nvSpPr>
        <p:spPr>
          <a:xfrm>
            <a:off x="717423" y="572976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而是成果、依据、影响和下一步。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EE8B1F28-2292-4259-A3CA-BAFF93582951}"/>
              </a:ext>
            </a:extLst>
          </p:cNvPr>
          <p:cNvSpPr>
            <a:spLocks noGrp="1"/>
          </p:cNvSpPr>
          <p:nvPr/>
        </p:nvSpPr>
        <p:spPr>
          <a:xfrm>
            <a:off x="4457700" y="1333500"/>
            <a:ext cx="72390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72" name="Imag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0" y="1428750"/>
            <a:ext cx="7048500" cy="4895850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D3A0B0DE-5C8A-4DF0-AD7C-95F8FE604430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17 / 24</a:t>
            </a:r>
          </a:p>
        </p:txBody>
      </p:sp>
    </p:spTree>
    <p:extLst>
      <p:ext uri="{BB962C8B-B14F-4D97-AF65-F5344CB8AC3E}">
        <p14:creationId xmlns:p14="http://schemas.microsoft.com/office/powerpoint/2010/main" val="1455097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F8EFB8A-42EE-4D7E-A4C7-68A6A7D784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0F726C-CDD9-4712-8CE6-D68227A5E579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79E9F79-514C-41D4-B9FC-EFBA6A6ACCBC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984936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1：用户只说目标，智能体自主选择资料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5994BC-47ED-4593-9A5D-8A8243F26FF1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75438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1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6" y="1428750"/>
            <a:ext cx="6967728" cy="4838700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63A10EEB-B27D-4A12-97EB-3A35CF419B16}"/>
              </a:ext>
            </a:extLst>
          </p:cNvPr>
          <p:cNvSpPr>
            <a:spLocks noGrp="1"/>
          </p:cNvSpPr>
          <p:nvPr/>
        </p:nvSpPr>
        <p:spPr>
          <a:xfrm>
            <a:off x="8305800" y="1333500"/>
            <a:ext cx="33909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2" name="Ellipse 12">
            <a:extLst>
              <a:ext uri="{FF2B5EF4-FFF2-40B4-BE49-F238E27FC236}">
                <a16:creationId xmlns:a16="http://schemas.microsoft.com/office/drawing/2014/main" id="{D970308A-2DBB-46A1-9343-91B3B04BA136}"/>
              </a:ext>
            </a:extLst>
          </p:cNvPr>
          <p:cNvSpPr>
            <a:spLocks noGrp="1"/>
          </p:cNvSpPr>
          <p:nvPr/>
        </p:nvSpPr>
        <p:spPr>
          <a:xfrm>
            <a:off x="8420100" y="14859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F9C4FA3-40FD-4CEE-801A-194837AE70F1}"/>
              </a:ext>
            </a:extLst>
          </p:cNvPr>
          <p:cNvSpPr>
            <a:spLocks noGrp="1"/>
          </p:cNvSpPr>
          <p:nvPr/>
        </p:nvSpPr>
        <p:spPr>
          <a:xfrm>
            <a:off x="8535512" y="15863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EF649EB-C0F4-46FB-B64C-5E4A32BEA6A3}"/>
              </a:ext>
            </a:extLst>
          </p:cNvPr>
          <p:cNvSpPr>
            <a:spLocks noGrp="1"/>
          </p:cNvSpPr>
          <p:nvPr/>
        </p:nvSpPr>
        <p:spPr>
          <a:xfrm>
            <a:off x="8868156" y="15297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用户动作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44C8411-7272-4BFB-8A4F-4E4334AF2AA8}"/>
              </a:ext>
            </a:extLst>
          </p:cNvPr>
          <p:cNvSpPr>
            <a:spLocks noGrp="1"/>
          </p:cNvSpPr>
          <p:nvPr/>
        </p:nvSpPr>
        <p:spPr>
          <a:xfrm>
            <a:off x="8527923" y="1976914"/>
            <a:ext cx="2587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只写自然语言目标，不先猜文件。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440E0371-6E8D-4A7A-9C36-C1CAB2FF21C1}"/>
              </a:ext>
            </a:extLst>
          </p:cNvPr>
          <p:cNvSpPr>
            <a:spLocks noGrp="1"/>
          </p:cNvSpPr>
          <p:nvPr/>
        </p:nvSpPr>
        <p:spPr>
          <a:xfrm>
            <a:off x="8305800" y="2743200"/>
            <a:ext cx="3390900" cy="1447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8" name="Ellipse 18">
            <a:extLst>
              <a:ext uri="{FF2B5EF4-FFF2-40B4-BE49-F238E27FC236}">
                <a16:creationId xmlns:a16="http://schemas.microsoft.com/office/drawing/2014/main" id="{FF78CCB7-7073-4783-A41E-0B3E7931BB71}"/>
              </a:ext>
            </a:extLst>
          </p:cNvPr>
          <p:cNvSpPr>
            <a:spLocks noGrp="1"/>
          </p:cNvSpPr>
          <p:nvPr/>
        </p:nvSpPr>
        <p:spPr>
          <a:xfrm>
            <a:off x="8420100" y="289560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F6C33CC-23D8-449E-841C-0938D78404BF}"/>
              </a:ext>
            </a:extLst>
          </p:cNvPr>
          <p:cNvSpPr>
            <a:spLocks noGrp="1"/>
          </p:cNvSpPr>
          <p:nvPr/>
        </p:nvSpPr>
        <p:spPr>
          <a:xfrm>
            <a:off x="8535512" y="29960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3C673D6-817D-4D32-99B7-B0627D107817}"/>
              </a:ext>
            </a:extLst>
          </p:cNvPr>
          <p:cNvSpPr>
            <a:spLocks noGrp="1"/>
          </p:cNvSpPr>
          <p:nvPr/>
        </p:nvSpPr>
        <p:spPr>
          <a:xfrm>
            <a:off x="8868156" y="2939415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服务端事实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2329EA5-6959-43F1-8B2C-B694894D37CE}"/>
              </a:ext>
            </a:extLst>
          </p:cNvPr>
          <p:cNvSpPr>
            <a:spLocks noGrp="1"/>
          </p:cNvSpPr>
          <p:nvPr/>
        </p:nvSpPr>
        <p:spPr>
          <a:xfrm>
            <a:off x="8527923" y="3386614"/>
            <a:ext cx="22185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冻结完整安全资料索引；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37DE3E2-0839-4AFF-B9B0-EBC1097A1A5F}"/>
              </a:ext>
            </a:extLst>
          </p:cNvPr>
          <p:cNvSpPr>
            <a:spLocks noGrp="1"/>
          </p:cNvSpPr>
          <p:nvPr/>
        </p:nvSpPr>
        <p:spPr>
          <a:xfrm>
            <a:off x="8527923" y="3653314"/>
            <a:ext cx="32831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规划器只看安全元数据，提出本轮所需证据。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C8DFE47-E93E-4780-B58B-9922BD51FAD8}"/>
              </a:ext>
            </a:extLst>
          </p:cNvPr>
          <p:cNvSpPr>
            <a:spLocks noGrp="1"/>
          </p:cNvSpPr>
          <p:nvPr/>
        </p:nvSpPr>
        <p:spPr>
          <a:xfrm>
            <a:off x="8305800" y="4343400"/>
            <a:ext cx="33909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25" name="Ellipse 25">
            <a:extLst>
              <a:ext uri="{FF2B5EF4-FFF2-40B4-BE49-F238E27FC236}">
                <a16:creationId xmlns:a16="http://schemas.microsoft.com/office/drawing/2014/main" id="{4E29F904-A687-468E-B39E-AE6E2AC8B31E}"/>
              </a:ext>
            </a:extLst>
          </p:cNvPr>
          <p:cNvSpPr>
            <a:spLocks noGrp="1"/>
          </p:cNvSpPr>
          <p:nvPr/>
        </p:nvSpPr>
        <p:spPr>
          <a:xfrm>
            <a:off x="8420100" y="449580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028EA97-49D1-405C-BE07-601D57ECA292}"/>
              </a:ext>
            </a:extLst>
          </p:cNvPr>
          <p:cNvSpPr>
            <a:spLocks noGrp="1"/>
          </p:cNvSpPr>
          <p:nvPr/>
        </p:nvSpPr>
        <p:spPr>
          <a:xfrm>
            <a:off x="8535512" y="4596289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38144A5-17D2-4DF6-889D-B073511BA92F}"/>
              </a:ext>
            </a:extLst>
          </p:cNvPr>
          <p:cNvSpPr>
            <a:spLocks noGrp="1"/>
          </p:cNvSpPr>
          <p:nvPr/>
        </p:nvSpPr>
        <p:spPr>
          <a:xfrm>
            <a:off x="8868156" y="453961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前台反馈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1F72055-101F-4DB9-B7BB-C6AFFDDD8919}"/>
              </a:ext>
            </a:extLst>
          </p:cNvPr>
          <p:cNvSpPr>
            <a:spLocks noGrp="1"/>
          </p:cNvSpPr>
          <p:nvPr/>
        </p:nvSpPr>
        <p:spPr>
          <a:xfrm>
            <a:off x="8527923" y="498681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展示资料依据、模型采用、剩余预算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17F7A8F-9285-4ED4-BA64-598755CF2C86}"/>
              </a:ext>
            </a:extLst>
          </p:cNvPr>
          <p:cNvSpPr>
            <a:spLocks noGrp="1"/>
          </p:cNvSpPr>
          <p:nvPr/>
        </p:nvSpPr>
        <p:spPr>
          <a:xfrm>
            <a:off x="8527923" y="5253514"/>
            <a:ext cx="17574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以及实时有序执行记录。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E58D0A40-0904-4839-8B71-BF139B31EA0E}"/>
              </a:ext>
            </a:extLst>
          </p:cNvPr>
          <p:cNvSpPr>
            <a:spLocks noGrp="1"/>
          </p:cNvSpPr>
          <p:nvPr/>
        </p:nvSpPr>
        <p:spPr>
          <a:xfrm>
            <a:off x="8305800" y="5753100"/>
            <a:ext cx="33909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A74E39B-630F-4EC4-9447-5C083FAD981C}"/>
              </a:ext>
            </a:extLst>
          </p:cNvPr>
          <p:cNvSpPr>
            <a:spLocks noGrp="1"/>
          </p:cNvSpPr>
          <p:nvPr/>
        </p:nvSpPr>
        <p:spPr>
          <a:xfrm>
            <a:off x="8527923" y="5872639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边界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068FAAE-D744-4DC9-931E-6C45E5596CB4}"/>
              </a:ext>
            </a:extLst>
          </p:cNvPr>
          <p:cNvSpPr>
            <a:spLocks noGrp="1"/>
          </p:cNvSpPr>
          <p:nvPr/>
        </p:nvSpPr>
        <p:spPr>
          <a:xfrm>
            <a:off x="8529066" y="6125528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自主选资料不等于穷举正确，仍需复核。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CAB141A-28FE-4BBA-B72C-51F8B0BF144C}"/>
              </a:ext>
            </a:extLst>
          </p:cNvPr>
          <p:cNvSpPr>
            <a:spLocks noGrp="1"/>
          </p:cNvSpPr>
          <p:nvPr/>
        </p:nvSpPr>
        <p:spPr>
          <a:xfrm>
            <a:off x="110273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18 / 24</a:t>
            </a:r>
          </a:p>
        </p:txBody>
      </p:sp>
    </p:spTree>
    <p:extLst>
      <p:ext uri="{BB962C8B-B14F-4D97-AF65-F5344CB8AC3E}">
        <p14:creationId xmlns:p14="http://schemas.microsoft.com/office/powerpoint/2010/main" val="78083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E554E67-D96D-4735-B495-009CAC89D7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FC50FD0-C0F3-47C3-83E9-5D46F90B00F5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79D4D36-3953-4541-A4DE-45CF823F0BD9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922746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2：证据有歧义，只恢复受影响的分支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ACBFAA-4BD2-45A2-A377-F595333782DB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7543800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35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20" y="1428750"/>
            <a:ext cx="6869759" cy="4838700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B8BFA594-E0F0-4A4F-99AF-311EE5280676}"/>
              </a:ext>
            </a:extLst>
          </p:cNvPr>
          <p:cNvSpPr>
            <a:spLocks noGrp="1"/>
          </p:cNvSpPr>
          <p:nvPr/>
        </p:nvSpPr>
        <p:spPr>
          <a:xfrm>
            <a:off x="8305800" y="1333500"/>
            <a:ext cx="33909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B0161D2-5F5E-44D1-9729-BFACD48AEBEE}"/>
              </a:ext>
            </a:extLst>
          </p:cNvPr>
          <p:cNvSpPr>
            <a:spLocks noGrp="1"/>
          </p:cNvSpPr>
          <p:nvPr/>
        </p:nvSpPr>
        <p:spPr>
          <a:xfrm>
            <a:off x="8525256" y="148209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先解释发生了什么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A831AFB-9F02-409D-9733-57BAFC2F7F3E}"/>
              </a:ext>
            </a:extLst>
          </p:cNvPr>
          <p:cNvSpPr>
            <a:spLocks noGrp="1"/>
          </p:cNvSpPr>
          <p:nvPr/>
        </p:nvSpPr>
        <p:spPr>
          <a:xfrm>
            <a:off x="8527923" y="188166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同一逐字片段出现多次，服务端无法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2A51A06-36C9-411F-B1E8-997E69E82E0B}"/>
              </a:ext>
            </a:extLst>
          </p:cNvPr>
          <p:cNvSpPr>
            <a:spLocks noGrp="1"/>
          </p:cNvSpPr>
          <p:nvPr/>
        </p:nvSpPr>
        <p:spPr>
          <a:xfrm>
            <a:off x="8527923" y="2148364"/>
            <a:ext cx="22442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唯一决定该回开哪一处原文。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C5A0F41-55AB-4E09-B7C9-8C90109F74B2}"/>
              </a:ext>
            </a:extLst>
          </p:cNvPr>
          <p:cNvSpPr>
            <a:spLocks noGrp="1"/>
          </p:cNvSpPr>
          <p:nvPr/>
        </p:nvSpPr>
        <p:spPr>
          <a:xfrm>
            <a:off x="8305800" y="2686050"/>
            <a:ext cx="33909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CA688FB-ECEE-45B1-80DC-885C19236860}"/>
              </a:ext>
            </a:extLst>
          </p:cNvPr>
          <p:cNvSpPr>
            <a:spLocks noGrp="1"/>
          </p:cNvSpPr>
          <p:nvPr/>
        </p:nvSpPr>
        <p:spPr>
          <a:xfrm>
            <a:off x="8525256" y="2834640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再让用户决定位置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EF7093B-F059-4A7E-A6FF-BEF9B75C5297}"/>
              </a:ext>
            </a:extLst>
          </p:cNvPr>
          <p:cNvSpPr>
            <a:spLocks noGrp="1"/>
          </p:cNvSpPr>
          <p:nvPr/>
        </p:nvSpPr>
        <p:spPr>
          <a:xfrm>
            <a:off x="8527923" y="3234214"/>
            <a:ext cx="27592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界面同时给出事实、影响、下一步，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9FDF23-024B-4F23-90A4-A7029D91E2AF}"/>
              </a:ext>
            </a:extLst>
          </p:cNvPr>
          <p:cNvSpPr>
            <a:spLocks noGrp="1"/>
          </p:cNvSpPr>
          <p:nvPr/>
        </p:nvSpPr>
        <p:spPr>
          <a:xfrm>
            <a:off x="8527923" y="350091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并在安全预览中高亮候选原文。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31AA4AC8-8545-4E58-A050-EF155A7E890F}"/>
              </a:ext>
            </a:extLst>
          </p:cNvPr>
          <p:cNvSpPr>
            <a:spLocks noGrp="1"/>
          </p:cNvSpPr>
          <p:nvPr/>
        </p:nvSpPr>
        <p:spPr>
          <a:xfrm>
            <a:off x="8305800" y="4038600"/>
            <a:ext cx="33909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45" name="Imag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968" y="4133850"/>
            <a:ext cx="3192564" cy="1514475"/>
          </a:xfrm>
          <a:prstGeom prst="rect">
            <a:avLst/>
          </a:prstGeom>
        </p:spPr>
      </p:pic>
      <p:sp>
        <p:nvSpPr>
          <p:cNvPr id="23" name="Rectangle 23">
            <a:extLst>
              <a:ext uri="{FF2B5EF4-FFF2-40B4-BE49-F238E27FC236}">
                <a16:creationId xmlns:a16="http://schemas.microsoft.com/office/drawing/2014/main" id="{21F9EE39-6260-4D81-908D-33119E476F89}"/>
              </a:ext>
            </a:extLst>
          </p:cNvPr>
          <p:cNvSpPr>
            <a:spLocks noGrp="1"/>
          </p:cNvSpPr>
          <p:nvPr/>
        </p:nvSpPr>
        <p:spPr>
          <a:xfrm>
            <a:off x="8305800" y="5791200"/>
            <a:ext cx="3390900" cy="571500"/>
          </a:xfrm>
          <a:prstGeom prst="roundRect">
            <a:avLst>
              <a:gd name="adj" fmla="val 10000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C1EEFEA-B699-49B2-BCC7-62B7E58E78BD}"/>
              </a:ext>
            </a:extLst>
          </p:cNvPr>
          <p:cNvSpPr>
            <a:spLocks noGrp="1"/>
          </p:cNvSpPr>
          <p:nvPr/>
        </p:nvSpPr>
        <p:spPr>
          <a:xfrm>
            <a:off x="8527923" y="5901214"/>
            <a:ext cx="15774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Segoe UI Semibold"/>
                <a:ea typeface="Segoe UI Semibold"/>
                <a:cs typeface="Segoe UI Semibold"/>
              </a:rPr>
              <a:t>只改变目标分支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A55C57F-8DB2-474F-94EA-0651C3DF0F29}"/>
              </a:ext>
            </a:extLst>
          </p:cNvPr>
          <p:cNvSpPr>
            <a:spLocks noGrp="1"/>
          </p:cNvSpPr>
          <p:nvPr/>
        </p:nvSpPr>
        <p:spPr>
          <a:xfrm>
            <a:off x="8529066" y="6135052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已完成成果和其他分支继续保留。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5582058-69FC-4145-BE65-7890AF473C78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19 / 24</a:t>
            </a:r>
          </a:p>
        </p:txBody>
      </p:sp>
    </p:spTree>
    <p:extLst>
      <p:ext uri="{BB962C8B-B14F-4D97-AF65-F5344CB8AC3E}">
        <p14:creationId xmlns:p14="http://schemas.microsoft.com/office/powerpoint/2010/main" val="24908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A5EB052-952E-4E0C-B133-1EEE62678B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DBF4082-DA3E-4248-A638-1DE954F407F5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AF9E33-BF38-46B2-9F59-5FA313A38FED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191254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实操 3：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961C62-B0AF-4513-9534-D35C718326D6}"/>
              </a:ext>
            </a:extLst>
          </p:cNvPr>
          <p:cNvSpPr>
            <a:spLocks noGrp="1"/>
          </p:cNvSpPr>
          <p:nvPr/>
        </p:nvSpPr>
        <p:spPr>
          <a:xfrm>
            <a:off x="2173224" y="370522"/>
            <a:ext cx="734996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成果可检查，模型说明不覆盖事实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C9376D3-7C86-43CA-9B9F-CD94BAED1ED1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5219700" cy="48387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2868C-992C-4223-A3D1-781A4CA66D11}"/>
              </a:ext>
            </a:extLst>
          </p:cNvPr>
          <p:cNvSpPr>
            <a:spLocks noGrp="1"/>
          </p:cNvSpPr>
          <p:nvPr/>
        </p:nvSpPr>
        <p:spPr>
          <a:xfrm>
            <a:off x="714756" y="1501140"/>
            <a:ext cx="281415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A. 成果与业务效果分层</a:t>
            </a:r>
          </a:p>
        </p:txBody>
      </p:sp>
      <p:pic>
        <p:nvPicPr>
          <p:cNvPr id="38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869281"/>
            <a:ext cx="4953000" cy="278606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5BECE320-6428-44EA-A917-CFBACD64F43A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4762500" cy="1104900"/>
          </a:xfrm>
          <a:prstGeom prst="roundRect">
            <a:avLst>
              <a:gd name="adj" fmla="val 5172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12" name="Ellipse 12">
            <a:extLst>
              <a:ext uri="{FF2B5EF4-FFF2-40B4-BE49-F238E27FC236}">
                <a16:creationId xmlns:a16="http://schemas.microsoft.com/office/drawing/2014/main" id="{378902DE-14B1-45BE-9650-F1CAC9B210BA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190500" cy="190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9EF493A-0889-4CBA-A62B-523D79FE8B9E}"/>
              </a:ext>
            </a:extLst>
          </p:cNvPr>
          <p:cNvSpPr>
            <a:spLocks noGrp="1"/>
          </p:cNvSpPr>
          <p:nvPr/>
        </p:nvSpPr>
        <p:spPr>
          <a:xfrm>
            <a:off x="1155573" y="5063014"/>
            <a:ext cx="320449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真实文件写入隔离工作区，可下载。</a:t>
            </a:r>
          </a:p>
        </p:txBody>
      </p:sp>
      <p:sp>
        <p:nvSpPr>
          <p:cNvPr id="14" name="Ellipse 14">
            <a:extLst>
              <a:ext uri="{FF2B5EF4-FFF2-40B4-BE49-F238E27FC236}">
                <a16:creationId xmlns:a16="http://schemas.microsoft.com/office/drawing/2014/main" id="{3DE74350-34DA-4629-85E2-303D939971CC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90500" cy="1905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7E3AD04-AB37-4B12-99E2-A49CDE03D68A}"/>
              </a:ext>
            </a:extLst>
          </p:cNvPr>
          <p:cNvSpPr>
            <a:spLocks noGrp="1"/>
          </p:cNvSpPr>
          <p:nvPr/>
        </p:nvSpPr>
        <p:spPr>
          <a:xfrm>
            <a:off x="1155573" y="5396389"/>
            <a:ext cx="33890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具名确定性检查与效果回执可追溯。</a:t>
            </a:r>
          </a:p>
        </p:txBody>
      </p:sp>
      <p:sp>
        <p:nvSpPr>
          <p:cNvPr id="16" name="Ellipse 16">
            <a:extLst>
              <a:ext uri="{FF2B5EF4-FFF2-40B4-BE49-F238E27FC236}">
                <a16:creationId xmlns:a16="http://schemas.microsoft.com/office/drawing/2014/main" id="{F0E85219-7A15-473E-A04B-9957E4AD2642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190500" cy="1905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16B33EE-1ED6-4C96-B4D7-0EB84C2D0577}"/>
              </a:ext>
            </a:extLst>
          </p:cNvPr>
          <p:cNvSpPr>
            <a:spLocks noGrp="1"/>
          </p:cNvSpPr>
          <p:nvPr/>
        </p:nvSpPr>
        <p:spPr>
          <a:xfrm>
            <a:off x="1155573" y="5729764"/>
            <a:ext cx="327412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未付款、未核销等动作继续明确为未发生。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ACF5F220-9C1B-4510-829F-FF96A083DD2B}"/>
              </a:ext>
            </a:extLst>
          </p:cNvPr>
          <p:cNvSpPr>
            <a:spLocks noGrp="1"/>
          </p:cNvSpPr>
          <p:nvPr/>
        </p:nvSpPr>
        <p:spPr>
          <a:xfrm>
            <a:off x="5981700" y="1333500"/>
            <a:ext cx="5715000" cy="48387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9050">
            <a:solidFill>
              <a:srgbClr val="C0362C"/>
            </a:solidFill>
          </a:ln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64116F3-4848-49DC-B382-D65003299589}"/>
              </a:ext>
            </a:extLst>
          </p:cNvPr>
          <p:cNvSpPr>
            <a:spLocks noGrp="1"/>
          </p:cNvSpPr>
          <p:nvPr/>
        </p:nvSpPr>
        <p:spPr>
          <a:xfrm>
            <a:off x="6201156" y="1501140"/>
            <a:ext cx="41583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B. 模型被调用，不代表说明被采用</a:t>
            </a:r>
          </a:p>
        </p:txBody>
      </p:sp>
      <p:pic>
        <p:nvPicPr>
          <p:cNvPr id="48" name="Imag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1866900"/>
            <a:ext cx="5448300" cy="4162425"/>
          </a:xfrm>
          <a:prstGeom prst="rect">
            <a:avLst/>
          </a:prstGeom>
        </p:spPr>
      </p:pic>
      <p:sp>
        <p:nvSpPr>
          <p:cNvPr id="22" name="Rectangle 22">
            <a:extLst>
              <a:ext uri="{FF2B5EF4-FFF2-40B4-BE49-F238E27FC236}">
                <a16:creationId xmlns:a16="http://schemas.microsoft.com/office/drawing/2014/main" id="{7AED15CA-9255-44F1-8D4F-6A3728ACF97E}"/>
              </a:ext>
            </a:extLst>
          </p:cNvPr>
          <p:cNvSpPr>
            <a:spLocks noGrp="1"/>
          </p:cNvSpPr>
          <p:nvPr/>
        </p:nvSpPr>
        <p:spPr>
          <a:xfrm>
            <a:off x="6229350" y="1962150"/>
            <a:ext cx="2209800" cy="304800"/>
          </a:xfrm>
          <a:prstGeom prst="roundRect">
            <a:avLst>
              <a:gd name="adj" fmla="val 18750"/>
            </a:avLst>
          </a:prstGeom>
          <a:solidFill>
            <a:srgbClr val="C0362C"/>
          </a:solidFill>
          <a:ln>
            <a:noFill/>
          </a:ln>
        </p:spPr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7E5C968-A911-4AD3-8658-24287859A45A}"/>
              </a:ext>
            </a:extLst>
          </p:cNvPr>
          <p:cNvSpPr>
            <a:spLocks noGrp="1"/>
          </p:cNvSpPr>
          <p:nvPr/>
        </p:nvSpPr>
        <p:spPr>
          <a:xfrm>
            <a:off x="5904015" y="2034064"/>
            <a:ext cx="286047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模型已调用 · 说明未采用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53CEBE3-EC8D-4B96-933D-9EABA587A96E}"/>
              </a:ext>
            </a:extLst>
          </p:cNvPr>
          <p:cNvSpPr>
            <a:spLocks noGrp="1"/>
          </p:cNvSpPr>
          <p:nvPr/>
        </p:nvSpPr>
        <p:spPr>
          <a:xfrm>
            <a:off x="488823" y="62822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62C9017-5ED8-4DA7-96AD-ABAA9ADDAFE3}"/>
              </a:ext>
            </a:extLst>
          </p:cNvPr>
          <p:cNvSpPr>
            <a:spLocks noGrp="1"/>
          </p:cNvSpPr>
          <p:nvPr/>
        </p:nvSpPr>
        <p:spPr>
          <a:xfrm>
            <a:off x="1384173" y="6282214"/>
            <a:ext cx="61920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固定检查证明特定字段与效果，不是通用语义真值证明器；前台仍要求人工复核。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47E8474-67C4-4FA9-914B-165989D64782}"/>
              </a:ext>
            </a:extLst>
          </p:cNvPr>
          <p:cNvSpPr>
            <a:spLocks noGrp="1"/>
          </p:cNvSpPr>
          <p:nvPr/>
        </p:nvSpPr>
        <p:spPr>
          <a:xfrm>
            <a:off x="11217840" y="65922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20 / 24</a:t>
            </a:r>
          </a:p>
        </p:txBody>
      </p:sp>
    </p:spTree>
    <p:extLst>
      <p:ext uri="{BB962C8B-B14F-4D97-AF65-F5344CB8AC3E}">
        <p14:creationId xmlns:p14="http://schemas.microsoft.com/office/powerpoint/2010/main" val="196014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8BACB3C-138A-4C16-B037-641A1D62EF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9C8DFB9-3E78-44EB-A153-4C5C31BC22E8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E82ECD-C1E8-417E-AF5B-11F1E0FC81CF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1054449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1：时间维连续性，单个任务如何持续推进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83D0C87-3BBC-40C6-ABED-1C3EEB4AF5D7}"/>
              </a:ext>
            </a:extLst>
          </p:cNvPr>
          <p:cNvSpPr>
            <a:spLocks noGrp="1"/>
          </p:cNvSpPr>
          <p:nvPr/>
        </p:nvSpPr>
        <p:spPr>
          <a:xfrm>
            <a:off x="488823" y="1253014"/>
            <a:ext cx="829865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核心不是让智能体一直运行，而是让同一任务在证据冲突、用户纠偏和服务重启后仍能从可信状态继续。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819DFDA-11EF-4C39-BF69-A33B2EFB71C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11201400" cy="12001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EBBDD0CE-03BD-43FA-8A6C-EB7737A3D202}"/>
              </a:ext>
            </a:extLst>
          </p:cNvPr>
          <p:cNvSpPr>
            <a:spLocks noGrp="1"/>
          </p:cNvSpPr>
          <p:nvPr/>
        </p:nvSpPr>
        <p:spPr>
          <a:xfrm>
            <a:off x="62865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4DE36EC-59F5-4008-960D-CD247D51F8F6}"/>
              </a:ext>
            </a:extLst>
          </p:cNvPr>
          <p:cNvSpPr>
            <a:spLocks noGrp="1"/>
          </p:cNvSpPr>
          <p:nvPr/>
        </p:nvSpPr>
        <p:spPr>
          <a:xfrm>
            <a:off x="74406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CD94407-4BEB-49D1-B7F4-0E790764B1FF}"/>
              </a:ext>
            </a:extLst>
          </p:cNvPr>
          <p:cNvSpPr>
            <a:spLocks noGrp="1"/>
          </p:cNvSpPr>
          <p:nvPr/>
        </p:nvSpPr>
        <p:spPr>
          <a:xfrm>
            <a:off x="565023" y="2186464"/>
            <a:ext cx="12682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任务约束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710F5CB-CA2D-40F7-8623-42BE33A8E452}"/>
              </a:ext>
            </a:extLst>
          </p:cNvPr>
          <p:cNvSpPr>
            <a:spLocks noGrp="1"/>
          </p:cNvSpPr>
          <p:nvPr/>
        </p:nvSpPr>
        <p:spPr>
          <a:xfrm>
            <a:off x="566166" y="245840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目标、交付、完成条件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38F2BEC-BA22-463E-840D-B61459AF3595}"/>
              </a:ext>
            </a:extLst>
          </p:cNvPr>
          <p:cNvSpPr>
            <a:spLocks noGrp="1"/>
          </p:cNvSpPr>
          <p:nvPr/>
        </p:nvSpPr>
        <p:spPr>
          <a:xfrm>
            <a:off x="22288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EE830A3-F92F-4536-AA06-140D16B077D6}"/>
              </a:ext>
            </a:extLst>
          </p:cNvPr>
          <p:cNvSpPr>
            <a:spLocks noGrp="1"/>
          </p:cNvSpPr>
          <p:nvPr/>
        </p:nvSpPr>
        <p:spPr>
          <a:xfrm>
            <a:off x="23812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18" name="Ellipse 18">
            <a:extLst>
              <a:ext uri="{FF2B5EF4-FFF2-40B4-BE49-F238E27FC236}">
                <a16:creationId xmlns:a16="http://schemas.microsoft.com/office/drawing/2014/main" id="{C3B188E1-9C06-4796-8B75-5ACBED285C95}"/>
              </a:ext>
            </a:extLst>
          </p:cNvPr>
          <p:cNvSpPr>
            <a:spLocks noGrp="1"/>
          </p:cNvSpPr>
          <p:nvPr/>
        </p:nvSpPr>
        <p:spPr>
          <a:xfrm>
            <a:off x="26289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9C66E07-EA10-44B5-B568-CCF57FC5979B}"/>
              </a:ext>
            </a:extLst>
          </p:cNvPr>
          <p:cNvSpPr>
            <a:spLocks noGrp="1"/>
          </p:cNvSpPr>
          <p:nvPr/>
        </p:nvSpPr>
        <p:spPr>
          <a:xfrm>
            <a:off x="27443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8CDF3B9-1CE5-48C2-8296-A018AB380A50}"/>
              </a:ext>
            </a:extLst>
          </p:cNvPr>
          <p:cNvSpPr>
            <a:spLocks noGrp="1"/>
          </p:cNvSpPr>
          <p:nvPr/>
        </p:nvSpPr>
        <p:spPr>
          <a:xfrm>
            <a:off x="2603373" y="2186464"/>
            <a:ext cx="7487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观察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C6545E7-33B8-492A-A601-3057BE7DB248}"/>
              </a:ext>
            </a:extLst>
          </p:cNvPr>
          <p:cNvSpPr>
            <a:spLocks noGrp="1"/>
          </p:cNvSpPr>
          <p:nvPr/>
        </p:nvSpPr>
        <p:spPr>
          <a:xfrm>
            <a:off x="2604516" y="24584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读事件、状态、来源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A4BFE3A-FA79-4CF1-B771-858A653358E8}"/>
              </a:ext>
            </a:extLst>
          </p:cNvPr>
          <p:cNvSpPr>
            <a:spLocks noGrp="1"/>
          </p:cNvSpPr>
          <p:nvPr/>
        </p:nvSpPr>
        <p:spPr>
          <a:xfrm>
            <a:off x="39052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BCC78E2-3C0D-4686-BC3D-AA30E2C08EAE}"/>
              </a:ext>
            </a:extLst>
          </p:cNvPr>
          <p:cNvSpPr>
            <a:spLocks noGrp="1"/>
          </p:cNvSpPr>
          <p:nvPr/>
        </p:nvSpPr>
        <p:spPr>
          <a:xfrm>
            <a:off x="40576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25" name="Ellipse 25">
            <a:extLst>
              <a:ext uri="{FF2B5EF4-FFF2-40B4-BE49-F238E27FC236}">
                <a16:creationId xmlns:a16="http://schemas.microsoft.com/office/drawing/2014/main" id="{0384FC33-CF80-4FBA-A534-C7644B2E4201}"/>
              </a:ext>
            </a:extLst>
          </p:cNvPr>
          <p:cNvSpPr>
            <a:spLocks noGrp="1"/>
          </p:cNvSpPr>
          <p:nvPr/>
        </p:nvSpPr>
        <p:spPr>
          <a:xfrm>
            <a:off x="43053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E22E35D-AAE8-4455-9659-3092704F7345}"/>
              </a:ext>
            </a:extLst>
          </p:cNvPr>
          <p:cNvSpPr>
            <a:spLocks noGrp="1"/>
          </p:cNvSpPr>
          <p:nvPr/>
        </p:nvSpPr>
        <p:spPr>
          <a:xfrm>
            <a:off x="44207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7B8F3C4-1F14-46A9-9AF5-BA3324569E6C}"/>
              </a:ext>
            </a:extLst>
          </p:cNvPr>
          <p:cNvSpPr>
            <a:spLocks noGrp="1"/>
          </p:cNvSpPr>
          <p:nvPr/>
        </p:nvSpPr>
        <p:spPr>
          <a:xfrm>
            <a:off x="4279773" y="2186464"/>
            <a:ext cx="3693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规划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380B742-39A1-4CAC-A17F-55192981B95A}"/>
              </a:ext>
            </a:extLst>
          </p:cNvPr>
          <p:cNvSpPr>
            <a:spLocks noGrp="1"/>
          </p:cNvSpPr>
          <p:nvPr/>
        </p:nvSpPr>
        <p:spPr>
          <a:xfrm>
            <a:off x="4280916" y="24584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拆分支、依赖、预算</a:t>
            </a: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7305D871-DDB5-46C8-ABA3-1D7ECDAA63B6}"/>
              </a:ext>
            </a:extLst>
          </p:cNvPr>
          <p:cNvSpPr>
            <a:spLocks noGrp="1"/>
          </p:cNvSpPr>
          <p:nvPr/>
        </p:nvSpPr>
        <p:spPr>
          <a:xfrm>
            <a:off x="55816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1769E0"/>
            </a:solidFill>
          </a:ln>
        </p:spPr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DE317F0F-705D-4A95-B2AF-812F7B8FAA1C}"/>
              </a:ext>
            </a:extLst>
          </p:cNvPr>
          <p:cNvSpPr>
            <a:spLocks noGrp="1"/>
          </p:cNvSpPr>
          <p:nvPr/>
        </p:nvSpPr>
        <p:spPr>
          <a:xfrm>
            <a:off x="57340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1769E0"/>
          </a:solidFill>
          <a:ln>
            <a:noFill/>
          </a:ln>
        </p:spPr>
      </p:sp>
      <p:sp>
        <p:nvSpPr>
          <p:cNvPr id="32" name="Ellipse 32">
            <a:extLst>
              <a:ext uri="{FF2B5EF4-FFF2-40B4-BE49-F238E27FC236}">
                <a16:creationId xmlns:a16="http://schemas.microsoft.com/office/drawing/2014/main" id="{B250DD53-F618-4805-9FDC-E2452A14B3A5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342900" cy="3429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09CF6853-5F82-4734-8F8C-F3DE82EDE985}"/>
              </a:ext>
            </a:extLst>
          </p:cNvPr>
          <p:cNvSpPr>
            <a:spLocks noGrp="1"/>
          </p:cNvSpPr>
          <p:nvPr/>
        </p:nvSpPr>
        <p:spPr>
          <a:xfrm>
            <a:off x="60971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28A2A60-880B-4054-8686-5B7F75831086}"/>
              </a:ext>
            </a:extLst>
          </p:cNvPr>
          <p:cNvSpPr>
            <a:spLocks noGrp="1"/>
          </p:cNvSpPr>
          <p:nvPr/>
        </p:nvSpPr>
        <p:spPr>
          <a:xfrm>
            <a:off x="5956173" y="2186464"/>
            <a:ext cx="3159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392717D-692F-445C-A466-D04EE89C8881}"/>
              </a:ext>
            </a:extLst>
          </p:cNvPr>
          <p:cNvSpPr>
            <a:spLocks noGrp="1"/>
          </p:cNvSpPr>
          <p:nvPr/>
        </p:nvSpPr>
        <p:spPr>
          <a:xfrm>
            <a:off x="5957316" y="2458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产出候选工件</a:t>
            </a:r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7366D271-41BA-48D0-821B-DE2466D6C85B}"/>
              </a:ext>
            </a:extLst>
          </p:cNvPr>
          <p:cNvSpPr>
            <a:spLocks noGrp="1"/>
          </p:cNvSpPr>
          <p:nvPr/>
        </p:nvSpPr>
        <p:spPr>
          <a:xfrm>
            <a:off x="72580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C26084A-76C1-4693-9273-A2ED436EFA99}"/>
              </a:ext>
            </a:extLst>
          </p:cNvPr>
          <p:cNvSpPr>
            <a:spLocks noGrp="1"/>
          </p:cNvSpPr>
          <p:nvPr/>
        </p:nvSpPr>
        <p:spPr>
          <a:xfrm>
            <a:off x="74104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9" name="Ellipse 39">
            <a:extLst>
              <a:ext uri="{FF2B5EF4-FFF2-40B4-BE49-F238E27FC236}">
                <a16:creationId xmlns:a16="http://schemas.microsoft.com/office/drawing/2014/main" id="{B6BC83E9-A5A5-46F8-9880-FD1A531D852E}"/>
              </a:ext>
            </a:extLst>
          </p:cNvPr>
          <p:cNvSpPr>
            <a:spLocks noGrp="1"/>
          </p:cNvSpPr>
          <p:nvPr/>
        </p:nvSpPr>
        <p:spPr>
          <a:xfrm>
            <a:off x="7658100" y="1771650"/>
            <a:ext cx="342900" cy="3429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700F1AD-7441-4CFD-BCFF-191BE11551B5}"/>
              </a:ext>
            </a:extLst>
          </p:cNvPr>
          <p:cNvSpPr>
            <a:spLocks noGrp="1"/>
          </p:cNvSpPr>
          <p:nvPr/>
        </p:nvSpPr>
        <p:spPr>
          <a:xfrm>
            <a:off x="77735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ECEAC07F-F070-491D-B180-B034F55BABC1}"/>
              </a:ext>
            </a:extLst>
          </p:cNvPr>
          <p:cNvSpPr>
            <a:spLocks noGrp="1"/>
          </p:cNvSpPr>
          <p:nvPr/>
        </p:nvSpPr>
        <p:spPr>
          <a:xfrm>
            <a:off x="7632573" y="2186464"/>
            <a:ext cx="5678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核验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3114ABF5-EDB8-4409-A953-966B677684E8}"/>
              </a:ext>
            </a:extLst>
          </p:cNvPr>
          <p:cNvSpPr>
            <a:spLocks noGrp="1"/>
          </p:cNvSpPr>
          <p:nvPr/>
        </p:nvSpPr>
        <p:spPr>
          <a:xfrm>
            <a:off x="7633716" y="2458402"/>
            <a:ext cx="1395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C0362C"/>
                </a:solidFill>
                <a:latin typeface="Segoe UI"/>
                <a:ea typeface="Segoe UI"/>
                <a:cs typeface="Segoe UI"/>
              </a:rPr>
              <a:t>2,400 万 vs 2,680 万</a:t>
            </a:r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F9D60199-D754-4D73-BD8A-CFC2D94AE4C8}"/>
              </a:ext>
            </a:extLst>
          </p:cNvPr>
          <p:cNvSpPr>
            <a:spLocks noGrp="1"/>
          </p:cNvSpPr>
          <p:nvPr/>
        </p:nvSpPr>
        <p:spPr>
          <a:xfrm>
            <a:off x="9201150" y="222885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90310E52-CA6E-4F93-8924-89DEDDE7B5BB}"/>
              </a:ext>
            </a:extLst>
          </p:cNvPr>
          <p:cNvSpPr>
            <a:spLocks noGrp="1"/>
          </p:cNvSpPr>
          <p:nvPr/>
        </p:nvSpPr>
        <p:spPr>
          <a:xfrm>
            <a:off x="9353550" y="21717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46" name="Ellipse 46">
            <a:extLst>
              <a:ext uri="{FF2B5EF4-FFF2-40B4-BE49-F238E27FC236}">
                <a16:creationId xmlns:a16="http://schemas.microsoft.com/office/drawing/2014/main" id="{B74BA41F-A05A-4F60-A068-5B59CB59C085}"/>
              </a:ext>
            </a:extLst>
          </p:cNvPr>
          <p:cNvSpPr>
            <a:spLocks noGrp="1"/>
          </p:cNvSpPr>
          <p:nvPr/>
        </p:nvSpPr>
        <p:spPr>
          <a:xfrm>
            <a:off x="9601200" y="1771650"/>
            <a:ext cx="342900" cy="3429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C3AD1A81-6914-4886-BCB5-41A4CA50789F}"/>
              </a:ext>
            </a:extLst>
          </p:cNvPr>
          <p:cNvSpPr>
            <a:spLocks noGrp="1"/>
          </p:cNvSpPr>
          <p:nvPr/>
        </p:nvSpPr>
        <p:spPr>
          <a:xfrm>
            <a:off x="9716612" y="1862614"/>
            <a:ext cx="1120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020B335-2C6E-433B-8F94-17F8C213348D}"/>
              </a:ext>
            </a:extLst>
          </p:cNvPr>
          <p:cNvSpPr>
            <a:spLocks noGrp="1"/>
          </p:cNvSpPr>
          <p:nvPr/>
        </p:nvSpPr>
        <p:spPr>
          <a:xfrm>
            <a:off x="9575673" y="2186464"/>
            <a:ext cx="640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提交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C0BE5A71-E245-42C8-95F1-20EF58A2E5D1}"/>
              </a:ext>
            </a:extLst>
          </p:cNvPr>
          <p:cNvSpPr>
            <a:spLocks noGrp="1"/>
          </p:cNvSpPr>
          <p:nvPr/>
        </p:nvSpPr>
        <p:spPr>
          <a:xfrm>
            <a:off x="9576816" y="2458402"/>
            <a:ext cx="12614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版本、来源、执行记录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C72F32E7-C05D-422C-A778-FE6A0E37CE1F}"/>
              </a:ext>
            </a:extLst>
          </p:cNvPr>
          <p:cNvSpPr>
            <a:spLocks noGrp="1"/>
          </p:cNvSpPr>
          <p:nvPr/>
        </p:nvSpPr>
        <p:spPr>
          <a:xfrm>
            <a:off x="486156" y="3025140"/>
            <a:ext cx="38579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证据门只暂停受影响分支</a:t>
            </a: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02C0A5DA-FAB1-4035-808E-F08AD23B739A}"/>
              </a:ext>
            </a:extLst>
          </p:cNvPr>
          <p:cNvSpPr>
            <a:spLocks noGrp="1"/>
          </p:cNvSpPr>
          <p:nvPr/>
        </p:nvSpPr>
        <p:spPr>
          <a:xfrm>
            <a:off x="495300" y="3409950"/>
            <a:ext cx="737235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66CE2BF5-E670-46A7-A9A3-6E8F292BD23D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2133600" cy="723900"/>
          </a:xfrm>
          <a:prstGeom prst="roundRect">
            <a:avLst>
              <a:gd name="adj" fmla="val 789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681AF2B3-571C-46B0-BDF7-1E5F63D46F8B}"/>
              </a:ext>
            </a:extLst>
          </p:cNvPr>
          <p:cNvSpPr>
            <a:spLocks noGrp="1"/>
          </p:cNvSpPr>
          <p:nvPr/>
        </p:nvSpPr>
        <p:spPr>
          <a:xfrm>
            <a:off x="869156" y="3860006"/>
            <a:ext cx="185737" cy="185737"/>
          </a:xfrm>
          <a:custGeom>
            <a:avLst/>
            <a:gdLst/>
            <a:ahLst/>
            <a:cxnLst/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56" name="Freeform 56">
            <a:extLst>
              <a:ext uri="{FF2B5EF4-FFF2-40B4-BE49-F238E27FC236}">
                <a16:creationId xmlns:a16="http://schemas.microsoft.com/office/drawing/2014/main" id="{F8AB6B34-9B28-41F3-BCF9-1973548A37FB}"/>
              </a:ext>
            </a:extLst>
          </p:cNvPr>
          <p:cNvSpPr>
            <a:spLocks noGrp="1"/>
          </p:cNvSpPr>
          <p:nvPr/>
        </p:nvSpPr>
        <p:spPr>
          <a:xfrm>
            <a:off x="931068" y="3932237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55552278-FE58-4957-951D-2FC65AA1CAC0}"/>
              </a:ext>
            </a:extLst>
          </p:cNvPr>
          <p:cNvSpPr>
            <a:spLocks noGrp="1"/>
          </p:cNvSpPr>
          <p:nvPr/>
        </p:nvSpPr>
        <p:spPr>
          <a:xfrm>
            <a:off x="1193673" y="3862864"/>
            <a:ext cx="14367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客户事实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C54C38A3-BE99-4ED1-9A81-E6FECACE2E92}"/>
              </a:ext>
            </a:extLst>
          </p:cNvPr>
          <p:cNvSpPr>
            <a:spLocks noGrp="1"/>
          </p:cNvSpPr>
          <p:nvPr/>
        </p:nvSpPr>
        <p:spPr>
          <a:xfrm>
            <a:off x="832866" y="41157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9C4DE8EE-DD4C-4443-B300-BD2729382299}"/>
              </a:ext>
            </a:extLst>
          </p:cNvPr>
          <p:cNvSpPr>
            <a:spLocks noGrp="1"/>
          </p:cNvSpPr>
          <p:nvPr/>
        </p:nvSpPr>
        <p:spPr>
          <a:xfrm>
            <a:off x="2952750" y="3638550"/>
            <a:ext cx="2133600" cy="723900"/>
          </a:xfrm>
          <a:prstGeom prst="roundRect">
            <a:avLst>
              <a:gd name="adj" fmla="val 789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61" name="Freeform 61">
            <a:extLst>
              <a:ext uri="{FF2B5EF4-FFF2-40B4-BE49-F238E27FC236}">
                <a16:creationId xmlns:a16="http://schemas.microsoft.com/office/drawing/2014/main" id="{247A9CBE-7B5C-4967-90FE-86A14D622813}"/>
              </a:ext>
            </a:extLst>
          </p:cNvPr>
          <p:cNvSpPr>
            <a:spLocks noGrp="1"/>
          </p:cNvSpPr>
          <p:nvPr/>
        </p:nvSpPr>
        <p:spPr>
          <a:xfrm>
            <a:off x="3155156" y="3860006"/>
            <a:ext cx="185737" cy="185737"/>
          </a:xfrm>
          <a:custGeom>
            <a:avLst/>
            <a:gdLst/>
            <a:ahLst/>
            <a:cxnLst/>
            <a:rect l="l" t="t" r="r" b="b"/>
            <a:pathLst>
              <a:path w="185737" h="185737">
                <a:moveTo>
                  <a:pt x="0" y="92868"/>
                </a:moveTo>
                <a:cubicBezTo>
                  <a:pt x="0" y="144158"/>
                  <a:pt x="41579" y="185737"/>
                  <a:pt x="92868" y="185737"/>
                </a:cubicBezTo>
                <a:cubicBezTo>
                  <a:pt x="144158" y="185737"/>
                  <a:pt x="185737" y="144158"/>
                  <a:pt x="185737" y="92868"/>
                </a:cubicBezTo>
                <a:cubicBezTo>
                  <a:pt x="185737" y="41579"/>
                  <a:pt x="144158" y="0"/>
                  <a:pt x="92868" y="0"/>
                </a:cubicBezTo>
                <a:cubicBezTo>
                  <a:pt x="41579" y="0"/>
                  <a:pt x="0" y="41579"/>
                  <a:pt x="0" y="92868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2" name="Freeform 62">
            <a:extLst>
              <a:ext uri="{FF2B5EF4-FFF2-40B4-BE49-F238E27FC236}">
                <a16:creationId xmlns:a16="http://schemas.microsoft.com/office/drawing/2014/main" id="{10D0FA5B-C299-4956-9C14-EB7AF7429105}"/>
              </a:ext>
            </a:extLst>
          </p:cNvPr>
          <p:cNvSpPr>
            <a:spLocks noGrp="1"/>
          </p:cNvSpPr>
          <p:nvPr/>
        </p:nvSpPr>
        <p:spPr>
          <a:xfrm>
            <a:off x="3217068" y="3932237"/>
            <a:ext cx="61912" cy="41275"/>
          </a:xfrm>
          <a:custGeom>
            <a:avLst/>
            <a:gdLst/>
            <a:ahLst/>
            <a:cxnLst/>
            <a:rect l="l" t="t" r="r" b="b"/>
            <a:pathLst>
              <a:path w="61912" h="41275">
                <a:moveTo>
                  <a:pt x="0" y="20637"/>
                </a:moveTo>
                <a:lnTo>
                  <a:pt x="20637" y="41275"/>
                </a:lnTo>
                <a:lnTo>
                  <a:pt x="61912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332123A1-2E45-44F0-9259-5F29BAC53AD9}"/>
              </a:ext>
            </a:extLst>
          </p:cNvPr>
          <p:cNvSpPr>
            <a:spLocks noGrp="1"/>
          </p:cNvSpPr>
          <p:nvPr/>
        </p:nvSpPr>
        <p:spPr>
          <a:xfrm>
            <a:off x="3479673" y="3862864"/>
            <a:ext cx="11123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项目风险</a:t>
            </a:r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453DDCED-AFCB-4BB6-AE12-0B0BF2488CC5}"/>
              </a:ext>
            </a:extLst>
          </p:cNvPr>
          <p:cNvSpPr>
            <a:spLocks noGrp="1"/>
          </p:cNvSpPr>
          <p:nvPr/>
        </p:nvSpPr>
        <p:spPr>
          <a:xfrm>
            <a:off x="3118866" y="41157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2E7D32"/>
                </a:solidFill>
                <a:latin typeface="Segoe UI"/>
                <a:ea typeface="Segoe UI"/>
                <a:cs typeface="Segoe UI"/>
              </a:rPr>
              <a:t>继续产出并保留</a:t>
            </a:r>
          </a:p>
        </p:txBody>
      </p:sp>
      <p:sp>
        <p:nvSpPr>
          <p:cNvPr id="66" name="Rectangle 66">
            <a:extLst>
              <a:ext uri="{FF2B5EF4-FFF2-40B4-BE49-F238E27FC236}">
                <a16:creationId xmlns:a16="http://schemas.microsoft.com/office/drawing/2014/main" id="{B3A5220A-4650-4771-84FD-CDEE0A582E40}"/>
              </a:ext>
            </a:extLst>
          </p:cNvPr>
          <p:cNvSpPr>
            <a:spLocks noGrp="1"/>
          </p:cNvSpPr>
          <p:nvPr/>
        </p:nvSpPr>
        <p:spPr>
          <a:xfrm>
            <a:off x="5238750" y="3638550"/>
            <a:ext cx="24574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67" name="Freeform 67">
            <a:extLst>
              <a:ext uri="{FF2B5EF4-FFF2-40B4-BE49-F238E27FC236}">
                <a16:creationId xmlns:a16="http://schemas.microsoft.com/office/drawing/2014/main" id="{580B654B-794D-47DB-ABF1-3AFC0C3BF433}"/>
              </a:ext>
            </a:extLst>
          </p:cNvPr>
          <p:cNvSpPr>
            <a:spLocks noGrp="1"/>
          </p:cNvSpPr>
          <p:nvPr/>
        </p:nvSpPr>
        <p:spPr>
          <a:xfrm>
            <a:off x="5472112" y="3880644"/>
            <a:ext cx="41275" cy="144462"/>
          </a:xfrm>
          <a:custGeom>
            <a:avLst/>
            <a:gdLst/>
            <a:ahLst/>
            <a:cxnLst/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68" name="Freeform 68">
            <a:extLst>
              <a:ext uri="{FF2B5EF4-FFF2-40B4-BE49-F238E27FC236}">
                <a16:creationId xmlns:a16="http://schemas.microsoft.com/office/drawing/2014/main" id="{BB007F60-C53D-4A02-8103-9CDB7AB97796}"/>
              </a:ext>
            </a:extLst>
          </p:cNvPr>
          <p:cNvSpPr>
            <a:spLocks noGrp="1"/>
          </p:cNvSpPr>
          <p:nvPr/>
        </p:nvSpPr>
        <p:spPr>
          <a:xfrm>
            <a:off x="5554662" y="3880644"/>
            <a:ext cx="41275" cy="144462"/>
          </a:xfrm>
          <a:custGeom>
            <a:avLst/>
            <a:gdLst/>
            <a:ahLst/>
            <a:cxnLst/>
            <a:rect l="l" t="t" r="r" b="b"/>
            <a:pathLst>
              <a:path w="41275" h="144462">
                <a:moveTo>
                  <a:pt x="0" y="10319"/>
                </a:moveTo>
                <a:cubicBezTo>
                  <a:pt x="0" y="4620"/>
                  <a:pt x="4620" y="0"/>
                  <a:pt x="10319" y="0"/>
                </a:cubicBezTo>
                <a:lnTo>
                  <a:pt x="30956" y="0"/>
                </a:lnTo>
                <a:cubicBezTo>
                  <a:pt x="36655" y="0"/>
                  <a:pt x="41275" y="4620"/>
                  <a:pt x="41275" y="10319"/>
                </a:cubicBezTo>
                <a:lnTo>
                  <a:pt x="41275" y="134143"/>
                </a:lnTo>
                <a:cubicBezTo>
                  <a:pt x="41275" y="139842"/>
                  <a:pt x="36655" y="144462"/>
                  <a:pt x="30956" y="144462"/>
                </a:cubicBezTo>
                <a:lnTo>
                  <a:pt x="10319" y="144462"/>
                </a:lnTo>
                <a:cubicBezTo>
                  <a:pt x="4620" y="144462"/>
                  <a:pt x="0" y="139842"/>
                  <a:pt x="0" y="134143"/>
                </a:cubicBezTo>
                <a:lnTo>
                  <a:pt x="0" y="10319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5B1E1525-9FFF-4B0F-AF49-F1FB3F451ADE}"/>
              </a:ext>
            </a:extLst>
          </p:cNvPr>
          <p:cNvSpPr>
            <a:spLocks noGrp="1"/>
          </p:cNvSpPr>
          <p:nvPr/>
        </p:nvSpPr>
        <p:spPr>
          <a:xfrm>
            <a:off x="5765673" y="3862864"/>
            <a:ext cx="150880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收入基线</a:t>
            </a: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996E3F87-C9FB-42A9-BAD5-D5C74DAEAA6F}"/>
              </a:ext>
            </a:extLst>
          </p:cNvPr>
          <p:cNvSpPr>
            <a:spLocks noGrp="1"/>
          </p:cNvSpPr>
          <p:nvPr/>
        </p:nvSpPr>
        <p:spPr>
          <a:xfrm>
            <a:off x="5404866" y="4115752"/>
            <a:ext cx="19330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等待输入：需要确认口径</a:t>
            </a:r>
          </a:p>
        </p:txBody>
      </p:sp>
      <p:sp>
        <p:nvSpPr>
          <p:cNvPr id="72" name="Freeform 72">
            <a:extLst>
              <a:ext uri="{FF2B5EF4-FFF2-40B4-BE49-F238E27FC236}">
                <a16:creationId xmlns:a16="http://schemas.microsoft.com/office/drawing/2014/main" id="{372E9357-F8CE-4C3A-A791-1E6BF43C40DB}"/>
              </a:ext>
            </a:extLst>
          </p:cNvPr>
          <p:cNvSpPr>
            <a:spLocks noGrp="1"/>
          </p:cNvSpPr>
          <p:nvPr/>
        </p:nvSpPr>
        <p:spPr>
          <a:xfrm>
            <a:off x="6457950" y="4362450"/>
            <a:ext cx="9525" cy="247650"/>
          </a:xfrm>
          <a:custGeom>
            <a:avLst/>
            <a:gdLst/>
            <a:ahLst/>
            <a:cxnLst/>
            <a:rect l="l" t="t" r="r" b="b"/>
            <a:pathLst>
              <a:path w="952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73" name="Freeform 73">
            <a:extLst>
              <a:ext uri="{FF2B5EF4-FFF2-40B4-BE49-F238E27FC236}">
                <a16:creationId xmlns:a16="http://schemas.microsoft.com/office/drawing/2014/main" id="{142DB1B2-3063-4970-A214-6069B447A9FB}"/>
              </a:ext>
            </a:extLst>
          </p:cNvPr>
          <p:cNvSpPr>
            <a:spLocks noGrp="1"/>
          </p:cNvSpPr>
          <p:nvPr/>
        </p:nvSpPr>
        <p:spPr>
          <a:xfrm>
            <a:off x="6400800" y="45148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74" name="Rectangle 74">
            <a:extLst>
              <a:ext uri="{FF2B5EF4-FFF2-40B4-BE49-F238E27FC236}">
                <a16:creationId xmlns:a16="http://schemas.microsoft.com/office/drawing/2014/main" id="{B1C6DE36-2BC0-4A1C-A38D-A906EE433ECF}"/>
              </a:ext>
            </a:extLst>
          </p:cNvPr>
          <p:cNvSpPr>
            <a:spLocks noGrp="1"/>
          </p:cNvSpPr>
          <p:nvPr/>
        </p:nvSpPr>
        <p:spPr>
          <a:xfrm>
            <a:off x="2952750" y="4667250"/>
            <a:ext cx="4743450" cy="590550"/>
          </a:xfrm>
          <a:prstGeom prst="roundRect">
            <a:avLst>
              <a:gd name="adj" fmla="val 9677"/>
            </a:avLst>
          </a:pr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75" name="Freeform 75">
            <a:extLst>
              <a:ext uri="{FF2B5EF4-FFF2-40B4-BE49-F238E27FC236}">
                <a16:creationId xmlns:a16="http://schemas.microsoft.com/office/drawing/2014/main" id="{45851172-1678-454B-8A1D-F8CE50A58272}"/>
              </a:ext>
            </a:extLst>
          </p:cNvPr>
          <p:cNvSpPr>
            <a:spLocks noGrp="1"/>
          </p:cNvSpPr>
          <p:nvPr/>
        </p:nvSpPr>
        <p:spPr>
          <a:xfrm>
            <a:off x="3163640" y="4862453"/>
            <a:ext cx="206003" cy="182610"/>
          </a:xfrm>
          <a:custGeom>
            <a:avLst/>
            <a:gdLst/>
            <a:ahLst/>
            <a:cxnLst/>
            <a:rect l="l" t="t" r="r" b="b"/>
            <a:pathLst>
              <a:path w="206003" h="182610">
                <a:moveTo>
                  <a:pt x="10566" y="173096"/>
                </a:moveTo>
                <a:lnTo>
                  <a:pt x="23981" y="132853"/>
                </a:lnTo>
                <a:cubicBezTo>
                  <a:pt x="0" y="97388"/>
                  <a:pt x="9266" y="51625"/>
                  <a:pt x="45650" y="25807"/>
                </a:cubicBezTo>
                <a:cubicBezTo>
                  <a:pt x="82034" y="0"/>
                  <a:pt x="134288" y="2115"/>
                  <a:pt x="167875" y="30760"/>
                </a:cubicBezTo>
                <a:cubicBezTo>
                  <a:pt x="201463" y="59415"/>
                  <a:pt x="206003" y="105736"/>
                  <a:pt x="178493" y="139117"/>
                </a:cubicBezTo>
                <a:cubicBezTo>
                  <a:pt x="150983" y="172498"/>
                  <a:pt x="99916" y="182610"/>
                  <a:pt x="59064" y="162778"/>
                </a:cubicBezTo>
                <a:lnTo>
                  <a:pt x="10566" y="173096"/>
                </a:lnTo>
              </a:path>
            </a:pathLst>
          </a:custGeom>
          <a:noFill/>
          <a:ln w="19050">
            <a:solidFill>
              <a:srgbClr val="1769E0"/>
            </a:solidFill>
          </a:ln>
        </p:spPr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04DA38BB-E1CE-46A4-8E2D-4B02F513A3DB}"/>
              </a:ext>
            </a:extLst>
          </p:cNvPr>
          <p:cNvSpPr>
            <a:spLocks noGrp="1"/>
          </p:cNvSpPr>
          <p:nvPr/>
        </p:nvSpPr>
        <p:spPr>
          <a:xfrm>
            <a:off x="3517773" y="4758214"/>
            <a:ext cx="34303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纠偏：采用正式口径，保留预测差异说明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775685D9-A1AC-420D-A82F-DECCE336E01D}"/>
              </a:ext>
            </a:extLst>
          </p:cNvPr>
          <p:cNvSpPr>
            <a:spLocks noGrp="1"/>
          </p:cNvSpPr>
          <p:nvPr/>
        </p:nvSpPr>
        <p:spPr>
          <a:xfrm>
            <a:off x="3518916" y="5011102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只恢复该分支；已完成工件和版本不被覆盖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1694392-E8FE-4B69-8EC1-ADAD116155D8}"/>
              </a:ext>
            </a:extLst>
          </p:cNvPr>
          <p:cNvSpPr>
            <a:spLocks noGrp="1"/>
          </p:cNvSpPr>
          <p:nvPr/>
        </p:nvSpPr>
        <p:spPr>
          <a:xfrm>
            <a:off x="8144256" y="3025140"/>
            <a:ext cx="290608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从 07-16 目标到当前事实</a:t>
            </a:r>
          </a:p>
        </p:txBody>
      </p:sp>
      <p:sp>
        <p:nvSpPr>
          <p:cNvPr id="80" name="Rectangle 80">
            <a:extLst>
              <a:ext uri="{FF2B5EF4-FFF2-40B4-BE49-F238E27FC236}">
                <a16:creationId xmlns:a16="http://schemas.microsoft.com/office/drawing/2014/main" id="{321E0BBA-539B-49A2-888D-33DF3B70E284}"/>
              </a:ext>
            </a:extLst>
          </p:cNvPr>
          <p:cNvSpPr>
            <a:spLocks noGrp="1"/>
          </p:cNvSpPr>
          <p:nvPr/>
        </p:nvSpPr>
        <p:spPr>
          <a:xfrm>
            <a:off x="8153400" y="3409950"/>
            <a:ext cx="35433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81" name="Rectangle 81">
            <a:extLst>
              <a:ext uri="{FF2B5EF4-FFF2-40B4-BE49-F238E27FC236}">
                <a16:creationId xmlns:a16="http://schemas.microsoft.com/office/drawing/2014/main" id="{3199A3E0-EDB5-4834-90AA-52E2CA16F4CC}"/>
              </a:ext>
            </a:extLst>
          </p:cNvPr>
          <p:cNvSpPr>
            <a:spLocks noGrp="1"/>
          </p:cNvSpPr>
          <p:nvPr/>
        </p:nvSpPr>
        <p:spPr>
          <a:xfrm>
            <a:off x="8343900" y="3600450"/>
            <a:ext cx="895350" cy="247650"/>
          </a:xfrm>
          <a:prstGeom prst="roundRect">
            <a:avLst>
              <a:gd name="adj" fmla="val 19231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0E2F9D13-B760-4593-9414-0E76AC4496EA}"/>
              </a:ext>
            </a:extLst>
          </p:cNvPr>
          <p:cNvSpPr>
            <a:spLocks noGrp="1"/>
          </p:cNvSpPr>
          <p:nvPr/>
        </p:nvSpPr>
        <p:spPr>
          <a:xfrm>
            <a:off x="8415195" y="3668078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当前已落地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ADAC552B-FC80-4918-8879-7B303DD172C4}"/>
              </a:ext>
            </a:extLst>
          </p:cNvPr>
          <p:cNvSpPr>
            <a:spLocks noGrp="1"/>
          </p:cNvSpPr>
          <p:nvPr/>
        </p:nvSpPr>
        <p:spPr>
          <a:xfrm>
            <a:off x="8337423" y="3958114"/>
            <a:ext cx="310564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服务端分支与分支级证据门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721A924D-148B-463F-A2D7-9366E2945B10}"/>
              </a:ext>
            </a:extLst>
          </p:cNvPr>
          <p:cNvSpPr>
            <a:spLocks noGrp="1"/>
          </p:cNvSpPr>
          <p:nvPr/>
        </p:nvSpPr>
        <p:spPr>
          <a:xfrm>
            <a:off x="8337423" y="4205764"/>
            <a:ext cx="35802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追加式成果版本与任务提交</a:t>
            </a:r>
          </a:p>
        </p:txBody>
      </p:sp>
      <p:sp>
        <p:nvSpPr>
          <p:cNvPr id="85" name="TextBox 85">
            <a:extLst>
              <a:ext uri="{FF2B5EF4-FFF2-40B4-BE49-F238E27FC236}">
                <a16:creationId xmlns:a16="http://schemas.microsoft.com/office/drawing/2014/main" id="{D4E54F66-2B31-4F14-943E-20194246A0DB}"/>
              </a:ext>
            </a:extLst>
          </p:cNvPr>
          <p:cNvSpPr>
            <a:spLocks noGrp="1"/>
          </p:cNvSpPr>
          <p:nvPr/>
        </p:nvSpPr>
        <p:spPr>
          <a:xfrm>
            <a:off x="8337423" y="4453414"/>
            <a:ext cx="30495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局部恢复与可选数据库重启恢复</a:t>
            </a:r>
          </a:p>
        </p:txBody>
      </p:sp>
      <p:sp>
        <p:nvSpPr>
          <p:cNvPr id="86" name="Freeform 86">
            <a:extLst>
              <a:ext uri="{FF2B5EF4-FFF2-40B4-BE49-F238E27FC236}">
                <a16:creationId xmlns:a16="http://schemas.microsoft.com/office/drawing/2014/main" id="{0377CB2B-ED5D-42EC-B02C-02DD6BEADF61}"/>
              </a:ext>
            </a:extLst>
          </p:cNvPr>
          <p:cNvSpPr>
            <a:spLocks noGrp="1"/>
          </p:cNvSpPr>
          <p:nvPr/>
        </p:nvSpPr>
        <p:spPr>
          <a:xfrm>
            <a:off x="8343900" y="47625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1E4A1BCE-E195-4E94-8648-17E050DB7499}"/>
              </a:ext>
            </a:extLst>
          </p:cNvPr>
          <p:cNvSpPr>
            <a:spLocks noGrp="1"/>
          </p:cNvSpPr>
          <p:nvPr/>
        </p:nvSpPr>
        <p:spPr>
          <a:xfrm>
            <a:off x="8338566" y="4896802"/>
            <a:ext cx="43254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 b="1">
                <a:solidFill>
                  <a:srgbClr val="B54708"/>
                </a:solidFill>
                <a:latin typeface="Segoe UI Semibold"/>
                <a:ea typeface="Segoe UI Semibold"/>
                <a:cs typeface="Segoe UI Semibold"/>
              </a:rPr>
              <a:t>仍是目标：生产身份、通用可写办公成果、长期后台执行</a:t>
            </a:r>
          </a:p>
        </p:txBody>
      </p:sp>
      <p:sp>
        <p:nvSpPr>
          <p:cNvPr id="89" name="Rectangle 89">
            <a:extLst>
              <a:ext uri="{FF2B5EF4-FFF2-40B4-BE49-F238E27FC236}">
                <a16:creationId xmlns:a16="http://schemas.microsoft.com/office/drawing/2014/main" id="{E252C05B-811E-47F9-A7E7-F47A878E46DF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11201400" cy="514350"/>
          </a:xfrm>
          <a:prstGeom prst="roundRect">
            <a:avLst>
              <a:gd name="adj" fmla="val 11111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3445795E-2500-49B5-9EA7-A3DCAAA050C7}"/>
              </a:ext>
            </a:extLst>
          </p:cNvPr>
          <p:cNvSpPr>
            <a:spLocks noGrp="1"/>
          </p:cNvSpPr>
          <p:nvPr/>
        </p:nvSpPr>
        <p:spPr>
          <a:xfrm>
            <a:off x="717423" y="58916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交互变化：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096C6D96-4822-4764-B3A7-78B390342AE5}"/>
              </a:ext>
            </a:extLst>
          </p:cNvPr>
          <p:cNvSpPr>
            <a:spLocks noGrp="1"/>
          </p:cNvSpPr>
          <p:nvPr/>
        </p:nvSpPr>
        <p:spPr>
          <a:xfrm>
            <a:off x="1593723" y="5891689"/>
            <a:ext cx="687857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用户不再重开对话、重讲背景，而是在同一任务里查看分支、处理冲突、恢复受影响部分。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E78E5F1D-6A11-4B3E-8DA6-583CD3EC7134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docs.langchain.com/.../langgraph/persistence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openai.github.io/.../human_in_the_loop/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1B37A97F-8785-451B-A030-B7A65BB3CDD0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21 / 24</a:t>
            </a:r>
          </a:p>
        </p:txBody>
      </p:sp>
    </p:spTree>
    <p:extLst>
      <p:ext uri="{BB962C8B-B14F-4D97-AF65-F5344CB8AC3E}">
        <p14:creationId xmlns:p14="http://schemas.microsoft.com/office/powerpoint/2010/main" val="55192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112DDC3-4E64-4C0F-9DB0-F1223D0AF4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DD4174-CA0A-429A-9529-2A6EAD797398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463D01-8D90-46C1-9A72-1BCA0FA0501B}"/>
              </a:ext>
            </a:extLst>
          </p:cNvPr>
          <p:cNvSpPr>
            <a:spLocks noGrp="1"/>
          </p:cNvSpPr>
          <p:nvPr/>
        </p:nvSpPr>
        <p:spPr>
          <a:xfrm>
            <a:off x="477774" y="370522"/>
            <a:ext cx="757712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2：复杂任务怎样拆解并收敛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BD2AEA6-BEA1-4A8B-9A63-C7386B51DB61}"/>
              </a:ext>
            </a:extLst>
          </p:cNvPr>
          <p:cNvSpPr>
            <a:spLocks noGrp="1"/>
          </p:cNvSpPr>
          <p:nvPr/>
        </p:nvSpPr>
        <p:spPr>
          <a:xfrm>
            <a:off x="488823" y="1253014"/>
            <a:ext cx="75737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智能工作驾驶舱仍是目标；当前先验证复杂任务的拆解、依赖和成果汇合。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7583894-8030-42CF-8D8A-C8AC08BC4DDD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9525" cy="3295650"/>
          </a:xfrm>
          <a:custGeom>
            <a:avLst/>
            <a:gdLst/>
            <a:ahLst/>
            <a:cxnLst/>
            <a:rect l="l" t="t" r="r" b="b"/>
            <a:pathLst>
              <a:path w="9525" h="3295650">
                <a:moveTo>
                  <a:pt x="0" y="0"/>
                </a:moveTo>
                <a:lnTo>
                  <a:pt x="0" y="3295650"/>
                </a:lnTo>
              </a:path>
            </a:pathLst>
          </a:custGeom>
          <a:noFill/>
          <a:ln w="38100">
            <a:solidFill>
              <a:srgbClr val="CBD5DF"/>
            </a:solidFill>
          </a:ln>
        </p:spPr>
      </p:sp>
      <p:sp>
        <p:nvSpPr>
          <p:cNvPr id="11" name="Ellipse 11">
            <a:extLst>
              <a:ext uri="{FF2B5EF4-FFF2-40B4-BE49-F238E27FC236}">
                <a16:creationId xmlns:a16="http://schemas.microsoft.com/office/drawing/2014/main" id="{346B2539-917E-4D6A-AFFE-6DA53DBE60E2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419100" cy="419100"/>
          </a:xfrm>
          <a:prstGeom prst="ellipse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BD39590-17AD-4F29-BBB5-F25CB6B04CD4}"/>
              </a:ext>
            </a:extLst>
          </p:cNvPr>
          <p:cNvSpPr>
            <a:spLocks noGrp="1"/>
          </p:cNvSpPr>
          <p:nvPr/>
        </p:nvSpPr>
        <p:spPr>
          <a:xfrm>
            <a:off x="740765" y="19402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F6489B2-7425-4E55-A7D2-525D7C0A16F5}"/>
              </a:ext>
            </a:extLst>
          </p:cNvPr>
          <p:cNvSpPr>
            <a:spLocks noGrp="1"/>
          </p:cNvSpPr>
          <p:nvPr/>
        </p:nvSpPr>
        <p:spPr>
          <a:xfrm>
            <a:off x="1171956" y="1777365"/>
            <a:ext cx="383476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输入：一个复杂但只读的办公任务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9124C89-D250-4C13-9CE1-190F5801D1E5}"/>
              </a:ext>
            </a:extLst>
          </p:cNvPr>
          <p:cNvSpPr>
            <a:spLocks noGrp="1"/>
          </p:cNvSpPr>
          <p:nvPr/>
        </p:nvSpPr>
        <p:spPr>
          <a:xfrm>
            <a:off x="1174623" y="2129314"/>
            <a:ext cx="37890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跨产品、算法、交互三条工作线核对风险与证据，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D96A14C-1A04-467D-9A43-27CD22A58025}"/>
              </a:ext>
            </a:extLst>
          </p:cNvPr>
          <p:cNvSpPr>
            <a:spLocks noGrp="1"/>
          </p:cNvSpPr>
          <p:nvPr/>
        </p:nvSpPr>
        <p:spPr>
          <a:xfrm>
            <a:off x="1174623" y="23769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先独立核对，再形成统一简报。</a:t>
            </a:r>
          </a:p>
        </p:txBody>
      </p:sp>
      <p:sp>
        <p:nvSpPr>
          <p:cNvPr id="16" name="Ellipse 16">
            <a:extLst>
              <a:ext uri="{FF2B5EF4-FFF2-40B4-BE49-F238E27FC236}">
                <a16:creationId xmlns:a16="http://schemas.microsoft.com/office/drawing/2014/main" id="{C996B7E0-DE34-4203-8438-519AB2A36A68}"/>
              </a:ext>
            </a:extLst>
          </p:cNvPr>
          <p:cNvSpPr>
            <a:spLocks noGrp="1"/>
          </p:cNvSpPr>
          <p:nvPr/>
        </p:nvSpPr>
        <p:spPr>
          <a:xfrm>
            <a:off x="590550" y="3048000"/>
            <a:ext cx="419100" cy="4191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BC718CF-714F-4CF4-9133-DEAC2D70AFAA}"/>
              </a:ext>
            </a:extLst>
          </p:cNvPr>
          <p:cNvSpPr>
            <a:spLocks noGrp="1"/>
          </p:cNvSpPr>
          <p:nvPr/>
        </p:nvSpPr>
        <p:spPr>
          <a:xfrm>
            <a:off x="740765" y="31784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C7DE28B-222A-4248-94BC-9ABC0389142E}"/>
              </a:ext>
            </a:extLst>
          </p:cNvPr>
          <p:cNvSpPr>
            <a:spLocks noGrp="1"/>
          </p:cNvSpPr>
          <p:nvPr/>
        </p:nvSpPr>
        <p:spPr>
          <a:xfrm>
            <a:off x="1171956" y="3015615"/>
            <a:ext cx="332590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过程：依赖关系决定执行批次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046007B-259C-4BE8-BC8E-3E2A4C2400C5}"/>
              </a:ext>
            </a:extLst>
          </p:cNvPr>
          <p:cNvSpPr>
            <a:spLocks noGrp="1"/>
          </p:cNvSpPr>
          <p:nvPr/>
        </p:nvSpPr>
        <p:spPr>
          <a:xfrm>
            <a:off x="1174623" y="3367564"/>
            <a:ext cx="35114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路线准入生成 5 个工作包：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B6E6ACD-9C8B-495F-825E-0D9EE12D4E6B}"/>
              </a:ext>
            </a:extLst>
          </p:cNvPr>
          <p:cNvSpPr>
            <a:spLocks noGrp="1"/>
          </p:cNvSpPr>
          <p:nvPr/>
        </p:nvSpPr>
        <p:spPr>
          <a:xfrm>
            <a:off x="1174623" y="3615214"/>
            <a:ext cx="39091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个根工作包先执行，2 个依赖工作包等待下一波。</a:t>
            </a:r>
          </a:p>
        </p:txBody>
      </p:sp>
      <p:sp>
        <p:nvSpPr>
          <p:cNvPr id="21" name="Ellipse 21">
            <a:extLst>
              <a:ext uri="{FF2B5EF4-FFF2-40B4-BE49-F238E27FC236}">
                <a16:creationId xmlns:a16="http://schemas.microsoft.com/office/drawing/2014/main" id="{7B6B34DB-F387-4BF6-81D0-D50446D27EB3}"/>
              </a:ext>
            </a:extLst>
          </p:cNvPr>
          <p:cNvSpPr>
            <a:spLocks noGrp="1"/>
          </p:cNvSpPr>
          <p:nvPr/>
        </p:nvSpPr>
        <p:spPr>
          <a:xfrm>
            <a:off x="590550" y="4324350"/>
            <a:ext cx="419100" cy="4191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85B1FA7-34AF-4A06-BC24-127F9191C55D}"/>
              </a:ext>
            </a:extLst>
          </p:cNvPr>
          <p:cNvSpPr>
            <a:spLocks noGrp="1"/>
          </p:cNvSpPr>
          <p:nvPr/>
        </p:nvSpPr>
        <p:spPr>
          <a:xfrm>
            <a:off x="740765" y="445484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2FE3858-C305-4D28-AFF1-3F3F8F3FAEE4}"/>
              </a:ext>
            </a:extLst>
          </p:cNvPr>
          <p:cNvSpPr>
            <a:spLocks noGrp="1"/>
          </p:cNvSpPr>
          <p:nvPr/>
        </p:nvSpPr>
        <p:spPr>
          <a:xfrm>
            <a:off x="1171956" y="4291965"/>
            <a:ext cx="358033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输出：统一成果与一个明确待办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3C01F69-A74F-4DB9-9D07-30E599BDE0CA}"/>
              </a:ext>
            </a:extLst>
          </p:cNvPr>
          <p:cNvSpPr>
            <a:spLocks noGrp="1"/>
          </p:cNvSpPr>
          <p:nvPr/>
        </p:nvSpPr>
        <p:spPr>
          <a:xfrm>
            <a:off x="1175004" y="4652010"/>
            <a:ext cx="3617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3 份贡献已采用，成果版本 1 已保留；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7F9A6EB-A84F-4DB8-8BEB-1F339E708F6A}"/>
              </a:ext>
            </a:extLst>
          </p:cNvPr>
          <p:cNvSpPr>
            <a:spLocks noGrp="1"/>
          </p:cNvSpPr>
          <p:nvPr/>
        </p:nvSpPr>
        <p:spPr>
          <a:xfrm>
            <a:off x="1175004" y="4890135"/>
            <a:ext cx="19668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右侧只突出“继续下一批”，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20B1F82-EF14-407A-AD2F-B823467F48D8}"/>
              </a:ext>
            </a:extLst>
          </p:cNvPr>
          <p:cNvSpPr>
            <a:spLocks noGrp="1"/>
          </p:cNvSpPr>
          <p:nvPr/>
        </p:nvSpPr>
        <p:spPr>
          <a:xfrm>
            <a:off x="1175004" y="51282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不要求用户管理多个会话。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3BF7AB79-55B8-4E04-B98C-D552B1099471}"/>
              </a:ext>
            </a:extLst>
          </p:cNvPr>
          <p:cNvSpPr>
            <a:spLocks noGrp="1"/>
          </p:cNvSpPr>
          <p:nvPr/>
        </p:nvSpPr>
        <p:spPr>
          <a:xfrm>
            <a:off x="5314950" y="1581150"/>
            <a:ext cx="6381750" cy="434340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pic>
        <p:nvPicPr>
          <p:cNvPr id="66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01" y="1695450"/>
            <a:ext cx="5386647" cy="4114800"/>
          </a:xfrm>
          <a:prstGeom prst="rect">
            <a:avLst/>
          </a:prstGeom>
        </p:spPr>
      </p:pic>
      <p:sp>
        <p:nvSpPr>
          <p:cNvPr id="32" name="Freeform 32">
            <a:extLst>
              <a:ext uri="{FF2B5EF4-FFF2-40B4-BE49-F238E27FC236}">
                <a16:creationId xmlns:a16="http://schemas.microsoft.com/office/drawing/2014/main" id="{815A8C05-BB94-48B7-9160-9EE22F6BA706}"/>
              </a:ext>
            </a:extLst>
          </p:cNvPr>
          <p:cNvSpPr>
            <a:spLocks noGrp="1"/>
          </p:cNvSpPr>
          <p:nvPr/>
        </p:nvSpPr>
        <p:spPr>
          <a:xfrm>
            <a:off x="7943850" y="381000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FC420AC3-7A9F-4E3D-9016-A654B83E6954}"/>
              </a:ext>
            </a:extLst>
          </p:cNvPr>
          <p:cNvSpPr>
            <a:spLocks noGrp="1"/>
          </p:cNvSpPr>
          <p:nvPr/>
        </p:nvSpPr>
        <p:spPr>
          <a:xfrm>
            <a:off x="9010650" y="3743325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1143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AC2C432E-8DF1-4923-94BC-E439AB9DFB8B}"/>
              </a:ext>
            </a:extLst>
          </p:cNvPr>
          <p:cNvSpPr>
            <a:spLocks noGrp="1"/>
          </p:cNvSpPr>
          <p:nvPr/>
        </p:nvSpPr>
        <p:spPr>
          <a:xfrm>
            <a:off x="495300" y="6115050"/>
            <a:ext cx="11201400" cy="381000"/>
          </a:xfrm>
          <a:prstGeom prst="roundRect">
            <a:avLst>
              <a:gd name="adj" fmla="val 15000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A19EF7E2-F8AB-46FB-A537-A3BFF9559079}"/>
              </a:ext>
            </a:extLst>
          </p:cNvPr>
          <p:cNvSpPr>
            <a:spLocks noGrp="1"/>
          </p:cNvSpPr>
          <p:nvPr/>
        </p:nvSpPr>
        <p:spPr>
          <a:xfrm>
            <a:off x="717423" y="62250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当前边界：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A7616D5-D5AD-4A94-8564-713A1D9EBACF}"/>
              </a:ext>
            </a:extLst>
          </p:cNvPr>
          <p:cNvSpPr>
            <a:spLocks noGrp="1"/>
          </p:cNvSpPr>
          <p:nvPr/>
        </p:nvSpPr>
        <p:spPr>
          <a:xfrm>
            <a:off x="1555623" y="6225064"/>
            <a:ext cx="813807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单服务进程、顺序批次、每批最多 3 个只读执行单元；不是分布式协作，也不是完整智能工作驾驶舱。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10D49BC-1805-43D9-BBCF-D8B3E4A0A994}"/>
              </a:ext>
            </a:extLst>
          </p:cNvPr>
          <p:cNvSpPr>
            <a:spLocks noGrp="1"/>
          </p:cNvSpPr>
          <p:nvPr/>
        </p:nvSpPr>
        <p:spPr>
          <a:xfrm>
            <a:off x="11217840" y="66113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22 / 24</a:t>
            </a:r>
          </a:p>
        </p:txBody>
      </p:sp>
    </p:spTree>
    <p:extLst>
      <p:ext uri="{BB962C8B-B14F-4D97-AF65-F5344CB8AC3E}">
        <p14:creationId xmlns:p14="http://schemas.microsoft.com/office/powerpoint/2010/main" val="245599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2847AB9-8253-4525-A7F4-C39C914D47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524E30-496E-490D-9859-1ED47A40E02C}"/>
              </a:ext>
            </a:extLst>
          </p:cNvPr>
          <p:cNvSpPr>
            <a:spLocks noGrp="1"/>
          </p:cNvSpPr>
          <p:nvPr/>
        </p:nvSpPr>
        <p:spPr>
          <a:xfrm>
            <a:off x="495300" y="10668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19050">
            <a:solidFill>
              <a:srgbClr val="CBD5DF"/>
            </a:solidFill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003848-5881-4445-8166-0D015BC2161A}"/>
              </a:ext>
            </a:extLst>
          </p:cNvPr>
          <p:cNvSpPr>
            <a:spLocks noGrp="1"/>
          </p:cNvSpPr>
          <p:nvPr/>
        </p:nvSpPr>
        <p:spPr>
          <a:xfrm>
            <a:off x="478536" y="386715"/>
            <a:ext cx="913991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3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Demo 3：动作维风险，方案与执行必须隔离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86C48CF-1C03-4AB9-B66C-ADD8E1852EB3}"/>
              </a:ext>
            </a:extLst>
          </p:cNvPr>
          <p:cNvSpPr>
            <a:spLocks noGrp="1"/>
          </p:cNvSpPr>
          <p:nvPr/>
        </p:nvSpPr>
        <p:spPr>
          <a:xfrm>
            <a:off x="488823" y="1253014"/>
            <a:ext cx="79084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生成建议、形成草稿和真实发送或付款是三种不同事实；风险越高，用户越需要在动作发生前看见影响。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89C0D2-5A8E-4B1F-8623-3034E9F7B8ED}"/>
              </a:ext>
            </a:extLst>
          </p:cNvPr>
          <p:cNvSpPr>
            <a:spLocks noGrp="1"/>
          </p:cNvSpPr>
          <p:nvPr/>
        </p:nvSpPr>
        <p:spPr>
          <a:xfrm>
            <a:off x="486156" y="1596390"/>
            <a:ext cx="35265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L0-L5 把风险映射为不同交互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8995F4E-EFCB-4E67-8B29-AFF00B5765A1}"/>
              </a:ext>
            </a:extLst>
          </p:cNvPr>
          <p:cNvSpPr>
            <a:spLocks noGrp="1"/>
          </p:cNvSpPr>
          <p:nvPr/>
        </p:nvSpPr>
        <p:spPr>
          <a:xfrm>
            <a:off x="4953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BA857D-A25A-416E-82F5-C46DCA660946}"/>
              </a:ext>
            </a:extLst>
          </p:cNvPr>
          <p:cNvSpPr>
            <a:spLocks noGrp="1"/>
          </p:cNvSpPr>
          <p:nvPr/>
        </p:nvSpPr>
        <p:spPr>
          <a:xfrm>
            <a:off x="6793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9250F81-24AA-4D9C-91A8-D4B20EE2CD55}"/>
              </a:ext>
            </a:extLst>
          </p:cNvPr>
          <p:cNvSpPr>
            <a:spLocks noGrp="1"/>
          </p:cNvSpPr>
          <p:nvPr/>
        </p:nvSpPr>
        <p:spPr>
          <a:xfrm>
            <a:off x="106032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自动执行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B87262C5-798A-4E2D-9357-60D676948112}"/>
              </a:ext>
            </a:extLst>
          </p:cNvPr>
          <p:cNvSpPr>
            <a:spLocks noGrp="1"/>
          </p:cNvSpPr>
          <p:nvPr/>
        </p:nvSpPr>
        <p:spPr>
          <a:xfrm>
            <a:off x="238125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EDF1F4"/>
          </a:solidFill>
          <a:ln w="19050">
            <a:solidFill>
              <a:srgbClr val="2E7D32"/>
            </a:solidFill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C60E0AA-51BF-49DA-B641-07B3F6801DBE}"/>
              </a:ext>
            </a:extLst>
          </p:cNvPr>
          <p:cNvSpPr>
            <a:spLocks noGrp="1"/>
          </p:cNvSpPr>
          <p:nvPr/>
        </p:nvSpPr>
        <p:spPr>
          <a:xfrm>
            <a:off x="25652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L1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2258F9-F97D-4F9C-B406-0B366AA1FF88}"/>
              </a:ext>
            </a:extLst>
          </p:cNvPr>
          <p:cNvSpPr>
            <a:spLocks noGrp="1"/>
          </p:cNvSpPr>
          <p:nvPr/>
        </p:nvSpPr>
        <p:spPr>
          <a:xfrm>
            <a:off x="2946273" y="22626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执行并通知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79757A14-4B4D-485F-8585-99B2C9AABA3C}"/>
              </a:ext>
            </a:extLst>
          </p:cNvPr>
          <p:cNvSpPr>
            <a:spLocks noGrp="1"/>
          </p:cNvSpPr>
          <p:nvPr/>
        </p:nvSpPr>
        <p:spPr>
          <a:xfrm>
            <a:off x="42672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D5A8FB2-28DD-4E67-9581-71344DDB24E5}"/>
              </a:ext>
            </a:extLst>
          </p:cNvPr>
          <p:cNvSpPr>
            <a:spLocks noGrp="1"/>
          </p:cNvSpPr>
          <p:nvPr/>
        </p:nvSpPr>
        <p:spPr>
          <a:xfrm>
            <a:off x="44512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L2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DE7634C-9AC1-4BDE-98F6-1852E208D80D}"/>
              </a:ext>
            </a:extLst>
          </p:cNvPr>
          <p:cNvSpPr>
            <a:spLocks noGrp="1"/>
          </p:cNvSpPr>
          <p:nvPr/>
        </p:nvSpPr>
        <p:spPr>
          <a:xfrm>
            <a:off x="4832223" y="22626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只生成草稿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6D7B57AE-9BED-4BA0-B9F2-0EB730729BEF}"/>
              </a:ext>
            </a:extLst>
          </p:cNvPr>
          <p:cNvSpPr>
            <a:spLocks noGrp="1"/>
          </p:cNvSpPr>
          <p:nvPr/>
        </p:nvSpPr>
        <p:spPr>
          <a:xfrm>
            <a:off x="615315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88D00C-4FAC-4446-A13F-0786F7EC8FE8}"/>
              </a:ext>
            </a:extLst>
          </p:cNvPr>
          <p:cNvSpPr>
            <a:spLocks noGrp="1"/>
          </p:cNvSpPr>
          <p:nvPr/>
        </p:nvSpPr>
        <p:spPr>
          <a:xfrm>
            <a:off x="63371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C49860A-C405-481A-9F00-94EAAAF458AC}"/>
              </a:ext>
            </a:extLst>
          </p:cNvPr>
          <p:cNvSpPr>
            <a:spLocks noGrp="1"/>
          </p:cNvSpPr>
          <p:nvPr/>
        </p:nvSpPr>
        <p:spPr>
          <a:xfrm>
            <a:off x="671817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普通确认</a:t>
            </a:r>
          </a:p>
        </p:txBody>
      </p:sp>
      <p:sp>
        <p:nvSpPr>
          <p:cNvPr id="23" name="Rectangle 23">
            <a:extLst>
              <a:ext uri="{FF2B5EF4-FFF2-40B4-BE49-F238E27FC236}">
                <a16:creationId xmlns:a16="http://schemas.microsoft.com/office/drawing/2014/main" id="{DC494AC5-38E4-42A8-9FBB-0C64051B6FA8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17907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D32A00D-1942-4264-A0B3-8D67CF7813AB}"/>
              </a:ext>
            </a:extLst>
          </p:cNvPr>
          <p:cNvSpPr>
            <a:spLocks noGrp="1"/>
          </p:cNvSpPr>
          <p:nvPr/>
        </p:nvSpPr>
        <p:spPr>
          <a:xfrm>
            <a:off x="822312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L4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060C4E8-B129-417F-B56F-974546722791}"/>
              </a:ext>
            </a:extLst>
          </p:cNvPr>
          <p:cNvSpPr>
            <a:spLocks noGrp="1"/>
          </p:cNvSpPr>
          <p:nvPr/>
        </p:nvSpPr>
        <p:spPr>
          <a:xfrm>
            <a:off x="8604123" y="2262664"/>
            <a:ext cx="553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强确认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ED6265DE-CBF2-4DA5-9613-D276485F7D80}"/>
              </a:ext>
            </a:extLst>
          </p:cNvPr>
          <p:cNvSpPr>
            <a:spLocks noGrp="1"/>
          </p:cNvSpPr>
          <p:nvPr/>
        </p:nvSpPr>
        <p:spPr>
          <a:xfrm>
            <a:off x="9925050" y="1981200"/>
            <a:ext cx="17716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0362C"/>
            </a:solidFill>
          </a:ln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A8C9598-7B73-466B-9A6C-D79BF3840646}"/>
              </a:ext>
            </a:extLst>
          </p:cNvPr>
          <p:cNvSpPr>
            <a:spLocks noGrp="1"/>
          </p:cNvSpPr>
          <p:nvPr/>
        </p:nvSpPr>
        <p:spPr>
          <a:xfrm>
            <a:off x="10109073" y="2091214"/>
            <a:ext cx="22242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C0362C"/>
                </a:solidFill>
                <a:latin typeface="Consolas"/>
                <a:ea typeface="Consolas"/>
                <a:cs typeface="Consolas"/>
              </a:rPr>
              <a:t>L5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327C6F7-75C6-4148-AB8E-5B1DF8E029EA}"/>
              </a:ext>
            </a:extLst>
          </p:cNvPr>
          <p:cNvSpPr>
            <a:spLocks noGrp="1"/>
          </p:cNvSpPr>
          <p:nvPr/>
        </p:nvSpPr>
        <p:spPr>
          <a:xfrm>
            <a:off x="10490073" y="22626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直接拒绝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425951A-0EE8-4987-8F7D-50E6C61B3269}"/>
              </a:ext>
            </a:extLst>
          </p:cNvPr>
          <p:cNvSpPr>
            <a:spLocks noGrp="1"/>
          </p:cNvSpPr>
          <p:nvPr/>
        </p:nvSpPr>
        <p:spPr>
          <a:xfrm>
            <a:off x="486156" y="2758440"/>
            <a:ext cx="6066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动作链：先让用户看见影响，再决定是否发放执行许可</a:t>
            </a: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B9531E54-73E3-4663-8CDB-61DE0024C282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11201400" cy="800100"/>
          </a:xfrm>
          <a:prstGeom prst="roundRect">
            <a:avLst>
              <a:gd name="adj" fmla="val 7143"/>
            </a:avLst>
          </a:prstGeom>
          <a:solidFill>
            <a:srgbClr val="132A3A"/>
          </a:solidFill>
          <a:ln>
            <a:noFill/>
          </a:ln>
        </p:spPr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2EF729D-DFB8-4AAE-BB59-B9EE62ACD861}"/>
              </a:ext>
            </a:extLst>
          </p:cNvPr>
          <p:cNvSpPr>
            <a:spLocks noGrp="1"/>
          </p:cNvSpPr>
          <p:nvPr/>
        </p:nvSpPr>
        <p:spPr>
          <a:xfrm>
            <a:off x="736473" y="3481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方案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35C50131-FE16-41A5-9959-496C350C9D4B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773DCCAD-F176-4AF3-B698-506EADC519F0}"/>
              </a:ext>
            </a:extLst>
          </p:cNvPr>
          <p:cNvSpPr>
            <a:spLocks noGrp="1"/>
          </p:cNvSpPr>
          <p:nvPr/>
        </p:nvSpPr>
        <p:spPr>
          <a:xfrm>
            <a:off x="14668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96438E0B-D445-4654-A8F3-7BF482EA9CA7}"/>
              </a:ext>
            </a:extLst>
          </p:cNvPr>
          <p:cNvSpPr>
            <a:spLocks noGrp="1"/>
          </p:cNvSpPr>
          <p:nvPr/>
        </p:nvSpPr>
        <p:spPr>
          <a:xfrm>
            <a:off x="172707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影响预览</a:t>
            </a:r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0236E172-1487-4084-9D63-AD39DF913484}"/>
              </a:ext>
            </a:extLst>
          </p:cNvPr>
          <p:cNvSpPr>
            <a:spLocks noGrp="1"/>
          </p:cNvSpPr>
          <p:nvPr/>
        </p:nvSpPr>
        <p:spPr>
          <a:xfrm>
            <a:off x="26289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4C9DA321-A0B9-4FAF-A0A2-BDD74730544A}"/>
              </a:ext>
            </a:extLst>
          </p:cNvPr>
          <p:cNvSpPr>
            <a:spLocks noGrp="1"/>
          </p:cNvSpPr>
          <p:nvPr/>
        </p:nvSpPr>
        <p:spPr>
          <a:xfrm>
            <a:off x="28765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DC4A324B-508F-46FE-AC84-F70629F87D25}"/>
              </a:ext>
            </a:extLst>
          </p:cNvPr>
          <p:cNvSpPr>
            <a:spLocks noGrp="1"/>
          </p:cNvSpPr>
          <p:nvPr/>
        </p:nvSpPr>
        <p:spPr>
          <a:xfrm>
            <a:off x="3136773" y="3481864"/>
            <a:ext cx="8262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风险评估</a:t>
            </a:r>
          </a:p>
        </p:txBody>
      </p:sp>
      <p:sp>
        <p:nvSpPr>
          <p:cNvPr id="39" name="Freeform 39">
            <a:extLst>
              <a:ext uri="{FF2B5EF4-FFF2-40B4-BE49-F238E27FC236}">
                <a16:creationId xmlns:a16="http://schemas.microsoft.com/office/drawing/2014/main" id="{AD6D87F9-D825-4181-805C-AD98E245442E}"/>
              </a:ext>
            </a:extLst>
          </p:cNvPr>
          <p:cNvSpPr>
            <a:spLocks noGrp="1"/>
          </p:cNvSpPr>
          <p:nvPr/>
        </p:nvSpPr>
        <p:spPr>
          <a:xfrm>
            <a:off x="401955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1D08190-2692-47DA-BF7C-67BA11E7FC49}"/>
              </a:ext>
            </a:extLst>
          </p:cNvPr>
          <p:cNvSpPr>
            <a:spLocks noGrp="1"/>
          </p:cNvSpPr>
          <p:nvPr/>
        </p:nvSpPr>
        <p:spPr>
          <a:xfrm>
            <a:off x="426720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1E8CCD68-0C57-4380-AB12-8D6E07CC7171}"/>
              </a:ext>
            </a:extLst>
          </p:cNvPr>
          <p:cNvSpPr>
            <a:spLocks noGrp="1"/>
          </p:cNvSpPr>
          <p:nvPr/>
        </p:nvSpPr>
        <p:spPr>
          <a:xfrm>
            <a:off x="4527423" y="3481864"/>
            <a:ext cx="12227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证据门</a:t>
            </a:r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63F3463D-B8E4-49C1-9E21-4C90F6293D6D}"/>
              </a:ext>
            </a:extLst>
          </p:cNvPr>
          <p:cNvSpPr>
            <a:spLocks noGrp="1"/>
          </p:cNvSpPr>
          <p:nvPr/>
        </p:nvSpPr>
        <p:spPr>
          <a:xfrm>
            <a:off x="573405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CBD5DF"/>
            </a:solidFill>
          </a:ln>
        </p:spPr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F1C224F4-CD20-4400-BF8C-F1EE20E23984}"/>
              </a:ext>
            </a:extLst>
          </p:cNvPr>
          <p:cNvSpPr>
            <a:spLocks noGrp="1"/>
          </p:cNvSpPr>
          <p:nvPr/>
        </p:nvSpPr>
        <p:spPr>
          <a:xfrm>
            <a:off x="598170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CBD5DF"/>
          </a:solidFill>
          <a:ln>
            <a:noFill/>
          </a:ln>
        </p:spPr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8F7D6B7C-522F-423A-9BD8-4860F107B1B3}"/>
              </a:ext>
            </a:extLst>
          </p:cNvPr>
          <p:cNvSpPr>
            <a:spLocks noGrp="1"/>
          </p:cNvSpPr>
          <p:nvPr/>
        </p:nvSpPr>
        <p:spPr>
          <a:xfrm>
            <a:off x="624192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人工确认</a:t>
            </a: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FF7C8C3B-C2CF-4FD2-98F5-0C3771C4E2F2}"/>
              </a:ext>
            </a:extLst>
          </p:cNvPr>
          <p:cNvSpPr>
            <a:spLocks noGrp="1"/>
          </p:cNvSpPr>
          <p:nvPr/>
        </p:nvSpPr>
        <p:spPr>
          <a:xfrm>
            <a:off x="71247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5BCD47B5-9C49-4650-B94D-67BBE07445A0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3E3E2C06-EF56-440E-9086-C54CB82A69A1}"/>
              </a:ext>
            </a:extLst>
          </p:cNvPr>
          <p:cNvSpPr>
            <a:spLocks noGrp="1"/>
          </p:cNvSpPr>
          <p:nvPr/>
        </p:nvSpPr>
        <p:spPr>
          <a:xfrm>
            <a:off x="7632573" y="3481864"/>
            <a:ext cx="60420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执行许可</a:t>
            </a:r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C07B4FA0-CFD6-4CF2-93B4-CF2E1143F72C}"/>
              </a:ext>
            </a:extLst>
          </p:cNvPr>
          <p:cNvSpPr>
            <a:spLocks noGrp="1"/>
          </p:cNvSpPr>
          <p:nvPr/>
        </p:nvSpPr>
        <p:spPr>
          <a:xfrm>
            <a:off x="8343900" y="35433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2E7D32"/>
            </a:solidFill>
          </a:ln>
        </p:spPr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602459E7-F5DD-44D4-B11F-259E14B8F241}"/>
              </a:ext>
            </a:extLst>
          </p:cNvPr>
          <p:cNvSpPr>
            <a:spLocks noGrp="1"/>
          </p:cNvSpPr>
          <p:nvPr/>
        </p:nvSpPr>
        <p:spPr>
          <a:xfrm>
            <a:off x="8591550" y="34861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3F8A443E-B276-4DE2-BC80-D9C5175986D5}"/>
              </a:ext>
            </a:extLst>
          </p:cNvPr>
          <p:cNvSpPr>
            <a:spLocks noGrp="1"/>
          </p:cNvSpPr>
          <p:nvPr/>
        </p:nvSpPr>
        <p:spPr>
          <a:xfrm>
            <a:off x="8851773" y="3481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执行回执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DD439509-0600-48CF-A9A3-F61023DBB9D4}"/>
              </a:ext>
            </a:extLst>
          </p:cNvPr>
          <p:cNvSpPr>
            <a:spLocks noGrp="1"/>
          </p:cNvSpPr>
          <p:nvPr/>
        </p:nvSpPr>
        <p:spPr>
          <a:xfrm>
            <a:off x="9995916" y="3506152"/>
            <a:ext cx="10142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或明确“未发生”</a:t>
            </a:r>
          </a:p>
        </p:txBody>
      </p:sp>
      <p:sp>
        <p:nvSpPr>
          <p:cNvPr id="53" name="Rectangle 53">
            <a:extLst>
              <a:ext uri="{FF2B5EF4-FFF2-40B4-BE49-F238E27FC236}">
                <a16:creationId xmlns:a16="http://schemas.microsoft.com/office/drawing/2014/main" id="{5995A16A-F44F-464F-8A3E-ADE62C8E1B29}"/>
              </a:ext>
            </a:extLst>
          </p:cNvPr>
          <p:cNvSpPr>
            <a:spLocks noGrp="1"/>
          </p:cNvSpPr>
          <p:nvPr/>
        </p:nvSpPr>
        <p:spPr>
          <a:xfrm>
            <a:off x="495300" y="4191000"/>
            <a:ext cx="6457950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</p:sp>
      <p:pic>
        <p:nvPicPr>
          <p:cNvPr id="128" name="Imag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75" y="4286250"/>
            <a:ext cx="2946400" cy="1657350"/>
          </a:xfrm>
          <a:prstGeom prst="rect">
            <a:avLst/>
          </a:prstGeom>
        </p:spPr>
      </p:pic>
      <p:sp>
        <p:nvSpPr>
          <p:cNvPr id="58" name="Rectangle 58">
            <a:extLst>
              <a:ext uri="{FF2B5EF4-FFF2-40B4-BE49-F238E27FC236}">
                <a16:creationId xmlns:a16="http://schemas.microsoft.com/office/drawing/2014/main" id="{D5B16838-367A-4170-A797-442DC7E2C5BC}"/>
              </a:ext>
            </a:extLst>
          </p:cNvPr>
          <p:cNvSpPr>
            <a:spLocks noGrp="1"/>
          </p:cNvSpPr>
          <p:nvPr/>
        </p:nvSpPr>
        <p:spPr>
          <a:xfrm>
            <a:off x="7181850" y="4191000"/>
            <a:ext cx="4514850" cy="184785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9050">
            <a:solidFill>
              <a:srgbClr val="CBD5DF"/>
            </a:solidFill>
          </a:ln>
        </p:spPr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E70E6222-12BE-45CA-BAFB-CE475C7A2C12}"/>
              </a:ext>
            </a:extLst>
          </p:cNvPr>
          <p:cNvSpPr>
            <a:spLocks noGrp="1"/>
          </p:cNvSpPr>
          <p:nvPr/>
        </p:nvSpPr>
        <p:spPr>
          <a:xfrm>
            <a:off x="7401306" y="4339590"/>
            <a:ext cx="230817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当前已经能证明什么</a:t>
            </a:r>
          </a:p>
        </p:txBody>
      </p:sp>
      <p:sp>
        <p:nvSpPr>
          <p:cNvPr id="60" name="Freeform 60">
            <a:extLst>
              <a:ext uri="{FF2B5EF4-FFF2-40B4-BE49-F238E27FC236}">
                <a16:creationId xmlns:a16="http://schemas.microsoft.com/office/drawing/2014/main" id="{3D0F3188-119E-4ABD-88FE-2B40AC9DF12C}"/>
              </a:ext>
            </a:extLst>
          </p:cNvPr>
          <p:cNvSpPr>
            <a:spLocks noGrp="1"/>
          </p:cNvSpPr>
          <p:nvPr/>
        </p:nvSpPr>
        <p:spPr>
          <a:xfrm>
            <a:off x="7439025" y="4733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1" name="Freeform 61">
            <a:extLst>
              <a:ext uri="{FF2B5EF4-FFF2-40B4-BE49-F238E27FC236}">
                <a16:creationId xmlns:a16="http://schemas.microsoft.com/office/drawing/2014/main" id="{878A9C09-398B-4698-B87D-1D29CF3DA714}"/>
              </a:ext>
            </a:extLst>
          </p:cNvPr>
          <p:cNvSpPr>
            <a:spLocks noGrp="1"/>
          </p:cNvSpPr>
          <p:nvPr/>
        </p:nvSpPr>
        <p:spPr>
          <a:xfrm>
            <a:off x="7496175" y="4800600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FB15D315-9BC7-4872-88EB-5DDD73C5E50C}"/>
              </a:ext>
            </a:extLst>
          </p:cNvPr>
          <p:cNvSpPr>
            <a:spLocks noGrp="1"/>
          </p:cNvSpPr>
          <p:nvPr/>
        </p:nvSpPr>
        <p:spPr>
          <a:xfrm>
            <a:off x="7746873" y="4739164"/>
            <a:ext cx="38348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实际成果、具名检查器与效果回执</a:t>
            </a:r>
          </a:p>
        </p:txBody>
      </p:sp>
      <p:sp>
        <p:nvSpPr>
          <p:cNvPr id="64" name="Freeform 64">
            <a:extLst>
              <a:ext uri="{FF2B5EF4-FFF2-40B4-BE49-F238E27FC236}">
                <a16:creationId xmlns:a16="http://schemas.microsoft.com/office/drawing/2014/main" id="{94E56198-980B-40F3-9E91-812F469424F7}"/>
              </a:ext>
            </a:extLst>
          </p:cNvPr>
          <p:cNvSpPr>
            <a:spLocks noGrp="1"/>
          </p:cNvSpPr>
          <p:nvPr/>
        </p:nvSpPr>
        <p:spPr>
          <a:xfrm>
            <a:off x="7439025" y="5038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5" name="Freeform 65">
            <a:extLst>
              <a:ext uri="{FF2B5EF4-FFF2-40B4-BE49-F238E27FC236}">
                <a16:creationId xmlns:a16="http://schemas.microsoft.com/office/drawing/2014/main" id="{0D7C8A21-25C6-4DFC-B7AE-C42B5CAF75FB}"/>
              </a:ext>
            </a:extLst>
          </p:cNvPr>
          <p:cNvSpPr>
            <a:spLocks noGrp="1"/>
          </p:cNvSpPr>
          <p:nvPr/>
        </p:nvSpPr>
        <p:spPr>
          <a:xfrm>
            <a:off x="7496175" y="5105400"/>
            <a:ext cx="57150" cy="38100"/>
          </a:xfrm>
          <a:custGeom>
            <a:avLst/>
            <a:gdLst/>
            <a:ahLst/>
            <a:cxnLst/>
            <a:rect l="l" t="t" r="r" b="b"/>
            <a:pathLst>
              <a:path w="57150" h="38100">
                <a:moveTo>
                  <a:pt x="0" y="19050"/>
                </a:moveTo>
                <a:lnTo>
                  <a:pt x="19050" y="38100"/>
                </a:lnTo>
                <a:lnTo>
                  <a:pt x="57150" y="0"/>
                </a:lnTo>
              </a:path>
            </a:pathLst>
          </a:custGeom>
          <a:noFill/>
          <a:ln w="19050">
            <a:solidFill>
              <a:srgbClr val="2E7D32"/>
            </a:solidFill>
          </a:ln>
        </p:spPr>
      </p:sp>
      <p:sp>
        <p:nvSpPr>
          <p:cNvPr id="67" name="TextBox 67">
            <a:extLst>
              <a:ext uri="{FF2B5EF4-FFF2-40B4-BE49-F238E27FC236}">
                <a16:creationId xmlns:a16="http://schemas.microsoft.com/office/drawing/2014/main" id="{B9F2C0B8-858B-4F86-BE3B-8DC707EDE7F9}"/>
              </a:ext>
            </a:extLst>
          </p:cNvPr>
          <p:cNvSpPr>
            <a:spLocks noGrp="1"/>
          </p:cNvSpPr>
          <p:nvPr/>
        </p:nvSpPr>
        <p:spPr>
          <a:xfrm>
            <a:off x="7746873" y="5043964"/>
            <a:ext cx="330845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1B2733"/>
                </a:solidFill>
                <a:latin typeface="Segoe UI"/>
                <a:ea typeface="Segoe UI"/>
                <a:cs typeface="Segoe UI"/>
              </a:rPr>
              <a:t>前台明确展示“已生成”与“外部动作未发生”</a:t>
            </a:r>
          </a:p>
        </p:txBody>
      </p:sp>
      <p:sp>
        <p:nvSpPr>
          <p:cNvPr id="68" name="Freeform 68">
            <a:extLst>
              <a:ext uri="{FF2B5EF4-FFF2-40B4-BE49-F238E27FC236}">
                <a16:creationId xmlns:a16="http://schemas.microsoft.com/office/drawing/2014/main" id="{9A329A8D-DB2D-44E7-96B6-35C270792923}"/>
              </a:ext>
            </a:extLst>
          </p:cNvPr>
          <p:cNvSpPr>
            <a:spLocks noGrp="1"/>
          </p:cNvSpPr>
          <p:nvPr/>
        </p:nvSpPr>
        <p:spPr>
          <a:xfrm>
            <a:off x="7410450" y="5334000"/>
            <a:ext cx="4057650" cy="9525"/>
          </a:xfrm>
          <a:custGeom>
            <a:avLst/>
            <a:gdLst/>
            <a:ahLst/>
            <a:cxnLst/>
            <a:rect l="l" t="t" r="r" b="b"/>
            <a:pathLst>
              <a:path w="4057650" h="9525">
                <a:moveTo>
                  <a:pt x="0" y="0"/>
                </a:moveTo>
                <a:lnTo>
                  <a:pt x="4057650" y="0"/>
                </a:lnTo>
              </a:path>
            </a:pathLst>
          </a:custGeom>
          <a:noFill/>
          <a:ln w="19050">
            <a:solidFill>
              <a:srgbClr val="E3E8ED"/>
            </a:solidFill>
          </a:ln>
        </p:spPr>
      </p:sp>
      <p:sp>
        <p:nvSpPr>
          <p:cNvPr id="69" name="Freeform 69">
            <a:extLst>
              <a:ext uri="{FF2B5EF4-FFF2-40B4-BE49-F238E27FC236}">
                <a16:creationId xmlns:a16="http://schemas.microsoft.com/office/drawing/2014/main" id="{7A95E530-D627-42ED-92A3-149EF8BD6A5B}"/>
              </a:ext>
            </a:extLst>
          </p:cNvPr>
          <p:cNvSpPr>
            <a:spLocks noGrp="1"/>
          </p:cNvSpPr>
          <p:nvPr/>
        </p:nvSpPr>
        <p:spPr>
          <a:xfrm>
            <a:off x="7524750" y="55530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0" name="Freeform 70">
            <a:extLst>
              <a:ext uri="{FF2B5EF4-FFF2-40B4-BE49-F238E27FC236}">
                <a16:creationId xmlns:a16="http://schemas.microsoft.com/office/drawing/2014/main" id="{2F70D383-5BE0-49DC-8C24-9DD96915C351}"/>
              </a:ext>
            </a:extLst>
          </p:cNvPr>
          <p:cNvSpPr>
            <a:spLocks noGrp="1"/>
          </p:cNvSpPr>
          <p:nvPr/>
        </p:nvSpPr>
        <p:spPr>
          <a:xfrm>
            <a:off x="7428689" y="5492761"/>
            <a:ext cx="192114" cy="165051"/>
          </a:xfrm>
          <a:custGeom>
            <a:avLst/>
            <a:gdLst/>
            <a:ahLst/>
            <a:cxnLst/>
            <a:rect l="l" t="t" r="r" b="b"/>
            <a:pathLst>
              <a:path w="192114" h="165051">
                <a:moveTo>
                  <a:pt x="80468" y="8794"/>
                </a:moveTo>
                <a:lnTo>
                  <a:pt x="3259" y="137705"/>
                </a:lnTo>
                <a:cubicBezTo>
                  <a:pt x="20" y="143314"/>
                  <a:pt x="0" y="150220"/>
                  <a:pt x="3207" y="155848"/>
                </a:cubicBezTo>
                <a:cubicBezTo>
                  <a:pt x="6413" y="161475"/>
                  <a:pt x="12365" y="164979"/>
                  <a:pt x="18842" y="165051"/>
                </a:cubicBezTo>
                <a:lnTo>
                  <a:pt x="173280" y="165051"/>
                </a:lnTo>
                <a:cubicBezTo>
                  <a:pt x="179753" y="164977"/>
                  <a:pt x="185702" y="161474"/>
                  <a:pt x="188908" y="155850"/>
                </a:cubicBezTo>
                <a:cubicBezTo>
                  <a:pt x="192114" y="150226"/>
                  <a:pt x="192097" y="143323"/>
                  <a:pt x="188863" y="137715"/>
                </a:cubicBezTo>
                <a:lnTo>
                  <a:pt x="111653" y="8784"/>
                </a:lnTo>
                <a:cubicBezTo>
                  <a:pt x="108349" y="3331"/>
                  <a:pt x="102437" y="0"/>
                  <a:pt x="96061" y="0"/>
                </a:cubicBezTo>
                <a:cubicBezTo>
                  <a:pt x="89685" y="0"/>
                  <a:pt x="83772" y="3331"/>
                  <a:pt x="80468" y="8784"/>
                </a:cubicBez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1" name="Freeform 71">
            <a:extLst>
              <a:ext uri="{FF2B5EF4-FFF2-40B4-BE49-F238E27FC236}">
                <a16:creationId xmlns:a16="http://schemas.microsoft.com/office/drawing/2014/main" id="{C91FECD8-6A54-4EF3-9553-4E4D7C29D016}"/>
              </a:ext>
            </a:extLst>
          </p:cNvPr>
          <p:cNvSpPr>
            <a:spLocks noGrp="1"/>
          </p:cNvSpPr>
          <p:nvPr/>
        </p:nvSpPr>
        <p:spPr>
          <a:xfrm>
            <a:off x="7524750" y="56197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95" y="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7B9F545A-A7BF-4C16-B05C-2ACAC9909C38}"/>
              </a:ext>
            </a:extLst>
          </p:cNvPr>
          <p:cNvSpPr>
            <a:spLocks noGrp="1"/>
          </p:cNvSpPr>
          <p:nvPr/>
        </p:nvSpPr>
        <p:spPr>
          <a:xfrm>
            <a:off x="7746873" y="5482114"/>
            <a:ext cx="41288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B54708"/>
                </a:solidFill>
                <a:latin typeface="Segoe UI"/>
                <a:ea typeface="Segoe UI"/>
                <a:cs typeface="Segoe UI"/>
              </a:rPr>
              <a:t>生产连接器、身份授权与许可防重放仍未实现</a:t>
            </a: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E79D3001-583B-4146-AC72-F4E6487DFBAC}"/>
              </a:ext>
            </a:extLst>
          </p:cNvPr>
          <p:cNvSpPr>
            <a:spLocks noGrp="1"/>
          </p:cNvSpPr>
          <p:nvPr/>
        </p:nvSpPr>
        <p:spPr>
          <a:xfrm>
            <a:off x="7748016" y="5735002"/>
            <a:ext cx="34681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因此当前不执行真实付款、发送、CRM 或生产变更。</a:t>
            </a:r>
          </a:p>
        </p:txBody>
      </p:sp>
      <p:sp>
        <p:nvSpPr>
          <p:cNvPr id="76" name="Rectangle 76">
            <a:extLst>
              <a:ext uri="{FF2B5EF4-FFF2-40B4-BE49-F238E27FC236}">
                <a16:creationId xmlns:a16="http://schemas.microsoft.com/office/drawing/2014/main" id="{BA32825E-3A86-46F1-A05B-55DC4B4D4907}"/>
              </a:ext>
            </a:extLst>
          </p:cNvPr>
          <p:cNvSpPr>
            <a:spLocks noGrp="1"/>
          </p:cNvSpPr>
          <p:nvPr/>
        </p:nvSpPr>
        <p:spPr>
          <a:xfrm>
            <a:off x="495300" y="6153150"/>
            <a:ext cx="11201400" cy="266700"/>
          </a:xfrm>
          <a:prstGeom prst="roundRect">
            <a:avLst>
              <a:gd name="adj" fmla="val 21429"/>
            </a:avLst>
          </a:prstGeom>
          <a:solidFill>
            <a:srgbClr val="EDF1F4"/>
          </a:solidFill>
          <a:ln>
            <a:noFill/>
          </a:ln>
        </p:spPr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F876073E-9D78-451C-BFED-29D621853653}"/>
              </a:ext>
            </a:extLst>
          </p:cNvPr>
          <p:cNvSpPr>
            <a:spLocks noGrp="1"/>
          </p:cNvSpPr>
          <p:nvPr/>
        </p:nvSpPr>
        <p:spPr>
          <a:xfrm>
            <a:off x="2295839" y="6206014"/>
            <a:ext cx="76003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28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交互变化：按钮不再只写“确认”，而要说明对象、影响、可逆性、证据、风险级别和动作回执。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58AA9C16-9A97-4510-B541-7232EECEA95A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openai.github.io/.../human_in_the_loop/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5"/>
              </a:rPr>
              <a:t>modelcontextprotocol.io/.../elicitation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F8796FF5-31E3-4BCA-A0DA-BA1DE24799C5}"/>
              </a:ext>
            </a:extLst>
          </p:cNvPr>
          <p:cNvSpPr>
            <a:spLocks noGrp="1"/>
          </p:cNvSpPr>
          <p:nvPr/>
        </p:nvSpPr>
        <p:spPr>
          <a:xfrm>
            <a:off x="11217840" y="65922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23 / 24</a:t>
            </a:r>
          </a:p>
        </p:txBody>
      </p:sp>
    </p:spTree>
    <p:extLst>
      <p:ext uri="{BB962C8B-B14F-4D97-AF65-F5344CB8AC3E}">
        <p14:creationId xmlns:p14="http://schemas.microsoft.com/office/powerpoint/2010/main" val="1144846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3340765-02E3-487E-A413-230FFD301B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1FAB7EE-5998-4064-9D81-FE86195815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769E0"/>
          </a:solidFill>
          <a:ln>
            <a:noFill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A05774E-8A56-4128-AA2A-0A96E45EEB51}"/>
              </a:ext>
            </a:extLst>
          </p:cNvPr>
          <p:cNvSpPr>
            <a:spLocks noGrp="1"/>
          </p:cNvSpPr>
          <p:nvPr/>
        </p:nvSpPr>
        <p:spPr>
          <a:xfrm>
            <a:off x="477774" y="408622"/>
            <a:ext cx="898363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45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下一阶段：把 07-16 方向变成可证伪证据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7AC6E8D-8F19-480C-B8F7-7A26B86D493B}"/>
              </a:ext>
            </a:extLst>
          </p:cNvPr>
          <p:cNvSpPr>
            <a:spLocks noGrp="1"/>
          </p:cNvSpPr>
          <p:nvPr/>
        </p:nvSpPr>
        <p:spPr>
          <a:xfrm>
            <a:off x="486156" y="1005840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先闭合可信失败与恢复，再扩大业务效果和外部动作。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1A294C9-D6F9-49D1-85D6-A8D40B1E00CE}"/>
              </a:ext>
            </a:extLst>
          </p:cNvPr>
          <p:cNvSpPr>
            <a:spLocks noGrp="1"/>
          </p:cNvSpPr>
          <p:nvPr/>
        </p:nvSpPr>
        <p:spPr>
          <a:xfrm>
            <a:off x="495300" y="1962150"/>
            <a:ext cx="2114550" cy="2286000"/>
          </a:xfrm>
          <a:custGeom>
            <a:avLst/>
            <a:gdLst/>
            <a:ahLst/>
            <a:cxnLst/>
            <a:rect l="l" t="t" r="r" b="b"/>
            <a:pathLst>
              <a:path w="2114550" h="2286000">
                <a:moveTo>
                  <a:pt x="0" y="0"/>
                </a:moveTo>
                <a:lnTo>
                  <a:pt x="1828800" y="0"/>
                </a:lnTo>
                <a:lnTo>
                  <a:pt x="2114550" y="1143000"/>
                </a:lnTo>
                <a:lnTo>
                  <a:pt x="1828800" y="2286000"/>
                </a:lnTo>
                <a:lnTo>
                  <a:pt x="0" y="2286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8F1FF0-B7D6-4EB4-AC72-C2A5C5595C8B}"/>
              </a:ext>
            </a:extLst>
          </p:cNvPr>
          <p:cNvSpPr>
            <a:spLocks noGrp="1"/>
          </p:cNvSpPr>
          <p:nvPr/>
        </p:nvSpPr>
        <p:spPr>
          <a:xfrm>
            <a:off x="7364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62D40D1-BD5E-4DE4-AD6C-6AB88D80B85B}"/>
              </a:ext>
            </a:extLst>
          </p:cNvPr>
          <p:cNvSpPr>
            <a:spLocks noGrp="1"/>
          </p:cNvSpPr>
          <p:nvPr/>
        </p:nvSpPr>
        <p:spPr>
          <a:xfrm>
            <a:off x="733806" y="2586990"/>
            <a:ext cx="15956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原生定位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300AF82-8FE9-4600-91A8-1BB426DB9BD4}"/>
              </a:ext>
            </a:extLst>
          </p:cNvPr>
          <p:cNvSpPr>
            <a:spLocks noGrp="1"/>
          </p:cNvSpPr>
          <p:nvPr/>
        </p:nvSpPr>
        <p:spPr>
          <a:xfrm>
            <a:off x="736473" y="3005614"/>
            <a:ext cx="54795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PDF 页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BB0DD8-0E71-45C2-A96B-B9F5B7873042}"/>
              </a:ext>
            </a:extLst>
          </p:cNvPr>
          <p:cNvSpPr>
            <a:spLocks noGrp="1"/>
          </p:cNvSpPr>
          <p:nvPr/>
        </p:nvSpPr>
        <p:spPr>
          <a:xfrm>
            <a:off x="736473" y="3272314"/>
            <a:ext cx="5278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表格行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5B22AFF-EC8E-4CCD-9F42-CF476A354AB1}"/>
              </a:ext>
            </a:extLst>
          </p:cNvPr>
          <p:cNvSpPr>
            <a:spLocks noGrp="1"/>
          </p:cNvSpPr>
          <p:nvPr/>
        </p:nvSpPr>
        <p:spPr>
          <a:xfrm>
            <a:off x="736473" y="3539014"/>
            <a:ext cx="139466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正文块与来源版本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F5F529E-41A9-4386-A878-2CEE5D2A6B0F}"/>
              </a:ext>
            </a:extLst>
          </p:cNvPr>
          <p:cNvSpPr>
            <a:spLocks noGrp="1"/>
          </p:cNvSpPr>
          <p:nvPr/>
        </p:nvSpPr>
        <p:spPr>
          <a:xfrm>
            <a:off x="26098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769E0"/>
            </a:solidFill>
          </a:ln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E3EA9A8-2468-4521-9659-A21638F5B6F2}"/>
              </a:ext>
            </a:extLst>
          </p:cNvPr>
          <p:cNvSpPr>
            <a:spLocks noGrp="1"/>
          </p:cNvSpPr>
          <p:nvPr/>
        </p:nvSpPr>
        <p:spPr>
          <a:xfrm>
            <a:off x="29843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20B01D1-232A-4382-A089-65C27C6744A0}"/>
              </a:ext>
            </a:extLst>
          </p:cNvPr>
          <p:cNvSpPr>
            <a:spLocks noGrp="1"/>
          </p:cNvSpPr>
          <p:nvPr/>
        </p:nvSpPr>
        <p:spPr>
          <a:xfrm>
            <a:off x="2981706" y="25869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携证成果包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DB30605-6CEB-4EA6-8E29-55575C182B58}"/>
              </a:ext>
            </a:extLst>
          </p:cNvPr>
          <p:cNvSpPr>
            <a:spLocks noGrp="1"/>
          </p:cNvSpPr>
          <p:nvPr/>
        </p:nvSpPr>
        <p:spPr>
          <a:xfrm>
            <a:off x="2984373" y="3005614"/>
            <a:ext cx="73030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成果文件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12258EF-07B0-41EC-B318-31D8EE31CB48}"/>
              </a:ext>
            </a:extLst>
          </p:cNvPr>
          <p:cNvSpPr>
            <a:spLocks noGrp="1"/>
          </p:cNvSpPr>
          <p:nvPr/>
        </p:nvSpPr>
        <p:spPr>
          <a:xfrm>
            <a:off x="2984373" y="3272314"/>
            <a:ext cx="120758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效果回执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77471F2-A736-4E5E-A03A-D7ED22212AB0}"/>
              </a:ext>
            </a:extLst>
          </p:cNvPr>
          <p:cNvSpPr>
            <a:spLocks noGrp="1"/>
          </p:cNvSpPr>
          <p:nvPr/>
        </p:nvSpPr>
        <p:spPr>
          <a:xfrm>
            <a:off x="2984373" y="3539014"/>
            <a:ext cx="14976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来源记录与边界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FBA1869-FF08-4BE7-9E25-47109E4A085C}"/>
              </a:ext>
            </a:extLst>
          </p:cNvPr>
          <p:cNvSpPr>
            <a:spLocks noGrp="1"/>
          </p:cNvSpPr>
          <p:nvPr/>
        </p:nvSpPr>
        <p:spPr>
          <a:xfrm>
            <a:off x="46291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1769E0"/>
            </a:solidFill>
          </a:ln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573D6DE-D6B1-499A-8EE5-B177B86FE9D9}"/>
              </a:ext>
            </a:extLst>
          </p:cNvPr>
          <p:cNvSpPr>
            <a:spLocks noGrp="1"/>
          </p:cNvSpPr>
          <p:nvPr/>
        </p:nvSpPr>
        <p:spPr>
          <a:xfrm>
            <a:off x="50036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1769E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25BE4A0-051C-4F18-90F8-3C343C9BFEB0}"/>
              </a:ext>
            </a:extLst>
          </p:cNvPr>
          <p:cNvSpPr>
            <a:spLocks noGrp="1"/>
          </p:cNvSpPr>
          <p:nvPr/>
        </p:nvSpPr>
        <p:spPr>
          <a:xfrm>
            <a:off x="5001006" y="2586990"/>
            <a:ext cx="160692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业务检查器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9DC5A57-CE1C-4079-A592-2ED30F506853}"/>
              </a:ext>
            </a:extLst>
          </p:cNvPr>
          <p:cNvSpPr>
            <a:spLocks noGrp="1"/>
          </p:cNvSpPr>
          <p:nvPr/>
        </p:nvSpPr>
        <p:spPr>
          <a:xfrm>
            <a:off x="5003673" y="30056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从固定适配器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2BC45D4-AB2E-47A2-A9C9-8A66E9F4285C}"/>
              </a:ext>
            </a:extLst>
          </p:cNvPr>
          <p:cNvSpPr>
            <a:spLocks noGrp="1"/>
          </p:cNvSpPr>
          <p:nvPr/>
        </p:nvSpPr>
        <p:spPr>
          <a:xfrm>
            <a:off x="5003673" y="32723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扩展到可配置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CA838B4-4A43-4974-916B-B315B971D0E6}"/>
              </a:ext>
            </a:extLst>
          </p:cNvPr>
          <p:cNvSpPr>
            <a:spLocks noGrp="1"/>
          </p:cNvSpPr>
          <p:nvPr/>
        </p:nvSpPr>
        <p:spPr>
          <a:xfrm>
            <a:off x="5003673" y="3539014"/>
            <a:ext cx="121443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数值与语义规则</a:t>
            </a: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B456EED9-9DC7-4D52-A854-66C2F41721C5}"/>
              </a:ext>
            </a:extLst>
          </p:cNvPr>
          <p:cNvSpPr>
            <a:spLocks noGrp="1"/>
          </p:cNvSpPr>
          <p:nvPr/>
        </p:nvSpPr>
        <p:spPr>
          <a:xfrm>
            <a:off x="6648450" y="1962150"/>
            <a:ext cx="2019300" cy="2286000"/>
          </a:xfrm>
          <a:custGeom>
            <a:avLst/>
            <a:gdLst/>
            <a:ahLst/>
            <a:cxnLst/>
            <a:rect l="l" t="t" r="r" b="b"/>
            <a:pathLst>
              <a:path w="2019300" h="2286000">
                <a:moveTo>
                  <a:pt x="0" y="0"/>
                </a:moveTo>
                <a:lnTo>
                  <a:pt x="1733550" y="0"/>
                </a:lnTo>
                <a:lnTo>
                  <a:pt x="2019300" y="1143000"/>
                </a:lnTo>
                <a:lnTo>
                  <a:pt x="17335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D97706"/>
            </a:solidFill>
          </a:ln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810FC60-261A-4F89-96E8-B38D7E9768D4}"/>
              </a:ext>
            </a:extLst>
          </p:cNvPr>
          <p:cNvSpPr>
            <a:spLocks noGrp="1"/>
          </p:cNvSpPr>
          <p:nvPr/>
        </p:nvSpPr>
        <p:spPr>
          <a:xfrm>
            <a:off x="70229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99E7861-D75F-4CD7-95BD-8E487D0C25F8}"/>
              </a:ext>
            </a:extLst>
          </p:cNvPr>
          <p:cNvSpPr>
            <a:spLocks noGrp="1"/>
          </p:cNvSpPr>
          <p:nvPr/>
        </p:nvSpPr>
        <p:spPr>
          <a:xfrm>
            <a:off x="7020306" y="25869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调度与动作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38A4808-FAE0-45BA-B811-FB835987E57E}"/>
              </a:ext>
            </a:extLst>
          </p:cNvPr>
          <p:cNvSpPr>
            <a:spLocks noGrp="1"/>
          </p:cNvSpPr>
          <p:nvPr/>
        </p:nvSpPr>
        <p:spPr>
          <a:xfrm>
            <a:off x="6833235" y="3021806"/>
            <a:ext cx="1690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任务队列、租约与执行单元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68FC0FA-70EF-41A0-B8B7-EDC615367DEB}"/>
              </a:ext>
            </a:extLst>
          </p:cNvPr>
          <p:cNvSpPr>
            <a:spLocks noGrp="1"/>
          </p:cNvSpPr>
          <p:nvPr/>
        </p:nvSpPr>
        <p:spPr>
          <a:xfrm>
            <a:off x="6833997" y="3304699"/>
            <a:ext cx="165862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9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工具、外部连接器与执行许可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C219B0B-1304-41CF-8821-EDB1E5D91830}"/>
              </a:ext>
            </a:extLst>
          </p:cNvPr>
          <p:cNvSpPr>
            <a:spLocks noGrp="1"/>
          </p:cNvSpPr>
          <p:nvPr/>
        </p:nvSpPr>
        <p:spPr>
          <a:xfrm>
            <a:off x="6832473" y="353901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幂等回执</a:t>
            </a:r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3F48A83B-EC1D-467C-8C90-0A54CC36E92C}"/>
              </a:ext>
            </a:extLst>
          </p:cNvPr>
          <p:cNvSpPr>
            <a:spLocks noGrp="1"/>
          </p:cNvSpPr>
          <p:nvPr/>
        </p:nvSpPr>
        <p:spPr>
          <a:xfrm>
            <a:off x="8667750" y="1962150"/>
            <a:ext cx="1981200" cy="2286000"/>
          </a:xfrm>
          <a:custGeom>
            <a:avLst/>
            <a:gdLst/>
            <a:ahLst/>
            <a:cxnLst/>
            <a:rect l="l" t="t" r="r" b="b"/>
            <a:pathLst>
              <a:path w="1981200" h="2286000">
                <a:moveTo>
                  <a:pt x="0" y="0"/>
                </a:moveTo>
                <a:lnTo>
                  <a:pt x="1695450" y="0"/>
                </a:lnTo>
                <a:lnTo>
                  <a:pt x="1981200" y="1143000"/>
                </a:lnTo>
                <a:lnTo>
                  <a:pt x="16954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EDF1F4"/>
          </a:solidFill>
          <a:ln w="19050">
            <a:solidFill>
              <a:srgbClr val="D97706"/>
            </a:solidFill>
          </a:ln>
        </p:spPr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9CD4051-9222-41CF-BF52-27DD8E638BD1}"/>
              </a:ext>
            </a:extLst>
          </p:cNvPr>
          <p:cNvSpPr>
            <a:spLocks noGrp="1"/>
          </p:cNvSpPr>
          <p:nvPr/>
        </p:nvSpPr>
        <p:spPr>
          <a:xfrm>
            <a:off x="9042273" y="2262664"/>
            <a:ext cx="2111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B5470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205D66C4-84E0-4863-82C1-86D5EE350D0F}"/>
              </a:ext>
            </a:extLst>
          </p:cNvPr>
          <p:cNvSpPr>
            <a:spLocks noGrp="1"/>
          </p:cNvSpPr>
          <p:nvPr/>
        </p:nvSpPr>
        <p:spPr>
          <a:xfrm>
            <a:off x="9039606" y="25869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同场挑战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47EEAE5-BD8F-4C48-9920-D5DCED4659A7}"/>
              </a:ext>
            </a:extLst>
          </p:cNvPr>
          <p:cNvSpPr>
            <a:spLocks noGrp="1"/>
          </p:cNvSpPr>
          <p:nvPr/>
        </p:nvSpPr>
        <p:spPr>
          <a:xfrm>
            <a:off x="9042273" y="3005614"/>
            <a:ext cx="157488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固定任务、模型与来源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6F8C899-3B83-40A6-B346-02083EBC2017}"/>
              </a:ext>
            </a:extLst>
          </p:cNvPr>
          <p:cNvSpPr>
            <a:spLocks noGrp="1"/>
          </p:cNvSpPr>
          <p:nvPr/>
        </p:nvSpPr>
        <p:spPr>
          <a:xfrm>
            <a:off x="9042273" y="3272314"/>
            <a:ext cx="699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同条件方案实测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649B262E-A6D9-426C-B11E-C5C3B52E6375}"/>
              </a:ext>
            </a:extLst>
          </p:cNvPr>
          <p:cNvSpPr>
            <a:spLocks noGrp="1"/>
          </p:cNvSpPr>
          <p:nvPr/>
        </p:nvSpPr>
        <p:spPr>
          <a:xfrm>
            <a:off x="9042273" y="3539014"/>
            <a:ext cx="104279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>
                <a:solidFill>
                  <a:srgbClr val="5A6B7C"/>
                </a:solidFill>
                <a:latin typeface="Segoe UI"/>
                <a:ea typeface="Segoe UI"/>
                <a:cs typeface="Segoe UI"/>
              </a:rPr>
              <a:t>目标用户研究</a:t>
            </a:r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E93D5090-6DE1-486B-B94C-EC949DA23B56}"/>
              </a:ext>
            </a:extLst>
          </p:cNvPr>
          <p:cNvSpPr>
            <a:spLocks noGrp="1"/>
          </p:cNvSpPr>
          <p:nvPr/>
        </p:nvSpPr>
        <p:spPr>
          <a:xfrm>
            <a:off x="10648950" y="1962150"/>
            <a:ext cx="1047750" cy="2286000"/>
          </a:xfrm>
          <a:custGeom>
            <a:avLst/>
            <a:gdLst/>
            <a:ahLst/>
            <a:cxnLst/>
            <a:rect l="l" t="t" r="r" b="b"/>
            <a:pathLst>
              <a:path w="1047750" h="2286000">
                <a:moveTo>
                  <a:pt x="0" y="0"/>
                </a:moveTo>
                <a:lnTo>
                  <a:pt x="1047750" y="0"/>
                </a:lnTo>
                <a:lnTo>
                  <a:pt x="1047750" y="2286000"/>
                </a:lnTo>
                <a:lnTo>
                  <a:pt x="0" y="2286000"/>
                </a:lnTo>
                <a:lnTo>
                  <a:pt x="285750" y="1143000"/>
                </a:lnTo>
                <a:close/>
              </a:path>
            </a:pathLst>
          </a:custGeom>
          <a:solidFill>
            <a:srgbClr val="132A3A"/>
          </a:solidFill>
          <a:ln>
            <a:noFill/>
          </a:ln>
        </p:spPr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D07B5480-8986-423A-A636-A2ED527D376B}"/>
              </a:ext>
            </a:extLst>
          </p:cNvPr>
          <p:cNvSpPr>
            <a:spLocks noGrp="1"/>
          </p:cNvSpPr>
          <p:nvPr/>
        </p:nvSpPr>
        <p:spPr>
          <a:xfrm>
            <a:off x="10791558" y="2491740"/>
            <a:ext cx="7815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已验证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AEC813A-275C-4D7F-B87F-ED87DC548496}"/>
              </a:ext>
            </a:extLst>
          </p:cNvPr>
          <p:cNvSpPr>
            <a:spLocks noGrp="1"/>
          </p:cNvSpPr>
          <p:nvPr/>
        </p:nvSpPr>
        <p:spPr>
          <a:xfrm>
            <a:off x="10918774" y="28155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差异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91DADFD-2DF6-4C99-A160-4A3410A5FA05}"/>
              </a:ext>
            </a:extLst>
          </p:cNvPr>
          <p:cNvSpPr>
            <a:spLocks noGrp="1"/>
          </p:cNvSpPr>
          <p:nvPr/>
        </p:nvSpPr>
        <p:spPr>
          <a:xfrm>
            <a:off x="10894314" y="33728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通过门后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C352298B-7459-4219-B81C-6379544E37A4}"/>
              </a:ext>
            </a:extLst>
          </p:cNvPr>
          <p:cNvSpPr>
            <a:spLocks noGrp="1"/>
          </p:cNvSpPr>
          <p:nvPr/>
        </p:nvSpPr>
        <p:spPr>
          <a:xfrm>
            <a:off x="10752963" y="3601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rgbClr val="CBD5DF"/>
                </a:solidFill>
                <a:latin typeface="Segoe UI"/>
                <a:ea typeface="Segoe UI"/>
                <a:cs typeface="Segoe UI"/>
              </a:rPr>
              <a:t>才可升级结论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5700D40A-C940-4C93-8DD0-C78D13AB44D8}"/>
              </a:ext>
            </a:extLst>
          </p:cNvPr>
          <p:cNvSpPr>
            <a:spLocks noGrp="1"/>
          </p:cNvSpPr>
          <p:nvPr/>
        </p:nvSpPr>
        <p:spPr>
          <a:xfrm>
            <a:off x="483108" y="4712970"/>
            <a:ext cx="605649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32A3A"/>
                </a:solidFill>
                <a:latin typeface="Segoe UI Semibold"/>
                <a:ea typeface="Segoe UI Semibold"/>
                <a:cs typeface="Segoe UI Semibold"/>
              </a:rPr>
              <a:t>办公智能体的产品，不是一段回答；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7E3D6893-2FC2-4026-BA41-70E22991998A}"/>
              </a:ext>
            </a:extLst>
          </p:cNvPr>
          <p:cNvSpPr>
            <a:spLocks noGrp="1"/>
          </p:cNvSpPr>
          <p:nvPr/>
        </p:nvSpPr>
        <p:spPr>
          <a:xfrm>
            <a:off x="483108" y="5132070"/>
            <a:ext cx="782695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400" b="1">
                <a:solidFill>
                  <a:srgbClr val="1769E0"/>
                </a:solidFill>
                <a:latin typeface="Segoe UI Semibold"/>
                <a:ea typeface="Segoe UI Semibold"/>
                <a:cs typeface="Segoe UI Semibold"/>
              </a:rPr>
              <a:t>而是一份可复核、可恢复、可追责的当前工作结论。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EC1FF49E-2D33-4296-8783-0FC14BA0C6AA}"/>
              </a:ext>
            </a:extLst>
          </p:cNvPr>
          <p:cNvSpPr>
            <a:spLocks noGrp="1"/>
          </p:cNvSpPr>
          <p:nvPr/>
        </p:nvSpPr>
        <p:spPr>
          <a:xfrm>
            <a:off x="495300" y="63246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</a:pP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依据：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3"/>
              </a:rPr>
              <a:t>w3.org/TR/prov-o/</a:t>
            </a:r>
            <a:r>
              <a:rPr sz="1163">
                <a:solidFill>
                  <a:srgbClr val="52667A"/>
                </a:solidFill>
                <a:latin typeface="Segoe UI"/>
                <a:ea typeface="Segoe UI"/>
                <a:cs typeface="Segoe UI"/>
              </a:rPr>
              <a:t>  ·  </a:t>
            </a:r>
            <a:r>
              <a:rPr sz="1163" u="sng">
                <a:solidFill>
                  <a:srgbClr val="1769D2"/>
                </a:solidFill>
                <a:latin typeface="Segoe UI"/>
                <a:ea typeface="Segoe UI"/>
                <a:cs typeface="Segoe UI"/>
                <a:hlinkClick r:id="rId4"/>
              </a:rPr>
              <a:t>research.google/.../user-experience-metrics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8F63DBBD-5DA9-4118-A5ED-0024B289BF74}"/>
              </a:ext>
            </a:extLst>
          </p:cNvPr>
          <p:cNvSpPr>
            <a:spLocks noGrp="1"/>
          </p:cNvSpPr>
          <p:nvPr/>
        </p:nvSpPr>
        <p:spPr>
          <a:xfrm>
            <a:off x="11217840" y="6458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050">
                <a:solidFill>
                  <a:srgbClr val="7C8A98"/>
                </a:solidFill>
                <a:latin typeface="Consolas"/>
                <a:ea typeface="Consolas"/>
                <a:cs typeface="Consolas"/>
              </a:rPr>
              <a:t>24 / 24</a:t>
            </a:r>
          </a:p>
        </p:txBody>
      </p:sp>
    </p:spTree>
    <p:extLst>
      <p:ext uri="{BB962C8B-B14F-4D97-AF65-F5344CB8AC3E}">
        <p14:creationId xmlns:p14="http://schemas.microsoft.com/office/powerpoint/2010/main" val="27514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5816</Words>
  <Application>Microsoft Office PowerPoint</Application>
  <DocSecurity>0</DocSecurity>
  <PresentationFormat>宽屏</PresentationFormat>
  <Paragraphs>798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Calibri</vt:lpstr>
      <vt:lpstr>Consolas</vt:lpstr>
      <vt:lpstr>Segoe UI</vt:lpstr>
      <vt:lpstr>Segoe UI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 王</cp:lastModifiedBy>
  <cp:revision>1</cp:revision>
  <dcterms:created xsi:type="dcterms:W3CDTF">2026-09-02T05:41:35Z</dcterms:created>
  <dcterms:modified xsi:type="dcterms:W3CDTF">2026-09-02T05:56:04Z</dcterms:modified>
</cp:coreProperties>
</file>
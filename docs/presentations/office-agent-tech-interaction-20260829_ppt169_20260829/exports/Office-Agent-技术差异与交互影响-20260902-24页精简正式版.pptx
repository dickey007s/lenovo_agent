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fa9a2a3499458e" /><Relationship Type="http://schemas.openxmlformats.org/officeDocument/2006/relationships/extended-properties" Target="/docProps/app.xml" Id="R3e42e2b9d057480d" /><Relationship Type="http://schemas.openxmlformats.org/officeDocument/2006/relationships/officeDocument" Target="/ppt/presentation.xml" Id="Rf005ae3bdd8e48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2555e1d13b4760"/>
  </p:sldMasterIdLst>
  <p:notesMasterIdLst>
    <p:notesMasterId xmlns:r="http://schemas.openxmlformats.org/officeDocument/2006/relationships" r:id="R22677ec7dc964f97"/>
  </p:notesMasterIdLst>
  <p:sldIdLst>
    <p:sldId xmlns:r="http://schemas.openxmlformats.org/officeDocument/2006/relationships" id="256" r:id="R5c4e3e22e4544602"/>
    <p:sldId xmlns:r="http://schemas.openxmlformats.org/officeDocument/2006/relationships" id="257" r:id="Rf5672f29d35f4613"/>
    <p:sldId xmlns:r="http://schemas.openxmlformats.org/officeDocument/2006/relationships" id="258" r:id="R728e5ed32e154dea"/>
    <p:sldId xmlns:r="http://schemas.openxmlformats.org/officeDocument/2006/relationships" id="259" r:id="R97fdb032c9ef41de"/>
    <p:sldId xmlns:r="http://schemas.openxmlformats.org/officeDocument/2006/relationships" id="260" r:id="R8630a3b7353e4d22"/>
    <p:sldId xmlns:r="http://schemas.openxmlformats.org/officeDocument/2006/relationships" id="261" r:id="Rc63764748d2e4caa"/>
    <p:sldId xmlns:r="http://schemas.openxmlformats.org/officeDocument/2006/relationships" id="262" r:id="R0e2ea2db72ba46dd"/>
    <p:sldId xmlns:r="http://schemas.openxmlformats.org/officeDocument/2006/relationships" id="263" r:id="R7fca1bd8589b44d7"/>
    <p:sldId xmlns:r="http://schemas.openxmlformats.org/officeDocument/2006/relationships" id="264" r:id="R920a2b15f5b546c9"/>
    <p:sldId xmlns:r="http://schemas.openxmlformats.org/officeDocument/2006/relationships" id="265" r:id="R97e5acab2c0e4842"/>
    <p:sldId xmlns:r="http://schemas.openxmlformats.org/officeDocument/2006/relationships" id="266" r:id="Rb84118f3ab3e48ef"/>
    <p:sldId xmlns:r="http://schemas.openxmlformats.org/officeDocument/2006/relationships" id="267" r:id="Reab2d665e8e74a35"/>
    <p:sldId xmlns:r="http://schemas.openxmlformats.org/officeDocument/2006/relationships" id="268" r:id="R9a7f17c3b6f74e50"/>
    <p:sldId xmlns:r="http://schemas.openxmlformats.org/officeDocument/2006/relationships" id="269" r:id="R8d696d80412241b0"/>
    <p:sldId xmlns:r="http://schemas.openxmlformats.org/officeDocument/2006/relationships" id="270" r:id="R324dd9c2ca64408b"/>
    <p:sldId xmlns:r="http://schemas.openxmlformats.org/officeDocument/2006/relationships" id="271" r:id="R0a09348d1bf84571"/>
    <p:sldId xmlns:r="http://schemas.openxmlformats.org/officeDocument/2006/relationships" id="272" r:id="R063981bf7da34b11"/>
    <p:sldId xmlns:r="http://schemas.openxmlformats.org/officeDocument/2006/relationships" id="273" r:id="Ra53644365542421e"/>
    <p:sldId xmlns:r="http://schemas.openxmlformats.org/officeDocument/2006/relationships" id="274" r:id="R6913319c443141e0"/>
    <p:sldId xmlns:r="http://schemas.openxmlformats.org/officeDocument/2006/relationships" id="275" r:id="Rfa1c3d0a43954733"/>
    <p:sldId xmlns:r="http://schemas.openxmlformats.org/officeDocument/2006/relationships" id="276" r:id="Rba8670355088474e"/>
    <p:sldId xmlns:r="http://schemas.openxmlformats.org/officeDocument/2006/relationships" id="277" r:id="Rf8a5364c730f4b8e"/>
    <p:sldId xmlns:r="http://schemas.openxmlformats.org/officeDocument/2006/relationships" id="278" r:id="Rbbb6439a1133488b"/>
    <p:sldId xmlns:r="http://schemas.openxmlformats.org/officeDocument/2006/relationships" id="279" r:id="Rcbe4956342774c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94de24e9d240bd" /><Relationship Type="http://schemas.openxmlformats.org/officeDocument/2006/relationships/slideMaster" Target="/ppt/slideMasters/slideMaster1.xml" Id="R8b2555e1d13b4760" /><Relationship Type="http://schemas.openxmlformats.org/officeDocument/2006/relationships/notesMaster" Target="/ppt/notesMasters/notesMaster1.xml" Id="R22677ec7dc964f97" /><Relationship Type="http://schemas.openxmlformats.org/officeDocument/2006/relationships/presProps" Target="/ppt/presProps.xml" Id="R1b461a69e7364847" /><Relationship Type="http://schemas.openxmlformats.org/officeDocument/2006/relationships/viewProps" Target="/ppt/viewProps.xml" Id="R032b2ed33dec4a6d" /><Relationship Type="http://schemas.openxmlformats.org/officeDocument/2006/relationships/tableStyles" Target="/ppt/tableStyles.xml" Id="Racaf6ec57cd94292" /><Relationship Type="http://schemas.openxmlformats.org/officeDocument/2006/relationships/slide" Target="/ppt/slides/slide1.xml" Id="R5c4e3e22e4544602" /><Relationship Type="http://schemas.openxmlformats.org/officeDocument/2006/relationships/slide" Target="/ppt/slides/slide2.xml" Id="Rf5672f29d35f4613" /><Relationship Type="http://schemas.openxmlformats.org/officeDocument/2006/relationships/slide" Target="/ppt/slides/slide3.xml" Id="R728e5ed32e154dea" /><Relationship Type="http://schemas.openxmlformats.org/officeDocument/2006/relationships/slide" Target="/ppt/slides/slide4.xml" Id="R97fdb032c9ef41de" /><Relationship Type="http://schemas.openxmlformats.org/officeDocument/2006/relationships/slide" Target="/ppt/slides/slide5.xml" Id="R8630a3b7353e4d22" /><Relationship Type="http://schemas.openxmlformats.org/officeDocument/2006/relationships/slide" Target="/ppt/slides/slide6.xml" Id="Rc63764748d2e4caa" /><Relationship Type="http://schemas.openxmlformats.org/officeDocument/2006/relationships/slide" Target="/ppt/slides/slide7.xml" Id="R0e2ea2db72ba46dd" /><Relationship Type="http://schemas.openxmlformats.org/officeDocument/2006/relationships/slide" Target="/ppt/slides/slide8.xml" Id="R7fca1bd8589b44d7" /><Relationship Type="http://schemas.openxmlformats.org/officeDocument/2006/relationships/slide" Target="/ppt/slides/slide9.xml" Id="R920a2b15f5b546c9" /><Relationship Type="http://schemas.openxmlformats.org/officeDocument/2006/relationships/slide" Target="/ppt/slides/slide10.xml" Id="R97e5acab2c0e4842" /><Relationship Type="http://schemas.openxmlformats.org/officeDocument/2006/relationships/slide" Target="/ppt/slides/slide11.xml" Id="Rb84118f3ab3e48ef" /><Relationship Type="http://schemas.openxmlformats.org/officeDocument/2006/relationships/slide" Target="/ppt/slides/slide12.xml" Id="Reab2d665e8e74a35" /><Relationship Type="http://schemas.openxmlformats.org/officeDocument/2006/relationships/slide" Target="/ppt/slides/slide13.xml" Id="R9a7f17c3b6f74e50" /><Relationship Type="http://schemas.openxmlformats.org/officeDocument/2006/relationships/slide" Target="/ppt/slides/slide14.xml" Id="R8d696d80412241b0" /><Relationship Type="http://schemas.openxmlformats.org/officeDocument/2006/relationships/slide" Target="/ppt/slides/slide15.xml" Id="R324dd9c2ca64408b" /><Relationship Type="http://schemas.openxmlformats.org/officeDocument/2006/relationships/slide" Target="/ppt/slides/slide16.xml" Id="R0a09348d1bf84571" /><Relationship Type="http://schemas.openxmlformats.org/officeDocument/2006/relationships/slide" Target="/ppt/slides/slide17.xml" Id="R063981bf7da34b11" /><Relationship Type="http://schemas.openxmlformats.org/officeDocument/2006/relationships/slide" Target="/ppt/slides/slide18.xml" Id="Ra53644365542421e" /><Relationship Type="http://schemas.openxmlformats.org/officeDocument/2006/relationships/slide" Target="/ppt/slides/slide19.xml" Id="R6913319c443141e0" /><Relationship Type="http://schemas.openxmlformats.org/officeDocument/2006/relationships/slide" Target="/ppt/slides/slide20.xml" Id="Rfa1c3d0a43954733" /><Relationship Type="http://schemas.openxmlformats.org/officeDocument/2006/relationships/slide" Target="/ppt/slides/slide21.xml" Id="Rba8670355088474e" /><Relationship Type="http://schemas.openxmlformats.org/officeDocument/2006/relationships/slide" Target="/ppt/slides/slide22.xml" Id="Rf8a5364c730f4b8e" /><Relationship Type="http://schemas.openxmlformats.org/officeDocument/2006/relationships/slide" Target="/ppt/slides/slide23.xml" Id="Rbbb6439a1133488b" /><Relationship Type="http://schemas.openxmlformats.org/officeDocument/2006/relationships/slide" Target="/ppt/slides/slide24.xml" Id="Rcbe4956342774c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6b59d5e40245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54f00667194c8b" /><Relationship Type="http://schemas.openxmlformats.org/officeDocument/2006/relationships/notesMaster" Target="/ppt/notesMasters/notesMaster1.xml" Id="R0a210021a26e48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6bfa628ca146d6" /><Relationship Type="http://schemas.openxmlformats.org/officeDocument/2006/relationships/notesMaster" Target="/ppt/notesMasters/notesMaster1.xml" Id="R590f24336cfe4f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33823e7cd2490e" /><Relationship Type="http://schemas.openxmlformats.org/officeDocument/2006/relationships/notesMaster" Target="/ppt/notesMasters/notesMaster1.xml" Id="R8015fd6123ee46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89b224059a4dd8" /><Relationship Type="http://schemas.openxmlformats.org/officeDocument/2006/relationships/notesMaster" Target="/ppt/notesMasters/notesMaster1.xml" Id="Rd9a26834871a43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90017089384c87" /><Relationship Type="http://schemas.openxmlformats.org/officeDocument/2006/relationships/notesMaster" Target="/ppt/notesMasters/notesMaster1.xml" Id="Rd0a7df991bb241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0022c389ff47cf" /><Relationship Type="http://schemas.openxmlformats.org/officeDocument/2006/relationships/notesMaster" Target="/ppt/notesMasters/notesMaster1.xml" Id="R4eb8508e2b484c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daa1152f524636" /><Relationship Type="http://schemas.openxmlformats.org/officeDocument/2006/relationships/notesMaster" Target="/ppt/notesMasters/notesMaster1.xml" Id="R170eb3e6466349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02974756b24226" /><Relationship Type="http://schemas.openxmlformats.org/officeDocument/2006/relationships/notesMaster" Target="/ppt/notesMasters/notesMaster1.xml" Id="R7f1db4d027704e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c8570a309945c0" /><Relationship Type="http://schemas.openxmlformats.org/officeDocument/2006/relationships/notesMaster" Target="/ppt/notesMasters/notesMaster1.xml" Id="R07aabc564e7443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cd06ea5f164b45" /><Relationship Type="http://schemas.openxmlformats.org/officeDocument/2006/relationships/notesMaster" Target="/ppt/notesMasters/notesMaster1.xml" Id="Rab51513794ea440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da8777e2204179" /><Relationship Type="http://schemas.openxmlformats.org/officeDocument/2006/relationships/notesMaster" Target="/ppt/notesMasters/notesMaster1.xml" Id="R6bf8838c8752434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b3059233545484c" /><Relationship Type="http://schemas.openxmlformats.org/officeDocument/2006/relationships/notesMaster" Target="/ppt/notesMasters/notesMaster1.xml" Id="Radcf8278c39b4ed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0d9deab40fd4be8" /><Relationship Type="http://schemas.openxmlformats.org/officeDocument/2006/relationships/notesMaster" Target="/ppt/notesMasters/notesMaster1.xml" Id="R24bd8d2ae52a49e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58ba3c0273f4087" /><Relationship Type="http://schemas.openxmlformats.org/officeDocument/2006/relationships/notesMaster" Target="/ppt/notesMasters/notesMaster1.xml" Id="R432c0c04471141d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eb60276356946da" /><Relationship Type="http://schemas.openxmlformats.org/officeDocument/2006/relationships/notesMaster" Target="/ppt/notesMasters/notesMaster1.xml" Id="R61c8e340da124d2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0d80d20b0944f17" /><Relationship Type="http://schemas.openxmlformats.org/officeDocument/2006/relationships/notesMaster" Target="/ppt/notesMasters/notesMaster1.xml" Id="Rbe7764ce0e14416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fb76bc6c87d4842" /><Relationship Type="http://schemas.openxmlformats.org/officeDocument/2006/relationships/notesMaster" Target="/ppt/notesMasters/notesMaster1.xml" Id="Raf090423c10a4c0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02d831f35184501" /><Relationship Type="http://schemas.openxmlformats.org/officeDocument/2006/relationships/notesMaster" Target="/ppt/notesMasters/notesMaster1.xml" Id="Rba341f864c88449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f3fb3a20d6e4607" /><Relationship Type="http://schemas.openxmlformats.org/officeDocument/2006/relationships/notesMaster" Target="/ppt/notesMasters/notesMaster1.xml" Id="R23121c576b384bf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c905fbc2a454e53" /><Relationship Type="http://schemas.openxmlformats.org/officeDocument/2006/relationships/notesMaster" Target="/ppt/notesMasters/notesMaster1.xml" Id="R0142938123694ab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4d55b863b2f461d" /><Relationship Type="http://schemas.openxmlformats.org/officeDocument/2006/relationships/notesMaster" Target="/ppt/notesMasters/notesMaster1.xml" Id="Rc496346d26fe43e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8debcb1682c43f7" /><Relationship Type="http://schemas.openxmlformats.org/officeDocument/2006/relationships/notesMaster" Target="/ppt/notesMasters/notesMaster1.xml" Id="Reddd90f51af74cf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066b79ad43948e1" /><Relationship Type="http://schemas.openxmlformats.org/officeDocument/2006/relationships/notesMaster" Target="/ppt/notesMasters/notesMaster1.xml" Id="R7348dd0e50204d3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aab6b6880cd4eb3" /><Relationship Type="http://schemas.openxmlformats.org/officeDocument/2006/relationships/notesMaster" Target="/ppt/notesMasters/notesMaster1.xml" Id="R34963dba303343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这次汇报大部分内容沿用 07-16 的主线：未来办公 Agent 不是把聊天做得更长，而是让工作在持续、协作、治理和交付四个方向上收敛。右侧换成当前 Agent 能力页的真实运行截图；它把任务进展、协作方式和证据核对按需展开。15 个目录、96 份输入文件仍是这条能力链的固定办公资料环境。今天新增的重点只有两个：第一，主流方案现在发展到哪里；第二，技术差异怎样具体改变用户动作和前台反馈。当前截图来自公开 FORTE 固定数据，不是企业生产环境，也不证明用户价值。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转场：先看 07-16 的三个 Demo 分工在当前版本里发生了什么变化。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证据/边界：当前系统实测；不把截图当作正式用户研究。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预期问题：这次相对 07-16 到底新增了什么，而不是换了一套说法？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07-16 把三个 Demo 分成时间连续性、复杂任务组织和动作风险。这个分工保留不变。当前版本真正补上的，是把每个演示的进展落到资料范围、分支证据门、工作包依赖、贡献采用、成果文件和未执行边界。Demo 2 不再只有目标框图：服务端可以编译受控工作包依赖图，并以单进程、顺序批次、每批最多三个只读执行单元形成有限纵切；它仍不是分布式协作运行时。对用户而言，界面不再只说 Agent 正在运行，而要说明为什么停、从哪里继续、谁依赖谁、哪一批需要确认、确认后会改变什么。这里的设计依据来自 Microsoft HAI Guidelines 对能力边界、上下文和纠正控制的要求，以及 ReAct 对环境反馈循环的启发。它们支持设计方向，不证明当前方案优于竞品。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转场：下面回到 07-16 的核心架构，解释这些状态由谁负责。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证据/边界：https://www.microsoft.com/en-us/research/publication/guidelines-for-human-ai-interaction/ ；https://arxiv.org/abs/2210.03629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预期问题：为什么一定要拆成三个 Demo，而不是做一个大而全的 Agent？</a:t>
            </a:r>
          </a:p>
          <a:p xmlns:a="http://schemas.openxmlformats.org/drawingml/2006/main">
            <a:r>
              <a:t>
[Sources]
- https://www.microsoft.com/en-us/research/publication/guidelines-for-human-ai-interaction/
- https://arxiv.org/abs/2210.03629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这一页先不要急着记英文名，只看三层关系。最下面的统一 Agent Runtime 是每个任务都要经过的底座，它稳定承接任务、状态、上下文、执行、能力、证据、策略和追踪。没有这层，Agent 仍然只是一次模型调用，任务中断以后不知道从哪里继续，也无法说明某个结论或动作来自哪一步。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第一层增强是 Agent Control Loop。它只在任务需要多轮推进、等待补证或恢复时发挥价值。07-16 希望它解决时间维连续性；当前已经落地的是受限单 Loop、服务端 Branch、Evidence Gate、ArtifactVersion 和 Snapshot/SSE。第二层增强是 Governed Adaptive Swarm，它面向高价值、跨来源、可并行的复杂工作。当前已经形成最小受控纵切：Topology Admission、WorkUnit DAG、每波最多三个进程内只读 Worker、Contribution Gate 与统一 Artifact；但 durable queue、远端 Worker、通用 Resolver 和多实例调度仍是目标。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左侧三类控制不是第三层业务能力，而是贯穿所有层的约束。Task Control 决定目标、预算、暂停与停止；Evidence Control 决定来源、冲突、验证和模型说明是否采用；Action Control 决定风险、审批、Permit 和执行回执。它们最终让前台只需要回答三件事：任务现在走到哪，当前结论凭什么成立，哪些动作真的发生了。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转场：下一页把底座拆成八个稳定职责，并说明每两个模块共同回答一个用户问题。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证据/边界：https://docs.langchain.com/oss/javascript/langgraph/persistence ；https://openai.github.io/openai-agents-python/human_in_the_loop/ ；https://modelcontextprotocol.io/specification/draft/client/elicitation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预期问题：为什么不把所有任务都放进 Loop 或 Swarm？因为增强层有额外状态与协调成本，只有任务的时间跨度和组织复杂度值得时才应启用。</a:t>
            </a:r>
          </a:p>
          <a:p xmlns:a="http://schemas.openxmlformats.org/drawingml/2006/main">
            <a:r>
              <a:t>
[Sources]
- https://arxiv.org/abs/2210.03629
- https://docs.langchain.com/oss/javascript/langgraph/persistence
- https://openai.github.io/openai-agents-python/human_in_the_loop/
- https://modelcontextprotocol.io/specification/draft/client/elicitation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八个模块不是八个前台页面，而是一次任务从定范围到可恢复的四段责任链。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第一段是“定范围”。Workspace Catalog &amp; Safe Preview 负责哪些资料可以安全读取，Task Contract 负责目标、范围、完成条件和禁止事项。前台要回答的是“你读了哪些资料、任务边界是什么”。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第二段是“定计划”。Planner 可以提出分支、依赖和资料范围，但计划不能因为模型返回就直接运行。Admission、Policy Compiler &amp; Plan Validator 还要校验预算、来源、依赖、工具和副作用。前台要回答的是“为什么这样拆、什么计划被拒绝或修复”。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第三段是“推进执行”。Scheduler &amp; Worker Manager 决定哪个分支先做、依赖谁、何时等待、何时恢复；当前已经支持服务端编译的 WorkUnit DAG、显式波次和每波最多三个进程内只读 Worker。Tool Gateway 仍应统一真实工具的授权、超时、幂等和回执，但当前没有通用实现。前台要回答的是“现在做到哪一步、谁依赖谁、哪个分支受影响、动作是否真的执行”。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第四段是“成果恢复”。Artifact Workspace &amp; Verifier 保存成果版本并执行当前固定场景的确定性检查；Checkpoint, Event &amp; Governance Control 让 Snapshot 成为状态权威，SSE 只做有序投影，并提供可选 PostgreSQL 重启恢复子集。前台要回答的是“结果能否下载、核对、审计和恢复”。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所以模块对后端是职责，对用户只有四个问题：读什么、怎么做、做到哪、结果能不能复核与恢复。蓝色表示当前实现，橙色表示部分近似，灰色表示目标，不能把目标模块写成现有能力。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转场：这些职责为什么会逐步出现，下一页沿技术演进解释系统责任如何外扩。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证据/边界：当前系统实测；ReAct、LangGraph、MCP 与 A2A 只作线上架构参照。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预期问题：八个模块会不会让前台更复杂？不会要求用户操作模块名，但必须把模块产生的关键状态翻译成业务语言。</a:t>
            </a:r>
          </a:p>
          <a:p xmlns:a="http://schemas.openxmlformats.org/drawingml/2006/main">
            <a:r>
              <a:t>
[Sources]
- https://arxiv.org/abs/2210.03629
- https://docs.langchain.com/oss/javascript/langgraph/persistence
- https://modelcontextprotocol.io/specification/draft/client/elicitation
- https://a2a-protocol.org/v0.3.0/specification/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这页把 07-16 的 P05 到 P09 合并成一条链。Prompt Engineering 关注一次指令与示例；ReAct 把工程对象扩展到 Action 和 Observation；Context Engineering 开始管理系统指令、工具、外部数据和历史；Harness Engineering 再把权限、沙箱和工具环境纳入系统；Loop Engineering 是我们对触发、验证、记录和恢复的方案归纳。最后一步是办公交付：业务成果、来源、人工决定和未执行边界都可复核。需要强调，这些阶段名不是学界统一年表，而是为了说明系统责任为什么不断外扩。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转场：接下来不按功能打勾，而按用户实际审查的对象看主流方案。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证据/边界：https://arxiv.org/abs/2005.14165 ；https://arxiv.org/abs/2210.03629 ；https://www.anthropic.com/engineering/effective-context-engineering-for-ai-agents ；https://docs.langchain.com/oss/javascript/langgraph/persistence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预期问题：Loop Engineering 是正式术语还是本方案的归纳？</a:t>
            </a:r>
          </a:p>
          <a:p xmlns:a="http://schemas.openxmlformats.org/drawingml/2006/main">
            <a:r>
              <a:t>
[Sources]
- https://arxiv.org/abs/2005.14165
- https://arxiv.org/abs/2210.03629
- https://www.anthropic.com/engineering/effective-context-engineering-for-ai-agents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Microsoft 365 Copilot 让用户引用文件、邮件、会议和站点；ChatGPT deep research 让用户审研究计划、来源、实时进度和带引用报告；Codex App 把 Task、隔离工作区、Diff 和审查队列做成核心对象；Claude Code 围绕项目会话、工具动作和验证结果；OpenClaw 围绕 Gateway Task、路由、会话与审批；ReAct 提供 Action-Observation 的基础循环。这里不做胜负判断，也不从官方文档未提及推断竞品做不到。Office Agent 的候选差异，是把资料、业务结论、成果、人工决定和未执行边界放进同一审查链。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转场：这个差异只有落到用户流程上才有意义。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证据/边界：https://support.microsoft.com/en-US/Microsoft-365-Copilot/refer-to-specific-files-and-more-in-microsoft-365-copilot ；https://help.openai.com/en/articles/10500283-deep-research ；https://openai.com/index/introducing-the-codex-app/ ；https://code.claude.com/docs/en/how-claude-code-works ；https://docs.openclaw.ai/automation/tasks ；https://arxiv.org/abs/2210.03629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预期问题：你们能否证明这些产品没有类似的业务治理能力？答案是不能，尚未同场实测。</a:t>
            </a:r>
          </a:p>
          <a:p xmlns:a="http://schemas.openxmlformats.org/drawingml/2006/main">
            <a:r>
              <a:t>
[Sources]
- https://support.microsoft.com/en-US/Microsoft-365-Copilot/refer-to-specific-files-and-more-in-microsoft-365-copilot
- https://help.openai.com/en/articles/10500283-deep-research
- https://openai.com/index/introducing-the-codex-app/
- https://code.claude.com/docs/en/how-claude-code-works
- https://docs.openclaw.ai/automation/tasks
- https://docs.openclaw.ai/concepts/multi-agent
- https://arxiv.org/abs/2210.03629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用户先说目标，服务端冻结完整允许范围，而不是要求用户提前猜文件；Planner 提议计划，服务端再校验预算、依赖、工具和禁止动作；模型被调用与模型输出被采用是两个事实；证据定位多义时只处理受影响 Branch；最后把 Artifact、说明和外部动作分层。于是前台每一步都能回答用户动作、反馈和后端事实。这个设计与 deep research 的来源控制、MCP Elicitation 的结构化补充请求、HAI Guidelines 的纠正与控制原则相互呼应，但当前实测仍局限于固定公开数据。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转场：当这条流程跨多轮运行，风险会被循环放大。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证据/边界：https://help.openai.com/en/articles/10500283-deep-research ；https://modelcontextprotocol.io/specification/draft/client/elicitation ；https://www.microsoft.com/en-us/research/publication/guidelines-for-human-ai-interaction/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预期问题：为什么不让模型自己判断哪些输出可信？</a:t>
            </a:r>
          </a:p>
          <a:p xmlns:a="http://schemas.openxmlformats.org/drawingml/2006/main">
            <a:r>
              <a:t>
[Sources]
- https://www.microsoft.com/en-us/research/publication/guidelines-for-human-ai-interaction/
- https://help.openai.com/en/articles/10500283-deep-research
- https://modelcontextprotocol.io/specification/draft/client/elicitation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方向漂移、上下文退化、错误复利、成本扩张、权限漂移和停止困难，是 07-16 已经提出的六类风险。它们对应六个前台问题：目标是否仍一致、用了哪版来源、预算还剩多少、允许什么动作、哪条 Branch 受影响、如何暂停恢复或接管。这里不能夸大当前实现：系统默认 12 轮、公开上限 24 轮，并受文件数、模型调用次数和主动运行时间的独立预算约束；暂停和停止只在模型调用之间的安全点生效，也不会硬取消正在进行的请求。它解决了一部分状态透明与局部恢复问题，还不是无限自治的长任务执行器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转场：下一页把 Observe、Plan、Act、Verify、Commit 和外围控制放在一起看。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证据/边界：https://www.anthropic.com/engineering/effective-context-engineering-for-ai-agents ；https://docs.langchain.com/oss/javascript/langgraph/persistence ；https://www.microsoft.com/en-us/research/publication/guidelines-for-human-ai-interaction/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预期问题：12 轮是否足够？默认值不是质量承诺；是否足够仍要由任务完成条件、预算与场景实测共同判断。</a:t>
            </a:r>
          </a:p>
          <a:p xmlns:a="http://schemas.openxmlformats.org/drawingml/2006/main">
            <a:r>
              <a:t>
[Sources]
- https://www.microsoft.com/en-us/research/publication/guidelines-for-human-ai-interaction/
- https://docs.langchain.com/oss/javascript/langgraph/persistence
- https://arxiv.org/abs/2210.03629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中心五段里，Observe 和 Plan 已有清晰纵切；Act 仍主要是只读分析和固定成果适配器；Verify 能做 Schema、引用定位和部分确定性成果检查；Commit 是 append-only 的逻辑 ArtifactVersion 与 TaskCommit。外围控制里，Task Contract、Evidence Gate 和 Trace 较完整，Budget、Steer/Pause、Durable State 是部分近似，Takeover 和通用执行仍缺。旧审计曾给出约 30% 的历史架构成熟度基线，但那不是当前覆盖率，更不是模型质量。现阶段最准确的说法是：有反馈与恢复的只读办公任务纵切。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转场：下面不再讲抽象模块，直接看六个办公场景。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证据/边界：https://docs.langchain.com/oss/javascript/langgraph/persistence ；https://openai.github.io/openai-agents-python/human_in_the_loop/ ；https://a2a-protocol.org/v0.3.0/specification/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预期问题：什么时候可以把它称为完整 Control Loop？</a:t>
            </a:r>
          </a:p>
          <a:p xmlns:a="http://schemas.openxmlformats.org/drawingml/2006/main">
            <a:r>
              <a:t>
[Sources]
- https://docs.langchain.com/oss/javascript/langgraph/persistence
- https://openai.github.io/openai-agents-python/human_in_the_loop/
- https://a2a-protocol.org/v0.3.0/specification/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六个场景覆盖了成果、证据、人工判断和外部动作四种风险。TC-01 看成果与引用定位怎样分离；TC-05 看统计和会计判断怎样分离；TC-06、TC-07 把招聘与法务的最终权威留给人；TC-10 把文档产出和真实外呼拆开；TC-14、TC-15 处理来源冲突和模型说明冲突。每个场景都用同一条讲法：触发、Agent 路径、停顿、前台输出、后端事实和当前边界。这样场景不是故事，而是可以复现、失败和升级的测试。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转场：先从用户反馈最强烈的入职资产匹配开始。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证据/边界：https://www.microsoft.com/en-us/research/publication/guidelines-for-human-ai-interaction/ ；https://www.w3.org/TR/prov-o/ ；https://openai.github.io/openai-agents-python/human_in_the_loop/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预期问题：这些场景是不是为了 Demo 人工定制？答案是固定适配器范围内验证，尚未通用化。</a:t>
            </a:r>
          </a:p>
          <a:p xmlns:a="http://schemas.openxmlformats.org/drawingml/2006/main">
            <a:r>
              <a:t>
[Sources]
- https://www.microsoft.com/en-us/research/publication/guidelines-for-human-ai-interaction/
- https://www.w3.org/TR/prov-o/
- https://openai.github.io/openai-agents-python/human_in_the_loop/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用户输入的是根据时间表和规则生成 3 月 20 日到 4 月 20 日的资产匹配表。旧界面把已生成成果、引用定位缺口和 Loop 等待状态混在一起，用户自然会以为任务失败。实际上三件事可以同时成立：资产表通过文件检查；某段逐字 quote 在预览中出现多次，无法唯一定位；用户只需处理这一处审计问题。“缺一份引用”缺的是唯一可回开的定位，不是缺源文件，也不代表日期算错。当前前台把成果置顶、同源缺口合并，并说明补定位不影响现有成果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转场：下一页继续回答“三期输入为什么只有两类统计文件”。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证据/边界：https://platform.claude.com/docs/en/build-with-claude/citations ；https://www.microsoft.com/en-us/research/publication/guidelines-for-human-ai-interaction/ ；左侧为用户反馈样本，非正式目标用户研究。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预期问题：为什么服务端不能总是一次定位准确？因为当前主要依靠逐字 quote 与安全预览匹配，格式原生 Locator 仍需补齐。</a:t>
            </a:r>
          </a:p>
          <a:p xmlns:a="http://schemas.openxmlformats.org/drawingml/2006/main">
            <a:r>
              <a:t>
[Sources]
- https://www.microsoft.com/en-us/research/publication/guidelines-for-human-ai-interaction/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这里需要纠正一个容易产生的理解：三份输入工作簿，不是三期各输出一份统计。未付统计和未收统计只看最新 2026 期，分别提取正数贷方与正数借方期末余额；当前固定来源是 31 条和 2 条。真正使用三个期间的是跨期核对说明，它比较同一科目和客商的借方余额是否连续不变，当前风险候选为 0。前台必须在下载前解释三份成果各自代表什么。统计和候选都不是会计处置，系统没有付款、核销或记账。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转场：财务判断要保留人工门，招聘和法务更是如此。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证据/边界：https://www.microsoft.com/en-us/research/publication/guidelines-for-human-ai-interaction/ ；https://www.w3.org/TR/prov-o/ ；数字仅属于当前固定来源版本。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预期问题：0 条候选是否等于不存在僵尸账款？不等于，只表示这套固定启发式没有命中。</a:t>
            </a:r>
          </a:p>
          <a:p xmlns:a="http://schemas.openxmlformats.org/drawingml/2006/main">
            <a:r>
              <a:t>
[Sources]
- https://www.microsoft.com/en-us/research/publication/guidelines-for-human-ai-interaction/
- https://www.w3.org/TR/prov-o/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招聘场景读取两份 JD 和五份简历，输出候选顺序、支持证据、缺失信息和复核项；材料冲突时进入待复核，系统不执行录用或淘汰。法务场景从六份授权文件抽取主体、期限和范围，形成规则台账与风险候选；不一致时不自动裁决，也不代表法律意见或签署动作。两边共同体现 HAI Guidelines 的原则：系统要说明能力边界、给出上下文、允许用户纠正，并在高影响决定中保留人的控制权。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转场：有了人工门，还要继续区分“形成方案”和“执行动作”。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证据/边界：https://www.microsoft.com/en-us/research/publication/guidelines-for-human-ai-interaction/ ；自动化只验证固定成果，不验证公平性、法律适用性或业务效果。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预期问题：候选建议是否可能放大偏见？可能，因此需要规则、证据、隐私与人工复核共同约束。</a:t>
            </a:r>
          </a:p>
          <a:p xmlns:a="http://schemas.openxmlformats.org/drawingml/2006/main">
            <a:r>
              <a:t>
[Sources]
- https://www.microsoft.com/en-us/research/publication/guidelines-for-human-ai-interaction/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TC-10 读取来源后生成流程图与 DOCX，这些文件和结构检查是真实发生的；拨号、写 CRM、发短信没有发生，因为没有 Connector receipt。TC-14 的日志存在相互冲突的信号，系统保留支持与反证，生成条件式诊断和止损提案，但不执行 ES 命令，也不触发生产降级。前台不能把“建议下一步”写成“已经执行”，也不能把未接入外部系统显示成失败。更准确的界面是并列展示已发生和未发生，让用户看到业务后果边界。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转场：最后一个场景处理的是模型说明和确定性成果互相冲突。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证据/边界：https://openai.github.io/openai-agents-python/human_in_the_loop/ ；https://modelcontextprotocol.io/specification/draft/client/elicitation ；https://www.w3.org/TR/prov-o/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预期问题：未来接入 Connector 后如何防止重复动作？需要 Permit、版本、幂等和执行回执共同约束。</a:t>
            </a:r>
          </a:p>
          <a:p xmlns:a="http://schemas.openxmlformats.org/drawingml/2006/main">
            <a:r>
              <a:t>
[Sources]
- https://openai.github.io/openai-agents-python/human_in_the_loop/
- https://modelcontextprotocol.io/specification/draft/client/elicitation
- https://www.w3.org/TR/prov-o/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TC-15 的确定性成果覆盖 212 行、形成 87 组，P0 到 P4 为 25、40、14、6、2。真实模型调用却声称只看了 60 行，并改写 P0 优先级。如果前台同时展示两套说法，用户会看到假绿和重复待办。当前服务端把模型调用和采用拆开：模型仍是 called=true，但 output_used=false；回执为 contradictory、deterministic_outcome、rejected。两份通过检查的成果继续保留，冲突说明只进入审计轨迹。这个机制只验证固定场景的结构化事实一致性，不是通用真值判断。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转场：从这些场景回到前台，用户真正需要先回答的只有五个问题。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证据/边界：https://www.microsoft.com/en-us/research/publication/guidelines-for-human-ai-interaction/ ；https://www.w3.org/WAI/WCAG21/Understanding/status-messages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预期问题：一致就一定正确吗？不一定，一致只说明结构化事实没有冲突。</a:t>
            </a:r>
          </a:p>
          <a:p xmlns:a="http://schemas.openxmlformats.org/drawingml/2006/main">
            <a:r>
              <a:t>
[Sources]
- https://www.microsoft.com/en-us/research/publication/guidelines-for-human-ai-interaction/
- https://www.w3.org/WAI/WCAG21/Understanding/status-messages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用户首先要知道五件事：完成了什么、依据是什么、为什么停、确认后会改变什么、什么绝不会发生。首屏只放当前结论、成果、复核状态和未执行边界；展开层解释来源、校验、模型说明采用和局部决定；审计层再放 Snapshot、version、named SSE 和 DecisionRecord。这样技术事实没有消失，只是不抢占业务阅读顺序。现在的截图和现场反馈还不是正式用户研究。下一步要让目标用户无引导说出结果、来源、影响和下一步，并用 HEART 记录理解、负担与任务成功。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转场：接下来用四页真实界面，把前面讲的系统纵切完整走一遍。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证据/边界：https://www.microsoft.com/en-us/research/publication/guidelines-for-human-ai-interaction/ ；https://www.w3.org/WAI/WCAG21/Understanding/status-messages ；https://www.w3.org/WAI/WCAG21/Understanding/target-size ；https://research.google/pubs/measuring-the-user-experience-on-a-large-scale-user-centered-metrics-for-web-applications/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预期问题：怎样证明界面真的更清晰？需要目标用户任务测试，不是更多截图。</a:t>
            </a:r>
          </a:p>
          <a:p xmlns:a="http://schemas.openxmlformats.org/drawingml/2006/main">
            <a:r>
              <a:t>
[Sources]
- https://www.microsoft.com/en-us/research/publication/guidelines-for-human-ai-interaction/
- https://www.w3.org/WAI/WCAG21/Understanding/status-messages
- https://research.google/pubs/measuring-the-user-experience-on-a-large-scale-user-centered-metrics-for-web-applications/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这页回答最直接的问题：我们到底做了什么。不是又做了一张 Agent 对话页面，而是把一条办公任务纵切跑通了。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第一层是 Workspace。系统面对的是 15 个顶层目录、96 份输入文件，文件都通过服务端 allowlist、大小、哈希、格式和非链接校验后再进入安全预览。第二层是 Task Contract。用户只写任务目标，服务端冻结可读范围、预算、禁止动作和当前版本。第三层是 Planner 与 Analyst。模型调用、服务端校验和模型输出采用分别记录，不再把“模型返回了”写成“当前结论已经采用”。第四层是 Branch Evidence Gate。某条证据不能唯一定位时，只让受影响分支等待，其他已完成成果继续保留。第五层是真实 Artifact 与回执。当前固定场景可以生成可下载文件，执行具名确定性检查，并把 Snapshot 和有序 Trace 留下来。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右侧不是概念图，而是当前系统完成 TC-01 后的完整运行界面：左侧是资料库，中间是任务、Agent 路径和成果，右侧是有序 Control Loop 记录。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这条链已经证明的是固定公开数据上的受限纵切；尚未证明的是通用语义正确、任意办公文件写入、生产级 Connector 和生产 SLA。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转场：下一页从用户输入开始，看“自主选择资料”具体怎样发生。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证据/边界：当前系统实测；截图来自固定公开数据运行，不是竞品对照或生产环境。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预期问题：这是不是一个为固定 Demo 写死的流程？当前确有固定成果适配器，但 Workspace、合同、分支、证据门、Snapshot 和 Trace 是通用运行时结构。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用户做的第一件事只有一个：写清业务目标。浏览器不会再要求用户先勾选文件，也不会提交客户端的 selected_file_refs。这样减少了一个“用户必须先知道答案在哪里”的前置负担。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服务端创建 Run 时冻结完整 allowlisted 输入索引，scope_mode 是 whole_workspace。Planner 看到的是安全元数据，而不是绝对路径、隐藏任务、答案或内部哈希；它提出本轮需要的资料和分支，服务端再校验预算、来源、依赖、工具和禁止动作。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前台因此必须补上三类反馈。第一，解释本轮为什么选择这些资料；第二，区分规划模型和分析模型是否调用、输出是否被采用；第三，持续显示当前轮次、剩余调用预算、阶段和有序 Trace。用户少做了文件选择，但系统多承担了范围解释责任。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这里不能把“自主选择资料”说成“已经穷举所有相关资料”。系统默认 12 轮、公开上限 24 轮，但资料选择仍可能不完整，所以完成结果仍需证据核对、成果检查和人工复核。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转场：如果选择到的来源文字不能唯一定位，系统不会把整项任务推倒重来。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证据/边界：当前系统实测；全库范围、服务端 Planner 和前台 Trace 的显示均以本次 Snapshot 为准。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预期问题：为什么不把全部 96 份文件都交给模型？因为服务端需要控制上下文、成本和来源范围，并保留每轮选择依据。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这页展示证据出现歧义时的真实处理。典型情况不是“没有源文件”，而是模型给出的逐字片段在安全预览里出现多次，服务端无法唯一决定应该回开哪一处。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界面先用业务语言回答三件事：发生了什么、这会影响什么、用户现在需要做什么。然后给出候选原文位置和安全预览高亮。用户选择的是来源位置，不是在替 Agent 判断结论一定正确。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右下角的小图展示同一轮里不同 Branch 可以有不同动作：一条需要用户确认原文位置，另一条可能只需要继续本分支。DecisionRequest 绑定 expected_version、source_revision、候选和受影响 Branch；来源版本变化时进入 stale，不能把旧选择直接套到新文件。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用户确认后，只恢复目标 Branch。已完成 ArtifactVersion、其他 Branch 和已有核对记录不被覆盖。这是局部恢复和整轮重跑在用户体验上的关键差别。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转场：最后看成果已经生成后，系统如何区分文件事实、业务效果和模型说明。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证据/边界：当前系统实测；位置确认只证明 locator 与来源成员关系，不证明自然语言蕴含、穷举或算术全面正确。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预期问题：为什么还要人选位置？格式原生 Locator 尚未完全覆盖，当前保留可审计的人工决定比服务端猜一个位置更稳妥。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左侧展示成果与业务效果分层。当前固定场景能够在隔离 Run 工作区生成真实文件，用户可以下载；系统还会执行具名确定性检查，并记录 EffectReceipt。与此同时，付款、核销、发送、写 CRM 等未发生动作会继续明确显示为未发生。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右侧展示模型说明与确定性成果冲突时的处理。模型确实被调用，因此 called=true；但它给出的行数或分组与确定性成果不一致时，output_used=false。前台只保留一套当前结论，冲突说明进入审计轨迹，而不是与通过检查的成果并排争夺用户注意力。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这一步把“模型说了什么”和“系统已经采用什么”分开，也把“文件存在”和“业务动作发生”分开。对用户的直接影响，是成果可以先用、依据可以继续审、错误说明不会覆盖事实。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当前边界仍然清楚：固定检查只证明特定字段、结构和效果，不是通用语义真值证明器；成果通过也不代表业务价值或最终判断自动成立。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转场：有了这条当前纵切，下面把它重新放回 07-16 的三个 Demo，分别看时间、组织和动作三个维度哪些已经落地、哪些仍是目标。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证据/边界：当前系统实测；固定成果适配器与叙事对账覆盖既定场景，不外推到任意办公任务。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预期问题：固定检查会不会把模型变得多余？不会，模型仍负责规划、跨资料归纳和提出候选；确定性检查负责约束可复算事实。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1 来自 07-16 的时间维连续性。目标不是让 Agent 永远运行，而是让同一个 Task ID 在多轮任务中有稳定的任务契约、状态版本、分支和恢复点。流程仍然是 Task Contract、Observe、Plan、Act、Verify、Commit。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07-16 的关键镜头是 Verify 同时发现正式口径 2,400 万和预测口径 2,680 万。正确处理不是整项任务失败，也不是让模型自行选择，而是 Evidence Gate 只让 revenue-baseline 分支进入 waiting_input；customer-facts 和 project-risk 分支继续产出并保留。用户给出 Steer，采用正式口径并保留预测差异说明，系统只恢复受影响分支，最后把版本、来源、验证结果和 Trace 一起 Commit。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当前系统已经具备服务端 Branch、分支级 Evidence Gate、append-only ArtifactVersion、TaskCommit、局部恢复和可选 PostgreSQL 重启恢复。还没有生产级跨端身份、任意办公工件写入和长期后台 Worker。因此这一页不是把 07-16 演示冒充当前实测，而是说明我们已经完成了其中最关键的一段状态与证据纵切。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前台变化是用户不必重开对话、重讲背景；他在同一任务里看见哪个分支完成、哪个分支为何停、选择后恢复什么、旧成果是否保留。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转场：时间连续性解决以后，Demo 2 处理的是同时有很多待办和复杂分工时，工作如何被组织。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证据/边界：https://docs.langchain.com/oss/javascript/langgraph/persistence ；https://openai.github.io/openai-agents-python/human_in_the_loop/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预期问题：现在已经支持手机和电脑控制同一生产任务吗？没有，当前证明的是服务端状态、分支与恢复机制，生产身份和跨端控制仍是目标。</a:t>
            </a:r>
          </a:p>
          <a:p xmlns:a="http://schemas.openxmlformats.org/drawingml/2006/main">
            <a:r>
              <a:t>
[Sources]
- https://docs.langchain.com/oss/javascript/langgraph/persistence
- https://openai.github.io/openai-agents-python/human_in_the_loop/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2 仍然保留 07-16 的智能工作驾驶舱作为目标产品面，但这一页不再只讲目标框图，而是先回答一个可以直接演示的输入、过程和输出。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输入是一条复杂但只读的办公任务：分别核对产品上线、搜索 Agent 运行和用户交互三条工作线的风险与证据，先独立核对，再形成统一简报。用户不需要指定五个 Agent，也不需要自己分配会话。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过程由服务端事实决定。Topology Admission 编译出五个 WorkUnit，其中三个是根工作包，两个依赖前序结果。第一波返回后，三个 Contribution 分别进入采用门；只有带批准来源和可定位证据的候选才能进入 Artifact。两个依赖工作包显示“下一波待确认”，由用户明确启动，而不是后台无声扩张预算。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输出是一个统一工作面：左侧阶段轨回答现在走到哪，中央 DAG 回答谁依赖谁，右侧当前影响只突出唯一主要动作，底部结果条说明三份贡献已经采用、Artifact v1 已保留、还有两个工作包待确认。用户管理的是统一成果和下一步，不是多个 Agent 对话。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边界必须讲清：这是单服务进程、顺序批次、每批最多三个只读执行单元的受控演示样例。它没有持久任务队列、租约、远端执行单元或多实例协调，也不是完整的智能工作驾驶舱；自动化和截图同样不能证明这种协作方式更快、更准或更易理解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转场：无论任务由单 Agent、Workflow 还是 Swarm 完成，只要下一步涉及真实发送、付款或生产变更，都要进入 Demo 3 的动作风险门。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证据/边界：https://docs.openclaw.ai/concepts/multi-agent ；https://a2a-protocol.org/v0.3.0/specification/ ；https://www.nngroup.com/articles/progressive-disclosure/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预期问题：多个执行单元一定比单一流程好吗？不一定，当前也没有效果证据；只有同任务、同模型、同来源和同预算下的增量收益高于协调与验证开销时，才应该启用自适应协作。</a:t>
            </a:r>
          </a:p>
          <a:p xmlns:a="http://schemas.openxmlformats.org/drawingml/2006/main">
            <a:r>
              <a:t>
[Sources]
- https://a2a-protocol.org/v0.3.0/specification/
- https://docs.openclaw.ai/concepts/multi-agent
- https://www.nngroup.com/articles/progressive-disclosure/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3 保留 07-16 的 Risk Gate。Risk Lens 从动作影响、数据敏感度、可逆性、权限和缺失信息评估风险，再映射到 L0-L5：L0 自动执行，L1 执行并通知，L2 只生成草稿，L3 普通确认，L4 强确认，L5 直接拒绝。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真正关键的是动作链。Agent 先提出方案，前台展示动作对象、影响范围和可逆性；Evidence Gate 与 Risk Lens 给出来源和风险理由；需要人工确认时，用户明确同意后才生成 Permit；执行后必须返回可核验的 ExecutionReceipt，或者明确写出动作未发生。这样“方案”“草稿”“批准”和“执行”不会被混成一个绿色完成状态。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页面下半部分使用当前真实界面截图，说明目前已经实现的有限一段：实际 Artifact、具名 Validator、EffectReceipt 和未发生边界可以分层展示。但生产 Connector、身份授权、Permit 防重放与真实外部动作仍未实现，所以系统不会发送邮件、付款、写 CRM 或执行生产命令。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前台的直接变化是按钮不能只写“确认”。用户必须先看见对象、影响、证据、风险级别、可逆性和执行回执，才能知道自己的点击究竟会改变什么。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转场：三个 Demo 的方向保留，但下一步必须继续用可证伪证据而不是更多概念升级结论。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证据/边界：https://openai.github.io/openai-agents-python/human_in_the_loop/ ；https://modelcontextprotocol.io/specification/draft/client/elicitation ；https://www.microsoft.com/en-us/research/publication/guidelines-for-human-ai-interaction/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预期问题：当前是不是已经具备 L0-L5 的生产执行能力？没有，L0-L5 是目标控制模型，当前只有固定成果和未执行边界的有限实现。</a:t>
            </a:r>
          </a:p>
          <a:p xmlns:a="http://schemas.openxmlformats.org/drawingml/2006/main">
            <a:r>
              <a:t>
[Sources]
- https://openai.github.io/openai-agents-python/human_in_the_loop/
- https://modelcontextprotocol.io/specification/draft/client/elicitation
- https://www.microsoft.com/en-us/research/publication/guidelines-for-human-ai-interaction/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下一阶段仍然延续 07-16 的目标：让工作在约束下持续收敛，但结论必须经过五道证据门。先做 PDF、XLSX、DOCX 的格式原生 Locator；再让 Artifact、EffectReceipt、provenance 和未执行边界一起导出；随后把固定适配器扩展成可配置业务 Verifier；再把当前进程内 Worker 纵切升级为 durable queue/lease、远端 Worker 和多实例恢复，并接入 Tool、Connector、Permit 与幂等动作回执；最后冻结同一任务、模型、来源和预算做竞品同场挑战，并开展目标用户研究。只有这些门通过，“差异候选”才可以升级为“已验证优势”。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转场：请评审决定的不是一句“看起来不错”，而是是否同意按这五道门继续生产证据。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证据/边界：https://modelcontextprotocol.io/specification/draft/client/elicitation ；https://a2a-protocol.org/v0.3.0/specification/ ；https://www.w3.org/TR/prov-o/ ；https://www.microsoft.com/en-us/research/publication/guidelines-for-human-ai-interaction/ ；https://research.google/pubs/measuring-the-user-experience-on-a-large-scale-user-centered-metrics-for-web-applications/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预期问题：当前可以对外承诺什么？只能承诺固定公开数据上的系统实测与明确边界，不承诺全面领先、生产 SLA 或用户价值。</a:t>
            </a:r>
          </a:p>
          <a:p xmlns:a="http://schemas.openxmlformats.org/drawingml/2006/main">
            <a:r>
              <a:t>
[Sources]
- https://modelcontextprotocol.io/specification/draft/client/elicitation
- https://a2a-protocol.org/v0.3.0/specification/
- https://www.w3.org/TR/prov-o/
- https://www.microsoft.com/en-us/research/publication/guidelines-for-human-ai-interaction/
- https://research.google/pubs/measuring-the-user-experience-on-a-large-scale-user-centered-metrics-for-web-applications/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8bc11db0c247c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075159537b4eb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59a3a4cfe149d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95a35c681a428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2241b09591403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295919c16f4f1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e85a02aa474d1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ba56abeb69428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c6b977cab7422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1ca78f70f3416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a7abc44e2b4b0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AD73B63-64A6-49FB-92CA-98599AE1000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6CA79B0-CD14-4729-87EB-41197E44651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FAA9851-1F46-45B4-8BB8-B96A7396FA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D74E705-15E4-4238-ABC1-11F7E348E6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B6B467-A513-417E-A1FE-797AA77D05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E58690A-A245-447D-BDD3-7718B65993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D9CB551-4566-4A7B-A2A8-0D1228B8EB7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E431168-B733-4D49-9906-5EA12CB547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6F77E46-9507-4059-9676-0733D8D306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09D3F26-D70A-493D-A097-A3383A46A4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D6B7EF0-994E-4B85-A34D-602EB83ED5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53DE32E-AFB7-4EA7-A72C-955084A13B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23DA28C-5A3B-4CCC-A90B-B9C13B6F7F6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EEF45CB-9981-4994-9668-77C47C6143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278D752-4902-4996-B0CD-C7CD61C8E7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FDC09F7-28AB-46FF-8419-DBB8D7D4FF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018DC56-A8E7-4BD1-915D-C4841CFB59E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F46D2AE-8180-4B09-B716-D6EC25F0B68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D75A8DE-8041-47AD-B9ED-42699A2D4E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1D3DD2F-D196-4F55-990A-AA695956C7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8CF5CAB-96FB-484D-8E1C-AB69687F06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34AFA2-4CEE-4687-96AA-4B81465013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363B1D-B346-4EC5-B1E6-ACCF2CD472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9294E2E-4933-46C5-A39B-BCF1A3A6E79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0A57C62-2FF3-4F54-924B-1BC5D2A5259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601B78E8-C228-4914-BE23-9AB561B90D8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8627BAE1-3938-4028-A2BD-70D0A70B95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0AB74B9-D988-43C8-A924-661919EE46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8ABBA2B6-17B5-4B3D-99B4-42884887DF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A811CB-0F37-4E9E-B84C-E99912DF70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5E69C0D-965F-4710-9B28-244F7AA92C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A8A8546-8721-4E88-8FD3-85A8EBAE4D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C77FC25-BAD5-4FD2-B3CB-C3176B33FF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B8691BD-6C43-4914-BCAC-FAE94CE1BA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52D0E50E-E3B9-4A97-A925-2C9E3670BB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3AFA721-87C0-48C2-9AF3-3923B9533A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EB90CB6-536A-46C7-B8D1-09DE2224AB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C77EE5B-0CC6-4BC1-A05C-46C13654DF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49E72B0-1968-45E1-847A-9B8734A233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2DD38CC-5F92-44B9-B89C-BFAE9BFADE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86F017F-FADE-464B-943E-AA17BC64D3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63C8A01-77E2-46A3-BF35-7873ED72C0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7590610-91B0-4504-B501-17B2D9C479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0AAAF14-EE10-4DD5-A8C7-4D3024D5A97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DCF4811-2D1C-420A-A7A8-0254EE775DE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4F948F6-47A2-48D7-8EB8-19E41C61B3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F0024CB-6D56-43AA-9368-51313185EC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94A87BF-A459-4BB4-AE90-23B34840E1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97773E-3CE6-468B-B7D4-EF9BEDB4B1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AE88E7C-15FE-4E85-83EF-0AF774B621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14DB964-C7F6-407C-8F06-E876917255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58E1C6E-246B-45EC-9853-63C4164DAE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64D176-C5C6-4A68-9440-1BD7EED9CE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AF57EB8-E38A-4FA4-8087-89E9D9F779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D0929DE-A6B4-416F-BCAF-2EECDB20B6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63875D7-E443-4E27-B00E-BA7311B94E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8641C2-0D46-41E7-BCB7-E380B4AAD5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B5A4E26-B3FC-4D5A-9EAC-83BC0C326A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428b36efee4fe9" /><Relationship Type="http://schemas.openxmlformats.org/officeDocument/2006/relationships/slideLayout" Target="/ppt/slideLayouts/slideLayout1.xml" Id="R7306da0b0edf45e5" /><Relationship Type="http://schemas.openxmlformats.org/officeDocument/2006/relationships/slideLayout" Target="/ppt/slideLayouts/slideLayout2.xml" Id="R7d06e3a1ca57417e" /><Relationship Type="http://schemas.openxmlformats.org/officeDocument/2006/relationships/slideLayout" Target="/ppt/slideLayouts/slideLayout3.xml" Id="R85e53fba080c4ba2" /><Relationship Type="http://schemas.openxmlformats.org/officeDocument/2006/relationships/slideLayout" Target="/ppt/slideLayouts/slideLayout4.xml" Id="Re694e7b2677b4b4b" /><Relationship Type="http://schemas.openxmlformats.org/officeDocument/2006/relationships/slideLayout" Target="/ppt/slideLayouts/slideLayout5.xml" Id="R7f21a7efa94d4d0d" /><Relationship Type="http://schemas.openxmlformats.org/officeDocument/2006/relationships/slideLayout" Target="/ppt/slideLayouts/slideLayout6.xml" Id="R39d1e17bcbc54381" /><Relationship Type="http://schemas.openxmlformats.org/officeDocument/2006/relationships/slideLayout" Target="/ppt/slideLayouts/slideLayout7.xml" Id="Rd3b3d3e0c27f46d2" /><Relationship Type="http://schemas.openxmlformats.org/officeDocument/2006/relationships/slideLayout" Target="/ppt/slideLayouts/slideLayout8.xml" Id="R042047ef106f4741" /><Relationship Type="http://schemas.openxmlformats.org/officeDocument/2006/relationships/slideLayout" Target="/ppt/slideLayouts/slideLayout9.xml" Id="R8095a39e577f4d63" /><Relationship Type="http://schemas.openxmlformats.org/officeDocument/2006/relationships/slideLayout" Target="/ppt/slideLayouts/slideLayout10.xml" Id="R9c13570fc2424e0a" /><Relationship Type="http://schemas.openxmlformats.org/officeDocument/2006/relationships/slideLayout" Target="/ppt/slideLayouts/slideLayout11.xml" Id="R7002f6616b4544d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4FBC2FE-7575-4327-8980-9928A3BEDF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516D394-7B76-47BA-AEA2-F0F7CBEDDF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D538E22-E1DB-4FF9-8A9F-9FBA25CFD42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E2DE97-63AA-43DD-8E0D-6EFD38D9248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ED67BDF-EF4D-4D30-B0AF-C22BE27BAAE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06da0b0edf45e5"/>
    <p:sldLayoutId xmlns:r="http://schemas.openxmlformats.org/officeDocument/2006/relationships" id="2147483650" r:id="R7d06e3a1ca57417e"/>
    <p:sldLayoutId xmlns:r="http://schemas.openxmlformats.org/officeDocument/2006/relationships" id="2147483651" r:id="R85e53fba080c4ba2"/>
    <p:sldLayoutId xmlns:r="http://schemas.openxmlformats.org/officeDocument/2006/relationships" id="2147483652" r:id="Re694e7b2677b4b4b"/>
    <p:sldLayoutId xmlns:r="http://schemas.openxmlformats.org/officeDocument/2006/relationships" id="2147483653" r:id="R7f21a7efa94d4d0d"/>
    <p:sldLayoutId xmlns:r="http://schemas.openxmlformats.org/officeDocument/2006/relationships" id="2147483654" r:id="R39d1e17bcbc54381"/>
    <p:sldLayoutId xmlns:r="http://schemas.openxmlformats.org/officeDocument/2006/relationships" id="2147483655" r:id="Rd3b3d3e0c27f46d2"/>
    <p:sldLayoutId xmlns:r="http://schemas.openxmlformats.org/officeDocument/2006/relationships" id="2147483656" r:id="R042047ef106f4741"/>
    <p:sldLayoutId xmlns:r="http://schemas.openxmlformats.org/officeDocument/2006/relationships" id="2147483657" r:id="R8095a39e577f4d63"/>
    <p:sldLayoutId xmlns:r="http://schemas.openxmlformats.org/officeDocument/2006/relationships" id="2147483658" r:id="R9c13570fc2424e0a"/>
    <p:sldLayoutId xmlns:r="http://schemas.openxmlformats.org/officeDocument/2006/relationships" id="2147483659" r:id="R7002f6616b4544dd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07f138f304bb7" /><Relationship Type="http://schemas.openxmlformats.org/officeDocument/2006/relationships/image" Target="/ppt/media/image.png" Id="R49a7e659aa7347fd" /><Relationship Type="http://schemas.openxmlformats.org/officeDocument/2006/relationships/notesSlide" Target="/ppt/notesSlides/notesSlide1.xml" Id="Rbc1f9f7e22b345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aac5c9b6c46ed" /><Relationship Type="http://schemas.openxmlformats.org/officeDocument/2006/relationships/hyperlink" Target="https://www.microsoft.com/en-us/research/publication/guidelines-for-human-ai-interaction/" TargetMode="External" Id="R6dfa6b2e28dc4a7a" /><Relationship Type="http://schemas.openxmlformats.org/officeDocument/2006/relationships/hyperlink" Target="https://arxiv.org/abs/2210.03629" TargetMode="External" Id="R71fa3f13ebbf4cf9" /><Relationship Type="http://schemas.openxmlformats.org/officeDocument/2006/relationships/notesSlide" Target="/ppt/notesSlides/notesSlide2.xml" Id="R515eddc3e3084c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2ecf139b44c17" /><Relationship Type="http://schemas.openxmlformats.org/officeDocument/2006/relationships/hyperlink" Target="https://arxiv.org/abs/2210.03629" TargetMode="External" Id="Rf43b6aee0d3b4d01" /><Relationship Type="http://schemas.openxmlformats.org/officeDocument/2006/relationships/hyperlink" Target="https://docs.langchain.com/oss/javascript/langgraph/persistence" TargetMode="External" Id="Racecf5a07e204408" /><Relationship Type="http://schemas.openxmlformats.org/officeDocument/2006/relationships/notesSlide" Target="/ppt/notesSlides/notesSlide3.xml" Id="R8a91de5d394d44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a08677b4ee452e" /><Relationship Type="http://schemas.openxmlformats.org/officeDocument/2006/relationships/notesSlide" Target="/ppt/notesSlides/notesSlide4.xml" Id="Rf8497b25454a47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aa7f056ac4c44" /><Relationship Type="http://schemas.openxmlformats.org/officeDocument/2006/relationships/hyperlink" Target="https://arxiv.org/abs/2005.14165" TargetMode="External" Id="R95172a4b5dde431d" /><Relationship Type="http://schemas.openxmlformats.org/officeDocument/2006/relationships/hyperlink" Target="https://arxiv.org/abs/2210.03629" TargetMode="External" Id="R6f76c84e53f640d6" /><Relationship Type="http://schemas.openxmlformats.org/officeDocument/2006/relationships/notesSlide" Target="/ppt/notesSlides/notesSlide5.xml" Id="R32b025b9d5a640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7d1935a214fc2" /><Relationship Type="http://schemas.openxmlformats.org/officeDocument/2006/relationships/hyperlink" Target="https://support.microsoft.com/en-US/Microsoft-365-Copilot/refer-to-specific-files-and-more-in-microsoft-365-copilot" TargetMode="External" Id="R4427eaf81f7446dc" /><Relationship Type="http://schemas.openxmlformats.org/officeDocument/2006/relationships/hyperlink" Target="https://openai.com/index/introducing-the-codex-app/" TargetMode="External" Id="R20a4a8869a95429b" /><Relationship Type="http://schemas.openxmlformats.org/officeDocument/2006/relationships/notesSlide" Target="/ppt/notesSlides/notesSlide6.xml" Id="Rc75cf6cbbe5349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66681f2c14999" /><Relationship Type="http://schemas.openxmlformats.org/officeDocument/2006/relationships/hyperlink" Target="https://www.microsoft.com/en-us/research/publication/guidelines-for-human-ai-interaction/" TargetMode="External" Id="R10e2463f528f4c88" /><Relationship Type="http://schemas.openxmlformats.org/officeDocument/2006/relationships/hyperlink" Target="https://modelcontextprotocol.io/specification/draft/client/elicitation" TargetMode="External" Id="R06fce321671a4fec" /><Relationship Type="http://schemas.openxmlformats.org/officeDocument/2006/relationships/notesSlide" Target="/ppt/notesSlides/notesSlide7.xml" Id="Raa47eedd43be43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e93d857ad43fe" /><Relationship Type="http://schemas.openxmlformats.org/officeDocument/2006/relationships/hyperlink" Target="https://www.microsoft.com/en-us/research/publication/guidelines-for-human-ai-interaction/" TargetMode="External" Id="Rd4ed8274045642af" /><Relationship Type="http://schemas.openxmlformats.org/officeDocument/2006/relationships/hyperlink" Target="https://docs.langchain.com/oss/javascript/langgraph/persistence" TargetMode="External" Id="Re5fa0ec4cb4949ce" /><Relationship Type="http://schemas.openxmlformats.org/officeDocument/2006/relationships/notesSlide" Target="/ppt/notesSlides/notesSlide8.xml" Id="Rb65535de3df54b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2ac297ae54e6f" /><Relationship Type="http://schemas.openxmlformats.org/officeDocument/2006/relationships/hyperlink" Target="https://docs.langchain.com/oss/javascript/langgraph/persistence" TargetMode="External" Id="R2a15170901da4803" /><Relationship Type="http://schemas.openxmlformats.org/officeDocument/2006/relationships/hyperlink" Target="https://openai.github.io/openai-agents-python/human_in_the_loop/" TargetMode="External" Id="R136c24cccaee4b4c" /><Relationship Type="http://schemas.openxmlformats.org/officeDocument/2006/relationships/notesSlide" Target="/ppt/notesSlides/notesSlide9.xml" Id="R0d17d32490e44b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fa64191d247b4" /><Relationship Type="http://schemas.openxmlformats.org/officeDocument/2006/relationships/notesSlide" Target="/ppt/notesSlides/notesSlide10.xml" Id="R99b7358e50b044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48d53dd544665" /><Relationship Type="http://schemas.openxmlformats.org/officeDocument/2006/relationships/image" Target="/ppt/media/image.jpeg" Id="R3888dc4050744933" /><Relationship Type="http://schemas.openxmlformats.org/officeDocument/2006/relationships/image" Target="/ppt/media/image2.png" Id="Rd68710c0ebd54357" /><Relationship Type="http://schemas.openxmlformats.org/officeDocument/2006/relationships/notesSlide" Target="/ppt/notesSlides/notesSlide11.xml" Id="Rbe562989c50a495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4cad25af44993" /><Relationship Type="http://schemas.openxmlformats.org/officeDocument/2006/relationships/notesSlide" Target="/ppt/notesSlides/notesSlide12.xml" Id="Rccadf3ce2da4414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601d1a22d42ee" /><Relationship Type="http://schemas.openxmlformats.org/officeDocument/2006/relationships/notesSlide" Target="/ppt/notesSlides/notesSlide13.xml" Id="R6e93c961e836449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13f543f6ef47e6" /><Relationship Type="http://schemas.openxmlformats.org/officeDocument/2006/relationships/image" Target="/ppt/media/image3.png" Id="R10a7d34d6bfa408f" /><Relationship Type="http://schemas.openxmlformats.org/officeDocument/2006/relationships/notesSlide" Target="/ppt/notesSlides/notesSlide14.xml" Id="R59207887585e444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8ffd266d7425d" /><Relationship Type="http://schemas.openxmlformats.org/officeDocument/2006/relationships/image" Target="/ppt/media/image4.png" Id="Ra110fa62e72a44c7" /><Relationship Type="http://schemas.openxmlformats.org/officeDocument/2006/relationships/notesSlide" Target="/ppt/notesSlides/notesSlide15.xml" Id="R3301f5dca938451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4bf85bee54cd0" /><Relationship Type="http://schemas.openxmlformats.org/officeDocument/2006/relationships/hyperlink" Target="https://www.microsoft.com/en-us/research/publication/guidelines-for-human-ai-interaction/" TargetMode="External" Id="Rbc0fcb93588b44b3" /><Relationship Type="http://schemas.openxmlformats.org/officeDocument/2006/relationships/hyperlink" Target="https://research.google/pubs/measuring-the-user-experience-on-a-large-scale-user-centered-metrics-for-web-applications/" TargetMode="External" Id="Rf70d0a482e4d458d" /><Relationship Type="http://schemas.openxmlformats.org/officeDocument/2006/relationships/notesSlide" Target="/ppt/notesSlides/notesSlide16.xml" Id="R7db85f165d324d9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066f6f94e437f" /><Relationship Type="http://schemas.openxmlformats.org/officeDocument/2006/relationships/image" Target="/ppt/media/image5.png" Id="Re7cbf5af9b214ac9" /><Relationship Type="http://schemas.openxmlformats.org/officeDocument/2006/relationships/notesSlide" Target="/ppt/notesSlides/notesSlide17.xml" Id="Rbc6e05c67d6a46b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160eb598745f3" /><Relationship Type="http://schemas.openxmlformats.org/officeDocument/2006/relationships/image" Target="/ppt/media/image5.png" Id="R184dd05ab8c147f3" /><Relationship Type="http://schemas.openxmlformats.org/officeDocument/2006/relationships/notesSlide" Target="/ppt/notesSlides/notesSlide18.xml" Id="R3dba0e35280c4fe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049e344ca4daa" /><Relationship Type="http://schemas.openxmlformats.org/officeDocument/2006/relationships/image" Target="/ppt/media/image6.png" Id="R11f80f83ae2c47bb" /><Relationship Type="http://schemas.openxmlformats.org/officeDocument/2006/relationships/image" Target="/ppt/media/image7.png" Id="R198d529ebd284a12" /><Relationship Type="http://schemas.openxmlformats.org/officeDocument/2006/relationships/notesSlide" Target="/ppt/notesSlides/notesSlide19.xml" Id="R52d24d2f635f495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ea77d512c4819" /><Relationship Type="http://schemas.openxmlformats.org/officeDocument/2006/relationships/image" Target="/ppt/media/image8.png" Id="R1403e1d77b9745b4" /><Relationship Type="http://schemas.openxmlformats.org/officeDocument/2006/relationships/image" Target="/ppt/media/image4.png" Id="R193d4f2880b94985" /><Relationship Type="http://schemas.openxmlformats.org/officeDocument/2006/relationships/notesSlide" Target="/ppt/notesSlides/notesSlide20.xml" Id="R295110256d1046a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f52e6c82a4b36" /><Relationship Type="http://schemas.openxmlformats.org/officeDocument/2006/relationships/hyperlink" Target="https://docs.langchain.com/oss/javascript/langgraph/persistence" TargetMode="External" Id="Rcd0ee55fbdd049bd" /><Relationship Type="http://schemas.openxmlformats.org/officeDocument/2006/relationships/hyperlink" Target="https://openai.github.io/openai-agents-python/human_in_the_loop/" TargetMode="External" Id="Rf8b9c8736efc4cfc" /><Relationship Type="http://schemas.openxmlformats.org/officeDocument/2006/relationships/notesSlide" Target="/ppt/notesSlides/notesSlide21.xml" Id="Rc1310a6b928e4e3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f3506700e42c9" /><Relationship Type="http://schemas.openxmlformats.org/officeDocument/2006/relationships/image" Target="/ppt/media/image9.png" Id="Rda979bff200b4c23" /><Relationship Type="http://schemas.openxmlformats.org/officeDocument/2006/relationships/notesSlide" Target="/ppt/notesSlides/notesSlide22.xml" Id="R45fa2e64be3248c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943e5d73c4257" /><Relationship Type="http://schemas.openxmlformats.org/officeDocument/2006/relationships/image" Target="/ppt/media/image8.png" Id="R72912a5e7ba740ad" /><Relationship Type="http://schemas.openxmlformats.org/officeDocument/2006/relationships/hyperlink" Target="https://openai.github.io/openai-agents-python/human_in_the_loop/" TargetMode="External" Id="Rabdd58f41f5b4147" /><Relationship Type="http://schemas.openxmlformats.org/officeDocument/2006/relationships/hyperlink" Target="https://modelcontextprotocol.io/specification/draft/client/elicitation" TargetMode="External" Id="R9540268ddf884d4f" /><Relationship Type="http://schemas.openxmlformats.org/officeDocument/2006/relationships/notesSlide" Target="/ppt/notesSlides/notesSlide23.xml" Id="R445bb6feb9214a7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337a0c6114a4a" /><Relationship Type="http://schemas.openxmlformats.org/officeDocument/2006/relationships/hyperlink" Target="https://www.w3.org/TR/prov-o/" TargetMode="External" Id="R1569d348a10042d7" /><Relationship Type="http://schemas.openxmlformats.org/officeDocument/2006/relationships/hyperlink" Target="https://research.google/pubs/measuring-the-user-experience-on-a-large-scale-user-centered-metrics-for-web-applications/" TargetMode="External" Id="R32a5aeabf6514c2f" /><Relationship Type="http://schemas.openxmlformats.org/officeDocument/2006/relationships/notesSlide" Target="/ppt/notesSlides/notesSlide24.xml" Id="R882592156c8c482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B715578-E22E-488D-AF4B-55770B0D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93D88B7-E996-42CC-BF8D-4032A2D3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F9680C2E-A317-4C5E-AEA3-8D1ECC1E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" y="1625918"/>
            <a:ext cx="4422056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3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未来办公智能体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0093AA40-AAC0-43D3-9EAF-D557D50F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" y="2311718"/>
            <a:ext cx="3727361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35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从一次回答到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0A0E0AF2-7853-4026-8576-B212CE8A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" y="2997518"/>
            <a:ext cx="4342238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35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可治理工作系统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68CCDC5A-99CF-4114-AF98-CB38C79B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456" y="3806190"/>
            <a:ext cx="341071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技术演进、主流方案与办公场景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CFBE839-0A7A-4C02-9C0C-4E96B6D3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456" y="4130040"/>
            <a:ext cx="171450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与前台交互影响</a:t>
            </a:r>
          </a:p>
        </p:txBody>
      </p:sp>
      <p:sp>
        <p:nvSpPr>
          <p:cNvPr id="21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B9259938-C638-49EE-B27C-72450E2F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0" y="857250"/>
            <a:ext cx="5791200" cy="4762500"/>
          </a:xfrm>
          <a:prstGeom xmlns:a="http://schemas.openxmlformats.org/drawingml/2006/main" prst="roundRect">
            <a:avLst>
              <a:gd name="adj" fmla="val 1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pic>
        <p:nvPicPr>
          <p:cNvPr id="41" name="Imag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a7e659aa7347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276109" y="1333500"/>
            <a:ext cx="5049982" cy="3857625"/>
          </a:xfrm>
          <a:prstGeom xmlns:a="http://schemas.openxmlformats.org/drawingml/2006/main" prst="rect">
            <a:avLst/>
          </a:prstGeom>
        </p:spPr>
      </p:pic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C85E010A-CA14-4B4B-AA09-C0B2317C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3985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01 / 24</a:t>
            </a:r>
          </a:p>
        </p:txBody>
      </p:sp>
    </p:spTree>
    <p:extLst>
      <p:ext uri="{BB962C8B-B14F-4D97-AF65-F5344CB8AC3E}">
        <p14:creationId xmlns:p14="http://schemas.microsoft.com/office/powerpoint/2010/main" val="17780586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38E8D2B-E5C8-4CE7-AD7E-A58330E8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A46E4946-A662-42D0-A363-27C8208C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BF51B341-72F4-4AEB-8CD2-46E1D211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5399322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这次改版带来的能力跃迁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3D9A681F-021D-4F98-9E32-4F7C40EA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4632" y="1278255"/>
            <a:ext cx="7501631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三类控制不变，验证对象从“回答”扩展到“真实办公成果”</a:t>
            </a:r>
          </a:p>
        </p:txBody>
      </p:sp>
      <p:sp>
        <p:nvSpPr>
          <p:cNvPr id="12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DD1BB71-904C-454E-8111-1BDB95A3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2286000"/>
            <a:ext cx="3390900" cy="2286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13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EE59030-AB7F-40DB-938F-84F64681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2286000"/>
            <a:ext cx="3390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CD88A378-4B52-4D08-9CC3-096F684F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6775" y="2667000"/>
            <a:ext cx="23812" cy="71438"/>
          </a:xfrm>
          <a:custGeom xmlns:a="http://schemas.openxmlformats.org/drawingml/2006/main">
            <a:rect l="l" t="t" r="r" b="b"/>
            <a:pathLst>
              <a:path w="23812" h="71438">
                <a:moveTo>
                  <a:pt x="0" y="0"/>
                </a:moveTo>
                <a:lnTo>
                  <a:pt x="0" y="47625"/>
                </a:lnTo>
                <a:lnTo>
                  <a:pt x="23812" y="7143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01DDF89E-BEA7-46F0-8B2D-98223258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0214" y="2605806"/>
            <a:ext cx="219694" cy="224739"/>
          </a:xfrm>
          <a:custGeom xmlns:a="http://schemas.openxmlformats.org/drawingml/2006/main">
            <a:rect l="l" t="t" r="r" b="b"/>
            <a:pathLst>
              <a:path w="219694" h="224739">
                <a:moveTo>
                  <a:pt x="0" y="96913"/>
                </a:moveTo>
                <a:cubicBezTo>
                  <a:pt x="5524" y="42685"/>
                  <a:pt x="50876" y="1245"/>
                  <a:pt x="105381" y="623"/>
                </a:cubicBezTo>
                <a:cubicBezTo>
                  <a:pt x="159885" y="0"/>
                  <a:pt x="206172" y="40393"/>
                  <a:pt x="212933" y="94481"/>
                </a:cubicBezTo>
                <a:cubicBezTo>
                  <a:pt x="219694" y="148568"/>
                  <a:pt x="184774" y="199112"/>
                  <a:pt x="131794" y="211925"/>
                </a:cubicBezTo>
                <a:cubicBezTo>
                  <a:pt x="78813" y="224739"/>
                  <a:pt x="24655" y="195737"/>
                  <a:pt x="5953" y="144538"/>
                </a:cubicBezTo>
                <a:moveTo>
                  <a:pt x="0" y="204069"/>
                </a:moveTo>
                <a:lnTo>
                  <a:pt x="0" y="144538"/>
                </a:lnTo>
                <a:lnTo>
                  <a:pt x="59531" y="14453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92473466-7DE3-4DA0-8F66-4B5E7C11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1382" y="2573655"/>
            <a:ext cx="1947977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Demo 1 · 持续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6598C3AE-05AE-49BC-B890-5A96E54C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4756" y="3044190"/>
            <a:ext cx="1956816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同一任务跨轮推进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7B34C6E0-6300-49D1-9F6F-05930BAD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423" y="4129564"/>
            <a:ext cx="235584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看清为什么停、从哪里继续</a:t>
            </a:r>
          </a:p>
        </p:txBody>
      </p:sp>
      <p:sp>
        <p:nvSpPr>
          <p:cNvPr id="22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6E48E7C5-DD8A-40CA-AED2-7FC8CF91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71950" y="2286000"/>
            <a:ext cx="3390900" cy="2286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2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819EA8BD-4656-4A16-BD38-3386BD4D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71950" y="2286000"/>
            <a:ext cx="3390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9CE2D4C5-8847-4259-A98E-93B805E8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60081" y="2762250"/>
            <a:ext cx="47625" cy="47625"/>
          </a:xfrm>
          <a:custGeom xmlns:a="http://schemas.openxmlformats.org/drawingml/2006/main">
            <a:rect l="l" t="t" r="r" b="b"/>
            <a:pathLst>
              <a:path w="47625" h="47625">
                <a:moveTo>
                  <a:pt x="0" y="23812"/>
                </a:moveTo>
                <a:cubicBezTo>
                  <a:pt x="0" y="36964"/>
                  <a:pt x="10661" y="47625"/>
                  <a:pt x="23812" y="47625"/>
                </a:cubicBezTo>
                <a:cubicBezTo>
                  <a:pt x="36964" y="47625"/>
                  <a:pt x="47625" y="36964"/>
                  <a:pt x="47625" y="23812"/>
                </a:cubicBezTo>
                <a:cubicBezTo>
                  <a:pt x="47625" y="10661"/>
                  <a:pt x="36964" y="0"/>
                  <a:pt x="23812" y="0"/>
                </a:cubicBezTo>
                <a:cubicBezTo>
                  <a:pt x="10661" y="0"/>
                  <a:pt x="0" y="10661"/>
                  <a:pt x="0" y="2381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D182A56E-B4B1-4410-B49D-925D111B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60081" y="2619375"/>
            <a:ext cx="47625" cy="47625"/>
          </a:xfrm>
          <a:custGeom xmlns:a="http://schemas.openxmlformats.org/drawingml/2006/main">
            <a:rect l="l" t="t" r="r" b="b"/>
            <a:pathLst>
              <a:path w="47625" h="47625">
                <a:moveTo>
                  <a:pt x="0" y="23812"/>
                </a:moveTo>
                <a:cubicBezTo>
                  <a:pt x="0" y="36964"/>
                  <a:pt x="10661" y="47625"/>
                  <a:pt x="23812" y="47625"/>
                </a:cubicBezTo>
                <a:cubicBezTo>
                  <a:pt x="36964" y="47625"/>
                  <a:pt x="47625" y="36964"/>
                  <a:pt x="47625" y="23812"/>
                </a:cubicBezTo>
                <a:cubicBezTo>
                  <a:pt x="47625" y="10661"/>
                  <a:pt x="36964" y="0"/>
                  <a:pt x="23812" y="0"/>
                </a:cubicBezTo>
                <a:cubicBezTo>
                  <a:pt x="10661" y="0"/>
                  <a:pt x="0" y="10661"/>
                  <a:pt x="0" y="2381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5837DCB1-248C-43B8-942B-70DD6D0C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9144" y="2619375"/>
            <a:ext cx="47625" cy="47625"/>
          </a:xfrm>
          <a:custGeom xmlns:a="http://schemas.openxmlformats.org/drawingml/2006/main">
            <a:rect l="l" t="t" r="r" b="b"/>
            <a:pathLst>
              <a:path w="47625" h="47625">
                <a:moveTo>
                  <a:pt x="0" y="23812"/>
                </a:moveTo>
                <a:cubicBezTo>
                  <a:pt x="0" y="36964"/>
                  <a:pt x="10661" y="47625"/>
                  <a:pt x="23812" y="47625"/>
                </a:cubicBezTo>
                <a:cubicBezTo>
                  <a:pt x="36964" y="47625"/>
                  <a:pt x="47625" y="36964"/>
                  <a:pt x="47625" y="23812"/>
                </a:cubicBezTo>
                <a:cubicBezTo>
                  <a:pt x="47625" y="10661"/>
                  <a:pt x="36964" y="0"/>
                  <a:pt x="23812" y="0"/>
                </a:cubicBezTo>
                <a:cubicBezTo>
                  <a:pt x="10661" y="0"/>
                  <a:pt x="0" y="10661"/>
                  <a:pt x="0" y="2381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A94E7608-5A51-4B67-A11A-8B66DF44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3894" y="2667000"/>
            <a:ext cx="9525" cy="95250"/>
          </a:xfrm>
          <a:custGeom xmlns:a="http://schemas.openxmlformats.org/drawingml/2006/main">
            <a:rect l="l" t="t" r="r" b="b"/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E91634E9-9315-481F-85F8-B3EEA76C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07706" y="2702719"/>
            <a:ext cx="95250" cy="83344"/>
          </a:xfrm>
          <a:custGeom xmlns:a="http://schemas.openxmlformats.org/drawingml/2006/main">
            <a:rect l="l" t="t" r="r" b="b"/>
            <a:pathLst>
              <a:path w="95250" h="83344">
                <a:moveTo>
                  <a:pt x="0" y="83344"/>
                </a:moveTo>
                <a:lnTo>
                  <a:pt x="71438" y="83344"/>
                </a:lnTo>
                <a:cubicBezTo>
                  <a:pt x="84589" y="83344"/>
                  <a:pt x="95250" y="72683"/>
                  <a:pt x="95250" y="59531"/>
                </a:cubicBez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540953B0-407B-4497-8EAA-F721B1ED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7238" y="2702719"/>
            <a:ext cx="71438" cy="35719"/>
          </a:xfrm>
          <a:custGeom xmlns:a="http://schemas.openxmlformats.org/drawingml/2006/main">
            <a:rect l="l" t="t" r="r" b="b"/>
            <a:pathLst>
              <a:path w="71438" h="35719">
                <a:moveTo>
                  <a:pt x="0" y="35719"/>
                </a:moveTo>
                <a:lnTo>
                  <a:pt x="35719" y="0"/>
                </a:lnTo>
                <a:lnTo>
                  <a:pt x="71438" y="3571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E0669F03-66E1-45A6-B2F8-D6131648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8032" y="2573655"/>
            <a:ext cx="1947977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Demo 2 · 协作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7EF7C2A0-11A8-47EA-864D-D8B2E812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1406" y="3044190"/>
            <a:ext cx="1956816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复杂任务按需组织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4E0C4C76-1F4D-478A-B90E-FC175EAE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4073" y="4129564"/>
            <a:ext cx="235584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2E7D32"/>
                </a:solidFill>
                <a:latin typeface="Segoe UI Semibold"/>
                <a:ea typeface="Segoe UI Semibold"/>
                <a:cs typeface="Segoe UI Semibold"/>
              </a:rPr>
              <a:t>看清依赖关系和待确认事项</a:t>
            </a:r>
          </a:p>
        </p:txBody>
      </p:sp>
      <p:sp>
        <p:nvSpPr>
          <p:cNvPr id="36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A1C1882F-5AC1-4943-9E90-8390995E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48600" y="2286000"/>
            <a:ext cx="3848100" cy="2286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37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C1980E7F-3C25-4BCA-86F1-4305F16A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48600" y="2286000"/>
            <a:ext cx="384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C6D79606-9016-4B66-BE38-569A27A3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96851" y="2607469"/>
            <a:ext cx="232508" cy="212479"/>
          </a:xfrm>
          <a:custGeom xmlns:a="http://schemas.openxmlformats.org/drawingml/2006/main">
            <a:rect l="l" t="t" r="r" b="b"/>
            <a:pathLst>
              <a:path w="232508" h="212479">
                <a:moveTo>
                  <a:pt x="116795" y="212479"/>
                </a:moveTo>
                <a:cubicBezTo>
                  <a:pt x="42208" y="189358"/>
                  <a:pt x="0" y="110638"/>
                  <a:pt x="22021" y="35719"/>
                </a:cubicBezTo>
                <a:cubicBezTo>
                  <a:pt x="59115" y="37416"/>
                  <a:pt x="95413" y="24605"/>
                  <a:pt x="123224" y="0"/>
                </a:cubicBezTo>
                <a:cubicBezTo>
                  <a:pt x="151035" y="24605"/>
                  <a:pt x="187333" y="37416"/>
                  <a:pt x="224427" y="35719"/>
                </a:cubicBezTo>
                <a:cubicBezTo>
                  <a:pt x="232508" y="63212"/>
                  <a:pt x="232135" y="92499"/>
                  <a:pt x="223356" y="11977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48A8B298-031F-4FBA-BB53-A61FAAB3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55794" y="2774156"/>
            <a:ext cx="71438" cy="47625"/>
          </a:xfrm>
          <a:custGeom xmlns:a="http://schemas.openxmlformats.org/drawingml/2006/main">
            <a:rect l="l" t="t" r="r" b="b"/>
            <a:pathLst>
              <a:path w="71438" h="47625">
                <a:moveTo>
                  <a:pt x="0" y="23812"/>
                </a:moveTo>
                <a:lnTo>
                  <a:pt x="23812" y="47625"/>
                </a:lnTo>
                <a:lnTo>
                  <a:pt x="714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613D30C4-C2BF-4CE1-B0F7-1A2FAC66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04682" y="2573655"/>
            <a:ext cx="1947977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Demo 3 · 治理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48243C96-280A-46B2-92B2-D2B5CBBA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68056" y="3044190"/>
            <a:ext cx="219913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真实动作前展示后果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038D71ED-4955-43EF-B810-9366A193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70723" y="4129564"/>
            <a:ext cx="271629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B54708"/>
                </a:solidFill>
                <a:latin typeface="Segoe UI Semibold"/>
                <a:ea typeface="Segoe UI Semibold"/>
                <a:cs typeface="Segoe UI Semibold"/>
              </a:rPr>
              <a:t>看清会改变什么、什么不会发生</a:t>
            </a:r>
          </a:p>
        </p:txBody>
      </p:sp>
      <p:sp>
        <p:nvSpPr>
          <p:cNvPr id="47" name="Freeform 47">
            <a:extLst xmlns:a="http://schemas.openxmlformats.org/drawingml/2006/main">
              <a:ext uri="{FF2B5EF4-FFF2-40B4-BE49-F238E27FC236}">
                <a16:creationId xmlns:a16="http://schemas.microsoft.com/office/drawing/2014/main" id="{B7964AD5-5CEC-4B00-B50E-F38BBDAE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950" y="5181600"/>
            <a:ext cx="9944100" cy="9525"/>
          </a:xfrm>
          <a:custGeom xmlns:a="http://schemas.openxmlformats.org/drawingml/2006/main">
            <a:rect l="l" t="t" r="r" b="b"/>
            <a:pathLst>
              <a:path w="9944100" h="9525">
                <a:moveTo>
                  <a:pt x="0" y="0"/>
                </a:moveTo>
                <a:lnTo>
                  <a:pt x="9944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769E0"/>
            </a:solidFill>
          </a:ln>
        </p:spPr>
      </p:sp>
      <p:sp>
        <p:nvSpPr>
          <p:cNvPr id="48" name="Ellipse 48">
            <a:extLst xmlns:a="http://schemas.openxmlformats.org/drawingml/2006/main">
              <a:ext uri="{FF2B5EF4-FFF2-40B4-BE49-F238E27FC236}">
                <a16:creationId xmlns:a16="http://schemas.microsoft.com/office/drawing/2014/main" id="{1C18CC42-D4AA-4E2B-8E1D-17B6A62E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1550" y="50292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70966C71-D604-4A8F-B761-91F0DF11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56182" y="4878705"/>
            <a:ext cx="6940889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核心升级：智能体进展必须落到可核对的工作事实</a:t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6ABD4ECB-7B54-4502-A799-F953B279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63246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依据：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6dfa6b2e28dc4a7a"/>
              </a:rPr>
              <a:t>microsoft.com/research/.../human-ai-interaction</a:t>
            </a: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 ·  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71fa3f13ebbf4cf9"/>
              </a:rPr>
              <a:t>arxiv.org/abs/2210.03629</a:t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5291F2CA-A66F-4AAC-921E-33E3A111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02 / 24</a:t>
            </a:r>
          </a:p>
        </p:txBody>
      </p:sp>
    </p:spTree>
    <p:extLst>
      <p:ext uri="{BB962C8B-B14F-4D97-AF65-F5344CB8AC3E}">
        <p14:creationId xmlns:p14="http://schemas.microsoft.com/office/powerpoint/2010/main" val="10427972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7330176-6432-4296-B6BD-A4B266AA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A72602AC-7B8A-4293-90B2-711647D8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7F588843-1278-446C-889B-1CA49E77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6862305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一个底座、两层增强、三类控制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C6DCEC65-9958-4B2C-B236-24590036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6156" y="1596390"/>
            <a:ext cx="335134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三类控制：决定“能不能继续”</a:t>
            </a:r>
          </a:p>
        </p:txBody>
      </p:sp>
      <p:sp>
        <p:nvSpPr>
          <p:cNvPr id="11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1C4D3A0-51CB-44FC-928F-69EC1D6B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2000250"/>
            <a:ext cx="25908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A3AA0D2C-D04A-4DD2-B02C-13266AF8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256" y="2304256"/>
            <a:ext cx="20637" cy="20637"/>
          </a:xfrm>
          <a:custGeom xmlns:a="http://schemas.openxmlformats.org/drawingml/2006/main">
            <a:rect l="l" t="t" r="r" b="b"/>
            <a:pathLst>
              <a:path w="20637" h="20637">
                <a:moveTo>
                  <a:pt x="0" y="10319"/>
                </a:moveTo>
                <a:cubicBezTo>
                  <a:pt x="0" y="16018"/>
                  <a:pt x="4620" y="20637"/>
                  <a:pt x="10319" y="20637"/>
                </a:cubicBezTo>
                <a:cubicBezTo>
                  <a:pt x="16018" y="20637"/>
                  <a:pt x="20637" y="16018"/>
                  <a:pt x="20637" y="10319"/>
                </a:cubicBezTo>
                <a:cubicBezTo>
                  <a:pt x="20637" y="4620"/>
                  <a:pt x="16018" y="0"/>
                  <a:pt x="10319" y="0"/>
                </a:cubicBezTo>
                <a:cubicBezTo>
                  <a:pt x="4620" y="0"/>
                  <a:pt x="0" y="4620"/>
                  <a:pt x="0" y="1031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1BAA3F0-BD6B-4471-B733-6A9B9D51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8981" y="2262981"/>
            <a:ext cx="103187" cy="103187"/>
          </a:xfrm>
          <a:custGeom xmlns:a="http://schemas.openxmlformats.org/drawingml/2006/main">
            <a:rect l="l" t="t" r="r" b="b"/>
            <a:pathLst>
              <a:path w="103187" h="103187">
                <a:moveTo>
                  <a:pt x="51594" y="0"/>
                </a:moveTo>
                <a:cubicBezTo>
                  <a:pt x="23099" y="0"/>
                  <a:pt x="0" y="23099"/>
                  <a:pt x="0" y="51594"/>
                </a:cubicBezTo>
                <a:cubicBezTo>
                  <a:pt x="0" y="80088"/>
                  <a:pt x="23099" y="103187"/>
                  <a:pt x="51594" y="103187"/>
                </a:cubicBezTo>
                <a:cubicBezTo>
                  <a:pt x="80088" y="103187"/>
                  <a:pt x="103187" y="80088"/>
                  <a:pt x="103187" y="51594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1DBA61AF-1163-4802-B18A-E7C13789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9749" y="2217875"/>
            <a:ext cx="197464" cy="197481"/>
          </a:xfrm>
          <a:custGeom xmlns:a="http://schemas.openxmlformats.org/drawingml/2006/main">
            <a:rect l="l" t="t" r="r" b="b"/>
            <a:pathLst>
              <a:path w="197464" h="197481">
                <a:moveTo>
                  <a:pt x="111144" y="4399"/>
                </a:moveTo>
                <a:cubicBezTo>
                  <a:pt x="71936" y="0"/>
                  <a:pt x="34229" y="20855"/>
                  <a:pt x="17114" y="56404"/>
                </a:cubicBezTo>
                <a:cubicBezTo>
                  <a:pt x="0" y="91952"/>
                  <a:pt x="7215" y="134434"/>
                  <a:pt x="35106" y="162340"/>
                </a:cubicBezTo>
                <a:cubicBezTo>
                  <a:pt x="62997" y="190245"/>
                  <a:pt x="105476" y="197481"/>
                  <a:pt x="141033" y="180385"/>
                </a:cubicBezTo>
                <a:cubicBezTo>
                  <a:pt x="176590" y="163288"/>
                  <a:pt x="197464" y="125591"/>
                  <a:pt x="193085" y="8638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0481D914-3569-4F71-A369-E5390880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1531" y="2221706"/>
            <a:ext cx="61912" cy="61912"/>
          </a:xfrm>
          <a:custGeom xmlns:a="http://schemas.openxmlformats.org/drawingml/2006/main">
            <a:rect l="l" t="t" r="r" b="b"/>
            <a:pathLst>
              <a:path w="61912" h="61912">
                <a:moveTo>
                  <a:pt x="0" y="30956"/>
                </a:moveTo>
                <a:lnTo>
                  <a:pt x="0" y="61912"/>
                </a:lnTo>
                <a:lnTo>
                  <a:pt x="30956" y="61912"/>
                </a:lnTo>
                <a:lnTo>
                  <a:pt x="61912" y="30956"/>
                </a:lnTo>
                <a:lnTo>
                  <a:pt x="30956" y="30956"/>
                </a:lnTo>
                <a:lnTo>
                  <a:pt x="30956" y="0"/>
                </a:lnTo>
                <a:lnTo>
                  <a:pt x="0" y="3095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F9A0F07F-318F-44B8-B0FD-81AF2A84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0575" y="2283618"/>
            <a:ext cx="30956" cy="30956"/>
          </a:xfrm>
          <a:custGeom xmlns:a="http://schemas.openxmlformats.org/drawingml/2006/main">
            <a:rect l="l" t="t" r="r" b="b"/>
            <a:pathLst>
              <a:path w="30956" h="30956">
                <a:moveTo>
                  <a:pt x="30956" y="0"/>
                </a:moveTo>
                <a:lnTo>
                  <a:pt x="0" y="3095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7A97F416-D1BF-4BE8-9F7D-BD0B1BBD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9556" y="2186940"/>
            <a:ext cx="158629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任务控制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15880296-B3A8-49F7-BD95-69740D8A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0273" y="2529364"/>
            <a:ext cx="241592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目标、范围、预算、暂停、停止</a:t>
            </a:r>
          </a:p>
        </p:txBody>
      </p:sp>
      <p:sp>
        <p:nvSpPr>
          <p:cNvPr id="21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2C9FE3A-D97F-4DFE-958A-34E2BE60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3219450"/>
            <a:ext cx="25908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C6BFD831-FA0F-4640-A15E-E2EE0D0C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618" y="3502818"/>
            <a:ext cx="61912" cy="61912"/>
          </a:xfrm>
          <a:custGeom xmlns:a="http://schemas.openxmlformats.org/drawingml/2006/main">
            <a:rect l="l" t="t" r="r" b="b"/>
            <a:pathLst>
              <a:path w="61912" h="61912">
                <a:moveTo>
                  <a:pt x="0" y="61912"/>
                </a:moveTo>
                <a:lnTo>
                  <a:pt x="619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81E8C63-17AA-47C0-9688-85B9405C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256" y="3446183"/>
            <a:ext cx="97895" cy="97910"/>
          </a:xfrm>
          <a:custGeom xmlns:a="http://schemas.openxmlformats.org/drawingml/2006/main">
            <a:rect l="l" t="t" r="r" b="b"/>
            <a:pathLst>
              <a:path w="97895" h="97910">
                <a:moveTo>
                  <a:pt x="0" y="25679"/>
                </a:moveTo>
                <a:lnTo>
                  <a:pt x="4778" y="20148"/>
                </a:lnTo>
                <a:cubicBezTo>
                  <a:pt x="24929" y="0"/>
                  <a:pt x="57598" y="2"/>
                  <a:pt x="77746" y="20154"/>
                </a:cubicBezTo>
                <a:cubicBezTo>
                  <a:pt x="97895" y="40305"/>
                  <a:pt x="97892" y="72974"/>
                  <a:pt x="77741" y="93122"/>
                </a:cubicBezTo>
                <a:lnTo>
                  <a:pt x="72231" y="9791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DCE4C404-4D37-4B8A-8DB6-0E5266CB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8023" y="3523456"/>
            <a:ext cx="92870" cy="97889"/>
          </a:xfrm>
          <a:custGeom xmlns:a="http://schemas.openxmlformats.org/drawingml/2006/main">
            <a:rect l="l" t="t" r="r" b="b"/>
            <a:pathLst>
              <a:path w="92870" h="97889">
                <a:moveTo>
                  <a:pt x="92870" y="72231"/>
                </a:moveTo>
                <a:lnTo>
                  <a:pt x="88773" y="77741"/>
                </a:lnTo>
                <a:cubicBezTo>
                  <a:pt x="68399" y="97889"/>
                  <a:pt x="35606" y="97889"/>
                  <a:pt x="15232" y="77741"/>
                </a:cubicBezTo>
                <a:cubicBezTo>
                  <a:pt x="5485" y="68104"/>
                  <a:pt x="0" y="54966"/>
                  <a:pt x="0" y="41259"/>
                </a:cubicBezTo>
                <a:cubicBezTo>
                  <a:pt x="0" y="27552"/>
                  <a:pt x="5485" y="14415"/>
                  <a:pt x="15232" y="4778"/>
                </a:cubicBezTo>
                <a:lnTo>
                  <a:pt x="2063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C4158181-748D-4A30-8C30-6B33EF62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9556" y="3406140"/>
            <a:ext cx="208192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证据控制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D05E5D6E-B00F-4AA4-BB6B-DBC61402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0273" y="3748564"/>
            <a:ext cx="241592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来源、冲突、验证、采用与拒绝</a:t>
            </a:r>
          </a:p>
        </p:txBody>
      </p:sp>
      <p:sp>
        <p:nvSpPr>
          <p:cNvPr id="29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ACA89BB4-72CB-4C73-B3A3-CBD57969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4438650"/>
            <a:ext cx="25908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A4A5CE2B-80D3-48FA-880D-C1F83813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3781" y="4660106"/>
            <a:ext cx="201506" cy="184148"/>
          </a:xfrm>
          <a:custGeom xmlns:a="http://schemas.openxmlformats.org/drawingml/2006/main">
            <a:rect l="l" t="t" r="r" b="b"/>
            <a:pathLst>
              <a:path w="201506" h="184148">
                <a:moveTo>
                  <a:pt x="101222" y="184148"/>
                </a:moveTo>
                <a:cubicBezTo>
                  <a:pt x="36580" y="164110"/>
                  <a:pt x="0" y="95886"/>
                  <a:pt x="19085" y="30956"/>
                </a:cubicBezTo>
                <a:cubicBezTo>
                  <a:pt x="51233" y="32427"/>
                  <a:pt x="82691" y="21324"/>
                  <a:pt x="106794" y="0"/>
                </a:cubicBezTo>
                <a:cubicBezTo>
                  <a:pt x="130897" y="21324"/>
                  <a:pt x="162355" y="32427"/>
                  <a:pt x="194503" y="30956"/>
                </a:cubicBezTo>
                <a:cubicBezTo>
                  <a:pt x="201506" y="54783"/>
                  <a:pt x="201183" y="80166"/>
                  <a:pt x="193575" y="10380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6E23B2E6-8317-4C99-9BF8-B5C511A1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1531" y="4804568"/>
            <a:ext cx="61912" cy="41275"/>
          </a:xfrm>
          <a:custGeom xmlns:a="http://schemas.openxmlformats.org/drawingml/2006/main">
            <a:rect l="l" t="t" r="r" b="b"/>
            <a:pathLst>
              <a:path w="61912" h="41275">
                <a:moveTo>
                  <a:pt x="0" y="20637"/>
                </a:moveTo>
                <a:lnTo>
                  <a:pt x="20637" y="41275"/>
                </a:lnTo>
                <a:lnTo>
                  <a:pt x="619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740F38D2-BDF3-47B5-A8F0-3890A3DE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9556" y="4625340"/>
            <a:ext cx="1801988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动作控制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69A483B2-0200-4C9A-B8B5-578CF945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0273" y="4967764"/>
            <a:ext cx="2481905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风险、审批、执行许可、动作回执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FE324429-8DF7-4523-BE59-579C54CE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81756" y="1596390"/>
            <a:ext cx="408919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两层增强：任务越复杂，运行时越强</a:t>
            </a:r>
          </a:p>
        </p:txBody>
      </p:sp>
      <p:sp>
        <p:nvSpPr>
          <p:cNvPr id="38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CF20C72E-1DAA-4AC7-9840-B638CCD5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90900" y="2000250"/>
            <a:ext cx="512445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A1AFD19C-9322-4004-97A9-1F9951EA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36963" y="2387601"/>
            <a:ext cx="44450" cy="44450"/>
          </a:xfrm>
          <a:custGeom xmlns:a="http://schemas.openxmlformats.org/drawingml/2006/main">
            <a:rect l="l" t="t" r="r" b="b"/>
            <a:pathLst>
              <a:path w="44450" h="44450">
                <a:moveTo>
                  <a:pt x="0" y="22225"/>
                </a:moveTo>
                <a:cubicBezTo>
                  <a:pt x="0" y="34500"/>
                  <a:pt x="9950" y="44450"/>
                  <a:pt x="22225" y="44450"/>
                </a:cubicBezTo>
                <a:cubicBezTo>
                  <a:pt x="34500" y="44450"/>
                  <a:pt x="44450" y="34500"/>
                  <a:pt x="44450" y="22225"/>
                </a:cubicBezTo>
                <a:cubicBezTo>
                  <a:pt x="44450" y="9950"/>
                  <a:pt x="34500" y="0"/>
                  <a:pt x="22225" y="0"/>
                </a:cubicBezTo>
                <a:cubicBezTo>
                  <a:pt x="9950" y="0"/>
                  <a:pt x="0" y="9950"/>
                  <a:pt x="0" y="222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D3618E1E-C8AA-4C16-9D81-F76D12D8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36963" y="2254250"/>
            <a:ext cx="44450" cy="44450"/>
          </a:xfrm>
          <a:custGeom xmlns:a="http://schemas.openxmlformats.org/drawingml/2006/main">
            <a:rect l="l" t="t" r="r" b="b"/>
            <a:pathLst>
              <a:path w="44450" h="44450">
                <a:moveTo>
                  <a:pt x="0" y="22225"/>
                </a:moveTo>
                <a:cubicBezTo>
                  <a:pt x="0" y="34500"/>
                  <a:pt x="9950" y="44450"/>
                  <a:pt x="22225" y="44450"/>
                </a:cubicBezTo>
                <a:cubicBezTo>
                  <a:pt x="34500" y="44450"/>
                  <a:pt x="44450" y="34500"/>
                  <a:pt x="44450" y="22225"/>
                </a:cubicBezTo>
                <a:cubicBezTo>
                  <a:pt x="44450" y="9950"/>
                  <a:pt x="34500" y="0"/>
                  <a:pt x="22225" y="0"/>
                </a:cubicBezTo>
                <a:cubicBezTo>
                  <a:pt x="9950" y="0"/>
                  <a:pt x="0" y="9950"/>
                  <a:pt x="0" y="222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73D3483E-2A6A-4274-989D-55F39B2A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48088" y="2254250"/>
            <a:ext cx="44450" cy="44450"/>
          </a:xfrm>
          <a:custGeom xmlns:a="http://schemas.openxmlformats.org/drawingml/2006/main">
            <a:rect l="l" t="t" r="r" b="b"/>
            <a:pathLst>
              <a:path w="44450" h="44450">
                <a:moveTo>
                  <a:pt x="0" y="22225"/>
                </a:moveTo>
                <a:cubicBezTo>
                  <a:pt x="0" y="34500"/>
                  <a:pt x="9950" y="44450"/>
                  <a:pt x="22225" y="44450"/>
                </a:cubicBezTo>
                <a:cubicBezTo>
                  <a:pt x="34500" y="44450"/>
                  <a:pt x="44450" y="34500"/>
                  <a:pt x="44450" y="22225"/>
                </a:cubicBezTo>
                <a:cubicBezTo>
                  <a:pt x="44450" y="9950"/>
                  <a:pt x="34500" y="0"/>
                  <a:pt x="22225" y="0"/>
                </a:cubicBezTo>
                <a:cubicBezTo>
                  <a:pt x="9950" y="0"/>
                  <a:pt x="0" y="9950"/>
                  <a:pt x="0" y="222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7912FE70-AC4F-46B7-A1B9-67A1711D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59188" y="2298700"/>
            <a:ext cx="9525" cy="88900"/>
          </a:xfrm>
          <a:custGeom xmlns:a="http://schemas.openxmlformats.org/drawingml/2006/main">
            <a:rect l="l" t="t" r="r" b="b"/>
            <a:pathLst>
              <a:path w="952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FE148198-CB67-4B0C-BEA6-05A33D78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1413" y="2332038"/>
            <a:ext cx="88900" cy="77788"/>
          </a:xfrm>
          <a:custGeom xmlns:a="http://schemas.openxmlformats.org/drawingml/2006/main">
            <a:rect l="l" t="t" r="r" b="b"/>
            <a:pathLst>
              <a:path w="88900" h="77788">
                <a:moveTo>
                  <a:pt x="0" y="77788"/>
                </a:moveTo>
                <a:lnTo>
                  <a:pt x="66675" y="77788"/>
                </a:lnTo>
                <a:cubicBezTo>
                  <a:pt x="78950" y="77788"/>
                  <a:pt x="88900" y="67837"/>
                  <a:pt x="88900" y="55563"/>
                </a:cubicBezTo>
                <a:lnTo>
                  <a:pt x="88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5FFF0CF5-16F8-4F92-AE36-A1C835C1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36975" y="2332038"/>
            <a:ext cx="66675" cy="33338"/>
          </a:xfrm>
          <a:custGeom xmlns:a="http://schemas.openxmlformats.org/drawingml/2006/main">
            <a:rect l="l" t="t" r="r" b="b"/>
            <a:pathLst>
              <a:path w="66675" h="33338">
                <a:moveTo>
                  <a:pt x="0" y="33338"/>
                </a:moveTo>
                <a:lnTo>
                  <a:pt x="33338" y="0"/>
                </a:lnTo>
                <a:lnTo>
                  <a:pt x="66675" y="3333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001C356A-93D6-4D05-BFAC-B5274E68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73449" y="2192179"/>
            <a:ext cx="3640515" cy="308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增强 2：受治理的自适应协作</a:t>
            </a:r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4605D574-4E7B-44B5-8176-4F0557EC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75685" y="2507456"/>
            <a:ext cx="3616996" cy="220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当前：路线准入 → 工作包依赖图 → 最多 3 个只读执行单元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F2741B5-A2EB-4141-BFB4-3315650E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76447" y="2742724"/>
            <a:ext cx="4050682" cy="190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80">
                <a:solidFill>
                  <a:srgbClr val="B54708"/>
                </a:solidFill>
                <a:latin typeface="Segoe UI"/>
                <a:ea typeface="Segoe UI"/>
                <a:cs typeface="Segoe UI"/>
              </a:rPr>
              <a:t>下一步：持久队列、远程执行与多实例调度</a:t>
            </a:r>
          </a:p>
        </p:txBody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6CBACDD7-4756-406E-883D-090D1053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53125" y="3009900"/>
            <a:ext cx="9525" cy="209550"/>
          </a:xfrm>
          <a:custGeom xmlns:a="http://schemas.openxmlformats.org/drawingml/2006/main"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BD5DF"/>
            </a:solidFill>
          </a:ln>
        </p:spPr>
      </p:sp>
      <p:sp>
        <p:nvSpPr>
          <p:cNvPr id="52" name="Rectangle 52">
            <a:extLst xmlns:a="http://schemas.openxmlformats.org/drawingml/2006/main">
              <a:ext uri="{FF2B5EF4-FFF2-40B4-BE49-F238E27FC236}">
                <a16:creationId xmlns:a16="http://schemas.microsoft.com/office/drawing/2014/main" id="{4165D7C2-E437-490F-A65A-4917E8AF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90900" y="3219450"/>
            <a:ext cx="512445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53" name="Freeform 53">
            <a:extLst xmlns:a="http://schemas.openxmlformats.org/drawingml/2006/main">
              <a:ext uri="{FF2B5EF4-FFF2-40B4-BE49-F238E27FC236}">
                <a16:creationId xmlns:a16="http://schemas.microsoft.com/office/drawing/2014/main" id="{A79B8FDF-CB97-40A5-93D3-8E51992E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25850" y="3469163"/>
            <a:ext cx="177801" cy="82075"/>
          </a:xfrm>
          <a:custGeom xmlns:a="http://schemas.openxmlformats.org/drawingml/2006/main">
            <a:rect l="l" t="t" r="r" b="b"/>
            <a:pathLst>
              <a:path w="177801" h="82075">
                <a:moveTo>
                  <a:pt x="177801" y="82075"/>
                </a:moveTo>
                <a:cubicBezTo>
                  <a:pt x="172214" y="41876"/>
                  <a:pt x="140416" y="10388"/>
                  <a:pt x="100165" y="5194"/>
                </a:cubicBezTo>
                <a:cubicBezTo>
                  <a:pt x="59913" y="0"/>
                  <a:pt x="21164" y="22386"/>
                  <a:pt x="5556" y="59850"/>
                </a:cubicBezTo>
                <a:moveTo>
                  <a:pt x="0" y="15400"/>
                </a:moveTo>
                <a:lnTo>
                  <a:pt x="0" y="59850"/>
                </a:lnTo>
                <a:lnTo>
                  <a:pt x="44450" y="59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54" name="Freeform 54">
            <a:extLst xmlns:a="http://schemas.openxmlformats.org/drawingml/2006/main">
              <a:ext uri="{FF2B5EF4-FFF2-40B4-BE49-F238E27FC236}">
                <a16:creationId xmlns:a16="http://schemas.microsoft.com/office/drawing/2014/main" id="{7633F003-4D1A-4C84-A87C-8FE12219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25850" y="3573463"/>
            <a:ext cx="177801" cy="82075"/>
          </a:xfrm>
          <a:custGeom xmlns:a="http://schemas.openxmlformats.org/drawingml/2006/main">
            <a:rect l="l" t="t" r="r" b="b"/>
            <a:pathLst>
              <a:path w="177801" h="82075">
                <a:moveTo>
                  <a:pt x="0" y="0"/>
                </a:moveTo>
                <a:cubicBezTo>
                  <a:pt x="5587" y="40199"/>
                  <a:pt x="37384" y="71688"/>
                  <a:pt x="77636" y="76881"/>
                </a:cubicBezTo>
                <a:cubicBezTo>
                  <a:pt x="117888" y="82075"/>
                  <a:pt x="156637" y="59689"/>
                  <a:pt x="172244" y="22225"/>
                </a:cubicBezTo>
                <a:moveTo>
                  <a:pt x="177801" y="66675"/>
                </a:moveTo>
                <a:lnTo>
                  <a:pt x="177801" y="22225"/>
                </a:lnTo>
                <a:lnTo>
                  <a:pt x="133350" y="222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2C450CC4-7A8D-4F2A-AB98-A232A442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72306" y="3425190"/>
            <a:ext cx="3361006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增强 1：智能体控制循环</a:t>
            </a:r>
          </a:p>
        </p:txBody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29319758-343E-46F4-9F72-B8101479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74923" y="3767614"/>
            <a:ext cx="514324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长任务按轮推进，受影响分支单独补证，历史成果可恢复</a:t>
            </a:r>
          </a:p>
        </p:txBody>
      </p:sp>
      <p:sp>
        <p:nvSpPr>
          <p:cNvPr id="60" name="Freeform 60">
            <a:extLst xmlns:a="http://schemas.openxmlformats.org/drawingml/2006/main">
              <a:ext uri="{FF2B5EF4-FFF2-40B4-BE49-F238E27FC236}">
                <a16:creationId xmlns:a16="http://schemas.microsoft.com/office/drawing/2014/main" id="{7BA50BED-1351-478F-93FD-3E24ABED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53125" y="4229100"/>
            <a:ext cx="9525" cy="209550"/>
          </a:xfrm>
          <a:custGeom xmlns:a="http://schemas.openxmlformats.org/drawingml/2006/main"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BD5DF"/>
            </a:solidFill>
          </a:ln>
        </p:spPr>
      </p:sp>
      <p:sp>
        <p:nvSpPr>
          <p:cNvPr id="61" name="Rectangle 61">
            <a:extLst xmlns:a="http://schemas.openxmlformats.org/drawingml/2006/main">
              <a:ext uri="{FF2B5EF4-FFF2-40B4-BE49-F238E27FC236}">
                <a16:creationId xmlns:a16="http://schemas.microsoft.com/office/drawing/2014/main" id="{130652D5-27BF-49B8-8B21-30B90C37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90900" y="4438650"/>
            <a:ext cx="51244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>
            <a:noFill/>
          </a:ln>
        </p:spPr>
      </p:sp>
      <p:sp>
        <p:nvSpPr>
          <p:cNvPr id="62" name="Freeform 62">
            <a:extLst xmlns:a="http://schemas.openxmlformats.org/drawingml/2006/main">
              <a:ext uri="{FF2B5EF4-FFF2-40B4-BE49-F238E27FC236}">
                <a16:creationId xmlns:a16="http://schemas.microsoft.com/office/drawing/2014/main" id="{990FD43E-3A16-48FC-B3BE-0104484B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17119" y="4695825"/>
            <a:ext cx="214312" cy="95250"/>
          </a:xfrm>
          <a:custGeom xmlns:a="http://schemas.openxmlformats.org/drawingml/2006/main">
            <a:rect l="l" t="t" r="r" b="b"/>
            <a:pathLst>
              <a:path w="214312" h="95250">
                <a:moveTo>
                  <a:pt x="0" y="35719"/>
                </a:moveTo>
                <a:cubicBezTo>
                  <a:pt x="0" y="15992"/>
                  <a:pt x="15992" y="0"/>
                  <a:pt x="35719" y="0"/>
                </a:cubicBezTo>
                <a:lnTo>
                  <a:pt x="178594" y="0"/>
                </a:lnTo>
                <a:cubicBezTo>
                  <a:pt x="198321" y="0"/>
                  <a:pt x="214312" y="15992"/>
                  <a:pt x="214312" y="35719"/>
                </a:cubicBezTo>
                <a:lnTo>
                  <a:pt x="214312" y="59531"/>
                </a:lnTo>
                <a:cubicBezTo>
                  <a:pt x="214312" y="79258"/>
                  <a:pt x="198321" y="95250"/>
                  <a:pt x="178594" y="95250"/>
                </a:cubicBezTo>
                <a:lnTo>
                  <a:pt x="35719" y="95250"/>
                </a:lnTo>
                <a:cubicBezTo>
                  <a:pt x="15992" y="95250"/>
                  <a:pt x="0" y="79258"/>
                  <a:pt x="0" y="5953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3" name="Freeform 63">
            <a:extLst xmlns:a="http://schemas.openxmlformats.org/drawingml/2006/main">
              <a:ext uri="{FF2B5EF4-FFF2-40B4-BE49-F238E27FC236}">
                <a16:creationId xmlns:a16="http://schemas.microsoft.com/office/drawing/2014/main" id="{4AA43975-7CA9-44D9-A222-ECD3703C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17119" y="4791075"/>
            <a:ext cx="214312" cy="95250"/>
          </a:xfrm>
          <a:custGeom xmlns:a="http://schemas.openxmlformats.org/drawingml/2006/main">
            <a:rect l="l" t="t" r="r" b="b"/>
            <a:pathLst>
              <a:path w="214312" h="95250">
                <a:moveTo>
                  <a:pt x="0" y="35719"/>
                </a:moveTo>
                <a:cubicBezTo>
                  <a:pt x="0" y="15992"/>
                  <a:pt x="15992" y="0"/>
                  <a:pt x="35719" y="0"/>
                </a:cubicBezTo>
                <a:lnTo>
                  <a:pt x="178594" y="0"/>
                </a:lnTo>
                <a:cubicBezTo>
                  <a:pt x="198321" y="0"/>
                  <a:pt x="214312" y="15992"/>
                  <a:pt x="214312" y="35719"/>
                </a:cubicBezTo>
                <a:lnTo>
                  <a:pt x="214312" y="59531"/>
                </a:lnTo>
                <a:cubicBezTo>
                  <a:pt x="214312" y="79258"/>
                  <a:pt x="198321" y="95250"/>
                  <a:pt x="178594" y="95250"/>
                </a:cubicBezTo>
                <a:lnTo>
                  <a:pt x="35719" y="95250"/>
                </a:lnTo>
                <a:cubicBezTo>
                  <a:pt x="15992" y="95250"/>
                  <a:pt x="0" y="79258"/>
                  <a:pt x="0" y="59531"/>
                </a:cubicBezTo>
                <a:lnTo>
                  <a:pt x="0" y="3571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4" name="Freeform 64">
            <a:extLst xmlns:a="http://schemas.openxmlformats.org/drawingml/2006/main">
              <a:ext uri="{FF2B5EF4-FFF2-40B4-BE49-F238E27FC236}">
                <a16:creationId xmlns:a16="http://schemas.microsoft.com/office/drawing/2014/main" id="{638A4378-6CBA-4422-BAEB-AB7375DA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64744" y="4743450"/>
            <a:ext cx="9525" cy="9525"/>
          </a:xfrm>
          <a:custGeom xmlns:a="http://schemas.openxmlformats.org/drawingml/2006/main">
            <a:rect l="l" t="t" r="r" b="b"/>
            <a:pathLst>
              <a:path w="9525" h="9525">
                <a:moveTo>
                  <a:pt x="0" y="0"/>
                </a:moveTo>
                <a:lnTo>
                  <a:pt x="0" y="11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5" name="Freeform 65">
            <a:extLst xmlns:a="http://schemas.openxmlformats.org/drawingml/2006/main">
              <a:ext uri="{FF2B5EF4-FFF2-40B4-BE49-F238E27FC236}">
                <a16:creationId xmlns:a16="http://schemas.microsoft.com/office/drawing/2014/main" id="{EB7CFC32-8F53-4E32-A26B-2B23AAE5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64744" y="4838700"/>
            <a:ext cx="9525" cy="9525"/>
          </a:xfrm>
          <a:custGeom xmlns:a="http://schemas.openxmlformats.org/drawingml/2006/main">
            <a:rect l="l" t="t" r="r" b="b"/>
            <a:pathLst>
              <a:path w="9525" h="9525">
                <a:moveTo>
                  <a:pt x="0" y="0"/>
                </a:moveTo>
                <a:lnTo>
                  <a:pt x="0" y="11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7" name="TextBox 67">
            <a:extLst xmlns:a="http://schemas.openxmlformats.org/drawingml/2006/main">
              <a:ext uri="{FF2B5EF4-FFF2-40B4-BE49-F238E27FC236}">
                <a16:creationId xmlns:a16="http://schemas.microsoft.com/office/drawing/2014/main" id="{CC90294E-8DF7-4E51-B88D-88B94DE7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08882" y="4650105"/>
            <a:ext cx="4064452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底座：统一任务运行底座</a:t>
            </a:r>
          </a:p>
        </p:txBody>
      </p:sp>
      <p:sp>
        <p:nvSpPr>
          <p:cNvPr id="68" name="TextBox 68">
            <a:extLst xmlns:a="http://schemas.openxmlformats.org/drawingml/2006/main">
              <a:ext uri="{FF2B5EF4-FFF2-40B4-BE49-F238E27FC236}">
                <a16:creationId xmlns:a16="http://schemas.microsoft.com/office/drawing/2014/main" id="{A825F446-6BF9-47FA-84B8-018C2E38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74923" y="5043964"/>
            <a:ext cx="468055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稳定承接任务状态、执行能力、证据、策略与历史记录</a:t>
            </a:r>
          </a:p>
        </p:txBody>
      </p:sp>
      <p:sp>
        <p:nvSpPr>
          <p:cNvPr id="71" name="TextBox 71">
            <a:extLst xmlns:a="http://schemas.openxmlformats.org/drawingml/2006/main">
              <a:ext uri="{FF2B5EF4-FFF2-40B4-BE49-F238E27FC236}">
                <a16:creationId xmlns:a16="http://schemas.microsoft.com/office/drawing/2014/main" id="{CAAA74CE-0008-4326-9EC8-5533BA82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11006" y="1596390"/>
            <a:ext cx="2562606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前台最终只回答三件事</a:t>
            </a:r>
          </a:p>
        </p:txBody>
      </p:sp>
      <p:sp>
        <p:nvSpPr>
          <p:cNvPr id="72" name="Rectangle 72">
            <a:extLst xmlns:a="http://schemas.openxmlformats.org/drawingml/2006/main">
              <a:ext uri="{FF2B5EF4-FFF2-40B4-BE49-F238E27FC236}">
                <a16:creationId xmlns:a16="http://schemas.microsoft.com/office/drawing/2014/main" id="{E1B26533-A567-4865-8AAC-001E7EDD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20150" y="2000250"/>
            <a:ext cx="2876550" cy="3505200"/>
          </a:xfrm>
          <a:prstGeom xmlns:a="http://schemas.openxmlformats.org/drawingml/2006/main" prst="roundRect">
            <a:avLst>
              <a:gd name="adj" fmla="val 19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73" name="Ellipse 73">
            <a:extLst xmlns:a="http://schemas.openxmlformats.org/drawingml/2006/main">
              <a:ext uri="{FF2B5EF4-FFF2-40B4-BE49-F238E27FC236}">
                <a16:creationId xmlns:a16="http://schemas.microsoft.com/office/drawing/2014/main" id="{E9830093-7DF6-4A3C-BD70-DCE60E6E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53500" y="2247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74" name="TextBox 74">
            <a:extLst xmlns:a="http://schemas.openxmlformats.org/drawingml/2006/main">
              <a:ext uri="{FF2B5EF4-FFF2-40B4-BE49-F238E27FC236}">
                <a16:creationId xmlns:a16="http://schemas.microsoft.com/office/drawing/2014/main" id="{67A6957D-C599-4AFB-91EC-7696F912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68912" y="233886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5" name="TextBox 75">
            <a:extLst xmlns:a="http://schemas.openxmlformats.org/drawingml/2006/main">
              <a:ext uri="{FF2B5EF4-FFF2-40B4-BE49-F238E27FC236}">
                <a16:creationId xmlns:a16="http://schemas.microsoft.com/office/drawing/2014/main" id="{4CB61C3A-E0DE-403C-A0B8-4602F128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23273" y="2224564"/>
            <a:ext cx="127451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任务现在走到哪</a:t>
            </a:r>
          </a:p>
        </p:txBody>
      </p:sp>
      <p:sp>
        <p:nvSpPr>
          <p:cNvPr id="77" name="Freeform 77">
            <a:extLst xmlns:a="http://schemas.openxmlformats.org/drawingml/2006/main">
              <a:ext uri="{FF2B5EF4-FFF2-40B4-BE49-F238E27FC236}">
                <a16:creationId xmlns:a16="http://schemas.microsoft.com/office/drawing/2014/main" id="{E61E9AC7-4769-490A-8F76-FCA14612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48750" y="2895600"/>
            <a:ext cx="2419350" cy="9525"/>
          </a:xfrm>
          <a:custGeom xmlns:a="http://schemas.openxmlformats.org/drawingml/2006/main">
            <a:rect l="l" t="t" r="r" b="b"/>
            <a:pathLst>
              <a:path w="2419350" h="9525">
                <a:moveTo>
                  <a:pt x="0" y="0"/>
                </a:moveTo>
                <a:lnTo>
                  <a:pt x="2419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3E8ED"/>
            </a:solidFill>
          </a:ln>
        </p:spPr>
      </p:sp>
      <p:sp>
        <p:nvSpPr>
          <p:cNvPr id="78" name="Ellipse 78">
            <a:extLst xmlns:a="http://schemas.openxmlformats.org/drawingml/2006/main">
              <a:ext uri="{FF2B5EF4-FFF2-40B4-BE49-F238E27FC236}">
                <a16:creationId xmlns:a16="http://schemas.microsoft.com/office/drawing/2014/main" id="{9421D9E2-B343-4879-8AB3-D5BE2B72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5350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</p:sp>
      <p:sp>
        <p:nvSpPr>
          <p:cNvPr id="79" name="TextBox 79">
            <a:extLst xmlns:a="http://schemas.openxmlformats.org/drawingml/2006/main">
              <a:ext uri="{FF2B5EF4-FFF2-40B4-BE49-F238E27FC236}">
                <a16:creationId xmlns:a16="http://schemas.microsoft.com/office/drawing/2014/main" id="{EF433420-ACE2-4F28-A8A1-A2CD0FD6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68912" y="323421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80" name="TextBox 80">
            <a:extLst xmlns:a="http://schemas.openxmlformats.org/drawingml/2006/main">
              <a:ext uri="{FF2B5EF4-FFF2-40B4-BE49-F238E27FC236}">
                <a16:creationId xmlns:a16="http://schemas.microsoft.com/office/drawing/2014/main" id="{8A8839D3-F576-4DCF-AA3B-AF248BC1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23273" y="3119914"/>
            <a:ext cx="163495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当前结论凭什么成立</a:t>
            </a:r>
          </a:p>
        </p:txBody>
      </p:sp>
      <p:sp>
        <p:nvSpPr>
          <p:cNvPr id="82" name="Freeform 82">
            <a:extLst xmlns:a="http://schemas.openxmlformats.org/drawingml/2006/main">
              <a:ext uri="{FF2B5EF4-FFF2-40B4-BE49-F238E27FC236}">
                <a16:creationId xmlns:a16="http://schemas.microsoft.com/office/drawing/2014/main" id="{35CB09E2-8D32-44B0-B99E-68E8E6C6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48750" y="3790950"/>
            <a:ext cx="2419350" cy="9525"/>
          </a:xfrm>
          <a:custGeom xmlns:a="http://schemas.openxmlformats.org/drawingml/2006/main">
            <a:rect l="l" t="t" r="r" b="b"/>
            <a:pathLst>
              <a:path w="2419350" h="9525">
                <a:moveTo>
                  <a:pt x="0" y="0"/>
                </a:moveTo>
                <a:lnTo>
                  <a:pt x="2419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3E8ED"/>
            </a:solidFill>
          </a:ln>
        </p:spPr>
      </p:sp>
      <p:sp>
        <p:nvSpPr>
          <p:cNvPr id="83" name="Ellipse 83">
            <a:extLst xmlns:a="http://schemas.openxmlformats.org/drawingml/2006/main">
              <a:ext uri="{FF2B5EF4-FFF2-40B4-BE49-F238E27FC236}">
                <a16:creationId xmlns:a16="http://schemas.microsoft.com/office/drawing/2014/main" id="{A400E67D-EEA7-4534-9BC2-67C0B1B9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53500" y="4038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84" name="TextBox 84">
            <a:extLst xmlns:a="http://schemas.openxmlformats.org/drawingml/2006/main">
              <a:ext uri="{FF2B5EF4-FFF2-40B4-BE49-F238E27FC236}">
                <a16:creationId xmlns:a16="http://schemas.microsoft.com/office/drawing/2014/main" id="{99494709-B4DC-44E9-83CC-0A406537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68912" y="412956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85" name="TextBox 85">
            <a:extLst xmlns:a="http://schemas.openxmlformats.org/drawingml/2006/main">
              <a:ext uri="{FF2B5EF4-FFF2-40B4-BE49-F238E27FC236}">
                <a16:creationId xmlns:a16="http://schemas.microsoft.com/office/drawing/2014/main" id="{9E0AC32C-94FE-4AC2-BE21-C870E96E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23273" y="4015264"/>
            <a:ext cx="127451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哪些动作发生了</a:t>
            </a:r>
          </a:p>
        </p:txBody>
      </p:sp>
      <p:sp>
        <p:nvSpPr>
          <p:cNvPr id="95" name="TextBox 95">
            <a:extLst xmlns:a="http://schemas.openxmlformats.org/drawingml/2006/main">
              <a:ext uri="{FF2B5EF4-FFF2-40B4-BE49-F238E27FC236}">
                <a16:creationId xmlns:a16="http://schemas.microsoft.com/office/drawing/2014/main" id="{6C27DEC1-8B69-45B3-AF10-CFE36C2B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63246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依据：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f43b6aee0d3b4d01"/>
              </a:rPr>
              <a:t>arxiv.org/abs/2210.03629</a:t>
            </a: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 ·  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acecf5a07e204408"/>
              </a:rPr>
              <a:t>docs.langchain.com/.../langgraph/persistence</a:t>
            </a:r>
          </a:p>
        </p:txBody>
      </p:sp>
      <p:sp>
        <p:nvSpPr>
          <p:cNvPr id="96" name="TextBox 96">
            <a:extLst xmlns:a="http://schemas.openxmlformats.org/drawingml/2006/main">
              <a:ext uri="{FF2B5EF4-FFF2-40B4-BE49-F238E27FC236}">
                <a16:creationId xmlns:a16="http://schemas.microsoft.com/office/drawing/2014/main" id="{E96ACB87-707C-4BF5-927C-AD41CA13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03 / 24</a:t>
            </a:r>
          </a:p>
        </p:txBody>
      </p:sp>
    </p:spTree>
    <p:extLst>
      <p:ext uri="{BB962C8B-B14F-4D97-AF65-F5344CB8AC3E}">
        <p14:creationId xmlns:p14="http://schemas.microsoft.com/office/powerpoint/2010/main" val="141099129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2DE3F5B-D579-46FA-B7F7-DBCC6557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7D2DE7C-2F77-415C-9047-90A301E5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04788990-16C6-447A-A361-903BC1F4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7457436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智能体最小运行时：八个稳定职责</a:t>
            </a:r>
          </a:p>
        </p:txBody>
      </p:sp>
      <p:sp>
        <p:nvSpPr>
          <p:cNvPr id="10" name="Ellipse 10">
            <a:extLst xmlns:a="http://schemas.openxmlformats.org/drawingml/2006/main">
              <a:ext uri="{FF2B5EF4-FFF2-40B4-BE49-F238E27FC236}">
                <a16:creationId xmlns:a16="http://schemas.microsoft.com/office/drawing/2014/main" id="{46518A69-799E-45F7-A427-A42B950B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9175" y="1285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2" name="Ellipse 12">
            <a:extLst xmlns:a="http://schemas.openxmlformats.org/drawingml/2006/main">
              <a:ext uri="{FF2B5EF4-FFF2-40B4-BE49-F238E27FC236}">
                <a16:creationId xmlns:a16="http://schemas.microsoft.com/office/drawing/2014/main" id="{D606AA04-7B9A-4A69-9CB4-070F23E6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67875" y="1285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14" name="Ellipse 14">
            <a:extLst xmlns:a="http://schemas.openxmlformats.org/drawingml/2006/main">
              <a:ext uri="{FF2B5EF4-FFF2-40B4-BE49-F238E27FC236}">
                <a16:creationId xmlns:a16="http://schemas.microsoft.com/office/drawing/2014/main" id="{BDAF4DF8-D282-4550-8168-8EAC74A2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91825" y="1285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8A98"/>
          </a:solidFill>
          <a:ln xmlns:a="http://schemas.openxmlformats.org/drawingml/2006/main">
            <a:noFill/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6DF6B0AE-98EE-4754-ACE0-7452C203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1416" y="1639252"/>
            <a:ext cx="604342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7C8A98"/>
                </a:solidFill>
                <a:latin typeface="Segoe UI Semibold"/>
                <a:ea typeface="Segoe UI Semibold"/>
                <a:cs typeface="Segoe UI Semibold"/>
              </a:rPr>
              <a:t>责任阶段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CEA532EF-CEC4-4CBE-8DB5-B96ADAB7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33016" y="1639252"/>
            <a:ext cx="901179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7C8A98"/>
                </a:solidFill>
                <a:latin typeface="Segoe UI Semibold"/>
                <a:ea typeface="Segoe UI Semibold"/>
                <a:cs typeface="Segoe UI Semibold"/>
              </a:rPr>
              <a:t>两个稳定模块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A6A6AC09-050F-4CC2-80FE-A447EFD7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4566" y="1639252"/>
            <a:ext cx="1198016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7C8A98"/>
                </a:solidFill>
                <a:latin typeface="Segoe UI Semibold"/>
                <a:ea typeface="Segoe UI Semibold"/>
                <a:cs typeface="Segoe UI Semibold"/>
              </a:rPr>
              <a:t>后端必须负责什么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1E35826A-5C09-4D55-AA68-61B251F0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14916" y="1639252"/>
            <a:ext cx="1049598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7C8A98"/>
                </a:solidFill>
                <a:latin typeface="Segoe UI Semibold"/>
                <a:ea typeface="Segoe UI Semibold"/>
                <a:cs typeface="Segoe UI Semibold"/>
              </a:rPr>
              <a:t>前台要回答什么</a:t>
            </a:r>
          </a:p>
        </p:txBody>
      </p:sp>
      <p:sp>
        <p:nvSpPr>
          <p:cNvPr id="22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EE121254-C558-4328-A593-FA438143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885950"/>
            <a:ext cx="112014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2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C1F4C1E8-8590-419D-9ED3-D57CC993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885950"/>
            <a:ext cx="12763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AD06CA-8691-40F1-BE90-9CE6D275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9323" y="2072164"/>
            <a:ext cx="2111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C5056BF-4467-46E8-A4C8-C7A2150C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6656" y="2320290"/>
            <a:ext cx="781583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定范围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73007D9F-96A9-49A3-8D6F-199A53F9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72481" y="2107406"/>
            <a:ext cx="144462" cy="134143"/>
          </a:xfrm>
          <a:custGeom xmlns:a="http://schemas.openxmlformats.org/drawingml/2006/main">
            <a:rect l="l" t="t" r="r" b="b"/>
            <a:pathLst>
              <a:path w="144462" h="134143">
                <a:moveTo>
                  <a:pt x="20637" y="0"/>
                </a:moveTo>
                <a:lnTo>
                  <a:pt x="51594" y="0"/>
                </a:lnTo>
                <a:lnTo>
                  <a:pt x="72231" y="20637"/>
                </a:lnTo>
                <a:lnTo>
                  <a:pt x="123825" y="20637"/>
                </a:lnTo>
                <a:cubicBezTo>
                  <a:pt x="135222" y="20637"/>
                  <a:pt x="144462" y="29877"/>
                  <a:pt x="144462" y="41275"/>
                </a:cubicBezTo>
                <a:lnTo>
                  <a:pt x="144462" y="113506"/>
                </a:lnTo>
                <a:cubicBezTo>
                  <a:pt x="144462" y="124904"/>
                  <a:pt x="135222" y="134143"/>
                  <a:pt x="123825" y="134143"/>
                </a:cubicBezTo>
                <a:lnTo>
                  <a:pt x="20637" y="134143"/>
                </a:lnTo>
                <a:cubicBezTo>
                  <a:pt x="9240" y="134143"/>
                  <a:pt x="0" y="124904"/>
                  <a:pt x="0" y="113506"/>
                </a:cubicBezTo>
                <a:lnTo>
                  <a:pt x="0" y="20637"/>
                </a:lnTo>
                <a:cubicBezTo>
                  <a:pt x="0" y="9240"/>
                  <a:pt x="9240" y="0"/>
                  <a:pt x="2063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71274EDB-5E8C-4E98-A87C-8D430778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31206" y="2148681"/>
            <a:ext cx="144462" cy="134143"/>
          </a:xfrm>
          <a:custGeom xmlns:a="http://schemas.openxmlformats.org/drawingml/2006/main">
            <a:rect l="l" t="t" r="r" b="b"/>
            <a:pathLst>
              <a:path w="144462" h="134143">
                <a:moveTo>
                  <a:pt x="144462" y="92868"/>
                </a:moveTo>
                <a:lnTo>
                  <a:pt x="144462" y="113506"/>
                </a:lnTo>
                <a:cubicBezTo>
                  <a:pt x="144462" y="124904"/>
                  <a:pt x="135222" y="134143"/>
                  <a:pt x="123825" y="134143"/>
                </a:cubicBezTo>
                <a:lnTo>
                  <a:pt x="20637" y="134143"/>
                </a:lnTo>
                <a:cubicBezTo>
                  <a:pt x="9240" y="134143"/>
                  <a:pt x="0" y="124904"/>
                  <a:pt x="0" y="113506"/>
                </a:cubicBezTo>
                <a:lnTo>
                  <a:pt x="0" y="20637"/>
                </a:lnTo>
                <a:cubicBezTo>
                  <a:pt x="0" y="9240"/>
                  <a:pt x="9240" y="0"/>
                  <a:pt x="20637" y="0"/>
                </a:cubicBezTo>
                <a:lnTo>
                  <a:pt x="41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3A402715-B532-4404-BDD7-EB702F15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36673" y="2129314"/>
            <a:ext cx="301156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Workspace Catalog &amp; Safe Preview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5B059252-6734-4037-8ECC-955C6AC6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1844" y="2451894"/>
            <a:ext cx="144462" cy="165099"/>
          </a:xfrm>
          <a:custGeom xmlns:a="http://schemas.openxmlformats.org/drawingml/2006/main">
            <a:rect l="l" t="t" r="r" b="b"/>
            <a:pathLst>
              <a:path w="144462" h="165099">
                <a:moveTo>
                  <a:pt x="41275" y="0"/>
                </a:moveTo>
                <a:lnTo>
                  <a:pt x="20637" y="0"/>
                </a:lnTo>
                <a:cubicBezTo>
                  <a:pt x="9240" y="0"/>
                  <a:pt x="0" y="9240"/>
                  <a:pt x="0" y="20637"/>
                </a:cubicBezTo>
                <a:lnTo>
                  <a:pt x="0" y="144462"/>
                </a:lnTo>
                <a:cubicBezTo>
                  <a:pt x="0" y="155860"/>
                  <a:pt x="9240" y="165099"/>
                  <a:pt x="20637" y="165099"/>
                </a:cubicBezTo>
                <a:lnTo>
                  <a:pt x="123825" y="165099"/>
                </a:lnTo>
                <a:cubicBezTo>
                  <a:pt x="135222" y="165099"/>
                  <a:pt x="144462" y="155860"/>
                  <a:pt x="144462" y="144462"/>
                </a:cubicBezTo>
                <a:lnTo>
                  <a:pt x="144462" y="20637"/>
                </a:lnTo>
                <a:cubicBezTo>
                  <a:pt x="144462" y="9240"/>
                  <a:pt x="135222" y="0"/>
                  <a:pt x="123825" y="0"/>
                </a:cubicBezTo>
                <a:lnTo>
                  <a:pt x="1031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424FCE2F-0199-43E5-9203-FA20CC2E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93118" y="2431256"/>
            <a:ext cx="61912" cy="41275"/>
          </a:xfrm>
          <a:custGeom xmlns:a="http://schemas.openxmlformats.org/drawingml/2006/main">
            <a:rect l="l" t="t" r="r" b="b"/>
            <a:pathLst>
              <a:path w="61912" h="41275">
                <a:moveTo>
                  <a:pt x="0" y="20637"/>
                </a:moveTo>
                <a:cubicBezTo>
                  <a:pt x="0" y="9240"/>
                  <a:pt x="9240" y="0"/>
                  <a:pt x="20637" y="0"/>
                </a:cubicBezTo>
                <a:lnTo>
                  <a:pt x="41275" y="0"/>
                </a:lnTo>
                <a:cubicBezTo>
                  <a:pt x="52673" y="0"/>
                  <a:pt x="61912" y="9240"/>
                  <a:pt x="61912" y="20637"/>
                </a:cubicBezTo>
                <a:cubicBezTo>
                  <a:pt x="61912" y="32035"/>
                  <a:pt x="52673" y="41275"/>
                  <a:pt x="41275" y="41275"/>
                </a:cubicBezTo>
                <a:lnTo>
                  <a:pt x="20637" y="41275"/>
                </a:lnTo>
                <a:cubicBezTo>
                  <a:pt x="9240" y="41275"/>
                  <a:pt x="0" y="32035"/>
                  <a:pt x="0" y="206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4969E945-41B5-4CC4-A4E8-C908F60B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93118" y="2524125"/>
            <a:ext cx="61912" cy="41275"/>
          </a:xfrm>
          <a:custGeom xmlns:a="http://schemas.openxmlformats.org/drawingml/2006/main">
            <a:rect l="l" t="t" r="r" b="b"/>
            <a:pathLst>
              <a:path w="61912" h="41275">
                <a:moveTo>
                  <a:pt x="0" y="20637"/>
                </a:moveTo>
                <a:lnTo>
                  <a:pt x="20637" y="41275"/>
                </a:lnTo>
                <a:lnTo>
                  <a:pt x="619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133779E7-96AA-407C-A3F1-94AD2170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36673" y="2453164"/>
            <a:ext cx="126822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Task Contract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A56061CA-F634-470A-97FB-80EE48C8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3423" y="2072164"/>
            <a:ext cx="275920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限定能读的资料；冻结目标、范围、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36985B1-A794-4A06-9CF7-49AD9793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3423" y="2319814"/>
            <a:ext cx="172935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完成条件和禁止事项。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E9AFC82A-1528-498E-9F9A-3E926D66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13773" y="2072164"/>
            <a:ext cx="165297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“你读了哪些资料？”</a:t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A4F677B4-FFD5-4466-BF9C-D675D11C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14916" y="2363152"/>
            <a:ext cx="1706880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目录、来源范围、任务自述</a:t>
            </a:r>
          </a:p>
        </p:txBody>
      </p:sp>
      <p:sp>
        <p:nvSpPr>
          <p:cNvPr id="40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D4686093-CC60-4742-887B-28E7ACE4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2876550"/>
            <a:ext cx="112014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41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EDF447C4-CADA-42A4-92EA-6E3E1AE9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2876550"/>
            <a:ext cx="12763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C5F9BFDC-EA4D-490F-8B21-00CF0533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9323" y="3062764"/>
            <a:ext cx="2111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E68D5DCD-87EC-4FD8-A23D-4C62E52A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6656" y="3310890"/>
            <a:ext cx="781583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定计划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05AA426B-5015-4821-AC03-5FDF6D97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31206" y="3242468"/>
            <a:ext cx="41275" cy="41275"/>
          </a:xfrm>
          <a:custGeom xmlns:a="http://schemas.openxmlformats.org/drawingml/2006/main">
            <a:rect l="l" t="t" r="r" b="b"/>
            <a:pathLst>
              <a:path w="41275" h="41275">
                <a:moveTo>
                  <a:pt x="0" y="20637"/>
                </a:moveTo>
                <a:cubicBezTo>
                  <a:pt x="0" y="32035"/>
                  <a:pt x="9240" y="41275"/>
                  <a:pt x="20637" y="41275"/>
                </a:cubicBezTo>
                <a:cubicBezTo>
                  <a:pt x="32035" y="41275"/>
                  <a:pt x="41275" y="32035"/>
                  <a:pt x="41275" y="20637"/>
                </a:cubicBezTo>
                <a:cubicBezTo>
                  <a:pt x="41275" y="9240"/>
                  <a:pt x="32035" y="0"/>
                  <a:pt x="20637" y="0"/>
                </a:cubicBezTo>
                <a:cubicBezTo>
                  <a:pt x="9240" y="0"/>
                  <a:pt x="0" y="9240"/>
                  <a:pt x="0" y="206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B16D99FC-AED4-46A6-BF78-B073A742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75668" y="3098006"/>
            <a:ext cx="41275" cy="41275"/>
          </a:xfrm>
          <a:custGeom xmlns:a="http://schemas.openxmlformats.org/drawingml/2006/main">
            <a:rect l="l" t="t" r="r" b="b"/>
            <a:pathLst>
              <a:path w="41275" h="41275">
                <a:moveTo>
                  <a:pt x="20637" y="41275"/>
                </a:moveTo>
                <a:cubicBezTo>
                  <a:pt x="32035" y="41275"/>
                  <a:pt x="41275" y="32035"/>
                  <a:pt x="41275" y="20637"/>
                </a:cubicBezTo>
                <a:cubicBezTo>
                  <a:pt x="41275" y="9240"/>
                  <a:pt x="32035" y="0"/>
                  <a:pt x="20637" y="0"/>
                </a:cubicBezTo>
                <a:cubicBezTo>
                  <a:pt x="9240" y="0"/>
                  <a:pt x="0" y="9240"/>
                  <a:pt x="0" y="20637"/>
                </a:cubicBezTo>
                <a:cubicBezTo>
                  <a:pt x="0" y="32035"/>
                  <a:pt x="9240" y="41275"/>
                  <a:pt x="20637" y="412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46" name="Freeform 46">
            <a:extLst xmlns:a="http://schemas.openxmlformats.org/drawingml/2006/main">
              <a:ext uri="{FF2B5EF4-FFF2-40B4-BE49-F238E27FC236}">
                <a16:creationId xmlns:a16="http://schemas.microsoft.com/office/drawing/2014/main" id="{392F555E-A7CC-4404-BFA7-DD208B9C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1844" y="3118644"/>
            <a:ext cx="154781" cy="144462"/>
          </a:xfrm>
          <a:custGeom xmlns:a="http://schemas.openxmlformats.org/drawingml/2006/main">
            <a:rect l="l" t="t" r="r" b="b"/>
            <a:pathLst>
              <a:path w="154781" h="144462">
                <a:moveTo>
                  <a:pt x="61912" y="144462"/>
                </a:moveTo>
                <a:lnTo>
                  <a:pt x="118665" y="144462"/>
                </a:lnTo>
                <a:cubicBezTo>
                  <a:pt x="138611" y="144462"/>
                  <a:pt x="154781" y="128293"/>
                  <a:pt x="154781" y="108347"/>
                </a:cubicBezTo>
                <a:cubicBezTo>
                  <a:pt x="154781" y="88400"/>
                  <a:pt x="138611" y="72231"/>
                  <a:pt x="118665" y="72231"/>
                </a:cubicBezTo>
                <a:lnTo>
                  <a:pt x="36116" y="72231"/>
                </a:lnTo>
                <a:cubicBezTo>
                  <a:pt x="16169" y="72231"/>
                  <a:pt x="0" y="56062"/>
                  <a:pt x="0" y="36116"/>
                </a:cubicBezTo>
                <a:cubicBezTo>
                  <a:pt x="0" y="16169"/>
                  <a:pt x="16169" y="0"/>
                  <a:pt x="36116" y="0"/>
                </a:cubicBezTo>
                <a:lnTo>
                  <a:pt x="82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3F06DDA2-8E54-409D-9BB1-399CFFA7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36673" y="3119914"/>
            <a:ext cx="66700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Planner</a:t>
            </a:r>
          </a:p>
        </p:txBody>
      </p:sp>
      <p:sp>
        <p:nvSpPr>
          <p:cNvPr id="49" name="Freeform 49">
            <a:extLst xmlns:a="http://schemas.openxmlformats.org/drawingml/2006/main">
              <a:ext uri="{FF2B5EF4-FFF2-40B4-BE49-F238E27FC236}">
                <a16:creationId xmlns:a16="http://schemas.microsoft.com/office/drawing/2014/main" id="{636556BF-9BAB-4891-B976-990CB20E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17281" y="3421856"/>
            <a:ext cx="201506" cy="184148"/>
          </a:xfrm>
          <a:custGeom xmlns:a="http://schemas.openxmlformats.org/drawingml/2006/main">
            <a:rect l="l" t="t" r="r" b="b"/>
            <a:pathLst>
              <a:path w="201506" h="184148">
                <a:moveTo>
                  <a:pt x="101222" y="184148"/>
                </a:moveTo>
                <a:cubicBezTo>
                  <a:pt x="36580" y="164110"/>
                  <a:pt x="0" y="95886"/>
                  <a:pt x="19085" y="30956"/>
                </a:cubicBezTo>
                <a:cubicBezTo>
                  <a:pt x="51233" y="32427"/>
                  <a:pt x="82691" y="21324"/>
                  <a:pt x="106794" y="0"/>
                </a:cubicBezTo>
                <a:cubicBezTo>
                  <a:pt x="130897" y="21324"/>
                  <a:pt x="162355" y="32427"/>
                  <a:pt x="194503" y="30956"/>
                </a:cubicBezTo>
                <a:cubicBezTo>
                  <a:pt x="201506" y="54783"/>
                  <a:pt x="201183" y="80166"/>
                  <a:pt x="193575" y="10380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C79C404F-5F43-43C5-A934-E542B6BA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55031" y="3566318"/>
            <a:ext cx="61912" cy="41275"/>
          </a:xfrm>
          <a:custGeom xmlns:a="http://schemas.openxmlformats.org/drawingml/2006/main">
            <a:rect l="l" t="t" r="r" b="b"/>
            <a:pathLst>
              <a:path w="61912" h="41275">
                <a:moveTo>
                  <a:pt x="0" y="20637"/>
                </a:moveTo>
                <a:lnTo>
                  <a:pt x="20637" y="41275"/>
                </a:lnTo>
                <a:lnTo>
                  <a:pt x="619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49207104-02F5-4906-A577-007CE178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36673" y="3443764"/>
            <a:ext cx="3745643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Admission, Policy Compiler &amp; Plan Validator</a:t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CA81DCC3-8661-46BC-9F6F-E1862DC7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3423" y="3062764"/>
            <a:ext cx="2930843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模型先提议路线；服务端再校验预算、</a:t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AEDC23C4-052E-45BE-9F50-3632908A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3423" y="3310414"/>
            <a:ext cx="207264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依赖、资料范围和副作用。</a:t>
            </a:r>
          </a:p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13ACA6BA-F6CE-4DE2-BD64-0371BD3A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13773" y="3062764"/>
            <a:ext cx="147275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“为什么这样拆？”</a:t>
            </a:r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8C6B96AE-F2F4-4BCD-B338-250AE189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14916" y="3353752"/>
            <a:ext cx="1848231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分支、依赖、驳回与修复原因</a:t>
            </a:r>
          </a:p>
        </p:txBody>
      </p:sp>
      <p:sp>
        <p:nvSpPr>
          <p:cNvPr id="58" name="Rectangle 58">
            <a:extLst xmlns:a="http://schemas.openxmlformats.org/drawingml/2006/main">
              <a:ext uri="{FF2B5EF4-FFF2-40B4-BE49-F238E27FC236}">
                <a16:creationId xmlns:a16="http://schemas.microsoft.com/office/drawing/2014/main" id="{6CEEF4FF-9132-429C-B1D9-DF37A214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3867150"/>
            <a:ext cx="112014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9" name="Rectangle 59">
            <a:extLst xmlns:a="http://schemas.openxmlformats.org/drawingml/2006/main">
              <a:ext uri="{FF2B5EF4-FFF2-40B4-BE49-F238E27FC236}">
                <a16:creationId xmlns:a16="http://schemas.microsoft.com/office/drawing/2014/main" id="{E8C6769F-F8EB-456E-81F0-A1C41363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3867150"/>
            <a:ext cx="12763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A3F52236-1036-4187-92DF-CE713324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9323" y="4053364"/>
            <a:ext cx="2111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95CABB53-118F-44E5-BF31-718A4D0F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6656" y="4301490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推进执行</a:t>
            </a:r>
          </a:p>
        </p:txBody>
      </p:sp>
      <p:sp>
        <p:nvSpPr>
          <p:cNvPr id="62" name="Freeform 62">
            <a:extLst xmlns:a="http://schemas.openxmlformats.org/drawingml/2006/main">
              <a:ext uri="{FF2B5EF4-FFF2-40B4-BE49-F238E27FC236}">
                <a16:creationId xmlns:a16="http://schemas.microsoft.com/office/drawing/2014/main" id="{E3264995-8FEC-47FA-81D3-5B24C145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1844" y="4222749"/>
            <a:ext cx="41275" cy="41275"/>
          </a:xfrm>
          <a:custGeom xmlns:a="http://schemas.openxmlformats.org/drawingml/2006/main">
            <a:rect l="l" t="t" r="r" b="b"/>
            <a:pathLst>
              <a:path w="41275" h="41275">
                <a:moveTo>
                  <a:pt x="0" y="20637"/>
                </a:moveTo>
                <a:cubicBezTo>
                  <a:pt x="0" y="32035"/>
                  <a:pt x="9240" y="41275"/>
                  <a:pt x="20637" y="41275"/>
                </a:cubicBezTo>
                <a:cubicBezTo>
                  <a:pt x="32035" y="41275"/>
                  <a:pt x="41275" y="32035"/>
                  <a:pt x="41275" y="20637"/>
                </a:cubicBezTo>
                <a:cubicBezTo>
                  <a:pt x="41275" y="9240"/>
                  <a:pt x="32035" y="0"/>
                  <a:pt x="20637" y="0"/>
                </a:cubicBezTo>
                <a:cubicBezTo>
                  <a:pt x="9240" y="0"/>
                  <a:pt x="0" y="9240"/>
                  <a:pt x="0" y="206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63" name="Freeform 63">
            <a:extLst xmlns:a="http://schemas.openxmlformats.org/drawingml/2006/main">
              <a:ext uri="{FF2B5EF4-FFF2-40B4-BE49-F238E27FC236}">
                <a16:creationId xmlns:a16="http://schemas.microsoft.com/office/drawing/2014/main" id="{3712A960-E720-4942-88E4-94C507E6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1844" y="4098925"/>
            <a:ext cx="41275" cy="41275"/>
          </a:xfrm>
          <a:custGeom xmlns:a="http://schemas.openxmlformats.org/drawingml/2006/main">
            <a:rect l="l" t="t" r="r" b="b"/>
            <a:pathLst>
              <a:path w="41275" h="41275">
                <a:moveTo>
                  <a:pt x="0" y="20637"/>
                </a:moveTo>
                <a:cubicBezTo>
                  <a:pt x="0" y="32035"/>
                  <a:pt x="9240" y="41275"/>
                  <a:pt x="20637" y="41275"/>
                </a:cubicBezTo>
                <a:cubicBezTo>
                  <a:pt x="32035" y="41275"/>
                  <a:pt x="41275" y="32035"/>
                  <a:pt x="41275" y="20637"/>
                </a:cubicBezTo>
                <a:cubicBezTo>
                  <a:pt x="41275" y="9240"/>
                  <a:pt x="32035" y="0"/>
                  <a:pt x="20637" y="0"/>
                </a:cubicBezTo>
                <a:cubicBezTo>
                  <a:pt x="9240" y="0"/>
                  <a:pt x="0" y="9240"/>
                  <a:pt x="0" y="206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64" name="Freeform 64">
            <a:extLst xmlns:a="http://schemas.openxmlformats.org/drawingml/2006/main">
              <a:ext uri="{FF2B5EF4-FFF2-40B4-BE49-F238E27FC236}">
                <a16:creationId xmlns:a16="http://schemas.microsoft.com/office/drawing/2014/main" id="{D5F41EB2-048F-4395-A95B-69A7E961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55031" y="4098925"/>
            <a:ext cx="41275" cy="41275"/>
          </a:xfrm>
          <a:custGeom xmlns:a="http://schemas.openxmlformats.org/drawingml/2006/main">
            <a:rect l="l" t="t" r="r" b="b"/>
            <a:pathLst>
              <a:path w="41275" h="41275">
                <a:moveTo>
                  <a:pt x="0" y="20637"/>
                </a:moveTo>
                <a:cubicBezTo>
                  <a:pt x="0" y="32035"/>
                  <a:pt x="9240" y="41275"/>
                  <a:pt x="20637" y="41275"/>
                </a:cubicBezTo>
                <a:cubicBezTo>
                  <a:pt x="32035" y="41275"/>
                  <a:pt x="41275" y="32035"/>
                  <a:pt x="41275" y="20637"/>
                </a:cubicBezTo>
                <a:cubicBezTo>
                  <a:pt x="41275" y="9240"/>
                  <a:pt x="32035" y="0"/>
                  <a:pt x="20637" y="0"/>
                </a:cubicBezTo>
                <a:cubicBezTo>
                  <a:pt x="9240" y="0"/>
                  <a:pt x="0" y="9240"/>
                  <a:pt x="0" y="206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65" name="Freeform 65">
            <a:extLst xmlns:a="http://schemas.openxmlformats.org/drawingml/2006/main">
              <a:ext uri="{FF2B5EF4-FFF2-40B4-BE49-F238E27FC236}">
                <a16:creationId xmlns:a16="http://schemas.microsoft.com/office/drawing/2014/main" id="{B520FE62-6DE9-4BDD-940D-E27AAD03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72481" y="4140200"/>
            <a:ext cx="9525" cy="82550"/>
          </a:xfrm>
          <a:custGeom xmlns:a="http://schemas.openxmlformats.org/drawingml/2006/main">
            <a:rect l="l" t="t" r="r" b="b"/>
            <a:pathLst>
              <a:path w="9525" h="82550">
                <a:moveTo>
                  <a:pt x="0" y="0"/>
                </a:moveTo>
                <a:lnTo>
                  <a:pt x="0" y="82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66" name="Freeform 66">
            <a:extLst xmlns:a="http://schemas.openxmlformats.org/drawingml/2006/main">
              <a:ext uri="{FF2B5EF4-FFF2-40B4-BE49-F238E27FC236}">
                <a16:creationId xmlns:a16="http://schemas.microsoft.com/office/drawing/2014/main" id="{0290A269-6774-4DC3-B4C1-D7FFAA7C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93118" y="4171156"/>
            <a:ext cx="82550" cy="72231"/>
          </a:xfrm>
          <a:custGeom xmlns:a="http://schemas.openxmlformats.org/drawingml/2006/main">
            <a:rect l="l" t="t" r="r" b="b"/>
            <a:pathLst>
              <a:path w="82550" h="72231">
                <a:moveTo>
                  <a:pt x="0" y="72231"/>
                </a:moveTo>
                <a:lnTo>
                  <a:pt x="61912" y="72231"/>
                </a:lnTo>
                <a:cubicBezTo>
                  <a:pt x="73310" y="72231"/>
                  <a:pt x="82550" y="62991"/>
                  <a:pt x="82550" y="51594"/>
                </a:cubicBezTo>
                <a:lnTo>
                  <a:pt x="82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67" name="Freeform 67">
            <a:extLst xmlns:a="http://schemas.openxmlformats.org/drawingml/2006/main">
              <a:ext uri="{FF2B5EF4-FFF2-40B4-BE49-F238E27FC236}">
                <a16:creationId xmlns:a16="http://schemas.microsoft.com/office/drawing/2014/main" id="{1B67424F-C5A9-42BD-B94F-01827ED5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4712" y="4171156"/>
            <a:ext cx="61912" cy="30956"/>
          </a:xfrm>
          <a:custGeom xmlns:a="http://schemas.openxmlformats.org/drawingml/2006/main">
            <a:rect l="l" t="t" r="r" b="b"/>
            <a:pathLst>
              <a:path w="61912" h="30956">
                <a:moveTo>
                  <a:pt x="0" y="30956"/>
                </a:moveTo>
                <a:lnTo>
                  <a:pt x="30956" y="0"/>
                </a:lnTo>
                <a:lnTo>
                  <a:pt x="61912" y="3095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69" name="TextBox 69">
            <a:extLst xmlns:a="http://schemas.openxmlformats.org/drawingml/2006/main">
              <a:ext uri="{FF2B5EF4-FFF2-40B4-BE49-F238E27FC236}">
                <a16:creationId xmlns:a16="http://schemas.microsoft.com/office/drawing/2014/main" id="{8F6A6016-DB01-4D33-8604-E5A807CA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36673" y="4110514"/>
            <a:ext cx="250106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Scheduler &amp; Worker Manager</a:t>
            </a:r>
          </a:p>
        </p:txBody>
      </p:sp>
      <p:sp>
        <p:nvSpPr>
          <p:cNvPr id="70" name="Freeform 70">
            <a:extLst xmlns:a="http://schemas.openxmlformats.org/drawingml/2006/main">
              <a:ext uri="{FF2B5EF4-FFF2-40B4-BE49-F238E27FC236}">
                <a16:creationId xmlns:a16="http://schemas.microsoft.com/office/drawing/2014/main" id="{E9809513-3695-402C-B0AB-C085E2B0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8088" y="4443412"/>
            <a:ext cx="127898" cy="127898"/>
          </a:xfrm>
          <a:custGeom xmlns:a="http://schemas.openxmlformats.org/drawingml/2006/main">
            <a:rect l="l" t="t" r="r" b="b"/>
            <a:pathLst>
              <a:path w="127898" h="127898">
                <a:moveTo>
                  <a:pt x="43130" y="0"/>
                </a:moveTo>
                <a:lnTo>
                  <a:pt x="127898" y="84768"/>
                </a:lnTo>
                <a:lnTo>
                  <a:pt x="106704" y="105963"/>
                </a:lnTo>
                <a:cubicBezTo>
                  <a:pt x="91664" y="121604"/>
                  <a:pt x="69346" y="127898"/>
                  <a:pt x="48350" y="122419"/>
                </a:cubicBezTo>
                <a:cubicBezTo>
                  <a:pt x="27355" y="116941"/>
                  <a:pt x="10958" y="100544"/>
                  <a:pt x="5479" y="79548"/>
                </a:cubicBezTo>
                <a:cubicBezTo>
                  <a:pt x="0" y="58552"/>
                  <a:pt x="6294" y="36234"/>
                  <a:pt x="21936" y="21195"/>
                </a:cubicBezTo>
                <a:lnTo>
                  <a:pt x="431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C8A98"/>
            </a:solidFill>
          </a:ln>
        </p:spPr>
      </p:sp>
      <p:sp>
        <p:nvSpPr>
          <p:cNvPr id="71" name="Freeform 71">
            <a:extLst xmlns:a="http://schemas.openxmlformats.org/drawingml/2006/main">
              <a:ext uri="{FF2B5EF4-FFF2-40B4-BE49-F238E27FC236}">
                <a16:creationId xmlns:a16="http://schemas.microsoft.com/office/drawing/2014/main" id="{B769731A-6F49-4F1B-812B-397C7BD4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41525" y="4551759"/>
            <a:ext cx="36116" cy="36116"/>
          </a:xfrm>
          <a:custGeom xmlns:a="http://schemas.openxmlformats.org/drawingml/2006/main">
            <a:rect l="l" t="t" r="r" b="b"/>
            <a:pathLst>
              <a:path w="36116" h="36116">
                <a:moveTo>
                  <a:pt x="0" y="36116"/>
                </a:moveTo>
                <a:lnTo>
                  <a:pt x="361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C8A98"/>
            </a:solidFill>
          </a:ln>
        </p:spPr>
      </p:sp>
      <p:sp>
        <p:nvSpPr>
          <p:cNvPr id="72" name="Freeform 72">
            <a:extLst xmlns:a="http://schemas.openxmlformats.org/drawingml/2006/main">
              <a:ext uri="{FF2B5EF4-FFF2-40B4-BE49-F238E27FC236}">
                <a16:creationId xmlns:a16="http://schemas.microsoft.com/office/drawing/2014/main" id="{90E7BFAD-CDA9-4620-A4EF-786DA6F3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18915" y="4422775"/>
            <a:ext cx="36116" cy="36116"/>
          </a:xfrm>
          <a:custGeom xmlns:a="http://schemas.openxmlformats.org/drawingml/2006/main">
            <a:rect l="l" t="t" r="r" b="b"/>
            <a:pathLst>
              <a:path w="36116" h="36116">
                <a:moveTo>
                  <a:pt x="36116" y="0"/>
                </a:moveTo>
                <a:lnTo>
                  <a:pt x="0" y="3611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C8A98"/>
            </a:solidFill>
          </a:ln>
        </p:spPr>
      </p:sp>
      <p:sp>
        <p:nvSpPr>
          <p:cNvPr id="73" name="Freeform 73">
            <a:extLst xmlns:a="http://schemas.openxmlformats.org/drawingml/2006/main">
              <a:ext uri="{FF2B5EF4-FFF2-40B4-BE49-F238E27FC236}">
                <a16:creationId xmlns:a16="http://schemas.microsoft.com/office/drawing/2014/main" id="{993F4EBA-8516-481E-AA43-33283C91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70509" y="4474368"/>
            <a:ext cx="36116" cy="36116"/>
          </a:xfrm>
          <a:custGeom xmlns:a="http://schemas.openxmlformats.org/drawingml/2006/main">
            <a:rect l="l" t="t" r="r" b="b"/>
            <a:pathLst>
              <a:path w="36116" h="36116">
                <a:moveTo>
                  <a:pt x="36116" y="0"/>
                </a:moveTo>
                <a:lnTo>
                  <a:pt x="0" y="3611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C8A98"/>
            </a:solidFill>
          </a:ln>
        </p:spPr>
      </p:sp>
      <p:sp>
        <p:nvSpPr>
          <p:cNvPr id="75" name="TextBox 75">
            <a:extLst xmlns:a="http://schemas.openxmlformats.org/drawingml/2006/main">
              <a:ext uri="{FF2B5EF4-FFF2-40B4-BE49-F238E27FC236}">
                <a16:creationId xmlns:a16="http://schemas.microsoft.com/office/drawing/2014/main" id="{07FA76FE-9884-4A31-9B26-619BE356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36673" y="4434364"/>
            <a:ext cx="116004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Tool Gateway</a:t>
            </a:r>
          </a:p>
        </p:txBody>
      </p:sp>
      <p:sp>
        <p:nvSpPr>
          <p:cNvPr id="76" name="TextBox 76">
            <a:extLst xmlns:a="http://schemas.openxmlformats.org/drawingml/2006/main">
              <a:ext uri="{FF2B5EF4-FFF2-40B4-BE49-F238E27FC236}">
                <a16:creationId xmlns:a16="http://schemas.microsoft.com/office/drawing/2014/main" id="{1C256967-34FE-4A84-9B43-4C5DBCB5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3423" y="4053364"/>
            <a:ext cx="241592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决定分支顺序、依赖、谁来做；</a:t>
            </a:r>
          </a:p>
        </p:txBody>
      </p:sp>
      <p:sp>
        <p:nvSpPr>
          <p:cNvPr id="77" name="TextBox 77">
            <a:extLst xmlns:a="http://schemas.openxmlformats.org/drawingml/2006/main">
              <a:ext uri="{FF2B5EF4-FFF2-40B4-BE49-F238E27FC236}">
                <a16:creationId xmlns:a16="http://schemas.microsoft.com/office/drawing/2014/main" id="{89D75C9D-0858-4552-8685-85765A38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3423" y="4301014"/>
            <a:ext cx="309697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当前支持显式批次与受限只读执行单元。</a:t>
            </a:r>
          </a:p>
        </p:txBody>
      </p:sp>
      <p:sp>
        <p:nvSpPr>
          <p:cNvPr id="78" name="TextBox 78">
            <a:extLst xmlns:a="http://schemas.openxmlformats.org/drawingml/2006/main">
              <a:ext uri="{FF2B5EF4-FFF2-40B4-BE49-F238E27FC236}">
                <a16:creationId xmlns:a16="http://schemas.microsoft.com/office/drawing/2014/main" id="{63E417FD-220E-4469-A906-1674A990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13773" y="4053364"/>
            <a:ext cx="165297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“现在做到哪一步？”</a:t>
            </a:r>
          </a:p>
        </p:txBody>
      </p:sp>
      <p:sp>
        <p:nvSpPr>
          <p:cNvPr id="79" name="TextBox 79">
            <a:extLst xmlns:a="http://schemas.openxmlformats.org/drawingml/2006/main">
              <a:ext uri="{FF2B5EF4-FFF2-40B4-BE49-F238E27FC236}">
                <a16:creationId xmlns:a16="http://schemas.microsoft.com/office/drawing/2014/main" id="{683CB452-3618-4460-B017-05233773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14916" y="4325302"/>
            <a:ext cx="186943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当前：单进程，每波最多 3 个</a:t>
            </a:r>
          </a:p>
        </p:txBody>
      </p:sp>
      <p:sp>
        <p:nvSpPr>
          <p:cNvPr id="80" name="TextBox 80">
            <a:extLst xmlns:a="http://schemas.openxmlformats.org/drawingml/2006/main">
              <a:ext uri="{FF2B5EF4-FFF2-40B4-BE49-F238E27FC236}">
                <a16:creationId xmlns:a16="http://schemas.microsoft.com/office/drawing/2014/main" id="{89598480-E3C6-458D-A3D0-850AFA77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14916" y="4515802"/>
            <a:ext cx="1524409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Tool Gateway 仍是目标</a:t>
            </a:r>
          </a:p>
        </p:txBody>
      </p:sp>
      <p:sp>
        <p:nvSpPr>
          <p:cNvPr id="82" name="Rectangle 82">
            <a:extLst xmlns:a="http://schemas.openxmlformats.org/drawingml/2006/main">
              <a:ext uri="{FF2B5EF4-FFF2-40B4-BE49-F238E27FC236}">
                <a16:creationId xmlns:a16="http://schemas.microsoft.com/office/drawing/2014/main" id="{204D0C32-7EFD-4002-AE21-B42324EC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4857750"/>
            <a:ext cx="112014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83" name="Rectangle 83">
            <a:extLst xmlns:a="http://schemas.openxmlformats.org/drawingml/2006/main">
              <a:ext uri="{FF2B5EF4-FFF2-40B4-BE49-F238E27FC236}">
                <a16:creationId xmlns:a16="http://schemas.microsoft.com/office/drawing/2014/main" id="{FE0D107B-E6D8-4FC9-8C71-BCC46698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4857750"/>
            <a:ext cx="12763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84" name="TextBox 84">
            <a:extLst xmlns:a="http://schemas.openxmlformats.org/drawingml/2006/main">
              <a:ext uri="{FF2B5EF4-FFF2-40B4-BE49-F238E27FC236}">
                <a16:creationId xmlns:a16="http://schemas.microsoft.com/office/drawing/2014/main" id="{EF2A6CA2-9FD3-4B28-8C35-18328B02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9323" y="5043964"/>
            <a:ext cx="2111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85" name="TextBox 85">
            <a:extLst xmlns:a="http://schemas.openxmlformats.org/drawingml/2006/main">
              <a:ext uri="{FF2B5EF4-FFF2-40B4-BE49-F238E27FC236}">
                <a16:creationId xmlns:a16="http://schemas.microsoft.com/office/drawing/2014/main" id="{0B64E376-B598-4073-8EA2-7CC45E2E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6656" y="5292090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成果恢复</a:t>
            </a:r>
          </a:p>
        </p:txBody>
      </p:sp>
      <p:sp>
        <p:nvSpPr>
          <p:cNvPr id="86" name="Freeform 86">
            <a:extLst xmlns:a="http://schemas.openxmlformats.org/drawingml/2006/main">
              <a:ext uri="{FF2B5EF4-FFF2-40B4-BE49-F238E27FC236}">
                <a16:creationId xmlns:a16="http://schemas.microsoft.com/office/drawing/2014/main" id="{F3FCE4F2-49A8-4FD0-8EC3-D4B60050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4712" y="5079206"/>
            <a:ext cx="51594" cy="51594"/>
          </a:xfrm>
          <a:custGeom xmlns:a="http://schemas.openxmlformats.org/drawingml/2006/main">
            <a:rect l="l" t="t" r="r" b="b"/>
            <a:pathLst>
              <a:path w="51594" h="51594">
                <a:moveTo>
                  <a:pt x="0" y="0"/>
                </a:moveTo>
                <a:lnTo>
                  <a:pt x="0" y="41275"/>
                </a:lnTo>
                <a:cubicBezTo>
                  <a:pt x="0" y="46974"/>
                  <a:pt x="4620" y="51594"/>
                  <a:pt x="10319" y="51594"/>
                </a:cubicBezTo>
                <a:lnTo>
                  <a:pt x="51594" y="5159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87" name="Freeform 87">
            <a:extLst xmlns:a="http://schemas.openxmlformats.org/drawingml/2006/main">
              <a:ext uri="{FF2B5EF4-FFF2-40B4-BE49-F238E27FC236}">
                <a16:creationId xmlns:a16="http://schemas.microsoft.com/office/drawing/2014/main" id="{C119D490-37E9-4A9B-8B70-1CBC5CDB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1844" y="5079206"/>
            <a:ext cx="144462" cy="185737"/>
          </a:xfrm>
          <a:custGeom xmlns:a="http://schemas.openxmlformats.org/drawingml/2006/main">
            <a:rect l="l" t="t" r="r" b="b"/>
            <a:pathLst>
              <a:path w="144462" h="185737">
                <a:moveTo>
                  <a:pt x="123825" y="185737"/>
                </a:moveTo>
                <a:lnTo>
                  <a:pt x="20637" y="185737"/>
                </a:lnTo>
                <a:cubicBezTo>
                  <a:pt x="9240" y="185737"/>
                  <a:pt x="0" y="176497"/>
                  <a:pt x="0" y="165099"/>
                </a:cubicBezTo>
                <a:lnTo>
                  <a:pt x="0" y="20637"/>
                </a:lnTo>
                <a:cubicBezTo>
                  <a:pt x="0" y="9240"/>
                  <a:pt x="9240" y="0"/>
                  <a:pt x="20637" y="0"/>
                </a:cubicBezTo>
                <a:lnTo>
                  <a:pt x="92868" y="0"/>
                </a:lnTo>
                <a:lnTo>
                  <a:pt x="144462" y="51594"/>
                </a:lnTo>
                <a:lnTo>
                  <a:pt x="144462" y="165099"/>
                </a:lnTo>
                <a:cubicBezTo>
                  <a:pt x="144462" y="176497"/>
                  <a:pt x="135222" y="185737"/>
                  <a:pt x="123825" y="1857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88" name="Freeform 88">
            <a:extLst xmlns:a="http://schemas.openxmlformats.org/drawingml/2006/main">
              <a:ext uri="{FF2B5EF4-FFF2-40B4-BE49-F238E27FC236}">
                <a16:creationId xmlns:a16="http://schemas.microsoft.com/office/drawing/2014/main" id="{C6E533ED-BA44-4BC1-94CA-5D051741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82800" y="5161756"/>
            <a:ext cx="82550" cy="72231"/>
          </a:xfrm>
          <a:custGeom xmlns:a="http://schemas.openxmlformats.org/drawingml/2006/main">
            <a:rect l="l" t="t" r="r" b="b"/>
            <a:pathLst>
              <a:path w="82550" h="72231">
                <a:moveTo>
                  <a:pt x="0" y="0"/>
                </a:moveTo>
                <a:lnTo>
                  <a:pt x="82550" y="0"/>
                </a:lnTo>
                <a:lnTo>
                  <a:pt x="82550" y="72231"/>
                </a:lnTo>
                <a:lnTo>
                  <a:pt x="0" y="7223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89" name="Freeform 89">
            <a:extLst xmlns:a="http://schemas.openxmlformats.org/drawingml/2006/main">
              <a:ext uri="{FF2B5EF4-FFF2-40B4-BE49-F238E27FC236}">
                <a16:creationId xmlns:a16="http://schemas.microsoft.com/office/drawing/2014/main" id="{4A6A04FF-9A10-4226-9EA8-8DC106B7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82800" y="5203031"/>
            <a:ext cx="82550" cy="9525"/>
          </a:xfrm>
          <a:custGeom xmlns:a="http://schemas.openxmlformats.org/drawingml/2006/main">
            <a:rect l="l" t="t" r="r" b="b"/>
            <a:pathLst>
              <a:path w="82550" h="9525">
                <a:moveTo>
                  <a:pt x="0" y="0"/>
                </a:moveTo>
                <a:lnTo>
                  <a:pt x="82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90" name="Freeform 90">
            <a:extLst xmlns:a="http://schemas.openxmlformats.org/drawingml/2006/main">
              <a:ext uri="{FF2B5EF4-FFF2-40B4-BE49-F238E27FC236}">
                <a16:creationId xmlns:a16="http://schemas.microsoft.com/office/drawing/2014/main" id="{D0F84752-E599-4CE6-A2B2-B94CA823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13756" y="5161756"/>
            <a:ext cx="9525" cy="72231"/>
          </a:xfrm>
          <a:custGeom xmlns:a="http://schemas.openxmlformats.org/drawingml/2006/main">
            <a:rect l="l" t="t" r="r" b="b"/>
            <a:pathLst>
              <a:path w="9525" h="72231">
                <a:moveTo>
                  <a:pt x="0" y="0"/>
                </a:moveTo>
                <a:lnTo>
                  <a:pt x="0" y="7223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92" name="TextBox 92">
            <a:extLst xmlns:a="http://schemas.openxmlformats.org/drawingml/2006/main">
              <a:ext uri="{FF2B5EF4-FFF2-40B4-BE49-F238E27FC236}">
                <a16:creationId xmlns:a16="http://schemas.microsoft.com/office/drawing/2014/main" id="{DDBA5358-0FB8-44C8-B294-2C0C52D9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36673" y="5101114"/>
            <a:ext cx="267114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Artifact Workspace &amp; Verifier</a:t>
            </a:r>
          </a:p>
        </p:txBody>
      </p:sp>
      <p:sp>
        <p:nvSpPr>
          <p:cNvPr id="93" name="Freeform 93">
            <a:extLst xmlns:a="http://schemas.openxmlformats.org/drawingml/2006/main">
              <a:ext uri="{FF2B5EF4-FFF2-40B4-BE49-F238E27FC236}">
                <a16:creationId xmlns:a16="http://schemas.microsoft.com/office/drawing/2014/main" id="{10C70C33-1DB5-4808-B856-7C22D355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41525" y="5403056"/>
            <a:ext cx="165099" cy="61912"/>
          </a:xfrm>
          <a:custGeom xmlns:a="http://schemas.openxmlformats.org/drawingml/2006/main">
            <a:rect l="l" t="t" r="r" b="b"/>
            <a:pathLst>
              <a:path w="165099" h="61912">
                <a:moveTo>
                  <a:pt x="0" y="30956"/>
                </a:moveTo>
                <a:cubicBezTo>
                  <a:pt x="0" y="48053"/>
                  <a:pt x="36959" y="61912"/>
                  <a:pt x="82550" y="61912"/>
                </a:cubicBezTo>
                <a:cubicBezTo>
                  <a:pt x="128141" y="61912"/>
                  <a:pt x="165099" y="48053"/>
                  <a:pt x="165099" y="30956"/>
                </a:cubicBezTo>
                <a:cubicBezTo>
                  <a:pt x="165099" y="13860"/>
                  <a:pt x="128141" y="0"/>
                  <a:pt x="82550" y="0"/>
                </a:cubicBezTo>
                <a:cubicBezTo>
                  <a:pt x="36959" y="0"/>
                  <a:pt x="0" y="13860"/>
                  <a:pt x="0" y="3095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94" name="Freeform 94">
            <a:extLst xmlns:a="http://schemas.openxmlformats.org/drawingml/2006/main">
              <a:ext uri="{FF2B5EF4-FFF2-40B4-BE49-F238E27FC236}">
                <a16:creationId xmlns:a16="http://schemas.microsoft.com/office/drawing/2014/main" id="{77BC470B-3A76-4F99-9F0D-1D30DCCD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41525" y="5434012"/>
            <a:ext cx="165099" cy="92868"/>
          </a:xfrm>
          <a:custGeom xmlns:a="http://schemas.openxmlformats.org/drawingml/2006/main">
            <a:rect l="l" t="t" r="r" b="b"/>
            <a:pathLst>
              <a:path w="165099" h="92868">
                <a:moveTo>
                  <a:pt x="0" y="0"/>
                </a:moveTo>
                <a:lnTo>
                  <a:pt x="0" y="61912"/>
                </a:lnTo>
                <a:cubicBezTo>
                  <a:pt x="0" y="79009"/>
                  <a:pt x="36959" y="92868"/>
                  <a:pt x="82550" y="92868"/>
                </a:cubicBezTo>
                <a:cubicBezTo>
                  <a:pt x="128141" y="92868"/>
                  <a:pt x="165099" y="79009"/>
                  <a:pt x="165099" y="61912"/>
                </a:cubicBezTo>
                <a:lnTo>
                  <a:pt x="1650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95" name="Freeform 95">
            <a:extLst xmlns:a="http://schemas.openxmlformats.org/drawingml/2006/main">
              <a:ext uri="{FF2B5EF4-FFF2-40B4-BE49-F238E27FC236}">
                <a16:creationId xmlns:a16="http://schemas.microsoft.com/office/drawing/2014/main" id="{EA95F2F6-340E-4BE3-947D-06555FE1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41525" y="5495925"/>
            <a:ext cx="165099" cy="92868"/>
          </a:xfrm>
          <a:custGeom xmlns:a="http://schemas.openxmlformats.org/drawingml/2006/main">
            <a:rect l="l" t="t" r="r" b="b"/>
            <a:pathLst>
              <a:path w="165099" h="92868">
                <a:moveTo>
                  <a:pt x="0" y="0"/>
                </a:moveTo>
                <a:lnTo>
                  <a:pt x="0" y="61912"/>
                </a:lnTo>
                <a:cubicBezTo>
                  <a:pt x="0" y="79009"/>
                  <a:pt x="36959" y="92868"/>
                  <a:pt x="82550" y="92868"/>
                </a:cubicBezTo>
                <a:cubicBezTo>
                  <a:pt x="128141" y="92868"/>
                  <a:pt x="165099" y="79009"/>
                  <a:pt x="165099" y="61912"/>
                </a:cubicBezTo>
                <a:lnTo>
                  <a:pt x="1650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97" name="TextBox 97">
            <a:extLst xmlns:a="http://schemas.openxmlformats.org/drawingml/2006/main">
              <a:ext uri="{FF2B5EF4-FFF2-40B4-BE49-F238E27FC236}">
                <a16:creationId xmlns:a16="http://schemas.microsoft.com/office/drawing/2014/main" id="{DF0DD5D1-ADF1-4874-A9AE-C3E04F5C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36673" y="5424964"/>
            <a:ext cx="353400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Checkpoint, Event &amp; Governance Control</a:t>
            </a:r>
          </a:p>
        </p:txBody>
      </p:sp>
      <p:sp>
        <p:nvSpPr>
          <p:cNvPr id="98" name="TextBox 98">
            <a:extLst xmlns:a="http://schemas.openxmlformats.org/drawingml/2006/main">
              <a:ext uri="{FF2B5EF4-FFF2-40B4-BE49-F238E27FC236}">
                <a16:creationId xmlns:a16="http://schemas.microsoft.com/office/drawing/2014/main" id="{87FB8FB9-DDF8-4E41-B6D6-58B1E1F9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3423" y="5043964"/>
            <a:ext cx="3124343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保存成果版本与校验；让 Snapshot 成为</a:t>
            </a:r>
          </a:p>
        </p:txBody>
      </p:sp>
      <p:sp>
        <p:nvSpPr>
          <p:cNvPr id="99" name="TextBox 99">
            <a:extLst xmlns:a="http://schemas.openxmlformats.org/drawingml/2006/main">
              <a:ext uri="{FF2B5EF4-FFF2-40B4-BE49-F238E27FC236}">
                <a16:creationId xmlns:a16="http://schemas.microsoft.com/office/drawing/2014/main" id="{CEFDFA38-71C0-4B0D-8A12-0B9B41D5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3423" y="5291614"/>
            <a:ext cx="258756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状态权威，事件只负责有序投影。</a:t>
            </a:r>
          </a:p>
        </p:txBody>
      </p:sp>
      <p:sp>
        <p:nvSpPr>
          <p:cNvPr id="100" name="TextBox 100">
            <a:extLst xmlns:a="http://schemas.openxmlformats.org/drawingml/2006/main">
              <a:ext uri="{FF2B5EF4-FFF2-40B4-BE49-F238E27FC236}">
                <a16:creationId xmlns:a16="http://schemas.microsoft.com/office/drawing/2014/main" id="{2AC27158-ACB9-4934-9017-03F29810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13773" y="5043964"/>
            <a:ext cx="255409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“结果能否下载、核对、恢复？”</a:t>
            </a:r>
          </a:p>
        </p:txBody>
      </p:sp>
      <p:sp>
        <p:nvSpPr>
          <p:cNvPr id="101" name="TextBox 101">
            <a:extLst xmlns:a="http://schemas.openxmlformats.org/drawingml/2006/main">
              <a:ext uri="{FF2B5EF4-FFF2-40B4-BE49-F238E27FC236}">
                <a16:creationId xmlns:a16="http://schemas.microsoft.com/office/drawing/2014/main" id="{AA951B94-7BA2-4885-9AC7-B0142A7F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14916" y="5334952"/>
            <a:ext cx="2413635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固定成果校验、版本、审计与重启恢复</a:t>
            </a:r>
          </a:p>
        </p:txBody>
      </p:sp>
      <p:sp>
        <p:nvSpPr>
          <p:cNvPr id="107" name="TextBox 107">
            <a:extLst xmlns:a="http://schemas.openxmlformats.org/drawingml/2006/main">
              <a:ext uri="{FF2B5EF4-FFF2-40B4-BE49-F238E27FC236}">
                <a16:creationId xmlns:a16="http://schemas.microsoft.com/office/drawing/2014/main" id="{446E77BB-AFBE-402F-A434-773C46AD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11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04 / 24</a:t>
            </a:r>
          </a:p>
        </p:txBody>
      </p:sp>
    </p:spTree>
    <p:extLst>
      <p:ext uri="{BB962C8B-B14F-4D97-AF65-F5344CB8AC3E}">
        <p14:creationId xmlns:p14="http://schemas.microsoft.com/office/powerpoint/2010/main" val="10423876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DF54192-DC96-4111-8857-AD69E598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99227EB-656C-4294-8BD0-23697CDD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E8413605-1953-4580-997E-5A92BCC1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6374644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技术演进：工程对象不断外扩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534BC057-066B-4645-871A-F9AF79A1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4632" y="1259205"/>
            <a:ext cx="7571304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不是模型突然变成智能体，而是系统逐步接管更多责任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E20A7A94-894D-4784-BC84-B24DE003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2362200"/>
            <a:ext cx="11201400" cy="2076450"/>
          </a:xfrm>
          <a:custGeom xmlns:a="http://schemas.openxmlformats.org/drawingml/2006/main">
            <a:rect l="l" t="t" r="r" b="b"/>
            <a:pathLst>
              <a:path w="11201400" h="2076450">
                <a:moveTo>
                  <a:pt x="0" y="0"/>
                </a:moveTo>
                <a:lnTo>
                  <a:pt x="11201400" y="0"/>
                </a:lnTo>
                <a:lnTo>
                  <a:pt x="11201400" y="2076450"/>
                </a:lnTo>
                <a:lnTo>
                  <a:pt x="0" y="20764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7814A4D2-F9BC-4FB6-9B0A-0E165971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2362200"/>
            <a:ext cx="2076450" cy="2076450"/>
          </a:xfrm>
          <a:custGeom xmlns:a="http://schemas.openxmlformats.org/drawingml/2006/main">
            <a:rect l="l" t="t" r="r" b="b"/>
            <a:pathLst>
              <a:path w="2076450" h="2076450">
                <a:moveTo>
                  <a:pt x="0" y="0"/>
                </a:moveTo>
                <a:lnTo>
                  <a:pt x="1809750" y="0"/>
                </a:lnTo>
                <a:lnTo>
                  <a:pt x="2076450" y="1038225"/>
                </a:lnTo>
                <a:lnTo>
                  <a:pt x="1809750" y="2076450"/>
                </a:lnTo>
                <a:lnTo>
                  <a:pt x="0" y="2076450"/>
                </a:lnTo>
                <a:close/>
              </a:path>
            </a:pathLst>
          </a:cu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033EBFE2-2AED-4AE8-8822-2391C399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6656" y="2663190"/>
            <a:ext cx="91720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提示词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006C59B6-3244-4E80-A25B-AE6003B3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6656" y="2948940"/>
            <a:ext cx="143765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工程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AC48BCEB-6BB0-4B09-B356-422ECF35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9323" y="3767614"/>
            <a:ext cx="121443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769E0"/>
                </a:solidFill>
                <a:latin typeface="Segoe UI"/>
                <a:ea typeface="Segoe UI"/>
                <a:cs typeface="Segoe UI"/>
              </a:rPr>
              <a:t>单次指令与示例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FA610C2D-A95B-43CC-A029-A9D21E18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71750" y="2362200"/>
            <a:ext cx="1905000" cy="2076450"/>
          </a:xfrm>
          <a:custGeom xmlns:a="http://schemas.openxmlformats.org/drawingml/2006/main">
            <a:rect l="l" t="t" r="r" b="b"/>
            <a:pathLst>
              <a:path w="1905000" h="2076450">
                <a:moveTo>
                  <a:pt x="0" y="0"/>
                </a:moveTo>
                <a:lnTo>
                  <a:pt x="1638300" y="0"/>
                </a:lnTo>
                <a:lnTo>
                  <a:pt x="1905000" y="1038225"/>
                </a:lnTo>
                <a:lnTo>
                  <a:pt x="1638300" y="2076450"/>
                </a:lnTo>
                <a:lnTo>
                  <a:pt x="0" y="2076450"/>
                </a:lnTo>
                <a:lnTo>
                  <a:pt x="266700" y="10382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005CE828-87F3-48B4-A9D9-DC251974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05506" y="2663190"/>
            <a:ext cx="137085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智能体循环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630EEB74-B72C-4A9E-8DED-171C6B02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05506" y="2948940"/>
            <a:ext cx="73381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ReAct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24AA6E6F-87FA-4CA4-96CA-688EB967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08173" y="3767614"/>
            <a:ext cx="177534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769E0"/>
                </a:solidFill>
                <a:latin typeface="Segoe UI"/>
                <a:ea typeface="Segoe UI"/>
                <a:cs typeface="Segoe UI"/>
              </a:rPr>
              <a:t>行动与反馈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6D55A120-EAB1-46E8-A6E4-3CE114AC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76750" y="2362200"/>
            <a:ext cx="1905000" cy="2076450"/>
          </a:xfrm>
          <a:custGeom xmlns:a="http://schemas.openxmlformats.org/drawingml/2006/main">
            <a:rect l="l" t="t" r="r" b="b"/>
            <a:pathLst>
              <a:path w="1905000" h="2076450">
                <a:moveTo>
                  <a:pt x="0" y="0"/>
                </a:moveTo>
                <a:lnTo>
                  <a:pt x="1638300" y="0"/>
                </a:lnTo>
                <a:lnTo>
                  <a:pt x="1905000" y="1038225"/>
                </a:lnTo>
                <a:lnTo>
                  <a:pt x="1638300" y="2076450"/>
                </a:lnTo>
                <a:lnTo>
                  <a:pt x="0" y="2076450"/>
                </a:lnTo>
                <a:lnTo>
                  <a:pt x="266700" y="1038225"/>
                </a:lnTo>
                <a:close/>
              </a:path>
            </a:pathLst>
          </a:cu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26FA5F1D-E000-415E-932F-192AC89D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0506" y="2663190"/>
            <a:ext cx="100577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上下文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58D02304-7E5B-4739-93D6-F68F133E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0506" y="2948940"/>
            <a:ext cx="143765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工程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3FF9DB3F-852F-488E-9737-DD2BE293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3173" y="3767614"/>
            <a:ext cx="121443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769E0"/>
                </a:solidFill>
                <a:latin typeface="Segoe UI"/>
                <a:ea typeface="Segoe UI"/>
                <a:cs typeface="Segoe UI"/>
              </a:rPr>
              <a:t>状态与信息选择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578B9F29-C4EE-4164-A231-937E0847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81750" y="2362200"/>
            <a:ext cx="1905000" cy="2076450"/>
          </a:xfrm>
          <a:custGeom xmlns:a="http://schemas.openxmlformats.org/drawingml/2006/main">
            <a:rect l="l" t="t" r="r" b="b"/>
            <a:pathLst>
              <a:path w="1905000" h="2076450">
                <a:moveTo>
                  <a:pt x="0" y="0"/>
                </a:moveTo>
                <a:lnTo>
                  <a:pt x="1638300" y="0"/>
                </a:lnTo>
                <a:lnTo>
                  <a:pt x="1905000" y="1038225"/>
                </a:lnTo>
                <a:lnTo>
                  <a:pt x="1638300" y="2076450"/>
                </a:lnTo>
                <a:lnTo>
                  <a:pt x="0" y="2076450"/>
                </a:lnTo>
                <a:lnTo>
                  <a:pt x="266700" y="10382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A8D39ECA-A57B-4001-B269-FA60DFE6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15506" y="2663190"/>
            <a:ext cx="100577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运行框架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B99B4130-7767-4EFF-B6CD-444225ED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15506" y="2948940"/>
            <a:ext cx="143765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工程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AF06169F-C35C-442A-98D8-5C9FC320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18173" y="3767614"/>
            <a:ext cx="138607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769E0"/>
                </a:solidFill>
                <a:latin typeface="Segoe UI"/>
                <a:ea typeface="Segoe UI"/>
                <a:cs typeface="Segoe UI"/>
              </a:rPr>
              <a:t>工具、权限、沙箱</a:t>
            </a:r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16C63A90-1A0E-42C0-BBE7-1C097E29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0" y="2362200"/>
            <a:ext cx="1905000" cy="2076450"/>
          </a:xfrm>
          <a:custGeom xmlns:a="http://schemas.openxmlformats.org/drawingml/2006/main">
            <a:rect l="l" t="t" r="r" b="b"/>
            <a:pathLst>
              <a:path w="1905000" h="2076450">
                <a:moveTo>
                  <a:pt x="0" y="0"/>
                </a:moveTo>
                <a:lnTo>
                  <a:pt x="1638300" y="0"/>
                </a:lnTo>
                <a:lnTo>
                  <a:pt x="1905000" y="1038225"/>
                </a:lnTo>
                <a:lnTo>
                  <a:pt x="1638300" y="2076450"/>
                </a:lnTo>
                <a:lnTo>
                  <a:pt x="0" y="2076450"/>
                </a:lnTo>
                <a:lnTo>
                  <a:pt x="266700" y="1038225"/>
                </a:lnTo>
                <a:close/>
              </a:path>
            </a:pathLst>
          </a:cu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302DA3E7-047F-41D1-ABA5-26CD01E2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20506" y="2663190"/>
            <a:ext cx="585959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循环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A8A1A74C-508F-4304-91C2-D5D00645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20506" y="2948940"/>
            <a:ext cx="143765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工程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C390F03B-1DB6-4FD4-BD35-BA699A9D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23173" y="3767614"/>
            <a:ext cx="138607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769E0"/>
                </a:solidFill>
                <a:latin typeface="Segoe UI"/>
                <a:ea typeface="Segoe UI"/>
                <a:cs typeface="Segoe UI"/>
              </a:rPr>
              <a:t>触发、验证、恢复</a:t>
            </a: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1EC1C2F5-DDAD-44E6-8679-3D34048B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91750" y="2362200"/>
            <a:ext cx="1504950" cy="2076450"/>
          </a:xfrm>
          <a:custGeom xmlns:a="http://schemas.openxmlformats.org/drawingml/2006/main">
            <a:rect l="l" t="t" r="r" b="b"/>
            <a:pathLst>
              <a:path w="1504950" h="2076450">
                <a:moveTo>
                  <a:pt x="0" y="0"/>
                </a:moveTo>
                <a:lnTo>
                  <a:pt x="1504950" y="0"/>
                </a:lnTo>
                <a:lnTo>
                  <a:pt x="1504950" y="2076450"/>
                </a:lnTo>
                <a:lnTo>
                  <a:pt x="0" y="2076450"/>
                </a:lnTo>
                <a:lnTo>
                  <a:pt x="266700" y="1038225"/>
                </a:lnTo>
                <a:close/>
              </a:path>
            </a:pathLst>
          </a:custGeom>
          <a:solidFill xmlns:a="http://schemas.openxmlformats.org/drawingml/2006/main">
            <a:srgbClr val="132A3A"/>
          </a:solidFill>
          <a:ln xmlns:a="http://schemas.openxmlformats.org/drawingml/2006/main">
            <a:noFill/>
          </a:ln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76BF873D-999B-44F0-9717-540D5A3C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63606" y="2663190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办公交付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920C7FF3-E5A2-442A-8236-E5A39449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66273" y="3100864"/>
            <a:ext cx="69951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业务成果</a:t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41599296-9794-4D45-88A2-E3D2A8D0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66273" y="3386614"/>
            <a:ext cx="87115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证据与边界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2A74238D-EE66-4B92-80C2-ADD6E013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66273" y="3767614"/>
            <a:ext cx="91406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用户可复核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53E7F00E-BF14-4C50-94A0-984F9864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3088" y="5019675"/>
            <a:ext cx="155575" cy="44450"/>
          </a:xfrm>
          <a:custGeom xmlns:a="http://schemas.openxmlformats.org/drawingml/2006/main">
            <a:rect l="l" t="t" r="r" b="b"/>
            <a:pathLst>
              <a:path w="155575" h="44450">
                <a:moveTo>
                  <a:pt x="0" y="44450"/>
                </a:moveTo>
                <a:lnTo>
                  <a:pt x="155575" y="44450"/>
                </a:lnTo>
                <a:lnTo>
                  <a:pt x="111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8D1A2FBF-09B1-4833-8351-3A3C91A8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8638" y="5108575"/>
            <a:ext cx="155575" cy="44450"/>
          </a:xfrm>
          <a:custGeom xmlns:a="http://schemas.openxmlformats.org/drawingml/2006/main">
            <a:rect l="l" t="t" r="r" b="b"/>
            <a:pathLst>
              <a:path w="155575" h="44450">
                <a:moveTo>
                  <a:pt x="155575" y="0"/>
                </a:moveTo>
                <a:lnTo>
                  <a:pt x="0" y="0"/>
                </a:lnTo>
                <a:lnTo>
                  <a:pt x="44450" y="444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2F820ED5-8788-48D2-BAA9-1FA2000D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3732" y="4935855"/>
            <a:ext cx="2396033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交互对象同步变化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95E2FDD1-778A-48CF-B879-1BCA4FD7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923" y="5386864"/>
            <a:ext cx="573052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从调整一句提示词，到审查任务状态、来源、成果、恢复点与动作后果。</a:t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35663DA7-5FC4-46E9-91D0-A682DA0F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63246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依据：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95172a4b5dde431d"/>
              </a:rPr>
              <a:t>arxiv.org/abs/2005.14165</a:t>
            </a: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 ·  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6f76c84e53f640d6"/>
              </a:rPr>
              <a:t>arxiv.org/abs/2210.03629</a:t>
            </a:r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A6EA0E21-920B-457C-AEE8-4E27D57B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05 / 24</a:t>
            </a:r>
          </a:p>
        </p:txBody>
      </p:sp>
    </p:spTree>
    <p:extLst>
      <p:ext uri="{BB962C8B-B14F-4D97-AF65-F5344CB8AC3E}">
        <p14:creationId xmlns:p14="http://schemas.microsoft.com/office/powerpoint/2010/main" val="191476740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3FB0CC5-ADD7-4FC5-A597-DD388088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EA307373-2ED9-486B-AFBF-1BFB2605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7A0C96B2-C69A-462C-B91C-8A7E73EC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8861715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主流方案的差别，首先是“用户在审什么”</a:t>
            </a:r>
          </a:p>
        </p:txBody>
      </p:sp>
      <p:sp>
        <p:nvSpPr>
          <p:cNvPr id="12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4583849-AE87-4A20-83BD-01A222C2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2133600"/>
            <a:ext cx="3429000" cy="150495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A0C84CE-438B-4742-A77F-CE11C292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8188" y="2420938"/>
            <a:ext cx="200026" cy="144463"/>
          </a:xfrm>
          <a:custGeom xmlns:a="http://schemas.openxmlformats.org/drawingml/2006/main">
            <a:rect l="l" t="t" r="r" b="b"/>
            <a:pathLst>
              <a:path w="200026" h="144463">
                <a:moveTo>
                  <a:pt x="0" y="22225"/>
                </a:moveTo>
                <a:cubicBezTo>
                  <a:pt x="0" y="9950"/>
                  <a:pt x="9950" y="0"/>
                  <a:pt x="22225" y="0"/>
                </a:cubicBezTo>
                <a:lnTo>
                  <a:pt x="177801" y="0"/>
                </a:lnTo>
                <a:cubicBezTo>
                  <a:pt x="190075" y="0"/>
                  <a:pt x="200026" y="9950"/>
                  <a:pt x="200026" y="22225"/>
                </a:cubicBezTo>
                <a:lnTo>
                  <a:pt x="200026" y="122238"/>
                </a:lnTo>
                <a:cubicBezTo>
                  <a:pt x="200026" y="134512"/>
                  <a:pt x="190075" y="144463"/>
                  <a:pt x="177801" y="144463"/>
                </a:cubicBezTo>
                <a:lnTo>
                  <a:pt x="22225" y="144463"/>
                </a:lnTo>
                <a:cubicBezTo>
                  <a:pt x="9950" y="144463"/>
                  <a:pt x="0" y="134512"/>
                  <a:pt x="0" y="122238"/>
                </a:cubicBezTo>
                <a:lnTo>
                  <a:pt x="0" y="222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8DD75CFA-207E-49E3-B7FE-7C53EE8A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3750" y="2376488"/>
            <a:ext cx="88900" cy="44450"/>
          </a:xfrm>
          <a:custGeom xmlns:a="http://schemas.openxmlformats.org/drawingml/2006/main">
            <a:rect l="l" t="t" r="r" b="b"/>
            <a:pathLst>
              <a:path w="88900" h="44450">
                <a:moveTo>
                  <a:pt x="0" y="44450"/>
                </a:moveTo>
                <a:lnTo>
                  <a:pt x="0" y="22225"/>
                </a:lnTo>
                <a:cubicBezTo>
                  <a:pt x="0" y="9950"/>
                  <a:pt x="9950" y="0"/>
                  <a:pt x="22225" y="0"/>
                </a:cubicBezTo>
                <a:lnTo>
                  <a:pt x="66675" y="0"/>
                </a:lnTo>
                <a:cubicBezTo>
                  <a:pt x="78950" y="0"/>
                  <a:pt x="88900" y="9950"/>
                  <a:pt x="88900" y="22225"/>
                </a:cubicBezTo>
                <a:lnTo>
                  <a:pt x="88900" y="444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CA7DCA67-942A-4806-888C-C31DEA2A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2476500"/>
            <a:ext cx="9525" cy="9525"/>
          </a:xfrm>
          <a:custGeom xmlns:a="http://schemas.openxmlformats.org/drawingml/2006/main">
            <a:rect l="l" t="t" r="r" b="b"/>
            <a:pathLst>
              <a:path w="9525" h="9525">
                <a:moveTo>
                  <a:pt x="0" y="0"/>
                </a:moveTo>
                <a:lnTo>
                  <a:pt x="0" y="11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66382229-26B6-421B-B886-EFA0FA82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8188" y="2487613"/>
            <a:ext cx="200026" cy="31699"/>
          </a:xfrm>
          <a:custGeom xmlns:a="http://schemas.openxmlformats.org/drawingml/2006/main">
            <a:rect l="l" t="t" r="r" b="b"/>
            <a:pathLst>
              <a:path w="200026" h="31699">
                <a:moveTo>
                  <a:pt x="0" y="0"/>
                </a:moveTo>
                <a:cubicBezTo>
                  <a:pt x="62908" y="31699"/>
                  <a:pt x="137118" y="31699"/>
                  <a:pt x="200026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0F33EEE0-20C2-4DD7-92EA-C2A18087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756" y="2358390"/>
            <a:ext cx="2708724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Microsoft 365 Copilot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93E2EE72-1A6B-453B-B53A-FB836B1A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8373" y="2796064"/>
            <a:ext cx="275920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审：文件、邮件、会议、站点与人员</a:t>
            </a:r>
          </a:p>
        </p:txBody>
      </p:sp>
      <p:sp>
        <p:nvSpPr>
          <p:cNvPr id="21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5B3FAAB6-00FF-44B6-8F1F-2A5C839A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52900" y="2133600"/>
            <a:ext cx="3429000" cy="150495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B4D16D9C-7E74-4374-BC2D-4B45FF76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5788" y="2376488"/>
            <a:ext cx="155575" cy="155575"/>
          </a:xfrm>
          <a:custGeom xmlns:a="http://schemas.openxmlformats.org/drawingml/2006/main">
            <a:rect l="l" t="t" r="r" b="b"/>
            <a:pathLst>
              <a:path w="155575" h="155575">
                <a:moveTo>
                  <a:pt x="0" y="77788"/>
                </a:moveTo>
                <a:cubicBezTo>
                  <a:pt x="0" y="120749"/>
                  <a:pt x="34827" y="155575"/>
                  <a:pt x="77788" y="155575"/>
                </a:cubicBezTo>
                <a:cubicBezTo>
                  <a:pt x="120749" y="155575"/>
                  <a:pt x="155575" y="120749"/>
                  <a:pt x="155575" y="77788"/>
                </a:cubicBezTo>
                <a:cubicBezTo>
                  <a:pt x="155575" y="34827"/>
                  <a:pt x="120749" y="0"/>
                  <a:pt x="77788" y="0"/>
                </a:cubicBezTo>
                <a:cubicBezTo>
                  <a:pt x="34827" y="0"/>
                  <a:pt x="0" y="34827"/>
                  <a:pt x="0" y="7778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9AA08238-BD94-4AD6-BE9F-DB4584C2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29138" y="2509838"/>
            <a:ext cx="66675" cy="66675"/>
          </a:xfrm>
          <a:custGeom xmlns:a="http://schemas.openxmlformats.org/drawingml/2006/main">
            <a:rect l="l" t="t" r="r" b="b"/>
            <a:pathLst>
              <a:path w="66675" h="66675">
                <a:moveTo>
                  <a:pt x="66675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09093961-9780-4E0A-B0C9-8D46BC11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356" y="2358390"/>
            <a:ext cx="2863263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ChatGPT 深度研究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E0D1BD11-0776-431D-B03D-8A1C794C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5973" y="2796064"/>
            <a:ext cx="258756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审：研究计划、来源、进度与报告</a:t>
            </a:r>
          </a:p>
        </p:txBody>
      </p:sp>
      <p:sp>
        <p:nvSpPr>
          <p:cNvPr id="28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AF36A3C3-155B-4AD6-B486-56CF284B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0" y="2133600"/>
            <a:ext cx="3886200" cy="150495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EB48CC6F-89C5-40DB-8ACE-1041A211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75613" y="2520951"/>
            <a:ext cx="44450" cy="44450"/>
          </a:xfrm>
          <a:custGeom xmlns:a="http://schemas.openxmlformats.org/drawingml/2006/main">
            <a:rect l="l" t="t" r="r" b="b"/>
            <a:pathLst>
              <a:path w="44450" h="44450">
                <a:moveTo>
                  <a:pt x="0" y="22225"/>
                </a:moveTo>
                <a:cubicBezTo>
                  <a:pt x="0" y="34500"/>
                  <a:pt x="9950" y="44450"/>
                  <a:pt x="22225" y="44450"/>
                </a:cubicBezTo>
                <a:cubicBezTo>
                  <a:pt x="34500" y="44450"/>
                  <a:pt x="44450" y="34500"/>
                  <a:pt x="44450" y="22225"/>
                </a:cubicBezTo>
                <a:cubicBezTo>
                  <a:pt x="44450" y="9950"/>
                  <a:pt x="34500" y="0"/>
                  <a:pt x="22225" y="0"/>
                </a:cubicBezTo>
                <a:cubicBezTo>
                  <a:pt x="9950" y="0"/>
                  <a:pt x="0" y="9950"/>
                  <a:pt x="0" y="222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60ECB76E-213F-4F4B-BA4E-B1B37000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75613" y="2387600"/>
            <a:ext cx="44450" cy="44450"/>
          </a:xfrm>
          <a:custGeom xmlns:a="http://schemas.openxmlformats.org/drawingml/2006/main">
            <a:rect l="l" t="t" r="r" b="b"/>
            <a:pathLst>
              <a:path w="44450" h="44450">
                <a:moveTo>
                  <a:pt x="0" y="22225"/>
                </a:moveTo>
                <a:cubicBezTo>
                  <a:pt x="0" y="34500"/>
                  <a:pt x="9950" y="44450"/>
                  <a:pt x="22225" y="44450"/>
                </a:cubicBezTo>
                <a:cubicBezTo>
                  <a:pt x="34500" y="44450"/>
                  <a:pt x="44450" y="34500"/>
                  <a:pt x="44450" y="22225"/>
                </a:cubicBezTo>
                <a:cubicBezTo>
                  <a:pt x="44450" y="9950"/>
                  <a:pt x="34500" y="0"/>
                  <a:pt x="22225" y="0"/>
                </a:cubicBezTo>
                <a:cubicBezTo>
                  <a:pt x="9950" y="0"/>
                  <a:pt x="0" y="9950"/>
                  <a:pt x="0" y="222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3954961E-F3D2-47AE-B538-2D0DDD42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86738" y="2387600"/>
            <a:ext cx="44450" cy="44450"/>
          </a:xfrm>
          <a:custGeom xmlns:a="http://schemas.openxmlformats.org/drawingml/2006/main">
            <a:rect l="l" t="t" r="r" b="b"/>
            <a:pathLst>
              <a:path w="44450" h="44450">
                <a:moveTo>
                  <a:pt x="0" y="22225"/>
                </a:moveTo>
                <a:cubicBezTo>
                  <a:pt x="0" y="34500"/>
                  <a:pt x="9950" y="44450"/>
                  <a:pt x="22225" y="44450"/>
                </a:cubicBezTo>
                <a:cubicBezTo>
                  <a:pt x="34500" y="44450"/>
                  <a:pt x="44450" y="34500"/>
                  <a:pt x="44450" y="22225"/>
                </a:cubicBezTo>
                <a:cubicBezTo>
                  <a:pt x="44450" y="9950"/>
                  <a:pt x="34500" y="0"/>
                  <a:pt x="22225" y="0"/>
                </a:cubicBezTo>
                <a:cubicBezTo>
                  <a:pt x="9950" y="0"/>
                  <a:pt x="0" y="9950"/>
                  <a:pt x="0" y="222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EB93BF6E-B604-4070-BEEA-3FD1D6E9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97838" y="2432050"/>
            <a:ext cx="9525" cy="88900"/>
          </a:xfrm>
          <a:custGeom xmlns:a="http://schemas.openxmlformats.org/drawingml/2006/main">
            <a:rect l="l" t="t" r="r" b="b"/>
            <a:pathLst>
              <a:path w="952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A5D6C4B1-BA9E-4734-9043-A894CF28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20063" y="2465388"/>
            <a:ext cx="88900" cy="77788"/>
          </a:xfrm>
          <a:custGeom xmlns:a="http://schemas.openxmlformats.org/drawingml/2006/main">
            <a:rect l="l" t="t" r="r" b="b"/>
            <a:pathLst>
              <a:path w="88900" h="77788">
                <a:moveTo>
                  <a:pt x="0" y="77788"/>
                </a:moveTo>
                <a:lnTo>
                  <a:pt x="66675" y="77788"/>
                </a:lnTo>
                <a:cubicBezTo>
                  <a:pt x="78950" y="77788"/>
                  <a:pt x="88900" y="67837"/>
                  <a:pt x="88900" y="55563"/>
                </a:cubicBezTo>
                <a:lnTo>
                  <a:pt x="88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1E19D116-9378-4E77-9D98-E0F04EF2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5625" y="2465388"/>
            <a:ext cx="66675" cy="33338"/>
          </a:xfrm>
          <a:custGeom xmlns:a="http://schemas.openxmlformats.org/drawingml/2006/main">
            <a:rect l="l" t="t" r="r" b="b"/>
            <a:pathLst>
              <a:path w="66675" h="33338">
                <a:moveTo>
                  <a:pt x="0" y="33338"/>
                </a:moveTo>
                <a:lnTo>
                  <a:pt x="33338" y="0"/>
                </a:lnTo>
                <a:lnTo>
                  <a:pt x="66675" y="3333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877770A-7A6F-4DE4-9F42-2EED4D9F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10956" y="2358390"/>
            <a:ext cx="123104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Codex 应用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167D0B2E-DB02-4CD2-8673-8B92E5D9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13573" y="2796064"/>
            <a:ext cx="2876395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审：任务、隔离工作区、变更与队列</a:t>
            </a:r>
          </a:p>
        </p:txBody>
      </p:sp>
      <p:sp>
        <p:nvSpPr>
          <p:cNvPr id="39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25C7BB47-F538-43E9-B767-0AD16F2E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3867150"/>
            <a:ext cx="3429000" cy="150495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0CDEFA90-30EB-4302-BB35-9DD2A96B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6808" y="4112538"/>
            <a:ext cx="221851" cy="196658"/>
          </a:xfrm>
          <a:custGeom xmlns:a="http://schemas.openxmlformats.org/drawingml/2006/main">
            <a:rect l="l" t="t" r="r" b="b"/>
            <a:pathLst>
              <a:path w="221851" h="196658">
                <a:moveTo>
                  <a:pt x="11379" y="186413"/>
                </a:moveTo>
                <a:lnTo>
                  <a:pt x="25826" y="143074"/>
                </a:lnTo>
                <a:cubicBezTo>
                  <a:pt x="0" y="104880"/>
                  <a:pt x="9979" y="55596"/>
                  <a:pt x="49162" y="27792"/>
                </a:cubicBezTo>
                <a:cubicBezTo>
                  <a:pt x="88345" y="0"/>
                  <a:pt x="144618" y="2278"/>
                  <a:pt x="180790" y="33126"/>
                </a:cubicBezTo>
                <a:cubicBezTo>
                  <a:pt x="216961" y="63986"/>
                  <a:pt x="221851" y="113870"/>
                  <a:pt x="192225" y="149819"/>
                </a:cubicBezTo>
                <a:cubicBezTo>
                  <a:pt x="162599" y="185768"/>
                  <a:pt x="107603" y="196658"/>
                  <a:pt x="63608" y="175300"/>
                </a:cubicBezTo>
                <a:lnTo>
                  <a:pt x="11379" y="18641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BB300B91-C99E-496D-BE12-A6278233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756" y="4091940"/>
            <a:ext cx="144637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Claude Code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5236CB21-BB20-4AFC-8C20-59DECD07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8373" y="4529614"/>
            <a:ext cx="2930843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审：项目上下文、工具动作与验证结果</a:t>
            </a:r>
          </a:p>
        </p:txBody>
      </p:sp>
      <p:sp>
        <p:nvSpPr>
          <p:cNvPr id="44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ACE84B97-E28F-4019-9673-389217A7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52900" y="3867150"/>
            <a:ext cx="3429000" cy="150495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59A0AEE5-744B-4A96-AF83-B4F9E2D6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5788" y="4121150"/>
            <a:ext cx="200026" cy="88900"/>
          </a:xfrm>
          <a:custGeom xmlns:a="http://schemas.openxmlformats.org/drawingml/2006/main">
            <a:rect l="l" t="t" r="r" b="b"/>
            <a:pathLst>
              <a:path w="200026" h="88900">
                <a:moveTo>
                  <a:pt x="0" y="33338"/>
                </a:moveTo>
                <a:cubicBezTo>
                  <a:pt x="0" y="14926"/>
                  <a:pt x="14926" y="0"/>
                  <a:pt x="33338" y="0"/>
                </a:cubicBezTo>
                <a:lnTo>
                  <a:pt x="166688" y="0"/>
                </a:lnTo>
                <a:cubicBezTo>
                  <a:pt x="185100" y="0"/>
                  <a:pt x="200026" y="14926"/>
                  <a:pt x="200026" y="33338"/>
                </a:cubicBezTo>
                <a:lnTo>
                  <a:pt x="200026" y="55563"/>
                </a:lnTo>
                <a:cubicBezTo>
                  <a:pt x="200026" y="73975"/>
                  <a:pt x="185100" y="88900"/>
                  <a:pt x="166688" y="88900"/>
                </a:cubicBezTo>
                <a:lnTo>
                  <a:pt x="33338" y="88900"/>
                </a:lnTo>
                <a:cubicBezTo>
                  <a:pt x="14926" y="88900"/>
                  <a:pt x="0" y="73975"/>
                  <a:pt x="0" y="5556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46" name="Freeform 46">
            <a:extLst xmlns:a="http://schemas.openxmlformats.org/drawingml/2006/main">
              <a:ext uri="{FF2B5EF4-FFF2-40B4-BE49-F238E27FC236}">
                <a16:creationId xmlns:a16="http://schemas.microsoft.com/office/drawing/2014/main" id="{107D2083-03FF-47A3-8B93-7A56E08C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5788" y="4210050"/>
            <a:ext cx="200026" cy="88900"/>
          </a:xfrm>
          <a:custGeom xmlns:a="http://schemas.openxmlformats.org/drawingml/2006/main">
            <a:rect l="l" t="t" r="r" b="b"/>
            <a:pathLst>
              <a:path w="200026" h="88900">
                <a:moveTo>
                  <a:pt x="0" y="33338"/>
                </a:moveTo>
                <a:cubicBezTo>
                  <a:pt x="0" y="14926"/>
                  <a:pt x="14926" y="0"/>
                  <a:pt x="33338" y="0"/>
                </a:cubicBezTo>
                <a:lnTo>
                  <a:pt x="166688" y="0"/>
                </a:lnTo>
                <a:cubicBezTo>
                  <a:pt x="185100" y="0"/>
                  <a:pt x="200026" y="14926"/>
                  <a:pt x="200026" y="33338"/>
                </a:cubicBezTo>
                <a:lnTo>
                  <a:pt x="200026" y="55563"/>
                </a:lnTo>
                <a:cubicBezTo>
                  <a:pt x="200026" y="73975"/>
                  <a:pt x="185100" y="88900"/>
                  <a:pt x="166688" y="88900"/>
                </a:cubicBezTo>
                <a:lnTo>
                  <a:pt x="33338" y="88900"/>
                </a:lnTo>
                <a:cubicBezTo>
                  <a:pt x="14926" y="88900"/>
                  <a:pt x="0" y="73975"/>
                  <a:pt x="0" y="55563"/>
                </a:cubicBezTo>
                <a:lnTo>
                  <a:pt x="0" y="3333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47" name="Freeform 47">
            <a:extLst xmlns:a="http://schemas.openxmlformats.org/drawingml/2006/main">
              <a:ext uri="{FF2B5EF4-FFF2-40B4-BE49-F238E27FC236}">
                <a16:creationId xmlns:a16="http://schemas.microsoft.com/office/drawing/2014/main" id="{B07DFB20-1E44-40D9-B6E1-01024CCE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0238" y="4165600"/>
            <a:ext cx="9525" cy="9525"/>
          </a:xfrm>
          <a:custGeom xmlns:a="http://schemas.openxmlformats.org/drawingml/2006/main">
            <a:rect l="l" t="t" r="r" b="b"/>
            <a:pathLst>
              <a:path w="9525" h="9525">
                <a:moveTo>
                  <a:pt x="0" y="0"/>
                </a:moveTo>
                <a:lnTo>
                  <a:pt x="0" y="11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48" name="Freeform 48">
            <a:extLst xmlns:a="http://schemas.openxmlformats.org/drawingml/2006/main">
              <a:ext uri="{FF2B5EF4-FFF2-40B4-BE49-F238E27FC236}">
                <a16:creationId xmlns:a16="http://schemas.microsoft.com/office/drawing/2014/main" id="{FC877D62-3501-4970-AD6D-14EDDAAF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0238" y="4254501"/>
            <a:ext cx="9525" cy="9525"/>
          </a:xfrm>
          <a:custGeom xmlns:a="http://schemas.openxmlformats.org/drawingml/2006/main">
            <a:rect l="l" t="t" r="r" b="b"/>
            <a:pathLst>
              <a:path w="9525" h="9525">
                <a:moveTo>
                  <a:pt x="0" y="0"/>
                </a:moveTo>
                <a:lnTo>
                  <a:pt x="0" y="11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F2967536-F6E1-4C68-ADC4-D2A7192B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356" y="4091940"/>
            <a:ext cx="119233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OpenClaw</a:t>
            </a:r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CA64FE7A-C51D-471E-840F-12776D89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5973" y="4529614"/>
            <a:ext cx="305624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审：后台任务、路由、会话与审批</a:t>
            </a:r>
          </a:p>
        </p:txBody>
      </p:sp>
      <p:sp>
        <p:nvSpPr>
          <p:cNvPr id="53" name="Rectangle 53">
            <a:extLst xmlns:a="http://schemas.openxmlformats.org/drawingml/2006/main">
              <a:ext uri="{FF2B5EF4-FFF2-40B4-BE49-F238E27FC236}">
                <a16:creationId xmlns:a16="http://schemas.microsoft.com/office/drawing/2014/main" id="{470B1E02-801A-4EC7-A24A-4D499812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0" y="3867150"/>
            <a:ext cx="3886200" cy="150495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4" name="Freeform 54">
            <a:extLst xmlns:a="http://schemas.openxmlformats.org/drawingml/2006/main">
              <a:ext uri="{FF2B5EF4-FFF2-40B4-BE49-F238E27FC236}">
                <a16:creationId xmlns:a16="http://schemas.microsoft.com/office/drawing/2014/main" id="{FA04014C-F65B-4C33-9DC6-67A2E642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64500" y="4116863"/>
            <a:ext cx="177801" cy="82075"/>
          </a:xfrm>
          <a:custGeom xmlns:a="http://schemas.openxmlformats.org/drawingml/2006/main">
            <a:rect l="l" t="t" r="r" b="b"/>
            <a:pathLst>
              <a:path w="177801" h="82075">
                <a:moveTo>
                  <a:pt x="177801" y="82075"/>
                </a:moveTo>
                <a:cubicBezTo>
                  <a:pt x="172214" y="41876"/>
                  <a:pt x="140416" y="10388"/>
                  <a:pt x="100165" y="5194"/>
                </a:cubicBezTo>
                <a:cubicBezTo>
                  <a:pt x="59913" y="0"/>
                  <a:pt x="21164" y="22386"/>
                  <a:pt x="5556" y="59850"/>
                </a:cubicBezTo>
                <a:moveTo>
                  <a:pt x="0" y="15400"/>
                </a:moveTo>
                <a:lnTo>
                  <a:pt x="0" y="59850"/>
                </a:lnTo>
                <a:lnTo>
                  <a:pt x="44450" y="59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55" name="Freeform 55">
            <a:extLst xmlns:a="http://schemas.openxmlformats.org/drawingml/2006/main">
              <a:ext uri="{FF2B5EF4-FFF2-40B4-BE49-F238E27FC236}">
                <a16:creationId xmlns:a16="http://schemas.microsoft.com/office/drawing/2014/main" id="{58FA284E-D15E-4CDF-8431-8EE3E446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64500" y="4221163"/>
            <a:ext cx="177801" cy="82075"/>
          </a:xfrm>
          <a:custGeom xmlns:a="http://schemas.openxmlformats.org/drawingml/2006/main">
            <a:rect l="l" t="t" r="r" b="b"/>
            <a:pathLst>
              <a:path w="177801" h="82075">
                <a:moveTo>
                  <a:pt x="0" y="0"/>
                </a:moveTo>
                <a:cubicBezTo>
                  <a:pt x="5587" y="40199"/>
                  <a:pt x="37384" y="71688"/>
                  <a:pt x="77636" y="76881"/>
                </a:cubicBezTo>
                <a:cubicBezTo>
                  <a:pt x="117888" y="82075"/>
                  <a:pt x="156637" y="59689"/>
                  <a:pt x="172244" y="22225"/>
                </a:cubicBezTo>
                <a:moveTo>
                  <a:pt x="177801" y="66675"/>
                </a:moveTo>
                <a:lnTo>
                  <a:pt x="177801" y="22225"/>
                </a:lnTo>
                <a:lnTo>
                  <a:pt x="133350" y="222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DFDD3B57-CA7D-4031-8C7A-04CD6EE8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10956" y="4091940"/>
            <a:ext cx="73381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ReAct</a:t>
            </a:r>
          </a:p>
        </p:txBody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D1C3EFCA-F11F-4BC4-8F53-FFA119D4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13573" y="4529614"/>
            <a:ext cx="3062583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审：行动是否得到环境反馈</a:t>
            </a:r>
          </a:p>
        </p:txBody>
      </p:sp>
      <p:sp>
        <p:nvSpPr>
          <p:cNvPr id="61" name="Freeform 61">
            <a:extLst xmlns:a="http://schemas.openxmlformats.org/drawingml/2006/main">
              <a:ext uri="{FF2B5EF4-FFF2-40B4-BE49-F238E27FC236}">
                <a16:creationId xmlns:a16="http://schemas.microsoft.com/office/drawing/2014/main" id="{6E7C19B0-441E-4ADB-AFF8-E285FC56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581025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38100">
            <a:solidFill>
              <a:srgbClr val="1769E0"/>
            </a:solidFill>
          </a:ln>
        </p:spPr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76398698-4CCB-4E40-AE53-E98EF682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6156" y="5901690"/>
            <a:ext cx="1012036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候选差异：用户审查的是“资料 → 业务结论 → 成果 → 人工决定 → 未执行边界”</a:t>
            </a:r>
          </a:p>
        </p:txBody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0D36968F-7E7B-4C05-9D36-0C5FB9BD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63246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依据：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4427eaf81f7446dc"/>
              </a:rPr>
              <a:t>support.microsoft.com/.../refer-to-specific-files</a:t>
            </a: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 ·  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20a4a8869a95429b"/>
              </a:rPr>
              <a:t>openai.com/index/introducing-the-codex-app/</a:t>
            </a:r>
          </a:p>
        </p:txBody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3BD41E89-8378-4F8C-B212-99080740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06 / 24</a:t>
            </a:r>
          </a:p>
        </p:txBody>
      </p:sp>
    </p:spTree>
    <p:extLst>
      <p:ext uri="{BB962C8B-B14F-4D97-AF65-F5344CB8AC3E}">
        <p14:creationId xmlns:p14="http://schemas.microsoft.com/office/powerpoint/2010/main" val="202730045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7B747E1-0A14-48A2-9BEF-E99393F6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A7A77661-EC77-4335-AB87-31AED2B0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02206316-AA94-4585-8EBF-88242DC9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7349966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技术差异如何一步步改变用户流程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DD71EB4A-0377-4DDA-99BB-FA2A5FD1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4632" y="1240155"/>
            <a:ext cx="6284599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不是增加更多状态，而是重新分配“谁负责判断”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B31F71D1-5A84-4E46-84FA-FDA53688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2476500"/>
            <a:ext cx="10820400" cy="9525"/>
          </a:xfrm>
          <a:custGeom xmlns:a="http://schemas.openxmlformats.org/drawingml/2006/main"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38100">
            <a:solidFill>
              <a:srgbClr val="CBD5DF"/>
            </a:solidFill>
          </a:ln>
        </p:spPr>
      </p:sp>
      <p:sp>
        <p:nvSpPr>
          <p:cNvPr id="12" name="Ellipse 12">
            <a:extLst xmlns:a="http://schemas.openxmlformats.org/drawingml/2006/main">
              <a:ext uri="{FF2B5EF4-FFF2-40B4-BE49-F238E27FC236}">
                <a16:creationId xmlns:a16="http://schemas.microsoft.com/office/drawing/2014/main" id="{0380F3C0-E598-4BF7-8C95-FA3E7262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0150" y="2247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2E68BF6A-59D0-42D9-A99D-F6FE4FE7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2712" y="241506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4" name="Ellipse 14">
            <a:extLst xmlns:a="http://schemas.openxmlformats.org/drawingml/2006/main">
              <a:ext uri="{FF2B5EF4-FFF2-40B4-BE49-F238E27FC236}">
                <a16:creationId xmlns:a16="http://schemas.microsoft.com/office/drawing/2014/main" id="{E140F302-92CF-4ACA-8733-2699B986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86150" y="2247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3BDF0345-D28B-4A72-B7D4-2948AE98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58712" y="241506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6" name="Ellipse 16">
            <a:extLst xmlns:a="http://schemas.openxmlformats.org/drawingml/2006/main">
              <a:ext uri="{FF2B5EF4-FFF2-40B4-BE49-F238E27FC236}">
                <a16:creationId xmlns:a16="http://schemas.microsoft.com/office/drawing/2014/main" id="{EFB106CF-28E0-4946-BCEF-76ACC9E6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72150" y="2247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96F8BFF-C4F0-4C61-BD21-984021FE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4712" y="241506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8" name="Ellipse 18">
            <a:extLst xmlns:a="http://schemas.openxmlformats.org/drawingml/2006/main">
              <a:ext uri="{FF2B5EF4-FFF2-40B4-BE49-F238E27FC236}">
                <a16:creationId xmlns:a16="http://schemas.microsoft.com/office/drawing/2014/main" id="{0ADAF005-5F56-48EC-96DA-DAE28611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58150" y="2247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B442CAC1-3DC9-4270-8F08-1FE75E61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30712" y="241506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0" name="Ellipse 20">
            <a:extLst xmlns:a="http://schemas.openxmlformats.org/drawingml/2006/main">
              <a:ext uri="{FF2B5EF4-FFF2-40B4-BE49-F238E27FC236}">
                <a16:creationId xmlns:a16="http://schemas.microsoft.com/office/drawing/2014/main" id="{A2F173F9-6DB0-432C-92E6-C4BCD8D6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4150" y="2247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530EF663-1677-40EB-8104-DF09929B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16712" y="241506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8DA11693-3ABF-43BE-AD98-3086DE92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2952750"/>
            <a:ext cx="1866900" cy="234315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51D73E35-90A5-4DAF-B85C-5C7888C3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6656" y="3082290"/>
            <a:ext cx="1925726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资料范围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0A1B4C43-F0B8-4676-83EF-7762F87E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9323" y="3805714"/>
            <a:ext cx="104279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只说业务目标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C3A3E371-8702-46B5-B2EC-27AB4A74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9323" y="4510564"/>
            <a:ext cx="121443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整库范围已冻结</a:t>
            </a:r>
          </a:p>
        </p:txBody>
      </p:sp>
      <p:sp>
        <p:nvSpPr>
          <p:cNvPr id="29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25CA4812-ACB4-465F-A7EF-D4EAFCE8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71750" y="2952750"/>
            <a:ext cx="1866900" cy="234315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253E9457-85CF-4B30-8068-69F0FAA1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53106" y="3082290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计划编译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3200AB52-7CEA-47BC-805C-7362164C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55773" y="3805714"/>
            <a:ext cx="121443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查看分支与依赖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976A1F14-B796-4A2B-AE22-78BA51BB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55773" y="4510564"/>
            <a:ext cx="140324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说明可读资料、可做事项和禁止项</a:t>
            </a:r>
          </a:p>
        </p:txBody>
      </p:sp>
      <p:sp>
        <p:nvSpPr>
          <p:cNvPr id="36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0DB96666-8129-49E8-8D34-3BB1957C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8200" y="2952750"/>
            <a:ext cx="1866900" cy="234315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A3F7ED1E-E958-4D58-9581-E3839122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9556" y="3082290"/>
            <a:ext cx="129044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模型采用门</a:t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3FD57F9A-5293-4574-88A0-AD8BC1A8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2223" y="3805714"/>
            <a:ext cx="155771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查看模型调用与采用回执</a:t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1664D632-0EB0-49E6-90B9-FB68C18A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3366" y="4534852"/>
            <a:ext cx="1424178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Consolas"/>
                <a:ea typeface="Consolas"/>
                <a:cs typeface="Consolas"/>
              </a:rPr>
              <a:t>系统区分已调用与已采用</a:t>
            </a:r>
          </a:p>
        </p:txBody>
      </p:sp>
      <p:sp>
        <p:nvSpPr>
          <p:cNvPr id="43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DB671D68-8B58-4870-B047-79BBAACD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24650" y="2952750"/>
            <a:ext cx="1866900" cy="234315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F66E69E1-B7D3-472D-B155-3C6B2E92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06006" y="3082290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局部恢复</a:t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4942B07C-0C6E-430A-A25A-C51E2C54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08673" y="3805714"/>
            <a:ext cx="138607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只处理受影响问题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BA5EC922-AEAF-4C68-A74F-B61B6775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08673" y="4510564"/>
            <a:ext cx="172935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说明原因、影响和选择后果</a:t>
            </a:r>
          </a:p>
        </p:txBody>
      </p:sp>
      <p:sp>
        <p:nvSpPr>
          <p:cNvPr id="50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DCB7EC00-C5F2-4E11-B7AB-794620AD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01100" y="2952750"/>
            <a:ext cx="2895600" cy="234315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>
            <a:noFill/>
          </a:ln>
        </p:spPr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59AFF1BE-2377-4910-BC65-A8293BC9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20556" y="3082290"/>
            <a:ext cx="179931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可核对办公结论</a:t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D520C43F-20B5-4C79-A332-4BD4051D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23223" y="3805714"/>
            <a:ext cx="155771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下载成果，回开依据</a:t>
            </a:r>
          </a:p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F0FF31CA-02EA-49E4-A367-2E87B542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23223" y="4510564"/>
            <a:ext cx="212413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区分成果、模型说明与外部动作</a:t>
            </a:r>
          </a:p>
        </p:txBody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4B7E2647-321A-4260-A08D-AFCEB3D8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63246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依据：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10e2463f528f4c88"/>
              </a:rPr>
              <a:t>microsoft.com/research/.../human-ai-interaction</a:t>
            </a: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 ·  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06fce321671a4fec"/>
              </a:rPr>
              <a:t>modelcontextprotocol.io/.../elicitation</a:t>
            </a:r>
          </a:p>
        </p:txBody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2CB3B86E-A5C2-476D-97F0-B2DD30C9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07 / 24</a:t>
            </a:r>
          </a:p>
        </p:txBody>
      </p:sp>
    </p:spTree>
    <p:extLst>
      <p:ext uri="{BB962C8B-B14F-4D97-AF65-F5344CB8AC3E}">
        <p14:creationId xmlns:p14="http://schemas.microsoft.com/office/powerpoint/2010/main" val="64244565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EA7EA6A-5F4A-48E6-83B8-7845D6BB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34B58F6-B2C1-4731-B85A-A033DC91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34C7AD42-4E73-406A-A898-9C2F620F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8838252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长任务循环的风险，会被持续放大</a:t>
            </a:r>
          </a:p>
        </p:txBody>
      </p:sp>
      <p:sp>
        <p:nvSpPr>
          <p:cNvPr id="9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A50F02E-C16F-4901-AF67-B7095A33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466850"/>
            <a:ext cx="7086600" cy="4095750"/>
          </a:xfrm>
          <a:prstGeom xmlns:a="http://schemas.openxmlformats.org/drawingml/2006/main" prst="roundRect">
            <a:avLst>
              <a:gd name="adj" fmla="val 13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D400C901-9DDB-4A52-87D1-5020C4E9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3232" y="1621155"/>
            <a:ext cx="1208684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六类风险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EF784044-D403-4035-AA6D-09D70BAA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" y="2076450"/>
            <a:ext cx="6629400" cy="3238500"/>
          </a:xfrm>
          <a:custGeom xmlns:a="http://schemas.openxmlformats.org/drawingml/2006/main">
            <a:rect l="l" t="t" r="r" b="b"/>
            <a:pathLst>
              <a:path w="6629400" h="3238500">
                <a:moveTo>
                  <a:pt x="0" y="0"/>
                </a:moveTo>
                <a:lnTo>
                  <a:pt x="6629400" y="0"/>
                </a:lnTo>
                <a:moveTo>
                  <a:pt x="3314700" y="0"/>
                </a:moveTo>
                <a:lnTo>
                  <a:pt x="3314700" y="3238500"/>
                </a:lnTo>
                <a:moveTo>
                  <a:pt x="0" y="1085850"/>
                </a:moveTo>
                <a:lnTo>
                  <a:pt x="6629400" y="1085850"/>
                </a:lnTo>
                <a:moveTo>
                  <a:pt x="0" y="2171700"/>
                </a:moveTo>
                <a:lnTo>
                  <a:pt x="6629400" y="21717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E3E8ED"/>
            </a:solidFill>
          </a:ln>
        </p:spPr>
      </p:sp>
      <p:sp>
        <p:nvSpPr>
          <p:cNvPr id="12" name="Ellipse 12">
            <a:extLst xmlns:a="http://schemas.openxmlformats.org/drawingml/2006/main">
              <a:ext uri="{FF2B5EF4-FFF2-40B4-BE49-F238E27FC236}">
                <a16:creationId xmlns:a16="http://schemas.microsoft.com/office/drawing/2014/main" id="{EB9DD24D-A333-4E8B-B9BD-D226E7AD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" y="2305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62C"/>
          </a:solidFill>
          <a:ln xmlns:a="http://schemas.openxmlformats.org/drawingml/2006/main">
            <a:noFill/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F0F248BF-8E4E-4FF1-9356-BD21DF2A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6351" y="2429828"/>
            <a:ext cx="92298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4BE07A14-F22B-4167-8DA3-6B82AADC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8156" y="2244090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方向漂移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CE15ADF1-B7D7-4B86-902B-D4EC66E3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0823" y="2605564"/>
            <a:ext cx="264650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中间目标逐步偏离任务约束</a:t>
            </a:r>
          </a:p>
        </p:txBody>
      </p:sp>
      <p:sp>
        <p:nvSpPr>
          <p:cNvPr id="16" name="Ellipse 16">
            <a:extLst xmlns:a="http://schemas.openxmlformats.org/drawingml/2006/main">
              <a:ext uri="{FF2B5EF4-FFF2-40B4-BE49-F238E27FC236}">
                <a16:creationId xmlns:a16="http://schemas.microsoft.com/office/drawing/2014/main" id="{EF69CB88-6725-490D-8F48-81EFFE79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95750" y="2305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62C"/>
          </a:solidFill>
          <a:ln xmlns:a="http://schemas.openxmlformats.org/drawingml/2006/main">
            <a:noFill/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FED9A71C-A019-4C3A-9E34-474C67B2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21051" y="2429828"/>
            <a:ext cx="92298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258527C0-3340-4F25-BA6A-959884D6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2856" y="2244090"/>
            <a:ext cx="129044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上下文退化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B92C5DFC-1353-454F-88BB-C7354976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5523" y="2605564"/>
            <a:ext cx="224428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旧版本、噪声与关键约束丢失</a:t>
            </a:r>
          </a:p>
        </p:txBody>
      </p:sp>
      <p:sp>
        <p:nvSpPr>
          <p:cNvPr id="20" name="Ellipse 20">
            <a:extLst xmlns:a="http://schemas.openxmlformats.org/drawingml/2006/main">
              <a:ext uri="{FF2B5EF4-FFF2-40B4-BE49-F238E27FC236}">
                <a16:creationId xmlns:a16="http://schemas.microsoft.com/office/drawing/2014/main" id="{FE7FEA48-5E23-4D14-9E34-FA8CA7E2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" y="3390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103C2041-246C-47E9-99B3-B74300DA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6351" y="3515678"/>
            <a:ext cx="92298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CA735819-7F58-430B-97EE-3AD5BEA2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8156" y="3329940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错误复利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E7DECEBC-3854-443E-BE5A-2EB4C956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0823" y="3691414"/>
            <a:ext cx="224428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未经验证的事实进入后续成果</a:t>
            </a:r>
          </a:p>
        </p:txBody>
      </p:sp>
      <p:sp>
        <p:nvSpPr>
          <p:cNvPr id="24" name="Ellipse 24">
            <a:extLst xmlns:a="http://schemas.openxmlformats.org/drawingml/2006/main">
              <a:ext uri="{FF2B5EF4-FFF2-40B4-BE49-F238E27FC236}">
                <a16:creationId xmlns:a16="http://schemas.microsoft.com/office/drawing/2014/main" id="{3C4994C9-756A-4CEA-9540-365F257E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95750" y="3390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5162339F-1188-434E-AB0A-3559B9AF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21051" y="3515678"/>
            <a:ext cx="92298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FC8B75FF-C9B7-4195-BC48-4C73BD9C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2856" y="3329940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成本扩张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C08B8A10-1EC8-4511-A2ED-9C43F9D3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5523" y="3691414"/>
            <a:ext cx="207264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重试、工具与分支持续增长</a:t>
            </a:r>
          </a:p>
        </p:txBody>
      </p:sp>
      <p:sp>
        <p:nvSpPr>
          <p:cNvPr id="28" name="Ellipse 28">
            <a:extLst xmlns:a="http://schemas.openxmlformats.org/drawingml/2006/main">
              <a:ext uri="{FF2B5EF4-FFF2-40B4-BE49-F238E27FC236}">
                <a16:creationId xmlns:a16="http://schemas.microsoft.com/office/drawing/2014/main" id="{1714183C-A1D4-46DC-BA25-38BE4DC6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" y="4476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>
            <a:noFill/>
          </a:ln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74B48104-EB4E-45E0-84E0-10F269F3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6351" y="4601528"/>
            <a:ext cx="92298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C102A0FB-AC67-4367-8C3E-F747D2C6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8156" y="4415790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权限漂移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F3779483-FA19-4529-9AC3-F2F250E7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0823" y="4777264"/>
            <a:ext cx="207264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工具链扩展后超出原始授权</a:t>
            </a:r>
          </a:p>
        </p:txBody>
      </p:sp>
      <p:sp>
        <p:nvSpPr>
          <p:cNvPr id="32" name="Ellipse 32">
            <a:extLst xmlns:a="http://schemas.openxmlformats.org/drawingml/2006/main">
              <a:ext uri="{FF2B5EF4-FFF2-40B4-BE49-F238E27FC236}">
                <a16:creationId xmlns:a16="http://schemas.microsoft.com/office/drawing/2014/main" id="{CEAC99B0-D282-4BA5-BE12-4878E4EA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95750" y="4476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>
            <a:noFill/>
          </a:ln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E88003F4-C283-4DF4-8A90-A248203D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21051" y="4601528"/>
            <a:ext cx="92298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5092C8A5-C99F-4E06-A1F4-F5CD77F5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2856" y="4415790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停止困难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A523240F-FA51-49CA-B83D-CD68CDA8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5523" y="4777264"/>
            <a:ext cx="258756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局部失败牵连整任务，用户难接管</a:t>
            </a:r>
          </a:p>
        </p:txBody>
      </p:sp>
      <p:sp>
        <p:nvSpPr>
          <p:cNvPr id="37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E6B24BB0-3F86-4B1E-A3A5-BB54E2E5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48600" y="1466850"/>
            <a:ext cx="3848100" cy="4095750"/>
          </a:xfrm>
          <a:prstGeom xmlns:a="http://schemas.openxmlformats.org/drawingml/2006/main" prst="roundRect">
            <a:avLst>
              <a:gd name="adj" fmla="val 1485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>
            <a:noFill/>
          </a:ln>
        </p:spPr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AC0F0C69-7410-4B6D-946D-AA764802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04632" y="1640205"/>
            <a:ext cx="2396033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前台必须对应回答</a:t>
            </a:r>
          </a:p>
        </p:txBody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D9EBE186-4F54-4F98-BDA0-7E1E9C1E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0075" y="2314575"/>
            <a:ext cx="19050" cy="19050"/>
          </a:xfrm>
          <a:custGeom xmlns:a="http://schemas.openxmlformats.org/drawingml/2006/main">
            <a:rect l="l" t="t" r="r" b="b"/>
            <a:pathLst>
              <a:path w="19050" h="19050">
                <a:moveTo>
                  <a:pt x="0" y="9525"/>
                </a:moveTo>
                <a:cubicBezTo>
                  <a:pt x="0" y="14786"/>
                  <a:pt x="4264" y="19050"/>
                  <a:pt x="9525" y="19050"/>
                </a:cubicBezTo>
                <a:cubicBezTo>
                  <a:pt x="14786" y="19050"/>
                  <a:pt x="19050" y="14786"/>
                  <a:pt x="19050" y="9525"/>
                </a:cubicBezTo>
                <a:cubicBezTo>
                  <a:pt x="19050" y="4264"/>
                  <a:pt x="14786" y="0"/>
                  <a:pt x="9525" y="0"/>
                </a:cubicBezTo>
                <a:cubicBezTo>
                  <a:pt x="4264" y="0"/>
                  <a:pt x="0" y="4264"/>
                  <a:pt x="0" y="95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81D91B6F-46ED-48A6-ADE6-2CE657B6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81975" y="2276475"/>
            <a:ext cx="95250" cy="95250"/>
          </a:xfrm>
          <a:custGeom xmlns:a="http://schemas.openxmlformats.org/drawingml/2006/main">
            <a:rect l="l" t="t" r="r" b="b"/>
            <a:pathLst>
              <a:path w="95250" h="95250">
                <a:moveTo>
                  <a:pt x="47625" y="0"/>
                </a:moveTo>
                <a:cubicBezTo>
                  <a:pt x="21322" y="0"/>
                  <a:pt x="0" y="21322"/>
                  <a:pt x="0" y="47625"/>
                </a:cubicBezTo>
                <a:cubicBezTo>
                  <a:pt x="0" y="73928"/>
                  <a:pt x="21322" y="95250"/>
                  <a:pt x="47625" y="95250"/>
                </a:cubicBezTo>
                <a:cubicBezTo>
                  <a:pt x="73928" y="95250"/>
                  <a:pt x="95250" y="73928"/>
                  <a:pt x="95250" y="476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4DAC7EBF-1731-43E3-B0B8-C3DDB5C1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36530" y="2234839"/>
            <a:ext cx="182275" cy="182291"/>
          </a:xfrm>
          <a:custGeom xmlns:a="http://schemas.openxmlformats.org/drawingml/2006/main">
            <a:rect l="l" t="t" r="r" b="b"/>
            <a:pathLst>
              <a:path w="182275" h="182291">
                <a:moveTo>
                  <a:pt x="102595" y="4060"/>
                </a:moveTo>
                <a:cubicBezTo>
                  <a:pt x="66403" y="0"/>
                  <a:pt x="31596" y="19251"/>
                  <a:pt x="15798" y="52065"/>
                </a:cubicBezTo>
                <a:cubicBezTo>
                  <a:pt x="0" y="84879"/>
                  <a:pt x="6660" y="124094"/>
                  <a:pt x="32406" y="149852"/>
                </a:cubicBezTo>
                <a:cubicBezTo>
                  <a:pt x="58152" y="175611"/>
                  <a:pt x="97362" y="182291"/>
                  <a:pt x="130185" y="166509"/>
                </a:cubicBezTo>
                <a:cubicBezTo>
                  <a:pt x="163007" y="150728"/>
                  <a:pt x="182275" y="115931"/>
                  <a:pt x="178233" y="7973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D380B6A2-77AD-414F-B7EB-AAAC633A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58175" y="2238375"/>
            <a:ext cx="57150" cy="57150"/>
          </a:xfrm>
          <a:custGeom xmlns:a="http://schemas.openxmlformats.org/drawingml/2006/main">
            <a:rect l="l" t="t" r="r" b="b"/>
            <a:pathLst>
              <a:path w="57150" h="57150">
                <a:moveTo>
                  <a:pt x="0" y="28575"/>
                </a:moveTo>
                <a:lnTo>
                  <a:pt x="0" y="57150"/>
                </a:lnTo>
                <a:lnTo>
                  <a:pt x="28575" y="57150"/>
                </a:lnTo>
                <a:lnTo>
                  <a:pt x="57150" y="28575"/>
                </a:lnTo>
                <a:lnTo>
                  <a:pt x="28575" y="28575"/>
                </a:lnTo>
                <a:lnTo>
                  <a:pt x="28575" y="0"/>
                </a:ln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2B7B57FC-6E25-4939-9D01-D5B4611B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0" y="2295525"/>
            <a:ext cx="28575" cy="28575"/>
          </a:xfrm>
          <a:custGeom xmlns:a="http://schemas.openxmlformats.org/drawingml/2006/main">
            <a:rect l="l" t="t" r="r" b="b"/>
            <a:pathLst>
              <a:path w="28575" h="28575">
                <a:moveTo>
                  <a:pt x="28575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B70AD6A0-780A-4BD7-81FC-7E84D93E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89823" y="2243614"/>
            <a:ext cx="172935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当前目标是否仍然一致</a:t>
            </a:r>
          </a:p>
        </p:txBody>
      </p:sp>
      <p:sp>
        <p:nvSpPr>
          <p:cNvPr id="46" name="Freeform 46">
            <a:extLst xmlns:a="http://schemas.openxmlformats.org/drawingml/2006/main">
              <a:ext uri="{FF2B5EF4-FFF2-40B4-BE49-F238E27FC236}">
                <a16:creationId xmlns:a16="http://schemas.microsoft.com/office/drawing/2014/main" id="{C05B55CF-5849-4292-8491-62AB1DAC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48650" y="2714625"/>
            <a:ext cx="47625" cy="47625"/>
          </a:xfrm>
          <a:custGeom xmlns:a="http://schemas.openxmlformats.org/drawingml/2006/main">
            <a:rect l="l" t="t" r="r" b="b"/>
            <a:pathLst>
              <a:path w="47625" h="47625">
                <a:moveTo>
                  <a:pt x="0" y="0"/>
                </a:moveTo>
                <a:lnTo>
                  <a:pt x="0" y="38100"/>
                </a:lnTo>
                <a:cubicBezTo>
                  <a:pt x="0" y="43361"/>
                  <a:pt x="4264" y="47625"/>
                  <a:pt x="9525" y="47625"/>
                </a:cubicBezTo>
                <a:lnTo>
                  <a:pt x="47625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7" name="Freeform 47">
            <a:extLst xmlns:a="http://schemas.openxmlformats.org/drawingml/2006/main">
              <a:ext uri="{FF2B5EF4-FFF2-40B4-BE49-F238E27FC236}">
                <a16:creationId xmlns:a16="http://schemas.microsoft.com/office/drawing/2014/main" id="{76504635-4CF0-438F-8A8C-D882E991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62925" y="2714625"/>
            <a:ext cx="133350" cy="171450"/>
          </a:xfrm>
          <a:custGeom xmlns:a="http://schemas.openxmlformats.org/drawingml/2006/main">
            <a:rect l="l" t="t" r="r" b="b"/>
            <a:pathLst>
              <a:path w="133350" h="171450">
                <a:moveTo>
                  <a:pt x="114300" y="171450"/>
                </a:moveTo>
                <a:lnTo>
                  <a:pt x="19050" y="171450"/>
                </a:lnTo>
                <a:cubicBezTo>
                  <a:pt x="8529" y="171450"/>
                  <a:pt x="0" y="162921"/>
                  <a:pt x="0" y="1524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lnTo>
                  <a:pt x="85725" y="0"/>
                </a:lnTo>
                <a:lnTo>
                  <a:pt x="133350" y="47625"/>
                </a:lnTo>
                <a:lnTo>
                  <a:pt x="133350" y="152400"/>
                </a:lnTo>
                <a:cubicBezTo>
                  <a:pt x="133350" y="162921"/>
                  <a:pt x="124821" y="171450"/>
                  <a:pt x="114300" y="1714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8" name="Freeform 48">
            <a:extLst xmlns:a="http://schemas.openxmlformats.org/drawingml/2006/main">
              <a:ext uri="{FF2B5EF4-FFF2-40B4-BE49-F238E27FC236}">
                <a16:creationId xmlns:a16="http://schemas.microsoft.com/office/drawing/2014/main" id="{653B4CA0-D632-4354-9ED9-F7D486F2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1025" y="2771775"/>
            <a:ext cx="9525" cy="9525"/>
          </a:xfrm>
          <a:custGeom xmlns:a="http://schemas.openxmlformats.org/drawingml/2006/main">
            <a:rect l="l" t="t" r="r" b="b"/>
            <a:pathLst>
              <a:path w="9525" h="9525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9" name="Freeform 49">
            <a:extLst xmlns:a="http://schemas.openxmlformats.org/drawingml/2006/main">
              <a:ext uri="{FF2B5EF4-FFF2-40B4-BE49-F238E27FC236}">
                <a16:creationId xmlns:a16="http://schemas.microsoft.com/office/drawing/2014/main" id="{6D07187E-6E2F-43CE-A8E0-10BA362B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1025" y="2809875"/>
            <a:ext cx="57150" cy="9525"/>
          </a:xfrm>
          <a:custGeom xmlns:a="http://schemas.openxmlformats.org/drawingml/2006/main">
            <a:rect l="l" t="t" r="r" b="b"/>
            <a:pathLst>
              <a:path w="57150" h="952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913EF1A2-919A-45D0-8C7E-F1C9551D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1025" y="2847975"/>
            <a:ext cx="57150" cy="9525"/>
          </a:xfrm>
          <a:custGeom xmlns:a="http://schemas.openxmlformats.org/drawingml/2006/main">
            <a:rect l="l" t="t" r="r" b="b"/>
            <a:pathLst>
              <a:path w="57150" h="952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302E0E14-2C7A-4B9C-95EF-599F8F31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89823" y="2719864"/>
            <a:ext cx="155771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当前用了哪一版来源</a:t>
            </a:r>
          </a:p>
        </p:txBody>
      </p:sp>
      <p:sp>
        <p:nvSpPr>
          <p:cNvPr id="53" name="Freeform 53">
            <a:extLst xmlns:a="http://schemas.openxmlformats.org/drawingml/2006/main">
              <a:ext uri="{FF2B5EF4-FFF2-40B4-BE49-F238E27FC236}">
                <a16:creationId xmlns:a16="http://schemas.microsoft.com/office/drawing/2014/main" id="{F22CE22F-0DEA-4BEE-8BFA-89FDD46A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43875" y="3276600"/>
            <a:ext cx="57150" cy="76200"/>
          </a:xfrm>
          <a:custGeom xmlns:a="http://schemas.openxmlformats.org/drawingml/2006/main">
            <a:rect l="l" t="t" r="r" b="b"/>
            <a:pathLst>
              <a:path w="57150" h="76200">
                <a:moveTo>
                  <a:pt x="0" y="9525"/>
                </a:moveTo>
                <a:cubicBezTo>
                  <a:pt x="0" y="4264"/>
                  <a:pt x="4264" y="0"/>
                  <a:pt x="9525" y="0"/>
                </a:cubicBezTo>
                <a:lnTo>
                  <a:pt x="47625" y="0"/>
                </a:lnTo>
                <a:cubicBezTo>
                  <a:pt x="52886" y="0"/>
                  <a:pt x="57150" y="4264"/>
                  <a:pt x="57150" y="9525"/>
                </a:cubicBezTo>
                <a:lnTo>
                  <a:pt x="57150" y="66675"/>
                </a:lnTo>
                <a:cubicBezTo>
                  <a:pt x="57150" y="71936"/>
                  <a:pt x="52886" y="76200"/>
                  <a:pt x="47625" y="76200"/>
                </a:cubicBezTo>
                <a:lnTo>
                  <a:pt x="9525" y="76200"/>
                </a:lnTo>
                <a:cubicBezTo>
                  <a:pt x="4264" y="76200"/>
                  <a:pt x="0" y="71936"/>
                  <a:pt x="0" y="66675"/>
                </a:cubicBez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4" name="Freeform 54">
            <a:extLst xmlns:a="http://schemas.openxmlformats.org/drawingml/2006/main">
              <a:ext uri="{FF2B5EF4-FFF2-40B4-BE49-F238E27FC236}">
                <a16:creationId xmlns:a16="http://schemas.microsoft.com/office/drawing/2014/main" id="{D80191E9-C1A4-4CFC-8138-E10D54D0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58175" y="3238500"/>
            <a:ext cx="57150" cy="114300"/>
          </a:xfrm>
          <a:custGeom xmlns:a="http://schemas.openxmlformats.org/drawingml/2006/main">
            <a:rect l="l" t="t" r="r" b="b"/>
            <a:pathLst>
              <a:path w="57150" h="114300">
                <a:moveTo>
                  <a:pt x="0" y="9525"/>
                </a:moveTo>
                <a:cubicBezTo>
                  <a:pt x="0" y="4264"/>
                  <a:pt x="4264" y="0"/>
                  <a:pt x="9525" y="0"/>
                </a:cubicBezTo>
                <a:lnTo>
                  <a:pt x="47625" y="0"/>
                </a:lnTo>
                <a:cubicBezTo>
                  <a:pt x="52886" y="0"/>
                  <a:pt x="57150" y="4264"/>
                  <a:pt x="57150" y="9525"/>
                </a:cubicBezTo>
                <a:lnTo>
                  <a:pt x="57150" y="104775"/>
                </a:lnTo>
                <a:cubicBezTo>
                  <a:pt x="57150" y="110036"/>
                  <a:pt x="52886" y="114300"/>
                  <a:pt x="47625" y="114300"/>
                </a:cubicBezTo>
                <a:lnTo>
                  <a:pt x="9525" y="114300"/>
                </a:lnTo>
                <a:cubicBezTo>
                  <a:pt x="4264" y="114300"/>
                  <a:pt x="0" y="110036"/>
                  <a:pt x="0" y="104775"/>
                </a:cubicBez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5" name="Freeform 55">
            <a:extLst xmlns:a="http://schemas.openxmlformats.org/drawingml/2006/main">
              <a:ext uri="{FF2B5EF4-FFF2-40B4-BE49-F238E27FC236}">
                <a16:creationId xmlns:a16="http://schemas.microsoft.com/office/drawing/2014/main" id="{8BCC24DE-AD9C-4B38-A927-CD208400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1025" y="3200400"/>
            <a:ext cx="57150" cy="152400"/>
          </a:xfrm>
          <a:custGeom xmlns:a="http://schemas.openxmlformats.org/drawingml/2006/main">
            <a:rect l="l" t="t" r="r" b="b"/>
            <a:pathLst>
              <a:path w="57150" h="152400">
                <a:moveTo>
                  <a:pt x="0" y="9525"/>
                </a:moveTo>
                <a:cubicBezTo>
                  <a:pt x="0" y="4264"/>
                  <a:pt x="4264" y="0"/>
                  <a:pt x="9525" y="0"/>
                </a:cubicBezTo>
                <a:lnTo>
                  <a:pt x="47625" y="0"/>
                </a:lnTo>
                <a:cubicBezTo>
                  <a:pt x="52886" y="0"/>
                  <a:pt x="57150" y="4264"/>
                  <a:pt x="57150" y="9525"/>
                </a:cubicBezTo>
                <a:lnTo>
                  <a:pt x="57150" y="142875"/>
                </a:lnTo>
                <a:cubicBezTo>
                  <a:pt x="57150" y="148136"/>
                  <a:pt x="52886" y="152400"/>
                  <a:pt x="47625" y="152400"/>
                </a:cubicBezTo>
                <a:lnTo>
                  <a:pt x="9525" y="152400"/>
                </a:lnTo>
                <a:cubicBezTo>
                  <a:pt x="4264" y="152400"/>
                  <a:pt x="0" y="148136"/>
                  <a:pt x="0" y="142875"/>
                </a:cubicBez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6" name="Freeform 56">
            <a:extLst xmlns:a="http://schemas.openxmlformats.org/drawingml/2006/main">
              <a:ext uri="{FF2B5EF4-FFF2-40B4-BE49-F238E27FC236}">
                <a16:creationId xmlns:a16="http://schemas.microsoft.com/office/drawing/2014/main" id="{0EDF3E0B-B467-457C-861A-0651D6EB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53400" y="3352800"/>
            <a:ext cx="133350" cy="9525"/>
          </a:xfrm>
          <a:custGeom xmlns:a="http://schemas.openxmlformats.org/drawingml/2006/main">
            <a:rect l="l" t="t" r="r" b="b"/>
            <a:pathLst>
              <a:path w="133350" h="9525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F7A51163-7472-40F3-8DE2-BD495E34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89823" y="3196114"/>
            <a:ext cx="190100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还剩多少轮次与调用预算</a:t>
            </a:r>
          </a:p>
        </p:txBody>
      </p:sp>
      <p:sp>
        <p:nvSpPr>
          <p:cNvPr id="59" name="Freeform 59">
            <a:extLst xmlns:a="http://schemas.openxmlformats.org/drawingml/2006/main">
              <a:ext uri="{FF2B5EF4-FFF2-40B4-BE49-F238E27FC236}">
                <a16:creationId xmlns:a16="http://schemas.microsoft.com/office/drawing/2014/main" id="{DF1B06D6-97DA-483A-AD6E-19FDAC60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62925" y="3743325"/>
            <a:ext cx="133350" cy="95250"/>
          </a:xfrm>
          <a:custGeom xmlns:a="http://schemas.openxmlformats.org/drawingml/2006/main">
            <a:rect l="l" t="t" r="r" b="b"/>
            <a:pathLst>
              <a:path w="133350" h="95250">
                <a:moveTo>
                  <a:pt x="0" y="19050"/>
                </a:moveTo>
                <a:cubicBezTo>
                  <a:pt x="0" y="8529"/>
                  <a:pt x="8529" y="0"/>
                  <a:pt x="19050" y="0"/>
                </a:cubicBezTo>
                <a:lnTo>
                  <a:pt x="114300" y="0"/>
                </a:lnTo>
                <a:cubicBezTo>
                  <a:pt x="124821" y="0"/>
                  <a:pt x="133350" y="8529"/>
                  <a:pt x="133350" y="19050"/>
                </a:cubicBezTo>
                <a:lnTo>
                  <a:pt x="133350" y="76200"/>
                </a:lnTo>
                <a:cubicBezTo>
                  <a:pt x="133350" y="86721"/>
                  <a:pt x="124821" y="95250"/>
                  <a:pt x="114300" y="95250"/>
                </a:cubicBezTo>
                <a:lnTo>
                  <a:pt x="19050" y="95250"/>
                </a:lnTo>
                <a:cubicBezTo>
                  <a:pt x="8529" y="95250"/>
                  <a:pt x="0" y="86721"/>
                  <a:pt x="0" y="76200"/>
                </a:cubicBez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0" name="Freeform 60">
            <a:extLst xmlns:a="http://schemas.openxmlformats.org/drawingml/2006/main">
              <a:ext uri="{FF2B5EF4-FFF2-40B4-BE49-F238E27FC236}">
                <a16:creationId xmlns:a16="http://schemas.microsoft.com/office/drawing/2014/main" id="{41D1CD17-FCBC-4E17-87A6-33FB4A20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0075" y="3781425"/>
            <a:ext cx="19050" cy="19050"/>
          </a:xfrm>
          <a:custGeom xmlns:a="http://schemas.openxmlformats.org/drawingml/2006/main">
            <a:rect l="l" t="t" r="r" b="b"/>
            <a:pathLst>
              <a:path w="19050" h="19050">
                <a:moveTo>
                  <a:pt x="0" y="9525"/>
                </a:moveTo>
                <a:cubicBezTo>
                  <a:pt x="0" y="14786"/>
                  <a:pt x="4264" y="19050"/>
                  <a:pt x="9525" y="19050"/>
                </a:cubicBezTo>
                <a:cubicBezTo>
                  <a:pt x="14786" y="19050"/>
                  <a:pt x="19050" y="14786"/>
                  <a:pt x="19050" y="9525"/>
                </a:cubicBezTo>
                <a:cubicBezTo>
                  <a:pt x="19050" y="4264"/>
                  <a:pt x="14786" y="0"/>
                  <a:pt x="9525" y="0"/>
                </a:cubicBezTo>
                <a:cubicBezTo>
                  <a:pt x="4264" y="0"/>
                  <a:pt x="0" y="4264"/>
                  <a:pt x="0" y="95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1" name="Freeform 61">
            <a:extLst xmlns:a="http://schemas.openxmlformats.org/drawingml/2006/main">
              <a:ext uri="{FF2B5EF4-FFF2-40B4-BE49-F238E27FC236}">
                <a16:creationId xmlns:a16="http://schemas.microsoft.com/office/drawing/2014/main" id="{4E1C6840-AE25-49FE-B4C1-97C30747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1500" y="3667125"/>
            <a:ext cx="76200" cy="76200"/>
          </a:xfrm>
          <a:custGeom xmlns:a="http://schemas.openxmlformats.org/drawingml/2006/main">
            <a:rect l="l" t="t" r="r" b="b"/>
            <a:pathLst>
              <a:path w="76200" h="76200">
                <a:moveTo>
                  <a:pt x="0" y="76200"/>
                </a:move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lnTo>
                  <a:pt x="762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3" name="TextBox 63">
            <a:extLst xmlns:a="http://schemas.openxmlformats.org/drawingml/2006/main">
              <a:ext uri="{FF2B5EF4-FFF2-40B4-BE49-F238E27FC236}">
                <a16:creationId xmlns:a16="http://schemas.microsoft.com/office/drawing/2014/main" id="{A3337F1E-A495-4A85-BFAB-9E03B7EA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89823" y="3672364"/>
            <a:ext cx="172935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允许与禁止的动作范围</a:t>
            </a:r>
          </a:p>
        </p:txBody>
      </p:sp>
      <p:sp>
        <p:nvSpPr>
          <p:cNvPr id="64" name="Freeform 64">
            <a:extLst xmlns:a="http://schemas.openxmlformats.org/drawingml/2006/main">
              <a:ext uri="{FF2B5EF4-FFF2-40B4-BE49-F238E27FC236}">
                <a16:creationId xmlns:a16="http://schemas.microsoft.com/office/drawing/2014/main" id="{38B4BE90-929A-435D-A601-942F0FCB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62925" y="4267200"/>
            <a:ext cx="38100" cy="38100"/>
          </a:xfrm>
          <a:custGeom xmlns:a="http://schemas.openxmlformats.org/drawingml/2006/main">
            <a:rect l="l" t="t" r="r" b="b"/>
            <a:pathLst>
              <a:path w="38100" h="38100">
                <a:moveTo>
                  <a:pt x="0" y="19050"/>
                </a:moveTo>
                <a:cubicBezTo>
                  <a:pt x="0" y="29571"/>
                  <a:pt x="8529" y="38100"/>
                  <a:pt x="19050" y="38100"/>
                </a:cubicBezTo>
                <a:cubicBezTo>
                  <a:pt x="29571" y="38100"/>
                  <a:pt x="38100" y="29571"/>
                  <a:pt x="38100" y="19050"/>
                </a:cubicBezTo>
                <a:cubicBezTo>
                  <a:pt x="38100" y="8529"/>
                  <a:pt x="29571" y="0"/>
                  <a:pt x="19050" y="0"/>
                </a:cubicBezTo>
                <a:cubicBezTo>
                  <a:pt x="8529" y="0"/>
                  <a:pt x="0" y="8529"/>
                  <a:pt x="0" y="190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5" name="Freeform 65">
            <a:extLst xmlns:a="http://schemas.openxmlformats.org/drawingml/2006/main">
              <a:ext uri="{FF2B5EF4-FFF2-40B4-BE49-F238E27FC236}">
                <a16:creationId xmlns:a16="http://schemas.microsoft.com/office/drawing/2014/main" id="{0AA9BF3D-E6CA-46DB-BE9B-67AB0CDD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62925" y="4152900"/>
            <a:ext cx="38100" cy="38100"/>
          </a:xfrm>
          <a:custGeom xmlns:a="http://schemas.openxmlformats.org/drawingml/2006/main">
            <a:rect l="l" t="t" r="r" b="b"/>
            <a:pathLst>
              <a:path w="38100" h="38100">
                <a:moveTo>
                  <a:pt x="0" y="19050"/>
                </a:moveTo>
                <a:cubicBezTo>
                  <a:pt x="0" y="29571"/>
                  <a:pt x="8529" y="38100"/>
                  <a:pt x="19050" y="38100"/>
                </a:cubicBezTo>
                <a:cubicBezTo>
                  <a:pt x="29571" y="38100"/>
                  <a:pt x="38100" y="29571"/>
                  <a:pt x="38100" y="19050"/>
                </a:cubicBezTo>
                <a:cubicBezTo>
                  <a:pt x="38100" y="8529"/>
                  <a:pt x="29571" y="0"/>
                  <a:pt x="19050" y="0"/>
                </a:cubicBezTo>
                <a:cubicBezTo>
                  <a:pt x="8529" y="0"/>
                  <a:pt x="0" y="8529"/>
                  <a:pt x="0" y="190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6" name="Freeform 66">
            <a:extLst xmlns:a="http://schemas.openxmlformats.org/drawingml/2006/main">
              <a:ext uri="{FF2B5EF4-FFF2-40B4-BE49-F238E27FC236}">
                <a16:creationId xmlns:a16="http://schemas.microsoft.com/office/drawing/2014/main" id="{BEFC68B2-5C01-4D2B-9EB2-05A7DE81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58175" y="4152900"/>
            <a:ext cx="38100" cy="38100"/>
          </a:xfrm>
          <a:custGeom xmlns:a="http://schemas.openxmlformats.org/drawingml/2006/main">
            <a:rect l="l" t="t" r="r" b="b"/>
            <a:pathLst>
              <a:path w="38100" h="38100">
                <a:moveTo>
                  <a:pt x="0" y="19050"/>
                </a:moveTo>
                <a:cubicBezTo>
                  <a:pt x="0" y="29571"/>
                  <a:pt x="8529" y="38100"/>
                  <a:pt x="19050" y="38100"/>
                </a:cubicBezTo>
                <a:cubicBezTo>
                  <a:pt x="29571" y="38100"/>
                  <a:pt x="38100" y="29571"/>
                  <a:pt x="38100" y="19050"/>
                </a:cubicBezTo>
                <a:cubicBezTo>
                  <a:pt x="38100" y="8529"/>
                  <a:pt x="29571" y="0"/>
                  <a:pt x="19050" y="0"/>
                </a:cubicBezTo>
                <a:cubicBezTo>
                  <a:pt x="8529" y="0"/>
                  <a:pt x="0" y="8529"/>
                  <a:pt x="0" y="190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7" name="Freeform 67">
            <a:extLst xmlns:a="http://schemas.openxmlformats.org/drawingml/2006/main">
              <a:ext uri="{FF2B5EF4-FFF2-40B4-BE49-F238E27FC236}">
                <a16:creationId xmlns:a16="http://schemas.microsoft.com/office/drawing/2014/main" id="{EE317139-6C49-493A-9B65-8CCD1D7A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81975" y="4191000"/>
            <a:ext cx="9525" cy="76200"/>
          </a:xfrm>
          <a:custGeom xmlns:a="http://schemas.openxmlformats.org/drawingml/2006/main">
            <a:rect l="l" t="t" r="r" b="b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8" name="Freeform 68">
            <a:extLst xmlns:a="http://schemas.openxmlformats.org/drawingml/2006/main">
              <a:ext uri="{FF2B5EF4-FFF2-40B4-BE49-F238E27FC236}">
                <a16:creationId xmlns:a16="http://schemas.microsoft.com/office/drawing/2014/main" id="{3A01E1B7-E561-4D1F-829A-0A6EEC1E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1025" y="4219575"/>
            <a:ext cx="76200" cy="66675"/>
          </a:xfrm>
          <a:custGeom xmlns:a="http://schemas.openxmlformats.org/drawingml/2006/main">
            <a:rect l="l" t="t" r="r" b="b"/>
            <a:pathLst>
              <a:path w="76200" h="66675">
                <a:moveTo>
                  <a:pt x="0" y="66675"/>
                </a:moveTo>
                <a:lnTo>
                  <a:pt x="57150" y="66675"/>
                </a:lnTo>
                <a:cubicBezTo>
                  <a:pt x="67671" y="66675"/>
                  <a:pt x="76200" y="58146"/>
                  <a:pt x="76200" y="47625"/>
                </a:cubicBez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9" name="Freeform 69">
            <a:extLst xmlns:a="http://schemas.openxmlformats.org/drawingml/2006/main">
              <a:ext uri="{FF2B5EF4-FFF2-40B4-BE49-F238E27FC236}">
                <a16:creationId xmlns:a16="http://schemas.microsoft.com/office/drawing/2014/main" id="{E65920BD-5B37-42E3-82D7-146517CA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48650" y="4219575"/>
            <a:ext cx="57150" cy="28575"/>
          </a:xfrm>
          <a:custGeom xmlns:a="http://schemas.openxmlformats.org/drawingml/2006/main">
            <a:rect l="l" t="t" r="r" b="b"/>
            <a:pathLst>
              <a:path w="57150" h="28575">
                <a:moveTo>
                  <a:pt x="0" y="28575"/>
                </a:moveTo>
                <a:lnTo>
                  <a:pt x="28575" y="0"/>
                </a:lnTo>
                <a:lnTo>
                  <a:pt x="5715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1" name="TextBox 71">
            <a:extLst xmlns:a="http://schemas.openxmlformats.org/drawingml/2006/main">
              <a:ext uri="{FF2B5EF4-FFF2-40B4-BE49-F238E27FC236}">
                <a16:creationId xmlns:a16="http://schemas.microsoft.com/office/drawing/2014/main" id="{FB03A772-34CE-485D-B13F-40AF0CD9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89823" y="4148614"/>
            <a:ext cx="155496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哪条分支受到影响</a:t>
            </a:r>
          </a:p>
        </p:txBody>
      </p:sp>
      <p:sp>
        <p:nvSpPr>
          <p:cNvPr id="72" name="Freeform 72">
            <a:extLst xmlns:a="http://schemas.openxmlformats.org/drawingml/2006/main">
              <a:ext uri="{FF2B5EF4-FFF2-40B4-BE49-F238E27FC236}">
                <a16:creationId xmlns:a16="http://schemas.microsoft.com/office/drawing/2014/main" id="{6025842A-0386-427E-A67A-B8F0452D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2450" y="4638675"/>
            <a:ext cx="38100" cy="133350"/>
          </a:xfrm>
          <a:custGeom xmlns:a="http://schemas.openxmlformats.org/drawingml/2006/main">
            <a:rect l="l" t="t" r="r" b="b"/>
            <a:pathLst>
              <a:path w="38100" h="133350">
                <a:moveTo>
                  <a:pt x="0" y="9525"/>
                </a:moveTo>
                <a:cubicBezTo>
                  <a:pt x="0" y="4264"/>
                  <a:pt x="4264" y="0"/>
                  <a:pt x="9525" y="0"/>
                </a:cubicBezTo>
                <a:lnTo>
                  <a:pt x="28575" y="0"/>
                </a:lnTo>
                <a:cubicBezTo>
                  <a:pt x="33836" y="0"/>
                  <a:pt x="38100" y="4264"/>
                  <a:pt x="38100" y="9525"/>
                </a:cubicBezTo>
                <a:lnTo>
                  <a:pt x="38100" y="123825"/>
                </a:lnTo>
                <a:cubicBezTo>
                  <a:pt x="38100" y="129086"/>
                  <a:pt x="33836" y="133350"/>
                  <a:pt x="28575" y="133350"/>
                </a:cubicBezTo>
                <a:lnTo>
                  <a:pt x="9525" y="133350"/>
                </a:lnTo>
                <a:cubicBezTo>
                  <a:pt x="4264" y="133350"/>
                  <a:pt x="0" y="129086"/>
                  <a:pt x="0" y="123825"/>
                </a:cubicBez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3" name="Freeform 73">
            <a:extLst xmlns:a="http://schemas.openxmlformats.org/drawingml/2006/main">
              <a:ext uri="{FF2B5EF4-FFF2-40B4-BE49-F238E27FC236}">
                <a16:creationId xmlns:a16="http://schemas.microsoft.com/office/drawing/2014/main" id="{8E36EE10-44EB-43C6-BD11-AE749C1E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48650" y="4638675"/>
            <a:ext cx="38100" cy="133350"/>
          </a:xfrm>
          <a:custGeom xmlns:a="http://schemas.openxmlformats.org/drawingml/2006/main">
            <a:rect l="l" t="t" r="r" b="b"/>
            <a:pathLst>
              <a:path w="38100" h="133350">
                <a:moveTo>
                  <a:pt x="0" y="9525"/>
                </a:moveTo>
                <a:cubicBezTo>
                  <a:pt x="0" y="4264"/>
                  <a:pt x="4264" y="0"/>
                  <a:pt x="9525" y="0"/>
                </a:cubicBezTo>
                <a:lnTo>
                  <a:pt x="28575" y="0"/>
                </a:lnTo>
                <a:cubicBezTo>
                  <a:pt x="33836" y="0"/>
                  <a:pt x="38100" y="4264"/>
                  <a:pt x="38100" y="9525"/>
                </a:cubicBezTo>
                <a:lnTo>
                  <a:pt x="38100" y="123825"/>
                </a:lnTo>
                <a:cubicBezTo>
                  <a:pt x="38100" y="129086"/>
                  <a:pt x="33836" y="133350"/>
                  <a:pt x="28575" y="133350"/>
                </a:cubicBezTo>
                <a:lnTo>
                  <a:pt x="9525" y="133350"/>
                </a:lnTo>
                <a:cubicBezTo>
                  <a:pt x="4264" y="133350"/>
                  <a:pt x="0" y="129086"/>
                  <a:pt x="0" y="123825"/>
                </a:cubicBez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5" name="TextBox 75">
            <a:extLst xmlns:a="http://schemas.openxmlformats.org/drawingml/2006/main">
              <a:ext uri="{FF2B5EF4-FFF2-40B4-BE49-F238E27FC236}">
                <a16:creationId xmlns:a16="http://schemas.microsoft.com/office/drawing/2014/main" id="{513D82E0-01CF-4687-BD5A-2841F7D9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89823" y="4624864"/>
            <a:ext cx="172935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如何暂停、恢复或接管</a:t>
            </a:r>
          </a:p>
        </p:txBody>
      </p:sp>
      <p:sp>
        <p:nvSpPr>
          <p:cNvPr id="76" name="Rectangle 76">
            <a:extLst xmlns:a="http://schemas.openxmlformats.org/drawingml/2006/main">
              <a:ext uri="{FF2B5EF4-FFF2-40B4-BE49-F238E27FC236}">
                <a16:creationId xmlns:a16="http://schemas.microsoft.com/office/drawing/2014/main" id="{1733BDF6-5DC3-4461-8C33-CB356FBF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15300" y="5048250"/>
            <a:ext cx="32766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77" name="TextBox 77">
            <a:extLst xmlns:a="http://schemas.openxmlformats.org/drawingml/2006/main">
              <a:ext uri="{FF2B5EF4-FFF2-40B4-BE49-F238E27FC236}">
                <a16:creationId xmlns:a16="http://schemas.microsoft.com/office/drawing/2014/main" id="{5E7A499E-9C1E-4858-8D91-19FC2968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5677" y="5129689"/>
            <a:ext cx="235584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控制信息必须来自服务端事实</a:t>
            </a:r>
          </a:p>
        </p:txBody>
      </p:sp>
      <p:sp>
        <p:nvSpPr>
          <p:cNvPr id="79" name="Freeform 79">
            <a:extLst xmlns:a="http://schemas.openxmlformats.org/drawingml/2006/main">
              <a:ext uri="{FF2B5EF4-FFF2-40B4-BE49-F238E27FC236}">
                <a16:creationId xmlns:a16="http://schemas.microsoft.com/office/drawing/2014/main" id="{2F2EE200-930A-453A-8E2D-F1365396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5926931"/>
            <a:ext cx="9525" cy="34925"/>
          </a:xfrm>
          <a:custGeom xmlns:a="http://schemas.openxmlformats.org/drawingml/2006/main">
            <a:rect l="l" t="t" r="r" b="b"/>
            <a:pathLst>
              <a:path w="9525" h="34925">
                <a:moveTo>
                  <a:pt x="0" y="0"/>
                </a:moveTo>
                <a:lnTo>
                  <a:pt x="0" y="349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80" name="Freeform 80">
            <a:extLst xmlns:a="http://schemas.openxmlformats.org/drawingml/2006/main">
              <a:ext uri="{FF2B5EF4-FFF2-40B4-BE49-F238E27FC236}">
                <a16:creationId xmlns:a16="http://schemas.microsoft.com/office/drawing/2014/main" id="{31EB0D34-AC21-4801-AA68-6F173AE0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2019" y="5871643"/>
            <a:ext cx="176105" cy="151297"/>
          </a:xfrm>
          <a:custGeom xmlns:a="http://schemas.openxmlformats.org/drawingml/2006/main">
            <a:rect l="l" t="t" r="r" b="b"/>
            <a:pathLst>
              <a:path w="176105" h="151297">
                <a:moveTo>
                  <a:pt x="73763" y="8061"/>
                </a:moveTo>
                <a:lnTo>
                  <a:pt x="2987" y="126230"/>
                </a:lnTo>
                <a:cubicBezTo>
                  <a:pt x="18" y="131371"/>
                  <a:pt x="0" y="137702"/>
                  <a:pt x="2939" y="142860"/>
                </a:cubicBezTo>
                <a:cubicBezTo>
                  <a:pt x="5879" y="148019"/>
                  <a:pt x="11335" y="151230"/>
                  <a:pt x="17271" y="151297"/>
                </a:cubicBezTo>
                <a:lnTo>
                  <a:pt x="158840" y="151297"/>
                </a:lnTo>
                <a:cubicBezTo>
                  <a:pt x="164774" y="151229"/>
                  <a:pt x="170227" y="148018"/>
                  <a:pt x="173166" y="142863"/>
                </a:cubicBezTo>
                <a:cubicBezTo>
                  <a:pt x="176105" y="137707"/>
                  <a:pt x="176089" y="131379"/>
                  <a:pt x="173124" y="126238"/>
                </a:cubicBezTo>
                <a:lnTo>
                  <a:pt x="102349" y="8052"/>
                </a:lnTo>
                <a:cubicBezTo>
                  <a:pt x="99320" y="3053"/>
                  <a:pt x="93900" y="0"/>
                  <a:pt x="88056" y="0"/>
                </a:cubicBezTo>
                <a:cubicBezTo>
                  <a:pt x="82211" y="0"/>
                  <a:pt x="76791" y="3053"/>
                  <a:pt x="73763" y="805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81" name="Freeform 81">
            <a:extLst xmlns:a="http://schemas.openxmlformats.org/drawingml/2006/main">
              <a:ext uri="{FF2B5EF4-FFF2-40B4-BE49-F238E27FC236}">
                <a16:creationId xmlns:a16="http://schemas.microsoft.com/office/drawing/2014/main" id="{6A51B4DD-20DF-4B25-A5C0-7CF16A31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5988050"/>
            <a:ext cx="9525" cy="9525"/>
          </a:xfrm>
          <a:custGeom xmlns:a="http://schemas.openxmlformats.org/drawingml/2006/main">
            <a:rect l="l" t="t" r="r" b="b"/>
            <a:pathLst>
              <a:path w="9525" h="9525">
                <a:moveTo>
                  <a:pt x="0" y="0"/>
                </a:moveTo>
                <a:lnTo>
                  <a:pt x="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83" name="TextBox 83">
            <a:extLst xmlns:a="http://schemas.openxmlformats.org/drawingml/2006/main">
              <a:ext uri="{FF2B5EF4-FFF2-40B4-BE49-F238E27FC236}">
                <a16:creationId xmlns:a16="http://schemas.microsoft.com/office/drawing/2014/main" id="{63597213-4A03-46AB-BEEA-B372A6D6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2673" y="5872639"/>
            <a:ext cx="91406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当前边界：</a:t>
            </a:r>
          </a:p>
        </p:txBody>
      </p:sp>
      <p:sp>
        <p:nvSpPr>
          <p:cNvPr id="84" name="TextBox 84">
            <a:extLst xmlns:a="http://schemas.openxmlformats.org/drawingml/2006/main">
              <a:ext uri="{FF2B5EF4-FFF2-40B4-BE49-F238E27FC236}">
                <a16:creationId xmlns:a16="http://schemas.microsoft.com/office/drawing/2014/main" id="{99B42D41-A0EB-482B-919B-DC1BDBEA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46123" y="5872639"/>
            <a:ext cx="561225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默认 12 轮，公开上限 24 轮；仍受调用次数和主动停止约束。</a:t>
            </a:r>
          </a:p>
        </p:txBody>
      </p:sp>
      <p:sp>
        <p:nvSpPr>
          <p:cNvPr id="86" name="TextBox 86">
            <a:extLst xmlns:a="http://schemas.openxmlformats.org/drawingml/2006/main">
              <a:ext uri="{FF2B5EF4-FFF2-40B4-BE49-F238E27FC236}">
                <a16:creationId xmlns:a16="http://schemas.microsoft.com/office/drawing/2014/main" id="{EB6140B4-8A67-41C8-BBE6-7534CD5E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63246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依据：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d4ed8274045642af"/>
              </a:rPr>
              <a:t>microsoft.com/research/.../human-ai-interaction</a:t>
            </a: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 ·  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e5fa0ec4cb4949ce"/>
              </a:rPr>
              <a:t>docs.langchain.com/.../langgraph/persistence</a:t>
            </a:r>
          </a:p>
        </p:txBody>
      </p:sp>
      <p:sp>
        <p:nvSpPr>
          <p:cNvPr id="87" name="TextBox 87">
            <a:extLst xmlns:a="http://schemas.openxmlformats.org/drawingml/2006/main">
              <a:ext uri="{FF2B5EF4-FFF2-40B4-BE49-F238E27FC236}">
                <a16:creationId xmlns:a16="http://schemas.microsoft.com/office/drawing/2014/main" id="{C30B216A-EBE4-492D-AF65-42439D8B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08 / 24</a:t>
            </a:r>
          </a:p>
        </p:txBody>
      </p:sp>
    </p:spTree>
    <p:extLst>
      <p:ext uri="{BB962C8B-B14F-4D97-AF65-F5344CB8AC3E}">
        <p14:creationId xmlns:p14="http://schemas.microsoft.com/office/powerpoint/2010/main" val="140176463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65EB6AF-08D6-4B83-9F5D-372C30B7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E8D715E-8327-4CE4-9419-6023FBAA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0E5219F9-A7CB-485C-89A2-220BFD4A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8487200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智能体控制循环：当前实现与缺口</a:t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830132F8-F0FB-437A-AA37-58E5CE4A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0150" y="2647950"/>
            <a:ext cx="8610600" cy="9525"/>
          </a:xfrm>
          <a:custGeom xmlns:a="http://schemas.openxmlformats.org/drawingml/2006/main">
            <a:rect l="l" t="t" r="r" b="b"/>
            <a:pathLst>
              <a:path w="8610600" h="9525">
                <a:moveTo>
                  <a:pt x="0" y="0"/>
                </a:moveTo>
                <a:lnTo>
                  <a:pt x="86106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38100">
            <a:solidFill>
              <a:srgbClr val="CBD5DF"/>
            </a:solidFill>
          </a:ln>
        </p:spPr>
      </p:sp>
      <p:sp>
        <p:nvSpPr>
          <p:cNvPr id="17" name="Ellipse 17">
            <a:extLst xmlns:a="http://schemas.openxmlformats.org/drawingml/2006/main">
              <a:ext uri="{FF2B5EF4-FFF2-40B4-BE49-F238E27FC236}">
                <a16:creationId xmlns:a16="http://schemas.microsoft.com/office/drawing/2014/main" id="{3E39581F-DB5D-4F21-892B-362C5596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200" y="21336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9626FCE4-54D9-4AC3-9B84-936778A5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01800" y="2482850"/>
            <a:ext cx="63500" cy="63500"/>
          </a:xfrm>
          <a:custGeom xmlns:a="http://schemas.openxmlformats.org/drawingml/2006/main">
            <a:rect l="l" t="t" r="r" b="b"/>
            <a:pathLst>
              <a:path w="63500" h="63500">
                <a:moveTo>
                  <a:pt x="0" y="31750"/>
                </a:moveTo>
                <a:cubicBezTo>
                  <a:pt x="0" y="49285"/>
                  <a:pt x="14215" y="63500"/>
                  <a:pt x="31750" y="63500"/>
                </a:cubicBezTo>
                <a:cubicBezTo>
                  <a:pt x="49285" y="63500"/>
                  <a:pt x="63500" y="49285"/>
                  <a:pt x="63500" y="31750"/>
                </a:cubicBezTo>
                <a:cubicBezTo>
                  <a:pt x="63500" y="14215"/>
                  <a:pt x="49285" y="0"/>
                  <a:pt x="31750" y="0"/>
                </a:cubicBezTo>
                <a:cubicBezTo>
                  <a:pt x="14215" y="0"/>
                  <a:pt x="0" y="14215"/>
                  <a:pt x="0" y="317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22122C07-A3FE-4E8B-93F9-5BB8385E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90675" y="2419350"/>
            <a:ext cx="285751" cy="190500"/>
          </a:xfrm>
          <a:custGeom xmlns:a="http://schemas.openxmlformats.org/drawingml/2006/main">
            <a:rect l="l" t="t" r="r" b="b"/>
            <a:pathLst>
              <a:path w="285751" h="190500">
                <a:moveTo>
                  <a:pt x="285751" y="95250"/>
                </a:moveTo>
                <a:cubicBezTo>
                  <a:pt x="247650" y="158750"/>
                  <a:pt x="200025" y="190500"/>
                  <a:pt x="142875" y="190500"/>
                </a:cubicBezTo>
                <a:cubicBezTo>
                  <a:pt x="85725" y="190500"/>
                  <a:pt x="38100" y="158750"/>
                  <a:pt x="0" y="95250"/>
                </a:cubicBezTo>
                <a:cubicBezTo>
                  <a:pt x="38100" y="31750"/>
                  <a:pt x="85725" y="0"/>
                  <a:pt x="142875" y="0"/>
                </a:cubicBezTo>
                <a:cubicBezTo>
                  <a:pt x="200025" y="0"/>
                  <a:pt x="247650" y="31750"/>
                  <a:pt x="285751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F65A4F37-D3EB-40FE-AFF4-734136EE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9171" y="2872264"/>
            <a:ext cx="74875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观察</a:t>
            </a:r>
          </a:p>
        </p:txBody>
      </p:sp>
      <p:sp>
        <p:nvSpPr>
          <p:cNvPr id="22" name="Ellipse 22">
            <a:extLst xmlns:a="http://schemas.openxmlformats.org/drawingml/2006/main">
              <a:ext uri="{FF2B5EF4-FFF2-40B4-BE49-F238E27FC236}">
                <a16:creationId xmlns:a16="http://schemas.microsoft.com/office/drawing/2014/main" id="{068431EF-B25C-4070-AA53-0D2FAFC1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24200" y="21336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B20E6552-6574-4609-A4BF-159BD1F2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5675" y="2593976"/>
            <a:ext cx="63500" cy="63500"/>
          </a:xfrm>
          <a:custGeom xmlns:a="http://schemas.openxmlformats.org/drawingml/2006/main">
            <a:rect l="l" t="t" r="r" b="b"/>
            <a:pathLst>
              <a:path w="63500" h="63500">
                <a:moveTo>
                  <a:pt x="0" y="31750"/>
                </a:moveTo>
                <a:cubicBezTo>
                  <a:pt x="0" y="49285"/>
                  <a:pt x="14215" y="63500"/>
                  <a:pt x="31750" y="63500"/>
                </a:cubicBezTo>
                <a:cubicBezTo>
                  <a:pt x="49285" y="63500"/>
                  <a:pt x="63500" y="49285"/>
                  <a:pt x="63500" y="31750"/>
                </a:cubicBezTo>
                <a:cubicBezTo>
                  <a:pt x="63500" y="14215"/>
                  <a:pt x="49285" y="0"/>
                  <a:pt x="31750" y="0"/>
                </a:cubicBezTo>
                <a:cubicBezTo>
                  <a:pt x="14215" y="0"/>
                  <a:pt x="0" y="14215"/>
                  <a:pt x="0" y="317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DEC652F9-F1E9-4937-A876-E61D5BCC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17926" y="2371725"/>
            <a:ext cx="63500" cy="63500"/>
          </a:xfrm>
          <a:custGeom xmlns:a="http://schemas.openxmlformats.org/drawingml/2006/main">
            <a:rect l="l" t="t" r="r" b="b"/>
            <a:pathLst>
              <a:path w="63500" h="63500">
                <a:moveTo>
                  <a:pt x="31750" y="63500"/>
                </a:moveTo>
                <a:cubicBezTo>
                  <a:pt x="49285" y="63500"/>
                  <a:pt x="63500" y="49285"/>
                  <a:pt x="63500" y="31750"/>
                </a:cubicBezTo>
                <a:cubicBezTo>
                  <a:pt x="63500" y="14215"/>
                  <a:pt x="49285" y="0"/>
                  <a:pt x="31750" y="0"/>
                </a:cubicBezTo>
                <a:cubicBezTo>
                  <a:pt x="14215" y="0"/>
                  <a:pt x="0" y="14215"/>
                  <a:pt x="0" y="31750"/>
                </a:cubicBezTo>
                <a:cubicBezTo>
                  <a:pt x="0" y="49285"/>
                  <a:pt x="14215" y="63500"/>
                  <a:pt x="31750" y="635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115E2048-910A-4961-B23D-19551C0B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27425" y="2403475"/>
            <a:ext cx="238125" cy="222250"/>
          </a:xfrm>
          <a:custGeom xmlns:a="http://schemas.openxmlformats.org/drawingml/2006/main">
            <a:rect l="l" t="t" r="r" b="b"/>
            <a:pathLst>
              <a:path w="238125" h="222250">
                <a:moveTo>
                  <a:pt x="95250" y="222250"/>
                </a:moveTo>
                <a:lnTo>
                  <a:pt x="182563" y="222250"/>
                </a:lnTo>
                <a:cubicBezTo>
                  <a:pt x="213249" y="222250"/>
                  <a:pt x="238125" y="197374"/>
                  <a:pt x="238125" y="166688"/>
                </a:cubicBezTo>
                <a:cubicBezTo>
                  <a:pt x="238125" y="136001"/>
                  <a:pt x="213249" y="111125"/>
                  <a:pt x="182563" y="111125"/>
                </a:cubicBezTo>
                <a:lnTo>
                  <a:pt x="55563" y="111125"/>
                </a:lnTo>
                <a:cubicBezTo>
                  <a:pt x="24876" y="111125"/>
                  <a:pt x="0" y="86249"/>
                  <a:pt x="0" y="55563"/>
                </a:cubicBezTo>
                <a:cubicBezTo>
                  <a:pt x="0" y="24876"/>
                  <a:pt x="24876" y="0"/>
                  <a:pt x="55563" y="0"/>
                </a:cubicBezTo>
                <a:lnTo>
                  <a:pt x="127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E8F5DE7F-1067-4983-B6F3-0F155277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53869" y="2872264"/>
            <a:ext cx="36936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规划</a:t>
            </a:r>
          </a:p>
        </p:txBody>
      </p:sp>
      <p:sp>
        <p:nvSpPr>
          <p:cNvPr id="28" name="Ellipse 28">
            <a:extLst xmlns:a="http://schemas.openxmlformats.org/drawingml/2006/main">
              <a:ext uri="{FF2B5EF4-FFF2-40B4-BE49-F238E27FC236}">
                <a16:creationId xmlns:a16="http://schemas.microsoft.com/office/drawing/2014/main" id="{3206F7BF-CDD7-42ED-9CAC-2CBB85A6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9200" y="21336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94AE0411-F9E9-4D41-92DA-C8E64BA4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42033" y="2419350"/>
            <a:ext cx="196768" cy="196768"/>
          </a:xfrm>
          <a:custGeom xmlns:a="http://schemas.openxmlformats.org/drawingml/2006/main">
            <a:rect l="l" t="t" r="r" b="b"/>
            <a:pathLst>
              <a:path w="196768" h="196768">
                <a:moveTo>
                  <a:pt x="66354" y="0"/>
                </a:moveTo>
                <a:lnTo>
                  <a:pt x="196768" y="130413"/>
                </a:lnTo>
                <a:lnTo>
                  <a:pt x="164160" y="163021"/>
                </a:lnTo>
                <a:cubicBezTo>
                  <a:pt x="141022" y="187085"/>
                  <a:pt x="106687" y="196768"/>
                  <a:pt x="74386" y="188339"/>
                </a:cubicBezTo>
                <a:cubicBezTo>
                  <a:pt x="42084" y="179909"/>
                  <a:pt x="16858" y="154684"/>
                  <a:pt x="8429" y="122382"/>
                </a:cubicBezTo>
                <a:cubicBezTo>
                  <a:pt x="0" y="90081"/>
                  <a:pt x="9683" y="55745"/>
                  <a:pt x="33747" y="32607"/>
                </a:cubicBezTo>
                <a:lnTo>
                  <a:pt x="663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0130714C-D9F1-45F1-948B-06C47B83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16550" y="2586038"/>
            <a:ext cx="55563" cy="55563"/>
          </a:xfrm>
          <a:custGeom xmlns:a="http://schemas.openxmlformats.org/drawingml/2006/main">
            <a:rect l="l" t="t" r="r" b="b"/>
            <a:pathLst>
              <a:path w="55563" h="55563">
                <a:moveTo>
                  <a:pt x="0" y="55563"/>
                </a:moveTo>
                <a:lnTo>
                  <a:pt x="555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9AF39A6D-A132-402E-986F-84FD35E8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35613" y="2387600"/>
            <a:ext cx="55563" cy="55563"/>
          </a:xfrm>
          <a:custGeom xmlns:a="http://schemas.openxmlformats.org/drawingml/2006/main">
            <a:rect l="l" t="t" r="r" b="b"/>
            <a:pathLst>
              <a:path w="55563" h="55563">
                <a:moveTo>
                  <a:pt x="55563" y="0"/>
                </a:moveTo>
                <a:lnTo>
                  <a:pt x="0" y="5556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0F328FDB-A979-4DB4-84A3-1FF6E718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14988" y="2466975"/>
            <a:ext cx="55563" cy="55563"/>
          </a:xfrm>
          <a:custGeom xmlns:a="http://schemas.openxmlformats.org/drawingml/2006/main">
            <a:rect l="l" t="t" r="r" b="b"/>
            <a:pathLst>
              <a:path w="55563" h="55563">
                <a:moveTo>
                  <a:pt x="55563" y="0"/>
                </a:moveTo>
                <a:lnTo>
                  <a:pt x="0" y="5556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C0A7D675-81B3-4F8C-9E02-08A5A0A0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5584" y="2872264"/>
            <a:ext cx="31593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执行</a:t>
            </a:r>
          </a:p>
        </p:txBody>
      </p:sp>
      <p:sp>
        <p:nvSpPr>
          <p:cNvPr id="35" name="Ellipse 35">
            <a:extLst xmlns:a="http://schemas.openxmlformats.org/drawingml/2006/main">
              <a:ext uri="{FF2B5EF4-FFF2-40B4-BE49-F238E27FC236}">
                <a16:creationId xmlns:a16="http://schemas.microsoft.com/office/drawing/2014/main" id="{1C6F47C8-E5E4-4860-8582-EF7EA04D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34200" y="21336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4AF026CF-AD88-4EF6-8634-1E7205A7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4251" y="2371725"/>
            <a:ext cx="310011" cy="283306"/>
          </a:xfrm>
          <a:custGeom xmlns:a="http://schemas.openxmlformats.org/drawingml/2006/main">
            <a:rect l="l" t="t" r="r" b="b"/>
            <a:pathLst>
              <a:path w="310011" h="283306">
                <a:moveTo>
                  <a:pt x="155727" y="283306"/>
                </a:moveTo>
                <a:cubicBezTo>
                  <a:pt x="56277" y="252479"/>
                  <a:pt x="0" y="147517"/>
                  <a:pt x="29362" y="47625"/>
                </a:cubicBezTo>
                <a:cubicBezTo>
                  <a:pt x="78821" y="49888"/>
                  <a:pt x="127218" y="32807"/>
                  <a:pt x="164299" y="0"/>
                </a:cubicBezTo>
                <a:cubicBezTo>
                  <a:pt x="201381" y="32807"/>
                  <a:pt x="249778" y="49888"/>
                  <a:pt x="299237" y="47625"/>
                </a:cubicBezTo>
                <a:cubicBezTo>
                  <a:pt x="310011" y="84282"/>
                  <a:pt x="309513" y="123332"/>
                  <a:pt x="297808" y="15970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CB6418D1-C058-49AB-8024-DF1CEA9A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96175" y="2593976"/>
            <a:ext cx="95250" cy="63500"/>
          </a:xfrm>
          <a:custGeom xmlns:a="http://schemas.openxmlformats.org/drawingml/2006/main">
            <a:rect l="l" t="t" r="r" b="b"/>
            <a:pathLst>
              <a:path w="95250" h="63500">
                <a:moveTo>
                  <a:pt x="0" y="31750"/>
                </a:moveTo>
                <a:lnTo>
                  <a:pt x="31750" y="63500"/>
                </a:ln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09EB3823-AB80-4DAB-B2D9-6D1C8CA2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64641" y="2872264"/>
            <a:ext cx="56781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核验</a:t>
            </a:r>
          </a:p>
        </p:txBody>
      </p:sp>
      <p:sp>
        <p:nvSpPr>
          <p:cNvPr id="40" name="Ellipse 40">
            <a:extLst xmlns:a="http://schemas.openxmlformats.org/drawingml/2006/main">
              <a:ext uri="{FF2B5EF4-FFF2-40B4-BE49-F238E27FC236}">
                <a16:creationId xmlns:a16="http://schemas.microsoft.com/office/drawing/2014/main" id="{FD85CCF0-4AEE-4C52-A1B9-FA9A51BF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39200" y="21336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DE280964-17DD-47F8-BAF0-769E5BBC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21800" y="2403475"/>
            <a:ext cx="158750" cy="222250"/>
          </a:xfrm>
          <a:custGeom xmlns:a="http://schemas.openxmlformats.org/drawingml/2006/main">
            <a:rect l="l" t="t" r="r" b="b"/>
            <a:pathLst>
              <a:path w="158750" h="222250">
                <a:moveTo>
                  <a:pt x="0" y="31750"/>
                </a:moveTo>
                <a:cubicBezTo>
                  <a:pt x="0" y="14215"/>
                  <a:pt x="14215" y="0"/>
                  <a:pt x="31750" y="0"/>
                </a:cubicBezTo>
                <a:lnTo>
                  <a:pt x="127000" y="0"/>
                </a:lnTo>
                <a:cubicBezTo>
                  <a:pt x="144535" y="0"/>
                  <a:pt x="158750" y="14215"/>
                  <a:pt x="158750" y="31750"/>
                </a:cubicBezTo>
                <a:lnTo>
                  <a:pt x="158750" y="190500"/>
                </a:lnTo>
                <a:cubicBezTo>
                  <a:pt x="158750" y="208035"/>
                  <a:pt x="144535" y="222250"/>
                  <a:pt x="127000" y="222250"/>
                </a:cubicBezTo>
                <a:lnTo>
                  <a:pt x="31750" y="222250"/>
                </a:lnTo>
                <a:cubicBezTo>
                  <a:pt x="14215" y="222250"/>
                  <a:pt x="0" y="208035"/>
                  <a:pt x="0" y="190500"/>
                </a:cubicBezTo>
                <a:lnTo>
                  <a:pt x="0" y="317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DB5022BE-5297-41DC-84B7-9E0183AE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74175" y="2435225"/>
            <a:ext cx="9525" cy="158750"/>
          </a:xfrm>
          <a:custGeom xmlns:a="http://schemas.openxmlformats.org/drawingml/2006/main">
            <a:rect l="l" t="t" r="r" b="b"/>
            <a:pathLst>
              <a:path w="9525" h="158750">
                <a:moveTo>
                  <a:pt x="0" y="0"/>
                </a:moveTo>
                <a:lnTo>
                  <a:pt x="0" y="1587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B640EFC4-6FA9-46CC-9823-4454732C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26550" y="2451100"/>
            <a:ext cx="9525" cy="127000"/>
          </a:xfrm>
          <a:custGeom xmlns:a="http://schemas.openxmlformats.org/drawingml/2006/main">
            <a:rect l="l" t="t" r="r" b="b"/>
            <a:pathLst>
              <a:path w="9525" h="127000">
                <a:moveTo>
                  <a:pt x="0" y="0"/>
                </a:moveTo>
                <a:lnTo>
                  <a:pt x="0" y="1270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A312A76-30C4-49A4-92B9-BB591171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33256" y="2872264"/>
            <a:ext cx="64058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提交</a:t>
            </a:r>
          </a:p>
        </p:txBody>
      </p:sp>
      <p:sp>
        <p:nvSpPr>
          <p:cNvPr id="46" name="Freeform 46">
            <a:extLst xmlns:a="http://schemas.openxmlformats.org/drawingml/2006/main">
              <a:ext uri="{FF2B5EF4-FFF2-40B4-BE49-F238E27FC236}">
                <a16:creationId xmlns:a16="http://schemas.microsoft.com/office/drawing/2014/main" id="{C878132A-E57B-41F0-9E58-C08D9F5A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33550" y="1981200"/>
            <a:ext cx="8934450" cy="666750"/>
          </a:xfrm>
          <a:custGeom xmlns:a="http://schemas.openxmlformats.org/drawingml/2006/main">
            <a:rect l="l" t="t" r="r" b="b"/>
            <a:pathLst>
              <a:path w="8934450" h="666750">
                <a:moveTo>
                  <a:pt x="8134350" y="666750"/>
                </a:moveTo>
                <a:lnTo>
                  <a:pt x="8934450" y="666750"/>
                </a:lnTo>
                <a:lnTo>
                  <a:pt x="8934450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97706"/>
            </a:solidFill>
          </a:ln>
        </p:spPr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9565A489-FC05-4356-815D-B418EC43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75164" y="2286952"/>
            <a:ext cx="576072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>
                <a:solidFill>
                  <a:srgbClr val="B54708"/>
                </a:solidFill>
                <a:latin typeface="Segoe UI"/>
                <a:ea typeface="Segoe UI"/>
                <a:cs typeface="Segoe UI"/>
              </a:rPr>
              <a:t>默认 12 轮，上限 24 轮</a:t>
            </a:r>
          </a:p>
        </p:txBody>
      </p:sp>
      <p:sp>
        <p:nvSpPr>
          <p:cNvPr id="49" name="Rectangle 49">
            <a:extLst xmlns:a="http://schemas.openxmlformats.org/drawingml/2006/main">
              <a:ext uri="{FF2B5EF4-FFF2-40B4-BE49-F238E27FC236}">
                <a16:creationId xmlns:a16="http://schemas.microsoft.com/office/drawing/2014/main" id="{C4E745B8-62D2-4E85-9559-51642CA9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3600450"/>
            <a:ext cx="11201400" cy="18859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A557B97B-775D-4E50-84C5-55BBC49C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4756" y="3749040"/>
            <a:ext cx="179931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外围控制与状态</a:t>
            </a:r>
          </a:p>
        </p:txBody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F98FE8DB-CA85-473C-A795-79BF503D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" y="4171950"/>
            <a:ext cx="10744200" cy="1123950"/>
          </a:xfrm>
          <a:custGeom xmlns:a="http://schemas.openxmlformats.org/drawingml/2006/main">
            <a:rect l="l" t="t" r="r" b="b"/>
            <a:pathLst>
              <a:path w="10744200" h="1123950">
                <a:moveTo>
                  <a:pt x="0" y="0"/>
                </a:moveTo>
                <a:lnTo>
                  <a:pt x="10744200" y="0"/>
                </a:lnTo>
                <a:moveTo>
                  <a:pt x="1790700" y="0"/>
                </a:moveTo>
                <a:lnTo>
                  <a:pt x="1790700" y="1123950"/>
                </a:lnTo>
                <a:moveTo>
                  <a:pt x="3581400" y="0"/>
                </a:moveTo>
                <a:lnTo>
                  <a:pt x="3581400" y="1123950"/>
                </a:lnTo>
                <a:moveTo>
                  <a:pt x="5372100" y="0"/>
                </a:moveTo>
                <a:lnTo>
                  <a:pt x="5372100" y="1123950"/>
                </a:lnTo>
                <a:moveTo>
                  <a:pt x="7162800" y="0"/>
                </a:moveTo>
                <a:lnTo>
                  <a:pt x="7162800" y="1123950"/>
                </a:lnTo>
                <a:moveTo>
                  <a:pt x="8953500" y="0"/>
                </a:moveTo>
                <a:lnTo>
                  <a:pt x="8953500" y="1123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E3E8ED"/>
            </a:solidFill>
          </a:ln>
        </p:spPr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9E444F22-CC83-421C-8481-C3B12C6F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0773" y="4358164"/>
            <a:ext cx="126822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任务约束</a:t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4B37138F-1E46-40D9-A906-3527568A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1916" y="4725352"/>
            <a:ext cx="1360570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1769E0"/>
                </a:solidFill>
                <a:latin typeface="Segoe UI"/>
                <a:ea typeface="Segoe UI"/>
                <a:cs typeface="Segoe UI"/>
              </a:rPr>
              <a:t>当前：目标/范围冻结</a:t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1D1EB285-A546-4077-9937-8966FC26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41473" y="4358164"/>
            <a:ext cx="122274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证据门</a:t>
            </a:r>
          </a:p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7BCA100C-91EE-4F77-890F-513190FB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42616" y="4725352"/>
            <a:ext cx="1237755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1769E0"/>
                </a:solidFill>
                <a:latin typeface="Segoe UI"/>
                <a:ea typeface="Segoe UI"/>
                <a:cs typeface="Segoe UI"/>
              </a:rPr>
              <a:t>当前：分支级证据门</a:t>
            </a:r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5452BB4D-95AB-4C04-B90E-2206AEE4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32173" y="4358164"/>
            <a:ext cx="122500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预算与停止</a:t>
            </a:r>
          </a:p>
        </p:txBody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C64EB961-76A5-4FDA-A2FB-7BD64209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33316" y="4725352"/>
            <a:ext cx="1438313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B54708"/>
                </a:solidFill>
                <a:latin typeface="Segoe UI"/>
                <a:ea typeface="Segoe UI"/>
                <a:cs typeface="Segoe UI"/>
              </a:rPr>
              <a:t>部分：轮次/调用/期限</a:t>
            </a:r>
          </a:p>
        </p:txBody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EAC3E1A7-CD9E-45A0-84BC-3E4AEDEC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22873" y="4358164"/>
            <a:ext cx="122500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纠偏与暂停</a:t>
            </a:r>
          </a:p>
        </p:txBody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009B1B26-C8A0-4869-BB83-42A69F54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24016" y="4725352"/>
            <a:ext cx="1818527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B54708"/>
                </a:solidFill>
                <a:latin typeface="Segoe UI"/>
                <a:ea typeface="Segoe UI"/>
                <a:cs typeface="Segoe UI"/>
              </a:rPr>
              <a:t>部分：在安全点生效</a:t>
            </a:r>
          </a:p>
        </p:txBody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086EDD13-D1D8-4B4E-ABE7-70743E74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13573" y="4358164"/>
            <a:ext cx="122274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持久状态</a:t>
            </a:r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A94DAF7E-DFD8-4334-BE1C-843D30EC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14716" y="4725352"/>
            <a:ext cx="160873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B54708"/>
                </a:solidFill>
                <a:latin typeface="Segoe UI"/>
                <a:ea typeface="Segoe UI"/>
                <a:cs typeface="Segoe UI"/>
              </a:rPr>
              <a:t>部分：可选数据库重启恢复</a:t>
            </a:r>
          </a:p>
        </p:txBody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65724089-9972-47DB-947C-B92FB63A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04273" y="4358164"/>
            <a:ext cx="51417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执行记录</a:t>
            </a:r>
          </a:p>
        </p:txBody>
      </p:sp>
      <p:sp>
        <p:nvSpPr>
          <p:cNvPr id="63" name="TextBox 63">
            <a:extLst xmlns:a="http://schemas.openxmlformats.org/drawingml/2006/main">
              <a:ext uri="{FF2B5EF4-FFF2-40B4-BE49-F238E27FC236}">
                <a16:creationId xmlns:a16="http://schemas.microsoft.com/office/drawing/2014/main" id="{D57F45CF-7470-4FCD-8A42-90BE77E8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05416" y="4725352"/>
            <a:ext cx="1938742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1769E0"/>
                </a:solidFill>
                <a:latin typeface="Segoe UI"/>
                <a:ea typeface="Segoe UI"/>
                <a:cs typeface="Segoe UI"/>
              </a:rPr>
              <a:t>当前：有序事件与状态快照</a:t>
            </a:r>
          </a:p>
        </p:txBody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7F8937E5-3984-4561-A60F-2CA63FF4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6156" y="5711190"/>
            <a:ext cx="129044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当前本质：</a:t>
            </a:r>
          </a:p>
        </p:txBody>
      </p:sp>
      <p:sp>
        <p:nvSpPr>
          <p:cNvPr id="66" name="TextBox 66">
            <a:extLst xmlns:a="http://schemas.openxmlformats.org/drawingml/2006/main">
              <a:ext uri="{FF2B5EF4-FFF2-40B4-BE49-F238E27FC236}">
                <a16:creationId xmlns:a16="http://schemas.microsoft.com/office/drawing/2014/main" id="{DF054A3C-D8A2-40DE-BE90-8749BC0E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67256" y="5711190"/>
            <a:ext cx="583387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有反馈与恢复的只读办公任务纵切，不是完整执行器。</a:t>
            </a:r>
          </a:p>
        </p:txBody>
      </p:sp>
      <p:sp>
        <p:nvSpPr>
          <p:cNvPr id="69" name="TextBox 69">
            <a:extLst xmlns:a="http://schemas.openxmlformats.org/drawingml/2006/main">
              <a:ext uri="{FF2B5EF4-FFF2-40B4-BE49-F238E27FC236}">
                <a16:creationId xmlns:a16="http://schemas.microsoft.com/office/drawing/2014/main" id="{892F6306-F5D8-43A2-B4A9-D7B0695B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63246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依据：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2a15170901da4803"/>
              </a:rPr>
              <a:t>docs.langchain.com/.../langgraph/persistence</a:t>
            </a: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 ·  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136c24cccaee4b4c"/>
              </a:rPr>
              <a:t>openai.github.io/.../human_in_the_loop/</a:t>
            </a:r>
          </a:p>
        </p:txBody>
      </p:sp>
      <p:sp>
        <p:nvSpPr>
          <p:cNvPr id="70" name="TextBox 70">
            <a:extLst xmlns:a="http://schemas.openxmlformats.org/drawingml/2006/main">
              <a:ext uri="{FF2B5EF4-FFF2-40B4-BE49-F238E27FC236}">
                <a16:creationId xmlns:a16="http://schemas.microsoft.com/office/drawing/2014/main" id="{971BC25C-8C2F-4D70-8892-7CA3D773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09 / 24</a:t>
            </a:r>
          </a:p>
        </p:txBody>
      </p:sp>
    </p:spTree>
    <p:extLst>
      <p:ext uri="{BB962C8B-B14F-4D97-AF65-F5344CB8AC3E}">
        <p14:creationId xmlns:p14="http://schemas.microsoft.com/office/powerpoint/2010/main" val="30281825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2F27ED7-55BF-45A0-A43B-D3787F29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D7EC833-C36C-4E81-ACF3-010FE44E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41505014-F57D-44E0-B26E-D7FB52FF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7837627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六个办公场景，共用同一条治理主线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8D40A92B-1C99-4867-BC0B-3C5C88F3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2950" y="1504950"/>
            <a:ext cx="9525" cy="4152900"/>
          </a:xfrm>
          <a:custGeom xmlns:a="http://schemas.openxmlformats.org/drawingml/2006/main">
            <a:rect l="l" t="t" r="r" b="b"/>
            <a:pathLst>
              <a:path w="9525" h="4152900">
                <a:moveTo>
                  <a:pt x="0" y="0"/>
                </a:moveTo>
                <a:lnTo>
                  <a:pt x="0" y="41529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38100">
            <a:solidFill>
              <a:srgbClr val="CBD5DF"/>
            </a:solidFill>
          </a:ln>
        </p:spPr>
      </p:sp>
      <p:sp>
        <p:nvSpPr>
          <p:cNvPr id="10" name="Ellipse 10">
            <a:extLst xmlns:a="http://schemas.openxmlformats.org/drawingml/2006/main">
              <a:ext uri="{FF2B5EF4-FFF2-40B4-BE49-F238E27FC236}">
                <a16:creationId xmlns:a16="http://schemas.microsoft.com/office/drawing/2014/main" id="{FDBF2DAA-825F-49B1-B095-AC09989C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400" y="1600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AD163DBF-FE1B-4732-82A1-1EC14494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6912" y="17387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BFEF1AB4-1002-47DA-9247-B7D2FD0B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806" y="1558290"/>
            <a:ext cx="245123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TC-01 入职资产匹配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876A1F43-B535-4F93-8987-DAC62C24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473" y="1881664"/>
            <a:ext cx="5951715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产物：资产匹配表 人工门：业务规则复核 边界：引用定位问题不等于成果失败</a:t>
            </a:r>
          </a:p>
        </p:txBody>
      </p:sp>
      <p:sp>
        <p:nvSpPr>
          <p:cNvPr id="14" name="Ellipse 14">
            <a:extLst xmlns:a="http://schemas.openxmlformats.org/drawingml/2006/main">
              <a:ext uri="{FF2B5EF4-FFF2-40B4-BE49-F238E27FC236}">
                <a16:creationId xmlns:a16="http://schemas.microsoft.com/office/drawing/2014/main" id="{3382297C-B1C0-4041-9A87-79AEE317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40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7B5D971A-EDD0-410B-BCC6-2B80B130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6912" y="25007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EF7C6C3B-B20D-4D7E-9F18-F605A4A3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806" y="2320290"/>
            <a:ext cx="2182398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TC-05 三期往来款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D025E24E-1583-4892-AE64-E5980BBC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473" y="2643664"/>
            <a:ext cx="5187915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产物：未收/未付统计 人工门：僵尸账款判断 边界：不核销、不记账</a:t>
            </a:r>
          </a:p>
        </p:txBody>
      </p:sp>
      <p:sp>
        <p:nvSpPr>
          <p:cNvPr id="18" name="Ellipse 18">
            <a:extLst xmlns:a="http://schemas.openxmlformats.org/drawingml/2006/main">
              <a:ext uri="{FF2B5EF4-FFF2-40B4-BE49-F238E27FC236}">
                <a16:creationId xmlns:a16="http://schemas.microsoft.com/office/drawing/2014/main" id="{25CDC9AA-69D8-43D4-B700-A1C1BCD3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400" y="3124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5830771D-E021-4C5D-BE19-C2470CB0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6912" y="32627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15F7B9AB-1C1F-4C92-BDE5-BB4A21EF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806" y="3082290"/>
            <a:ext cx="2720066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TC-06 双岗位招聘筛选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90AAD833-B349-4391-8EDE-2EDF2C41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473" y="3405664"/>
            <a:ext cx="543679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产物：候选建议与依据 人工门：招聘负责人决定 边界：未录用、未淘汰</a:t>
            </a:r>
          </a:p>
        </p:txBody>
      </p:sp>
      <p:sp>
        <p:nvSpPr>
          <p:cNvPr id="22" name="Ellipse 22">
            <a:extLst xmlns:a="http://schemas.openxmlformats.org/drawingml/2006/main">
              <a:ext uri="{FF2B5EF4-FFF2-40B4-BE49-F238E27FC236}">
                <a16:creationId xmlns:a16="http://schemas.microsoft.com/office/drawing/2014/main" id="{39FB05A7-BF2C-4D95-AFB3-033E9304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400" y="3886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444E97A8-9D9F-45C3-8ECA-72B7FDDB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6912" y="40247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F6803FCB-2B01-4E52-A970-3D6A1CF4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806" y="3844290"/>
            <a:ext cx="245123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TC-07 授权文件风控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84093993-1923-41FB-8299-CE1AD02A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473" y="4167664"/>
            <a:ext cx="5265153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产物：规则台账与风险候选 人工门：法务复核 边界：不代表法律意见</a:t>
            </a:r>
          </a:p>
        </p:txBody>
      </p:sp>
      <p:sp>
        <p:nvSpPr>
          <p:cNvPr id="26" name="Ellipse 26">
            <a:extLst xmlns:a="http://schemas.openxmlformats.org/drawingml/2006/main">
              <a:ext uri="{FF2B5EF4-FFF2-40B4-BE49-F238E27FC236}">
                <a16:creationId xmlns:a16="http://schemas.microsoft.com/office/drawing/2014/main" id="{8BC2A8AE-86DC-43DD-A2F0-A7FFE942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400" y="4648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DDDF1E40-2E9B-4DDC-B425-B6B2F78F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6912" y="47867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78A0A93D-BB28-4CAD-9AAE-C2919AC4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806" y="4606290"/>
            <a:ext cx="245123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TC-10 合规外呼流程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C5A7F7FE-6A23-4E0D-BE7B-633A1A2B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473" y="4929664"/>
            <a:ext cx="626066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成果：流程图与文档｜人工批准执行｜不拨号、不写客户系统、不发短信</a:t>
            </a:r>
          </a:p>
        </p:txBody>
      </p:sp>
      <p:sp>
        <p:nvSpPr>
          <p:cNvPr id="30" name="Ellipse 30">
            <a:extLst xmlns:a="http://schemas.openxmlformats.org/drawingml/2006/main">
              <a:ext uri="{FF2B5EF4-FFF2-40B4-BE49-F238E27FC236}">
                <a16:creationId xmlns:a16="http://schemas.microsoft.com/office/drawing/2014/main" id="{224195D4-8F6D-4AA7-A239-51CA25E8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400" y="5410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675EA5DF-8062-4CB7-8E0B-BB89A315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6912" y="55487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7B1E2CD3-85AE-4A49-9991-8BFAD7B6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806" y="5368290"/>
            <a:ext cx="4306184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TC-14 / TC-15 冲突诊断与说明对账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85044EDD-109F-41F4-841D-3F7C71B8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473" y="5691664"/>
            <a:ext cx="580582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产物：条件式提案 / 排序成果 人工门：复核权威顺序 边界：不静默覆盖冲突</a:t>
            </a:r>
          </a:p>
        </p:txBody>
      </p:sp>
      <p:sp>
        <p:nvSpPr>
          <p:cNvPr id="35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7CEFE0F3-890F-4235-A502-7596637D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39200" y="1504950"/>
            <a:ext cx="2857500" cy="432435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>
            <a:noFill/>
          </a:ln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465B0381-7D3C-44C3-BF32-960FB931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4282" y="1716405"/>
            <a:ext cx="1802359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同一治理主线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46007927-4043-481A-B07E-747D6C98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5806" y="2263140"/>
            <a:ext cx="743419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1 触发</a:t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67DC3AB0-3BD3-432B-B8B1-961C23DA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8473" y="2586514"/>
            <a:ext cx="138607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用户只说业务目标</a:t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3C8C58A1-3F2C-4FD5-9660-E8C7A653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5806" y="3006090"/>
            <a:ext cx="743419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2 路径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82ACB70B-51F9-43F9-9EC0-4BEC202F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8473" y="3329464"/>
            <a:ext cx="190100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来源、计划、成果、验证</a:t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06E47AD9-1D31-4FD7-ADD6-7E8263AF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5806" y="3749040"/>
            <a:ext cx="743419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3 停顿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D94FF908-CA1C-4E99-9B36-03C6AF26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8473" y="4072414"/>
            <a:ext cx="138607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只暂停受影响部分</a:t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1DB71C80-7C30-45F1-85CB-ECAC273E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5806" y="4491990"/>
            <a:ext cx="743419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4 输出</a:t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2982E105-FEEA-451F-8685-071BD529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8473" y="4815364"/>
            <a:ext cx="190100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成果、依据、决定、边界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80E61283-2B19-4969-A415-41EFE160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8473" y="5291614"/>
            <a:ext cx="163495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每个场景都可被反证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DDD24230-6554-4274-B3D0-346E8120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10 / 24</a:t>
            </a:r>
          </a:p>
        </p:txBody>
      </p:sp>
    </p:spTree>
    <p:extLst>
      <p:ext uri="{BB962C8B-B14F-4D97-AF65-F5344CB8AC3E}">
        <p14:creationId xmlns:p14="http://schemas.microsoft.com/office/powerpoint/2010/main" val="113526989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5A5FD70-DFD7-450A-A4FD-3F5DC0FB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7F012F3B-8095-46FA-B8E4-0A34580F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92005C5E-3A67-42F5-A2EC-CFB52290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9180995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TC-01：成果正确，不等于引用定位完整</a:t>
            </a:r>
          </a:p>
        </p:txBody>
      </p:sp>
      <p:sp>
        <p:nvSpPr>
          <p:cNvPr id="9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D763D2F-5FF3-4E59-A420-7271E72E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428750"/>
            <a:ext cx="3429000" cy="43434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7BBFBDAE-06E8-4278-8D4A-1FD6DE6A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6656" y="1558290"/>
            <a:ext cx="383476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C0362C"/>
                </a:solidFill>
                <a:latin typeface="Segoe UI Semibold"/>
                <a:ea typeface="Segoe UI Semibold"/>
                <a:cs typeface="Segoe UI Semibold"/>
              </a:rPr>
              <a:t>旧体验：成果与审计缺口混在一起</a:t>
            </a:r>
          </a:p>
        </p:txBody>
      </p:sp>
      <p:pic>
        <p:nvPicPr>
          <p:cNvPr id="48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88dc40507449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47700" y="2169953"/>
            <a:ext cx="3124200" cy="2899094"/>
          </a:xfrm>
          <a:prstGeom xmlns:a="http://schemas.openxmlformats.org/drawingml/2006/main" prst="rect">
            <a:avLst/>
          </a:prstGeom>
        </p:spPr>
      </p:pic>
      <p:sp>
        <p:nvSpPr>
          <p:cNvPr id="14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5B6CE54-83D7-4079-B579-25D5E060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52900" y="1428750"/>
            <a:ext cx="4686300" cy="4343400"/>
          </a:xfrm>
          <a:prstGeom xmlns:a="http://schemas.openxmlformats.org/drawingml/2006/main" prst="roundRect">
            <a:avLst>
              <a:gd name="adj" fmla="val 1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009CF283-E118-4941-B369-F97115B6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2356" y="1558290"/>
            <a:ext cx="2308174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现在把三个事实拆开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CEF7D527-0673-40DE-972E-B1255F6B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5023" y="1976914"/>
            <a:ext cx="3733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触发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F037DF2D-A2AC-4FEE-B83E-A56C9187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08423" y="1976914"/>
            <a:ext cx="354016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根据时间表和规则生成 3/20-4/20 资产匹配表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603AFB0E-5333-4688-A4AC-234ECD73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5023" y="2338864"/>
            <a:ext cx="3733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路径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13D56E33-932B-4ADD-B06F-A090CA5B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08423" y="2338864"/>
            <a:ext cx="389397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读取两份资料 → 生成表格 → 文件检查 → 证据定位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8C1A7B24-2E91-403A-ADEA-7A973F51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5023" y="2700814"/>
            <a:ext cx="3733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2E7D32"/>
                </a:solidFill>
                <a:latin typeface="Segoe UI Semibold"/>
                <a:ea typeface="Segoe UI Semibold"/>
                <a:cs typeface="Segoe UI Semibold"/>
              </a:rPr>
              <a:t>成果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B86F4CBD-EA71-40C2-BEFB-47B097C2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08423" y="2700814"/>
            <a:ext cx="275920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日期与资产表可通过确定性文件检查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E38784F3-0B5B-4D0F-A421-24EF5073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5023" y="3062764"/>
            <a:ext cx="3733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B54708"/>
                </a:solidFill>
                <a:latin typeface="Segoe UI Semibold"/>
                <a:ea typeface="Segoe UI Semibold"/>
                <a:cs typeface="Segoe UI Semibold"/>
              </a:rPr>
              <a:t>停顿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F1EB0931-8E20-4E6B-9CFE-FF8BDE3D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08423" y="3062764"/>
            <a:ext cx="402076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同一原文片段出现多次，无法唯一映射到原文位置</a:t>
            </a:r>
          </a:p>
        </p:txBody>
      </p:sp>
      <p:sp>
        <p:nvSpPr>
          <p:cNvPr id="24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8641D96-8499-4D25-BD5D-96CF5B80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1500" y="3486150"/>
            <a:ext cx="42291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>
            <a:noFill/>
          </a:ln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7A7A3136-AE13-4027-BC4E-6FB1EC28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5523" y="3615214"/>
            <a:ext cx="255409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“缺一份引用”到底是什么意思？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09D4A9EE-ACFA-46B5-B338-FBEC1385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5523" y="3900964"/>
            <a:ext cx="464724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缺的是唯一可回开的定位，不是缺源文件，也不是日期算错。</a:t>
            </a:r>
          </a:p>
        </p:txBody>
      </p:sp>
      <p:sp>
        <p:nvSpPr>
          <p:cNvPr id="34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57875DBF-4F79-4C8F-B65B-ED0F95E7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67800" y="1428750"/>
            <a:ext cx="2628900" cy="43434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0FE44F36-F7E3-4B01-A718-6DD04441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49156" y="1558290"/>
            <a:ext cx="179931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E7D32"/>
                </a:solidFill>
                <a:latin typeface="Segoe UI Semibold"/>
                <a:ea typeface="Segoe UI Semibold"/>
                <a:cs typeface="Segoe UI Semibold"/>
              </a:rPr>
              <a:t>现在：成果优先</a:t>
            </a:r>
          </a:p>
        </p:txBody>
      </p:sp>
      <p:pic>
        <p:nvPicPr>
          <p:cNvPr id="64" name="Imag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710c0ebd543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600223" y="1962150"/>
            <a:ext cx="1564055" cy="3333750"/>
          </a:xfrm>
          <a:prstGeom xmlns:a="http://schemas.openxmlformats.org/drawingml/2006/main" prst="rect">
            <a:avLst/>
          </a:prstGeom>
        </p:spPr>
      </p:pic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65126D57-5108-44CC-A3DE-D6D58890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11 / 24</a:t>
            </a:r>
          </a:p>
        </p:txBody>
      </p:sp>
    </p:spTree>
    <p:extLst>
      <p:ext uri="{BB962C8B-B14F-4D97-AF65-F5344CB8AC3E}">
        <p14:creationId xmlns:p14="http://schemas.microsoft.com/office/powerpoint/2010/main" val="165653539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A4D7603-D7BC-49FC-9BF9-F2BD7AAD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598C63C-80D2-49E9-A67C-BE7A9066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D5A001B0-C9F9-44F8-A268-B927C814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10211524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TC-05：三份输入，各自对应不同成果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7197A1EF-FC16-43F3-A9FD-95474520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4632" y="1240155"/>
            <a:ext cx="2099196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输入：三个期间</a:t>
            </a:r>
          </a:p>
        </p:txBody>
      </p:sp>
      <p:sp>
        <p:nvSpPr>
          <p:cNvPr id="10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E0D9296-D862-4051-A3A2-7C497B7F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714500"/>
            <a:ext cx="24765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24A5DC44-14E3-4E90-BD0F-6BA03C0B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1375" y="1947863"/>
            <a:ext cx="55563" cy="55563"/>
          </a:xfrm>
          <a:custGeom xmlns:a="http://schemas.openxmlformats.org/drawingml/2006/main">
            <a:rect l="l" t="t" r="r" b="b"/>
            <a:pathLst>
              <a:path w="55563" h="55563">
                <a:moveTo>
                  <a:pt x="0" y="0"/>
                </a:moveTo>
                <a:lnTo>
                  <a:pt x="0" y="44450"/>
                </a:lnTo>
                <a:cubicBezTo>
                  <a:pt x="0" y="50587"/>
                  <a:pt x="4975" y="55563"/>
                  <a:pt x="11113" y="55563"/>
                </a:cubicBezTo>
                <a:lnTo>
                  <a:pt x="55563" y="5556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78A3A306-164B-47B3-9833-772D225A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1363" y="1947863"/>
            <a:ext cx="155575" cy="200026"/>
          </a:xfrm>
          <a:custGeom xmlns:a="http://schemas.openxmlformats.org/drawingml/2006/main">
            <a:rect l="l" t="t" r="r" b="b"/>
            <a:pathLst>
              <a:path w="155575" h="200026">
                <a:moveTo>
                  <a:pt x="133350" y="200026"/>
                </a:moveTo>
                <a:lnTo>
                  <a:pt x="22225" y="200026"/>
                </a:lnTo>
                <a:cubicBezTo>
                  <a:pt x="9950" y="200026"/>
                  <a:pt x="0" y="190075"/>
                  <a:pt x="0" y="177801"/>
                </a:cubicBezTo>
                <a:lnTo>
                  <a:pt x="0" y="22225"/>
                </a:lnTo>
                <a:cubicBezTo>
                  <a:pt x="0" y="9950"/>
                  <a:pt x="9950" y="0"/>
                  <a:pt x="22225" y="0"/>
                </a:cubicBezTo>
                <a:lnTo>
                  <a:pt x="100013" y="0"/>
                </a:lnTo>
                <a:lnTo>
                  <a:pt x="155575" y="55563"/>
                </a:lnTo>
                <a:lnTo>
                  <a:pt x="155575" y="177801"/>
                </a:lnTo>
                <a:cubicBezTo>
                  <a:pt x="155575" y="190075"/>
                  <a:pt x="145625" y="200026"/>
                  <a:pt x="133350" y="2000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57B7A6C1-52D7-4C47-AF2B-6C9BF5D1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4700" y="2036763"/>
            <a:ext cx="88900" cy="77788"/>
          </a:xfrm>
          <a:custGeom xmlns:a="http://schemas.openxmlformats.org/drawingml/2006/main">
            <a:rect l="l" t="t" r="r" b="b"/>
            <a:pathLst>
              <a:path w="88900" h="77788">
                <a:moveTo>
                  <a:pt x="0" y="0"/>
                </a:moveTo>
                <a:lnTo>
                  <a:pt x="88900" y="0"/>
                </a:lnTo>
                <a:lnTo>
                  <a:pt x="88900" y="77788"/>
                </a:lnTo>
                <a:lnTo>
                  <a:pt x="0" y="7778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284563FB-018C-4DBE-B188-F5E4DE03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4700" y="2081213"/>
            <a:ext cx="88900" cy="9525"/>
          </a:xfrm>
          <a:custGeom xmlns:a="http://schemas.openxmlformats.org/drawingml/2006/main">
            <a:rect l="l" t="t" r="r" b="b"/>
            <a:pathLst>
              <a:path w="88900" h="9525">
                <a:moveTo>
                  <a:pt x="0" y="0"/>
                </a:moveTo>
                <a:lnTo>
                  <a:pt x="88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B9085CD1-D4D8-42B2-901C-49B4F0E6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8038" y="2036763"/>
            <a:ext cx="9525" cy="77788"/>
          </a:xfrm>
          <a:custGeom xmlns:a="http://schemas.openxmlformats.org/drawingml/2006/main">
            <a:rect l="l" t="t" r="r" b="b"/>
            <a:pathLst>
              <a:path w="9525" h="77788">
                <a:moveTo>
                  <a:pt x="0" y="0"/>
                </a:moveTo>
                <a:lnTo>
                  <a:pt x="0" y="777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A8BB067A-935F-41D6-A93B-FB2D5052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9373" y="2005489"/>
            <a:ext cx="1364623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2025 上半年明细</a:t>
            </a:r>
          </a:p>
        </p:txBody>
      </p:sp>
      <p:sp>
        <p:nvSpPr>
          <p:cNvPr id="18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9C1D2D4-3791-4439-B554-D86B522D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62300" y="1714500"/>
            <a:ext cx="24765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7F137D87-0480-4A67-9625-A32D6FAD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08375" y="1947863"/>
            <a:ext cx="55563" cy="55563"/>
          </a:xfrm>
          <a:custGeom xmlns:a="http://schemas.openxmlformats.org/drawingml/2006/main">
            <a:rect l="l" t="t" r="r" b="b"/>
            <a:pathLst>
              <a:path w="55563" h="55563">
                <a:moveTo>
                  <a:pt x="0" y="0"/>
                </a:moveTo>
                <a:lnTo>
                  <a:pt x="0" y="44450"/>
                </a:lnTo>
                <a:cubicBezTo>
                  <a:pt x="0" y="50587"/>
                  <a:pt x="4975" y="55563"/>
                  <a:pt x="11113" y="55563"/>
                </a:cubicBezTo>
                <a:lnTo>
                  <a:pt x="55563" y="5556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DF3FD10B-B004-40B6-AC27-5E413E35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08363" y="1947863"/>
            <a:ext cx="155575" cy="200026"/>
          </a:xfrm>
          <a:custGeom xmlns:a="http://schemas.openxmlformats.org/drawingml/2006/main">
            <a:rect l="l" t="t" r="r" b="b"/>
            <a:pathLst>
              <a:path w="155575" h="200026">
                <a:moveTo>
                  <a:pt x="133350" y="200026"/>
                </a:moveTo>
                <a:lnTo>
                  <a:pt x="22225" y="200026"/>
                </a:lnTo>
                <a:cubicBezTo>
                  <a:pt x="9950" y="200026"/>
                  <a:pt x="0" y="190075"/>
                  <a:pt x="0" y="177801"/>
                </a:cubicBezTo>
                <a:lnTo>
                  <a:pt x="0" y="22225"/>
                </a:lnTo>
                <a:cubicBezTo>
                  <a:pt x="0" y="9950"/>
                  <a:pt x="9950" y="0"/>
                  <a:pt x="22225" y="0"/>
                </a:cubicBezTo>
                <a:lnTo>
                  <a:pt x="100013" y="0"/>
                </a:lnTo>
                <a:lnTo>
                  <a:pt x="155575" y="55563"/>
                </a:lnTo>
                <a:lnTo>
                  <a:pt x="155575" y="177801"/>
                </a:lnTo>
                <a:cubicBezTo>
                  <a:pt x="155575" y="190075"/>
                  <a:pt x="145625" y="200026"/>
                  <a:pt x="133350" y="2000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E9BF921B-C68D-4E87-B891-29E857A1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41700" y="2036763"/>
            <a:ext cx="88900" cy="77788"/>
          </a:xfrm>
          <a:custGeom xmlns:a="http://schemas.openxmlformats.org/drawingml/2006/main">
            <a:rect l="l" t="t" r="r" b="b"/>
            <a:pathLst>
              <a:path w="88900" h="77788">
                <a:moveTo>
                  <a:pt x="0" y="0"/>
                </a:moveTo>
                <a:lnTo>
                  <a:pt x="88900" y="0"/>
                </a:lnTo>
                <a:lnTo>
                  <a:pt x="88900" y="77788"/>
                </a:lnTo>
                <a:lnTo>
                  <a:pt x="0" y="7778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68B0A828-99CC-407C-BCA6-4EA1CB47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41700" y="2081213"/>
            <a:ext cx="88900" cy="9525"/>
          </a:xfrm>
          <a:custGeom xmlns:a="http://schemas.openxmlformats.org/drawingml/2006/main">
            <a:rect l="l" t="t" r="r" b="b"/>
            <a:pathLst>
              <a:path w="88900" h="9525">
                <a:moveTo>
                  <a:pt x="0" y="0"/>
                </a:moveTo>
                <a:lnTo>
                  <a:pt x="88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5F56D1C2-034C-46C6-A21D-E621E96A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75038" y="2036763"/>
            <a:ext cx="9525" cy="77788"/>
          </a:xfrm>
          <a:custGeom xmlns:a="http://schemas.openxmlformats.org/drawingml/2006/main">
            <a:rect l="l" t="t" r="r" b="b"/>
            <a:pathLst>
              <a:path w="9525" h="77788">
                <a:moveTo>
                  <a:pt x="0" y="0"/>
                </a:moveTo>
                <a:lnTo>
                  <a:pt x="0" y="777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D51D1DBE-36AB-4110-AE06-0CACE1DD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46373" y="2005489"/>
            <a:ext cx="1364623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2025 下半年明细</a:t>
            </a:r>
          </a:p>
        </p:txBody>
      </p:sp>
      <p:sp>
        <p:nvSpPr>
          <p:cNvPr id="26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C51C7A9D-40A3-437F-89A0-1536D59D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29300" y="1714500"/>
            <a:ext cx="24765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A7FE4D33-4B2B-4CFA-9C22-41A804DF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5375" y="1947863"/>
            <a:ext cx="55563" cy="55563"/>
          </a:xfrm>
          <a:custGeom xmlns:a="http://schemas.openxmlformats.org/drawingml/2006/main">
            <a:rect l="l" t="t" r="r" b="b"/>
            <a:pathLst>
              <a:path w="55563" h="55563">
                <a:moveTo>
                  <a:pt x="0" y="0"/>
                </a:moveTo>
                <a:lnTo>
                  <a:pt x="0" y="44450"/>
                </a:lnTo>
                <a:cubicBezTo>
                  <a:pt x="0" y="50587"/>
                  <a:pt x="4975" y="55563"/>
                  <a:pt x="11113" y="55563"/>
                </a:cubicBezTo>
                <a:lnTo>
                  <a:pt x="55563" y="5556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93F37860-8984-4A21-8A48-F3C7FCF3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75363" y="1947863"/>
            <a:ext cx="155575" cy="200026"/>
          </a:xfrm>
          <a:custGeom xmlns:a="http://schemas.openxmlformats.org/drawingml/2006/main">
            <a:rect l="l" t="t" r="r" b="b"/>
            <a:pathLst>
              <a:path w="155575" h="200026">
                <a:moveTo>
                  <a:pt x="133350" y="200026"/>
                </a:moveTo>
                <a:lnTo>
                  <a:pt x="22225" y="200026"/>
                </a:lnTo>
                <a:cubicBezTo>
                  <a:pt x="9950" y="200026"/>
                  <a:pt x="0" y="190075"/>
                  <a:pt x="0" y="177801"/>
                </a:cubicBezTo>
                <a:lnTo>
                  <a:pt x="0" y="22225"/>
                </a:lnTo>
                <a:cubicBezTo>
                  <a:pt x="0" y="9950"/>
                  <a:pt x="9950" y="0"/>
                  <a:pt x="22225" y="0"/>
                </a:cubicBezTo>
                <a:lnTo>
                  <a:pt x="100013" y="0"/>
                </a:lnTo>
                <a:lnTo>
                  <a:pt x="155575" y="55563"/>
                </a:lnTo>
                <a:lnTo>
                  <a:pt x="155575" y="177801"/>
                </a:lnTo>
                <a:cubicBezTo>
                  <a:pt x="155575" y="190075"/>
                  <a:pt x="145625" y="200026"/>
                  <a:pt x="133350" y="2000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3F0C1F98-9BCB-4865-9A81-A4DF309A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08700" y="2036763"/>
            <a:ext cx="88900" cy="77788"/>
          </a:xfrm>
          <a:custGeom xmlns:a="http://schemas.openxmlformats.org/drawingml/2006/main">
            <a:rect l="l" t="t" r="r" b="b"/>
            <a:pathLst>
              <a:path w="88900" h="77788">
                <a:moveTo>
                  <a:pt x="0" y="0"/>
                </a:moveTo>
                <a:lnTo>
                  <a:pt x="88900" y="0"/>
                </a:lnTo>
                <a:lnTo>
                  <a:pt x="88900" y="77788"/>
                </a:lnTo>
                <a:lnTo>
                  <a:pt x="0" y="7778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F3BF8B4C-EF55-4A6D-98E3-ECA8F273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08700" y="2081213"/>
            <a:ext cx="88900" cy="9525"/>
          </a:xfrm>
          <a:custGeom xmlns:a="http://schemas.openxmlformats.org/drawingml/2006/main">
            <a:rect l="l" t="t" r="r" b="b"/>
            <a:pathLst>
              <a:path w="88900" h="9525">
                <a:moveTo>
                  <a:pt x="0" y="0"/>
                </a:moveTo>
                <a:lnTo>
                  <a:pt x="88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514285D-4CFA-4D1D-A52F-EDF1982C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42038" y="2036763"/>
            <a:ext cx="9525" cy="77788"/>
          </a:xfrm>
          <a:custGeom xmlns:a="http://schemas.openxmlformats.org/drawingml/2006/main">
            <a:rect l="l" t="t" r="r" b="b"/>
            <a:pathLst>
              <a:path w="9525" h="77788">
                <a:moveTo>
                  <a:pt x="0" y="0"/>
                </a:moveTo>
                <a:lnTo>
                  <a:pt x="0" y="777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A6BA4F9E-D3C5-4613-B3F8-AA0B0411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13373" y="2005489"/>
            <a:ext cx="118440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2026 期初明细</a:t>
            </a:r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F16BCAE2-C227-4F94-8818-2E93BB52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96300" y="2066925"/>
            <a:ext cx="2819400" cy="9525"/>
          </a:xfrm>
          <a:custGeom xmlns:a="http://schemas.openxmlformats.org/drawingml/2006/main">
            <a:rect l="l" t="t" r="r" b="b"/>
            <a:pathLst>
              <a:path w="2819400" h="9525">
                <a:moveTo>
                  <a:pt x="0" y="0"/>
                </a:moveTo>
                <a:lnTo>
                  <a:pt x="2819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38100">
            <a:solidFill>
              <a:srgbClr val="1769E0"/>
            </a:solidFill>
          </a:ln>
        </p:spPr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6FF406DC-02A9-4717-A298-4C295CD0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25200" y="1952625"/>
            <a:ext cx="190500" cy="228600"/>
          </a:xfrm>
          <a:custGeom xmlns:a="http://schemas.openxmlformats.org/drawingml/2006/main">
            <a:rect l="l" t="t" r="r" b="b"/>
            <a:pathLst>
              <a:path w="190500" h="228600">
                <a:moveTo>
                  <a:pt x="190500" y="114300"/>
                </a:move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CC956E41-1BB6-4D4E-8594-B27C9C7E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08299" y="1786414"/>
            <a:ext cx="199540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按不同目的生成三份成果</a:t>
            </a:r>
          </a:p>
        </p:txBody>
      </p:sp>
      <p:sp>
        <p:nvSpPr>
          <p:cNvPr id="38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B5A1585C-C68B-4B42-8C3D-AD3D4C97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2895600"/>
            <a:ext cx="3429000" cy="2209800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52462D6E-5F3B-41EE-A0B1-E1D09629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1700" y="3162300"/>
            <a:ext cx="63500" cy="63500"/>
          </a:xfrm>
          <a:custGeom xmlns:a="http://schemas.openxmlformats.org/drawingml/2006/main">
            <a:rect l="l" t="t" r="r" b="b"/>
            <a:pathLst>
              <a:path w="63500" h="63500">
                <a:moveTo>
                  <a:pt x="0" y="0"/>
                </a:moveTo>
                <a:lnTo>
                  <a:pt x="0" y="50800"/>
                </a:lnTo>
                <a:cubicBezTo>
                  <a:pt x="0" y="57814"/>
                  <a:pt x="5686" y="63500"/>
                  <a:pt x="12700" y="63500"/>
                </a:cubicBezTo>
                <a:lnTo>
                  <a:pt x="63500" y="63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496C12AF-E9AD-4B5A-B365-ED05FD2E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400" y="3162300"/>
            <a:ext cx="177800" cy="228599"/>
          </a:xfrm>
          <a:custGeom xmlns:a="http://schemas.openxmlformats.org/drawingml/2006/main">
            <a:rect l="l" t="t" r="r" b="b"/>
            <a:pathLst>
              <a:path w="177800" h="228599">
                <a:moveTo>
                  <a:pt x="152400" y="228599"/>
                </a:moveTo>
                <a:lnTo>
                  <a:pt x="25400" y="228599"/>
                </a:lnTo>
                <a:cubicBezTo>
                  <a:pt x="11372" y="228599"/>
                  <a:pt x="0" y="217227"/>
                  <a:pt x="0" y="203199"/>
                </a:cubicBezTo>
                <a:lnTo>
                  <a:pt x="0" y="25400"/>
                </a:lnTo>
                <a:cubicBezTo>
                  <a:pt x="0" y="11372"/>
                  <a:pt x="11372" y="0"/>
                  <a:pt x="25400" y="0"/>
                </a:cubicBezTo>
                <a:lnTo>
                  <a:pt x="114300" y="0"/>
                </a:lnTo>
                <a:lnTo>
                  <a:pt x="177800" y="63500"/>
                </a:lnTo>
                <a:lnTo>
                  <a:pt x="177800" y="203199"/>
                </a:lnTo>
                <a:cubicBezTo>
                  <a:pt x="177800" y="217227"/>
                  <a:pt x="166428" y="228599"/>
                  <a:pt x="152400" y="22859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947EE660-343B-4E7C-997A-F4C93B1E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5500" y="3263900"/>
            <a:ext cx="101600" cy="88900"/>
          </a:xfrm>
          <a:custGeom xmlns:a="http://schemas.openxmlformats.org/drawingml/2006/main">
            <a:rect l="l" t="t" r="r" b="b"/>
            <a:pathLst>
              <a:path w="101600" h="88900">
                <a:moveTo>
                  <a:pt x="0" y="0"/>
                </a:moveTo>
                <a:lnTo>
                  <a:pt x="101600" y="0"/>
                </a:lnTo>
                <a:lnTo>
                  <a:pt x="101600" y="88900"/>
                </a:lnTo>
                <a:lnTo>
                  <a:pt x="0" y="889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4C289039-9130-48C2-B51F-CB070F36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5500" y="3314700"/>
            <a:ext cx="101600" cy="9525"/>
          </a:xfrm>
          <a:custGeom xmlns:a="http://schemas.openxmlformats.org/drawingml/2006/main">
            <a:rect l="l" t="t" r="r" b="b"/>
            <a:pathLst>
              <a:path w="101600" h="9525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A6391D99-5FE4-44C4-89F0-BB094E1B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600" y="3263900"/>
            <a:ext cx="9525" cy="88900"/>
          </a:xfrm>
          <a:custGeom xmlns:a="http://schemas.openxmlformats.org/drawingml/2006/main">
            <a:rect l="l" t="t" r="r" b="b"/>
            <a:pathLst>
              <a:path w="952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36FEB08B-1731-41BC-8B26-7B14FE20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0432" y="3145155"/>
            <a:ext cx="1861726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未付统计.csv</a:t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EA9170B7-8FEC-4938-81C8-4F37B9FB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423" y="3672364"/>
            <a:ext cx="135175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只看最新 2026 期</a:t>
            </a:r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FC01BFB4-951F-467C-9F8C-04D3E08E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423" y="3977164"/>
            <a:ext cx="172935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提取正数贷方期末余额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FB64E78-E614-4492-A9C2-76E8897B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374" y="4294822"/>
            <a:ext cx="571479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31</a:t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51153221-0066-4903-B1A9-5C4F5C6F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023" y="4529614"/>
            <a:ext cx="141182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条 · 当前固定来源</a:t>
            </a:r>
          </a:p>
        </p:txBody>
      </p:sp>
      <p:sp>
        <p:nvSpPr>
          <p:cNvPr id="50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26E52ED3-CDBE-4BB0-A380-4325DA96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52900" y="2895600"/>
            <a:ext cx="3429000" cy="2209800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2A8F9376-40F7-4A09-BB10-82E4F08B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9300" y="3162300"/>
            <a:ext cx="63500" cy="63500"/>
          </a:xfrm>
          <a:custGeom xmlns:a="http://schemas.openxmlformats.org/drawingml/2006/main">
            <a:rect l="l" t="t" r="r" b="b"/>
            <a:pathLst>
              <a:path w="63500" h="63500">
                <a:moveTo>
                  <a:pt x="0" y="0"/>
                </a:moveTo>
                <a:lnTo>
                  <a:pt x="0" y="50800"/>
                </a:lnTo>
                <a:cubicBezTo>
                  <a:pt x="0" y="57814"/>
                  <a:pt x="5686" y="63500"/>
                  <a:pt x="12700" y="63500"/>
                </a:cubicBezTo>
                <a:lnTo>
                  <a:pt x="63500" y="63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52" name="Freeform 52">
            <a:extLst xmlns:a="http://schemas.openxmlformats.org/drawingml/2006/main">
              <a:ext uri="{FF2B5EF4-FFF2-40B4-BE49-F238E27FC236}">
                <a16:creationId xmlns:a16="http://schemas.microsoft.com/office/drawing/2014/main" id="{C1296A1A-14EE-4AEE-9989-EAAF199A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5000" y="3162300"/>
            <a:ext cx="177800" cy="228599"/>
          </a:xfrm>
          <a:custGeom xmlns:a="http://schemas.openxmlformats.org/drawingml/2006/main">
            <a:rect l="l" t="t" r="r" b="b"/>
            <a:pathLst>
              <a:path w="177800" h="228599">
                <a:moveTo>
                  <a:pt x="152400" y="228599"/>
                </a:moveTo>
                <a:lnTo>
                  <a:pt x="25400" y="228599"/>
                </a:lnTo>
                <a:cubicBezTo>
                  <a:pt x="11372" y="228599"/>
                  <a:pt x="0" y="217227"/>
                  <a:pt x="0" y="203199"/>
                </a:cubicBezTo>
                <a:lnTo>
                  <a:pt x="0" y="25400"/>
                </a:lnTo>
                <a:cubicBezTo>
                  <a:pt x="0" y="11372"/>
                  <a:pt x="11372" y="0"/>
                  <a:pt x="25400" y="0"/>
                </a:cubicBezTo>
                <a:lnTo>
                  <a:pt x="114300" y="0"/>
                </a:lnTo>
                <a:lnTo>
                  <a:pt x="177800" y="63500"/>
                </a:lnTo>
                <a:lnTo>
                  <a:pt x="177800" y="203199"/>
                </a:lnTo>
                <a:cubicBezTo>
                  <a:pt x="177800" y="217227"/>
                  <a:pt x="166428" y="228599"/>
                  <a:pt x="152400" y="22859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53" name="Freeform 53">
            <a:extLst xmlns:a="http://schemas.openxmlformats.org/drawingml/2006/main">
              <a:ext uri="{FF2B5EF4-FFF2-40B4-BE49-F238E27FC236}">
                <a16:creationId xmlns:a16="http://schemas.microsoft.com/office/drawing/2014/main" id="{2436B3E8-5C2D-4466-9282-3596C39F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3100" y="3263900"/>
            <a:ext cx="101600" cy="88900"/>
          </a:xfrm>
          <a:custGeom xmlns:a="http://schemas.openxmlformats.org/drawingml/2006/main">
            <a:rect l="l" t="t" r="r" b="b"/>
            <a:pathLst>
              <a:path w="101600" h="88900">
                <a:moveTo>
                  <a:pt x="0" y="0"/>
                </a:moveTo>
                <a:lnTo>
                  <a:pt x="101600" y="0"/>
                </a:lnTo>
                <a:lnTo>
                  <a:pt x="101600" y="88900"/>
                </a:lnTo>
                <a:lnTo>
                  <a:pt x="0" y="889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54" name="Freeform 54">
            <a:extLst xmlns:a="http://schemas.openxmlformats.org/drawingml/2006/main">
              <a:ext uri="{FF2B5EF4-FFF2-40B4-BE49-F238E27FC236}">
                <a16:creationId xmlns:a16="http://schemas.microsoft.com/office/drawing/2014/main" id="{F29A8D71-1045-47F8-AFFC-75AD8364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3100" y="3314700"/>
            <a:ext cx="101600" cy="9525"/>
          </a:xfrm>
          <a:custGeom xmlns:a="http://schemas.openxmlformats.org/drawingml/2006/main">
            <a:rect l="l" t="t" r="r" b="b"/>
            <a:pathLst>
              <a:path w="101600" h="9525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55" name="Freeform 55">
            <a:extLst xmlns:a="http://schemas.openxmlformats.org/drawingml/2006/main">
              <a:ext uri="{FF2B5EF4-FFF2-40B4-BE49-F238E27FC236}">
                <a16:creationId xmlns:a16="http://schemas.microsoft.com/office/drawing/2014/main" id="{9273484A-26B3-4BAA-A29E-42ECD460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21200" y="3263900"/>
            <a:ext cx="9525" cy="88900"/>
          </a:xfrm>
          <a:custGeom xmlns:a="http://schemas.openxmlformats.org/drawingml/2006/main">
            <a:rect l="l" t="t" r="r" b="b"/>
            <a:pathLst>
              <a:path w="952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ED05AA47-2BAB-41AC-84FA-D0E5B8ED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8032" y="3145155"/>
            <a:ext cx="1861726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未收统计.csv</a:t>
            </a:r>
          </a:p>
        </p:txBody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1CBD9E75-03C6-4B4F-A217-CB525A43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5023" y="3672364"/>
            <a:ext cx="135175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只看最新 2026 期</a:t>
            </a:r>
          </a:p>
        </p:txBody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070DF430-AD3E-4524-8276-5B1C8821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5023" y="3977164"/>
            <a:ext cx="172935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提取正数借方期末余额</a:t>
            </a:r>
          </a:p>
        </p:txBody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D6B53576-6582-4B5F-8DD6-F13B0B1F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63974" y="4294822"/>
            <a:ext cx="303266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2</a:t>
            </a:r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2667AF15-02AA-49A5-9787-0AE8F11E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4123" y="4529614"/>
            <a:ext cx="141182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条 · 当前固定来源</a:t>
            </a:r>
          </a:p>
        </p:txBody>
      </p:sp>
      <p:sp>
        <p:nvSpPr>
          <p:cNvPr id="62" name="Rectangle 62">
            <a:extLst xmlns:a="http://schemas.openxmlformats.org/drawingml/2006/main">
              <a:ext uri="{FF2B5EF4-FFF2-40B4-BE49-F238E27FC236}">
                <a16:creationId xmlns:a16="http://schemas.microsoft.com/office/drawing/2014/main" id="{D7F5FB3C-19C5-4493-B553-3C16A4C4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0" y="2895600"/>
            <a:ext cx="3886200" cy="2209800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63" name="Freeform 63">
            <a:extLst xmlns:a="http://schemas.openxmlformats.org/drawingml/2006/main">
              <a:ext uri="{FF2B5EF4-FFF2-40B4-BE49-F238E27FC236}">
                <a16:creationId xmlns:a16="http://schemas.microsoft.com/office/drawing/2014/main" id="{9119FEA8-8950-4CCC-9E75-03ED33CC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16900" y="3162300"/>
            <a:ext cx="63500" cy="63500"/>
          </a:xfrm>
          <a:custGeom xmlns:a="http://schemas.openxmlformats.org/drawingml/2006/main">
            <a:rect l="l" t="t" r="r" b="b"/>
            <a:pathLst>
              <a:path w="63500" h="63500">
                <a:moveTo>
                  <a:pt x="0" y="0"/>
                </a:moveTo>
                <a:lnTo>
                  <a:pt x="0" y="50800"/>
                </a:lnTo>
                <a:cubicBezTo>
                  <a:pt x="0" y="57814"/>
                  <a:pt x="5686" y="63500"/>
                  <a:pt x="12700" y="63500"/>
                </a:cubicBezTo>
                <a:lnTo>
                  <a:pt x="63500" y="63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64" name="Freeform 64">
            <a:extLst xmlns:a="http://schemas.openxmlformats.org/drawingml/2006/main">
              <a:ext uri="{FF2B5EF4-FFF2-40B4-BE49-F238E27FC236}">
                <a16:creationId xmlns:a16="http://schemas.microsoft.com/office/drawing/2014/main" id="{37F8EB86-E352-4A4A-B578-9200674D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02600" y="3162300"/>
            <a:ext cx="177800" cy="228599"/>
          </a:xfrm>
          <a:custGeom xmlns:a="http://schemas.openxmlformats.org/drawingml/2006/main">
            <a:rect l="l" t="t" r="r" b="b"/>
            <a:pathLst>
              <a:path w="177800" h="228599">
                <a:moveTo>
                  <a:pt x="152400" y="228599"/>
                </a:moveTo>
                <a:lnTo>
                  <a:pt x="25400" y="228599"/>
                </a:lnTo>
                <a:cubicBezTo>
                  <a:pt x="11372" y="228599"/>
                  <a:pt x="0" y="217227"/>
                  <a:pt x="0" y="203199"/>
                </a:cubicBezTo>
                <a:lnTo>
                  <a:pt x="0" y="25400"/>
                </a:lnTo>
                <a:cubicBezTo>
                  <a:pt x="0" y="11372"/>
                  <a:pt x="11372" y="0"/>
                  <a:pt x="25400" y="0"/>
                </a:cubicBezTo>
                <a:lnTo>
                  <a:pt x="114300" y="0"/>
                </a:lnTo>
                <a:lnTo>
                  <a:pt x="177800" y="63500"/>
                </a:lnTo>
                <a:lnTo>
                  <a:pt x="177800" y="203199"/>
                </a:lnTo>
                <a:cubicBezTo>
                  <a:pt x="177800" y="217227"/>
                  <a:pt x="166428" y="228599"/>
                  <a:pt x="152400" y="22859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65" name="Freeform 65">
            <a:extLst xmlns:a="http://schemas.openxmlformats.org/drawingml/2006/main">
              <a:ext uri="{FF2B5EF4-FFF2-40B4-BE49-F238E27FC236}">
                <a16:creationId xmlns:a16="http://schemas.microsoft.com/office/drawing/2014/main" id="{91F2245C-0F3B-478B-8BB3-A3D796E0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53400" y="3238500"/>
            <a:ext cx="12700" cy="9525"/>
          </a:xfrm>
          <a:custGeom xmlns:a="http://schemas.openxmlformats.org/drawingml/2006/main">
            <a:rect l="l" t="t" r="r" b="b"/>
            <a:pathLst>
              <a:path w="12700" h="9525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66" name="Freeform 66">
            <a:extLst xmlns:a="http://schemas.openxmlformats.org/drawingml/2006/main">
              <a:ext uri="{FF2B5EF4-FFF2-40B4-BE49-F238E27FC236}">
                <a16:creationId xmlns:a16="http://schemas.microsoft.com/office/drawing/2014/main" id="{73E9629C-421C-4970-973C-69573FE5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53400" y="3289300"/>
            <a:ext cx="76200" cy="9525"/>
          </a:xfrm>
          <a:custGeom xmlns:a="http://schemas.openxmlformats.org/drawingml/2006/main">
            <a:rect l="l" t="t" r="r" b="b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67" name="Freeform 67">
            <a:extLst xmlns:a="http://schemas.openxmlformats.org/drawingml/2006/main">
              <a:ext uri="{FF2B5EF4-FFF2-40B4-BE49-F238E27FC236}">
                <a16:creationId xmlns:a16="http://schemas.microsoft.com/office/drawing/2014/main" id="{EE12D068-4256-4BD2-A6AE-2CAFD9EF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53400" y="3340099"/>
            <a:ext cx="76200" cy="9525"/>
          </a:xfrm>
          <a:custGeom xmlns:a="http://schemas.openxmlformats.org/drawingml/2006/main">
            <a:rect l="l" t="t" r="r" b="b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69" name="TextBox 69">
            <a:extLst xmlns:a="http://schemas.openxmlformats.org/drawingml/2006/main">
              <a:ext uri="{FF2B5EF4-FFF2-40B4-BE49-F238E27FC236}">
                <a16:creationId xmlns:a16="http://schemas.microsoft.com/office/drawing/2014/main" id="{BD7D821C-B52F-4C4E-A3E3-B62438C8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85632" y="3145155"/>
            <a:ext cx="2351507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跨期核对说明.md</a:t>
            </a:r>
          </a:p>
        </p:txBody>
      </p:sp>
      <p:sp>
        <p:nvSpPr>
          <p:cNvPr id="70" name="TextBox 70">
            <a:extLst xmlns:a="http://schemas.openxmlformats.org/drawingml/2006/main">
              <a:ext uri="{FF2B5EF4-FFF2-40B4-BE49-F238E27FC236}">
                <a16:creationId xmlns:a16="http://schemas.microsoft.com/office/drawing/2014/main" id="{BC2FE715-BCAD-4DA5-94E0-D9A9B6CB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32623" y="3672364"/>
            <a:ext cx="190100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这份文件才比较三个期间</a:t>
            </a:r>
          </a:p>
        </p:txBody>
      </p:sp>
      <p:sp>
        <p:nvSpPr>
          <p:cNvPr id="71" name="TextBox 71">
            <a:extLst xmlns:a="http://schemas.openxmlformats.org/drawingml/2006/main">
              <a:ext uri="{FF2B5EF4-FFF2-40B4-BE49-F238E27FC236}">
                <a16:creationId xmlns:a16="http://schemas.microsoft.com/office/drawing/2014/main" id="{69DB81A7-620E-40AB-A3DE-DB3E2782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32623" y="3977164"/>
            <a:ext cx="312822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同一科目 + 客商的借方余额是否连续不变</a:t>
            </a:r>
          </a:p>
        </p:txBody>
      </p:sp>
      <p:sp>
        <p:nvSpPr>
          <p:cNvPr id="72" name="TextBox 72">
            <a:extLst xmlns:a="http://schemas.openxmlformats.org/drawingml/2006/main">
              <a:ext uri="{FF2B5EF4-FFF2-40B4-BE49-F238E27FC236}">
                <a16:creationId xmlns:a16="http://schemas.microsoft.com/office/drawing/2014/main" id="{984582AE-D1B4-4783-883E-5C34935E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21574" y="4294822"/>
            <a:ext cx="303266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D97706"/>
                </a:solidFill>
                <a:latin typeface="Segoe UI Semibold"/>
                <a:ea typeface="Segoe UI Semibold"/>
                <a:cs typeface="Segoe UI Semibold"/>
              </a:rPr>
              <a:t>0</a:t>
            </a:r>
          </a:p>
        </p:txBody>
      </p:sp>
      <p:sp>
        <p:nvSpPr>
          <p:cNvPr id="73" name="TextBox 73">
            <a:extLst xmlns:a="http://schemas.openxmlformats.org/drawingml/2006/main">
              <a:ext uri="{FF2B5EF4-FFF2-40B4-BE49-F238E27FC236}">
                <a16:creationId xmlns:a16="http://schemas.microsoft.com/office/drawing/2014/main" id="{07C036C1-2D9E-4B67-91AB-C11BD222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51723" y="4529614"/>
            <a:ext cx="209838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条风险候选 · 仍需财务复核</a:t>
            </a:r>
          </a:p>
        </p:txBody>
      </p:sp>
      <p:sp>
        <p:nvSpPr>
          <p:cNvPr id="75" name="Rectangle 75">
            <a:extLst xmlns:a="http://schemas.openxmlformats.org/drawingml/2006/main">
              <a:ext uri="{FF2B5EF4-FFF2-40B4-BE49-F238E27FC236}">
                <a16:creationId xmlns:a16="http://schemas.microsoft.com/office/drawing/2014/main" id="{97A287F4-F336-45AB-A5B7-C011CB22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5429250"/>
            <a:ext cx="112014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>
            <a:noFill/>
          </a:ln>
        </p:spPr>
      </p:sp>
      <p:sp>
        <p:nvSpPr>
          <p:cNvPr id="76" name="TextBox 76">
            <a:extLst xmlns:a="http://schemas.openxmlformats.org/drawingml/2006/main">
              <a:ext uri="{FF2B5EF4-FFF2-40B4-BE49-F238E27FC236}">
                <a16:creationId xmlns:a16="http://schemas.microsoft.com/office/drawing/2014/main" id="{DC649D1B-DE82-4ED6-8974-F45A64D0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4756" y="5520690"/>
            <a:ext cx="411464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前台必须先解释“每份成果代表什么”</a:t>
            </a:r>
          </a:p>
        </p:txBody>
      </p:sp>
      <p:sp>
        <p:nvSpPr>
          <p:cNvPr id="77" name="TextBox 77">
            <a:extLst xmlns:a="http://schemas.openxmlformats.org/drawingml/2006/main">
              <a:ext uri="{FF2B5EF4-FFF2-40B4-BE49-F238E27FC236}">
                <a16:creationId xmlns:a16="http://schemas.microsoft.com/office/drawing/2014/main" id="{21CD101F-A67C-4791-9069-B2D70D6E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423" y="5844064"/>
            <a:ext cx="670693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统计完成不等于僵尸账款定论；系统未付款、未核销、未记账，也不替代会计政策判断。</a:t>
            </a:r>
          </a:p>
        </p:txBody>
      </p:sp>
      <p:sp>
        <p:nvSpPr>
          <p:cNvPr id="80" name="TextBox 80">
            <a:extLst xmlns:a="http://schemas.openxmlformats.org/drawingml/2006/main">
              <a:ext uri="{FF2B5EF4-FFF2-40B4-BE49-F238E27FC236}">
                <a16:creationId xmlns:a16="http://schemas.microsoft.com/office/drawing/2014/main" id="{139B312A-8D63-44CA-A97A-5B85D646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12 / 24</a:t>
            </a:r>
          </a:p>
        </p:txBody>
      </p:sp>
    </p:spTree>
    <p:extLst>
      <p:ext uri="{BB962C8B-B14F-4D97-AF65-F5344CB8AC3E}">
        <p14:creationId xmlns:p14="http://schemas.microsoft.com/office/powerpoint/2010/main" val="128884348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877166F-B567-4889-A6D5-D1E5749F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F23FBBB7-E990-411E-872F-6E48BCE5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B5B9E757-23F6-4A9D-8B88-4B8662C9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10159997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TC-06 / TC-07：高影响判断必须保留人工门</a:t>
            </a:r>
          </a:p>
        </p:txBody>
      </p:sp>
      <p:sp>
        <p:nvSpPr>
          <p:cNvPr id="9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D8CEEBF-4382-49C8-A76F-B61E6B78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390650"/>
            <a:ext cx="5334000" cy="4267200"/>
          </a:xfrm>
          <a:prstGeom xmlns:a="http://schemas.openxmlformats.org/drawingml/2006/main" prst="roundRect">
            <a:avLst>
              <a:gd name="adj" fmla="val 1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ADE2168E-10B3-44BA-A5B1-13A1BE19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9950" y="1697831"/>
            <a:ext cx="107950" cy="107950"/>
          </a:xfrm>
          <a:custGeom xmlns:a="http://schemas.openxmlformats.org/drawingml/2006/main">
            <a:rect l="l" t="t" r="r" b="b"/>
            <a:pathLst>
              <a:path w="107950" h="107950">
                <a:moveTo>
                  <a:pt x="0" y="53975"/>
                </a:moveTo>
                <a:cubicBezTo>
                  <a:pt x="0" y="83785"/>
                  <a:pt x="24165" y="107950"/>
                  <a:pt x="53975" y="107950"/>
                </a:cubicBezTo>
                <a:cubicBezTo>
                  <a:pt x="83785" y="107950"/>
                  <a:pt x="107950" y="83785"/>
                  <a:pt x="107950" y="53975"/>
                </a:cubicBezTo>
                <a:cubicBezTo>
                  <a:pt x="107950" y="24165"/>
                  <a:pt x="83785" y="0"/>
                  <a:pt x="53975" y="0"/>
                </a:cubicBezTo>
                <a:cubicBezTo>
                  <a:pt x="24165" y="0"/>
                  <a:pt x="0" y="24165"/>
                  <a:pt x="0" y="539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1186ADB7-14F5-4F79-8CD0-235ABE29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2963" y="1859757"/>
            <a:ext cx="107950" cy="80963"/>
          </a:xfrm>
          <a:custGeom xmlns:a="http://schemas.openxmlformats.org/drawingml/2006/main">
            <a:rect l="l" t="t" r="r" b="b"/>
            <a:pathLst>
              <a:path w="107950" h="80963">
                <a:moveTo>
                  <a:pt x="0" y="80963"/>
                </a:moveTo>
                <a:lnTo>
                  <a:pt x="0" y="53975"/>
                </a:lnTo>
                <a:cubicBezTo>
                  <a:pt x="0" y="24165"/>
                  <a:pt x="24165" y="0"/>
                  <a:pt x="53975" y="0"/>
                </a:cubicBezTo>
                <a:lnTo>
                  <a:pt x="107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4C5218AF-79BB-473D-A466-40EF9F94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407" y="1886744"/>
            <a:ext cx="80963" cy="53975"/>
          </a:xfrm>
          <a:custGeom xmlns:a="http://schemas.openxmlformats.org/drawingml/2006/main">
            <a:rect l="l" t="t" r="r" b="b"/>
            <a:pathLst>
              <a:path w="80963" h="53975">
                <a:moveTo>
                  <a:pt x="0" y="26988"/>
                </a:moveTo>
                <a:lnTo>
                  <a:pt x="26988" y="53975"/>
                </a:lnTo>
                <a:lnTo>
                  <a:pt x="809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6A4E8C68-4D24-4B05-A261-7D557BAD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7582" y="1678305"/>
            <a:ext cx="3440003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TC-06 · 双岗位招聘筛选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DFEBD7BC-A1E9-4667-BE07-7B329CCF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2000" y="2152650"/>
            <a:ext cx="4800600" cy="9525"/>
          </a:xfrm>
          <a:custGeom xmlns:a="http://schemas.openxmlformats.org/drawingml/2006/main">
            <a:rect l="l" t="t" r="r" b="b"/>
            <a:pathLst>
              <a:path w="4800600" h="9525">
                <a:moveTo>
                  <a:pt x="0" y="0"/>
                </a:moveTo>
                <a:lnTo>
                  <a:pt x="48006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E3E8ED"/>
            </a:solidFill>
          </a:ln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CED8F2CF-D7EA-45C7-9A06-E1E1C098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5523" y="2338864"/>
            <a:ext cx="3733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触发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4FC080A2-D009-47A6-BF31-28FEB22A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6073" y="2338864"/>
            <a:ext cx="283304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两份 JD + 五份简历，形成候选建议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D1394BF9-3D2C-4206-95E1-2B1B25FF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5523" y="3138964"/>
            <a:ext cx="3733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2E7D32"/>
                </a:solidFill>
                <a:latin typeface="Segoe UI Semibold"/>
                <a:ea typeface="Segoe UI Semibold"/>
                <a:cs typeface="Segoe UI Semibold"/>
              </a:rPr>
              <a:t>输出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6903A25F-3C60-4700-8A7C-9727F6B1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6073" y="3138964"/>
            <a:ext cx="3102483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候选顺序、支持证据、缺失信息、复核项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D9B2E70D-9241-49AF-A3E6-E62644E9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5523" y="3939064"/>
            <a:ext cx="73384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用户动作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8BE0481A-3CE5-4A25-9063-953C9E1C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0873" y="3939064"/>
            <a:ext cx="241592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回开依据，确认或改写筛选规则</a:t>
            </a:r>
          </a:p>
        </p:txBody>
      </p:sp>
      <p:sp>
        <p:nvSpPr>
          <p:cNvPr id="26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C1A14891-DE6F-4DC5-8334-F3349FF9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2000" y="4419600"/>
            <a:ext cx="48006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>
            <a:noFill/>
          </a:ln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AE4862CD-A71B-4C6F-97D3-B287EEBC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6023" y="4586764"/>
            <a:ext cx="109428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前台必须明确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B6FC87FB-B9CA-4DE3-8ADD-810C64AA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6023" y="4910614"/>
            <a:ext cx="439836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这是建议，不是录用/淘汰；不隐藏不确定性与隐私边界。</a:t>
            </a:r>
          </a:p>
        </p:txBody>
      </p:sp>
      <p:sp>
        <p:nvSpPr>
          <p:cNvPr id="30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1C0D0E43-19B1-4415-BC8B-D7C00E6D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0" y="1390650"/>
            <a:ext cx="5600700" cy="4267200"/>
          </a:xfrm>
          <a:prstGeom xmlns:a="http://schemas.openxmlformats.org/drawingml/2006/main" prst="roundRect">
            <a:avLst>
              <a:gd name="adj" fmla="val 1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62E4D955-6EC8-4A47-A408-C3CFFC0D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84971" y="1697831"/>
            <a:ext cx="263510" cy="240810"/>
          </a:xfrm>
          <a:custGeom xmlns:a="http://schemas.openxmlformats.org/drawingml/2006/main">
            <a:rect l="l" t="t" r="r" b="b"/>
            <a:pathLst>
              <a:path w="263510" h="240810">
                <a:moveTo>
                  <a:pt x="132368" y="240810"/>
                </a:moveTo>
                <a:cubicBezTo>
                  <a:pt x="47836" y="214607"/>
                  <a:pt x="0" y="125390"/>
                  <a:pt x="24957" y="40481"/>
                </a:cubicBezTo>
                <a:cubicBezTo>
                  <a:pt x="66998" y="42405"/>
                  <a:pt x="108135" y="27886"/>
                  <a:pt x="139655" y="0"/>
                </a:cubicBezTo>
                <a:cubicBezTo>
                  <a:pt x="171174" y="27886"/>
                  <a:pt x="212311" y="42405"/>
                  <a:pt x="254352" y="40481"/>
                </a:cubicBezTo>
                <a:cubicBezTo>
                  <a:pt x="263510" y="71640"/>
                  <a:pt x="263086" y="104832"/>
                  <a:pt x="253137" y="13574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57E770E3-0568-41A7-A8D2-1D120827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65107" y="1886744"/>
            <a:ext cx="80963" cy="53975"/>
          </a:xfrm>
          <a:custGeom xmlns:a="http://schemas.openxmlformats.org/drawingml/2006/main">
            <a:rect l="l" t="t" r="r" b="b"/>
            <a:pathLst>
              <a:path w="80963" h="53975">
                <a:moveTo>
                  <a:pt x="0" y="26988"/>
                </a:moveTo>
                <a:lnTo>
                  <a:pt x="26988" y="53975"/>
                </a:lnTo>
                <a:lnTo>
                  <a:pt x="809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4B5FFAC-6885-4B25-9B40-CBCD2F3E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28282" y="1678305"/>
            <a:ext cx="3126364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TC-07 · 授权文件风控</a:t>
            </a:r>
          </a:p>
        </p:txBody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954EB359-A351-4052-9BE3-CCC508AE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62700" y="2152650"/>
            <a:ext cx="5067300" cy="9525"/>
          </a:xfrm>
          <a:custGeom xmlns:a="http://schemas.openxmlformats.org/drawingml/2006/main">
            <a:rect l="l" t="t" r="r" b="b"/>
            <a:pathLst>
              <a:path w="5067300" h="9525">
                <a:moveTo>
                  <a:pt x="0" y="0"/>
                </a:moveTo>
                <a:lnTo>
                  <a:pt x="50673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E3E8ED"/>
            </a:solidFill>
          </a:ln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2AA35B36-A244-423B-B2EC-64815A59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56223" y="2338864"/>
            <a:ext cx="3733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D97706"/>
                </a:solidFill>
                <a:latin typeface="Segoe UI Semibold"/>
                <a:ea typeface="Segoe UI Semibold"/>
                <a:cs typeface="Segoe UI Semibold"/>
              </a:rPr>
              <a:t>触发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B11F8942-071E-4593-AC10-5E1CEAC4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46773" y="2338864"/>
            <a:ext cx="275920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六份授权文件，核对授权范围与风险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B112E89A-B8D1-4E3A-AAA0-212407AB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56223" y="3138964"/>
            <a:ext cx="3733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2E7D32"/>
                </a:solidFill>
                <a:latin typeface="Segoe UI Semibold"/>
                <a:ea typeface="Segoe UI Semibold"/>
                <a:cs typeface="Segoe UI Semibold"/>
              </a:rPr>
              <a:t>输出</a:t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826E0160-A049-4431-B943-0B67F199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46773" y="3138964"/>
            <a:ext cx="3102483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文件级规则、来源位置、冲突与复核清单</a:t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9EBEB931-ECE1-4ECB-BE77-C5E92EDB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56223" y="3939064"/>
            <a:ext cx="73384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D97706"/>
                </a:solidFill>
                <a:latin typeface="Segoe UI Semibold"/>
                <a:ea typeface="Segoe UI Semibold"/>
                <a:cs typeface="Segoe UI Semibold"/>
              </a:rPr>
              <a:t>用户动作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D5C7B5-EB5D-453B-A14C-49D3E9B1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51573" y="3939064"/>
            <a:ext cx="275920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逐项回开原文，交由法务作最终判断</a:t>
            </a:r>
          </a:p>
        </p:txBody>
      </p:sp>
      <p:sp>
        <p:nvSpPr>
          <p:cNvPr id="46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F903EC5B-FD7B-4E47-AF12-A4A6E510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62700" y="4419600"/>
            <a:ext cx="50673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54E6E573-5925-4724-B644-99C2EFF0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46723" y="4586764"/>
            <a:ext cx="109428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前台必须明确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F34C3984-3812-477F-9E45-B373784D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46723" y="4910614"/>
            <a:ext cx="396068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这是风险候选，不代表法律意见，也不会代替签署。</a:t>
            </a:r>
          </a:p>
        </p:txBody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078C6462-908F-4DB3-96C7-31775A28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600075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38100">
            <a:solidFill>
              <a:srgbClr val="1769E0"/>
            </a:solidFill>
          </a:ln>
        </p:spPr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C12E024C-6C43-4555-8B94-B7B8CC9D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6156" y="6092190"/>
            <a:ext cx="7750518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共同原则：智能体提供证据与候选，最终判断仍由有职责的人承担。</a:t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4DEF298A-7EC7-4B34-80C9-BF068694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13 / 24</a:t>
            </a:r>
          </a:p>
        </p:txBody>
      </p:sp>
    </p:spTree>
    <p:extLst>
      <p:ext uri="{BB962C8B-B14F-4D97-AF65-F5344CB8AC3E}">
        <p14:creationId xmlns:p14="http://schemas.microsoft.com/office/powerpoint/2010/main" val="197571115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DEF52B3-12F3-4BD8-A26E-137EC3DA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0AC0422F-2EA7-4CBF-A918-D9BA629C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1263C1EB-473E-4E19-A67E-9E5093A1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10159997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0293A"/>
                </a:solidFill>
                <a:latin typeface="Segoe UI Semibold"/>
                <a:ea typeface="Segoe UI Semibold"/>
                <a:cs typeface="Segoe UI Semibold"/>
              </a:rPr>
              <a:t>TC-10 / TC-14：方案不等于执行</a:t>
            </a:r>
          </a:p>
        </p:txBody>
      </p:sp>
      <p:sp>
        <p:nvSpPr>
          <p:cNvPr id="9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527ECB1-D157-4CF0-94E7-3C34223B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390650"/>
            <a:ext cx="4762500" cy="4381500"/>
          </a:xfrm>
          <a:prstGeom xmlns:a="http://schemas.openxmlformats.org/drawingml/2006/main" prst="roundRect">
            <a:avLst>
              <a:gd name="adj" fmla="val 13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C43BD9-6223-4000-9342-D477FA3E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3431" y="1867694"/>
            <a:ext cx="53975" cy="53975"/>
          </a:xfrm>
          <a:custGeom xmlns:a="http://schemas.openxmlformats.org/drawingml/2006/main">
            <a:rect l="l" t="t" r="r" b="b"/>
            <a:pathLst>
              <a:path w="53975" h="53975">
                <a:moveTo>
                  <a:pt x="0" y="26988"/>
                </a:moveTo>
                <a:cubicBezTo>
                  <a:pt x="0" y="41892"/>
                  <a:pt x="12083" y="53975"/>
                  <a:pt x="26988" y="53975"/>
                </a:cubicBezTo>
                <a:cubicBezTo>
                  <a:pt x="41892" y="53975"/>
                  <a:pt x="53975" y="41892"/>
                  <a:pt x="53975" y="26988"/>
                </a:cubicBezTo>
                <a:cubicBezTo>
                  <a:pt x="53975" y="12083"/>
                  <a:pt x="41892" y="0"/>
                  <a:pt x="26988" y="0"/>
                </a:cubicBezTo>
                <a:cubicBezTo>
                  <a:pt x="12083" y="0"/>
                  <a:pt x="0" y="12083"/>
                  <a:pt x="0" y="2698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B8D45DC3-EDA8-4C9C-8FE4-6A52C1FF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2344" y="1678781"/>
            <a:ext cx="53975" cy="53975"/>
          </a:xfrm>
          <a:custGeom xmlns:a="http://schemas.openxmlformats.org/drawingml/2006/main">
            <a:rect l="l" t="t" r="r" b="b"/>
            <a:pathLst>
              <a:path w="53975" h="53975">
                <a:moveTo>
                  <a:pt x="26988" y="53975"/>
                </a:moveTo>
                <a:cubicBezTo>
                  <a:pt x="41892" y="53975"/>
                  <a:pt x="53975" y="41892"/>
                  <a:pt x="53975" y="26988"/>
                </a:cubicBezTo>
                <a:cubicBezTo>
                  <a:pt x="53975" y="12083"/>
                  <a:pt x="41892" y="0"/>
                  <a:pt x="26988" y="0"/>
                </a:cubicBezTo>
                <a:cubicBezTo>
                  <a:pt x="12083" y="0"/>
                  <a:pt x="0" y="12083"/>
                  <a:pt x="0" y="26988"/>
                </a:cubicBezTo>
                <a:cubicBezTo>
                  <a:pt x="0" y="41892"/>
                  <a:pt x="12083" y="53975"/>
                  <a:pt x="26988" y="539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4A9E6AE5-5684-4E4D-98A9-FC82E5C0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0419" y="1705769"/>
            <a:ext cx="202407" cy="188913"/>
          </a:xfrm>
          <a:custGeom xmlns:a="http://schemas.openxmlformats.org/drawingml/2006/main">
            <a:rect l="l" t="t" r="r" b="b"/>
            <a:pathLst>
              <a:path w="202407" h="188913">
                <a:moveTo>
                  <a:pt x="80963" y="188913"/>
                </a:moveTo>
                <a:lnTo>
                  <a:pt x="155178" y="188913"/>
                </a:lnTo>
                <a:cubicBezTo>
                  <a:pt x="181262" y="188913"/>
                  <a:pt x="202407" y="167768"/>
                  <a:pt x="202407" y="141685"/>
                </a:cubicBezTo>
                <a:cubicBezTo>
                  <a:pt x="202407" y="115601"/>
                  <a:pt x="181262" y="94456"/>
                  <a:pt x="155178" y="94456"/>
                </a:cubicBezTo>
                <a:lnTo>
                  <a:pt x="47228" y="94456"/>
                </a:lnTo>
                <a:cubicBezTo>
                  <a:pt x="21145" y="94456"/>
                  <a:pt x="0" y="73312"/>
                  <a:pt x="0" y="47228"/>
                </a:cubicBezTo>
                <a:cubicBezTo>
                  <a:pt x="0" y="21145"/>
                  <a:pt x="21145" y="0"/>
                  <a:pt x="47228" y="0"/>
                </a:cubicBezTo>
                <a:lnTo>
                  <a:pt x="107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BC213F6-4B46-4DEB-9D72-03006C96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8532" y="1659255"/>
            <a:ext cx="3126364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TC-10 · 合规外呼流程</a:t>
            </a:r>
          </a:p>
        </p:txBody>
      </p:sp>
      <p:sp>
        <p:nvSpPr>
          <p:cNvPr id="19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7CB795D6-0E2D-4583-A4E2-1BF46749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2950" y="3048000"/>
            <a:ext cx="42672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>
            <a:noFill/>
          </a:ln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B464F3DE-3323-4567-80EF-5366F33A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406" y="3288506"/>
            <a:ext cx="185737" cy="185737"/>
          </a:xfrm>
          <a:custGeom xmlns:a="http://schemas.openxmlformats.org/drawingml/2006/main">
            <a:rect l="l" t="t" r="r" b="b"/>
            <a:pathLst>
              <a:path w="185737" h="185737">
                <a:moveTo>
                  <a:pt x="0" y="92868"/>
                </a:moveTo>
                <a:cubicBezTo>
                  <a:pt x="0" y="144158"/>
                  <a:pt x="41579" y="185737"/>
                  <a:pt x="92868" y="185737"/>
                </a:cubicBezTo>
                <a:cubicBezTo>
                  <a:pt x="144158" y="185737"/>
                  <a:pt x="185737" y="144158"/>
                  <a:pt x="185737" y="92868"/>
                </a:cubicBezTo>
                <a:cubicBezTo>
                  <a:pt x="185737" y="41579"/>
                  <a:pt x="144158" y="0"/>
                  <a:pt x="92868" y="0"/>
                </a:cubicBezTo>
                <a:cubicBezTo>
                  <a:pt x="41579" y="0"/>
                  <a:pt x="0" y="41579"/>
                  <a:pt x="0" y="9286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E56119B5-526B-4E4B-BC51-074F7384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6318" y="3360737"/>
            <a:ext cx="61912" cy="41275"/>
          </a:xfrm>
          <a:custGeom xmlns:a="http://schemas.openxmlformats.org/drawingml/2006/main">
            <a:rect l="l" t="t" r="r" b="b"/>
            <a:pathLst>
              <a:path w="61912" h="41275">
                <a:moveTo>
                  <a:pt x="0" y="20637"/>
                </a:moveTo>
                <a:lnTo>
                  <a:pt x="20637" y="41275"/>
                </a:lnTo>
                <a:lnTo>
                  <a:pt x="619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07162865-2D75-418F-B979-670FD929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4356" y="3253740"/>
            <a:ext cx="781583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E7D32"/>
                </a:solidFill>
                <a:latin typeface="Segoe UI Semibold"/>
                <a:ea typeface="Segoe UI Semibold"/>
                <a:cs typeface="Segoe UI Semibold"/>
              </a:rPr>
              <a:t>已发生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57CB7CBF-7E30-4EEC-92BD-8E2D332D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023" y="3596164"/>
            <a:ext cx="340431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生成流程图与可下载文档，完成结构检查</a:t>
            </a:r>
          </a:p>
        </p:txBody>
      </p:sp>
      <p:sp>
        <p:nvSpPr>
          <p:cNvPr id="25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116ECB16-CA6A-4D0D-9A31-445D5ECA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2950" y="4095750"/>
            <a:ext cx="426720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E9C1C4A3-0639-4A24-A2FC-D5AF3350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7275" y="4417218"/>
            <a:ext cx="9525" cy="41275"/>
          </a:xfrm>
          <a:custGeom xmlns:a="http://schemas.openxmlformats.org/drawingml/2006/main">
            <a:rect l="l" t="t" r="r" b="b"/>
            <a:pathLst>
              <a:path w="9525" h="41275">
                <a:moveTo>
                  <a:pt x="0" y="0"/>
                </a:moveTo>
                <a:lnTo>
                  <a:pt x="0" y="412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FA422CA6-A5D5-4F8D-A3D6-A96EA9BD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3209" y="4351878"/>
            <a:ext cx="208123" cy="178805"/>
          </a:xfrm>
          <a:custGeom xmlns:a="http://schemas.openxmlformats.org/drawingml/2006/main">
            <a:rect l="l" t="t" r="r" b="b"/>
            <a:pathLst>
              <a:path w="208123" h="178805">
                <a:moveTo>
                  <a:pt x="87174" y="9526"/>
                </a:moveTo>
                <a:lnTo>
                  <a:pt x="3530" y="149180"/>
                </a:lnTo>
                <a:cubicBezTo>
                  <a:pt x="21" y="155256"/>
                  <a:pt x="0" y="162738"/>
                  <a:pt x="3474" y="168834"/>
                </a:cubicBezTo>
                <a:cubicBezTo>
                  <a:pt x="6948" y="174931"/>
                  <a:pt x="13395" y="178726"/>
                  <a:pt x="20412" y="178805"/>
                </a:cubicBezTo>
                <a:lnTo>
                  <a:pt x="187719" y="178805"/>
                </a:lnTo>
                <a:cubicBezTo>
                  <a:pt x="194732" y="178724"/>
                  <a:pt x="201176" y="174930"/>
                  <a:pt x="204650" y="168837"/>
                </a:cubicBezTo>
                <a:cubicBezTo>
                  <a:pt x="208123" y="162744"/>
                  <a:pt x="208104" y="155266"/>
                  <a:pt x="204601" y="149190"/>
                </a:cubicBezTo>
                <a:lnTo>
                  <a:pt x="120957" y="9516"/>
                </a:lnTo>
                <a:cubicBezTo>
                  <a:pt x="117378" y="3609"/>
                  <a:pt x="110973" y="0"/>
                  <a:pt x="104065" y="0"/>
                </a:cubicBezTo>
                <a:cubicBezTo>
                  <a:pt x="97158" y="0"/>
                  <a:pt x="90753" y="3609"/>
                  <a:pt x="87174" y="951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D965F211-312A-41BC-8BFC-0E878139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7275" y="4489449"/>
            <a:ext cx="9525" cy="9525"/>
          </a:xfrm>
          <a:custGeom xmlns:a="http://schemas.openxmlformats.org/drawingml/2006/main">
            <a:rect l="l" t="t" r="r" b="b"/>
            <a:pathLst>
              <a:path w="9525" h="9525">
                <a:moveTo>
                  <a:pt x="0" y="0"/>
                </a:moveTo>
                <a:lnTo>
                  <a:pt x="1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20A7E43B-6151-4F92-AF05-8F37AB20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4356" y="4320540"/>
            <a:ext cx="781583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B54708"/>
                </a:solidFill>
                <a:latin typeface="Segoe UI Semibold"/>
                <a:ea typeface="Segoe UI Semibold"/>
                <a:cs typeface="Segoe UI Semibold"/>
              </a:rPr>
              <a:t>未发生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3C94880F-BA97-46E4-BB10-33E8790D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023" y="4682014"/>
            <a:ext cx="2397785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未拨号、未写 CRM、未发短信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01556CE5-88EE-4A85-81E4-D55D7FED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166" y="4953952"/>
            <a:ext cx="3025003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7C8A98"/>
                </a:solidFill>
                <a:latin typeface="Segoe UI"/>
                <a:ea typeface="Segoe UI"/>
                <a:cs typeface="Segoe UI"/>
              </a:rPr>
              <a:t>没有外部动作回执，就不能显示“已执行”</a:t>
            </a:r>
          </a:p>
        </p:txBody>
      </p:sp>
      <p:sp>
        <p:nvSpPr>
          <p:cNvPr id="34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9C6BC67C-C020-4551-BE6E-D4EF6664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24500" y="1390650"/>
            <a:ext cx="6172200" cy="4381500"/>
          </a:xfrm>
          <a:prstGeom xmlns:a="http://schemas.openxmlformats.org/drawingml/2006/main" prst="roundRect">
            <a:avLst>
              <a:gd name="adj" fmla="val 13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43A239A2-5FB0-4830-844D-3328AEB7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61482" y="1525905"/>
            <a:ext cx="3737961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TC-14 · SRE 冲突日志诊断</a:t>
            </a:r>
          </a:p>
        </p:txBody>
      </p:sp>
      <p:pic>
        <p:nvPicPr>
          <p:cNvPr id="72" name="Imag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a7d34d6bfa40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815051" y="1943100"/>
            <a:ext cx="3591098" cy="2743200"/>
          </a:xfrm>
          <a:prstGeom xmlns:a="http://schemas.openxmlformats.org/drawingml/2006/main" prst="rect">
            <a:avLst/>
          </a:prstGeom>
        </p:spPr>
      </p:pic>
      <p:sp>
        <p:nvSpPr>
          <p:cNvPr id="37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99758FFC-8952-49D6-B2AC-AE8E0E71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72150" y="4857750"/>
            <a:ext cx="26098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>
            <a:noFill/>
          </a:ln>
        </p:spPr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314A2005-FA46-4AD2-910B-BDAEC663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7123" y="4986814"/>
            <a:ext cx="163495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2E7D32"/>
                </a:solidFill>
                <a:latin typeface="Segoe UI Semibold"/>
                <a:ea typeface="Segoe UI Semibold"/>
                <a:cs typeface="Segoe UI Semibold"/>
              </a:rPr>
              <a:t>已发生：条件式诊断</a:t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560E7EC5-BE3B-4D97-9DE8-590D8913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8266" y="5258752"/>
            <a:ext cx="1706880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保留支持、反证与止损提案</a:t>
            </a:r>
          </a:p>
        </p:txBody>
      </p:sp>
      <p:sp>
        <p:nvSpPr>
          <p:cNvPr id="40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57230A5B-83EF-492E-9DAC-E2D6C522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53450" y="4857750"/>
            <a:ext cx="28956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D1A1EB15-7FE2-4A0B-ACF1-16BF0436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8423" y="4986814"/>
            <a:ext cx="145473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B54708"/>
                </a:solidFill>
                <a:latin typeface="Segoe UI Semibold"/>
                <a:ea typeface="Segoe UI Semibold"/>
                <a:cs typeface="Segoe UI Semibold"/>
              </a:rPr>
              <a:t>未发生：生产变更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E453A41A-494D-4E9A-ACCF-B597D9C2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9566" y="5258752"/>
            <a:ext cx="2206142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未执行生产命令，也未触发业务降级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2C13E3F1-39A1-47FA-AF4E-5750C917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603885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38100">
            <a:solidFill>
              <a:srgbClr val="1769E0"/>
            </a:solidFill>
          </a:ln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FA3C6EA2-C05A-427B-B839-26396CB3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6156" y="6130290"/>
            <a:ext cx="765124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前台输出必须同时写清：成果是什么，以及哪些业务动作没有发生。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F95A5A82-0BA7-4029-A0FA-77CB60BF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14 / 24</a:t>
            </a:r>
          </a:p>
        </p:txBody>
      </p:sp>
    </p:spTree>
    <p:extLst>
      <p:ext uri="{BB962C8B-B14F-4D97-AF65-F5344CB8AC3E}">
        <p14:creationId xmlns:p14="http://schemas.microsoft.com/office/powerpoint/2010/main" val="62815928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5A59879-EFCB-4974-8B86-341C2157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699A6204-4047-476A-8CE1-0DF80C68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915F4621-7E89-464F-8BB4-F13AD816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8665731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TC-15：模型说明不能覆盖确定性成果</a:t>
            </a:r>
          </a:p>
        </p:txBody>
      </p:sp>
      <p:sp>
        <p:nvSpPr>
          <p:cNvPr id="9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CFD7D94-95C1-4D3C-9AE6-08F593BE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390650"/>
            <a:ext cx="6819900" cy="4476750"/>
          </a:xfrm>
          <a:prstGeom xmlns:a="http://schemas.openxmlformats.org/drawingml/2006/main" prst="roundRect">
            <a:avLst>
              <a:gd name="adj" fmla="val 12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E2679068-1E97-4EDC-B31B-BD7F5021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4756" y="1539240"/>
            <a:ext cx="5106924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当前系统实测：冲突说明被拒绝，成果仍保留</a:t>
            </a:r>
          </a:p>
        </p:txBody>
      </p:sp>
      <p:pic>
        <p:nvPicPr>
          <p:cNvPr id="44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0fa62e72a44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23159" y="1943100"/>
            <a:ext cx="4364182" cy="3333750"/>
          </a:xfrm>
          <a:prstGeom xmlns:a="http://schemas.openxmlformats.org/drawingml/2006/main" prst="rect">
            <a:avLst/>
          </a:prstGeom>
        </p:spPr>
      </p:pic>
      <p:sp>
        <p:nvSpPr>
          <p:cNvPr id="14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6F66664-C4B0-46F0-AB72-F629D5E6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1900" y="1390650"/>
            <a:ext cx="41148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F689F666-A1BB-4838-92EC-9FB7DF42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4023" y="1576864"/>
            <a:ext cx="91406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2E7D32"/>
                </a:solidFill>
                <a:latin typeface="Segoe UI Semibold"/>
                <a:ea typeface="Segoe UI Semibold"/>
                <a:cs typeface="Segoe UI Semibold"/>
              </a:rPr>
              <a:t>确定性成果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B0711255-8BFD-45E1-8327-F2C17EE7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99832" y="1887855"/>
            <a:ext cx="2603819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212/212 行 · 87 组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BE49377A-E0A9-432D-B53E-E6A28AC4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4023" y="2281714"/>
            <a:ext cx="235244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Consolas"/>
                <a:ea typeface="Consolas"/>
                <a:cs typeface="Consolas"/>
              </a:rPr>
              <a:t>P0-P4 = 25 / 40 / 14 / 6 / 2</a:t>
            </a:r>
          </a:p>
        </p:txBody>
      </p:sp>
      <p:sp>
        <p:nvSpPr>
          <p:cNvPr id="18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4C30E8E-CAA3-4A43-B556-F5D312F9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1900" y="2819400"/>
            <a:ext cx="41148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C0362C"/>
            </a:solidFill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913AD973-F100-483D-A670-8ED81A6D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4023" y="3005614"/>
            <a:ext cx="109428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C0362C"/>
                </a:solidFill>
                <a:latin typeface="Segoe UI Semibold"/>
                <a:ea typeface="Segoe UI Semibold"/>
                <a:cs typeface="Segoe UI Semibold"/>
              </a:rPr>
              <a:t>模型冲突说明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D6738F4D-36CA-4F5B-8EBF-D4C1A857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4023" y="3386614"/>
            <a:ext cx="298719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声称只覆盖 60 行，并改写 P0 优先级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8F4E8375-84FE-4EE6-82DC-1D1A3433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4023" y="3691414"/>
            <a:ext cx="272487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0362C"/>
                </a:solidFill>
                <a:latin typeface="Consolas"/>
                <a:ea typeface="Consolas"/>
                <a:cs typeface="Consolas"/>
              </a:rPr>
              <a:t>模型已调用 · 说明未采用</a:t>
            </a:r>
          </a:p>
        </p:txBody>
      </p:sp>
      <p:sp>
        <p:nvSpPr>
          <p:cNvPr id="22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AA59FB2C-8CF7-40FF-BC8E-F1DE86D7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1900" y="4248150"/>
            <a:ext cx="41148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>
            <a:noFill/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1C9ECE08-09EF-46A7-A355-48468806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4023" y="4434364"/>
            <a:ext cx="127451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服务端采用回执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2027E2DE-8749-4B33-801F-9290E513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4023" y="4815364"/>
            <a:ext cx="1197273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Consolas"/>
                <a:ea typeface="Consolas"/>
                <a:cs typeface="Consolas"/>
              </a:rPr>
              <a:t>与确定性结果冲突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646E0E98-135F-4DC7-8BB0-727CE5DC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4023" y="5101114"/>
            <a:ext cx="193532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Consolas"/>
                <a:ea typeface="Consolas"/>
                <a:cs typeface="Consolas"/>
              </a:rPr>
              <a:t>以确定性结果为准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1E3895A4-CF38-4F10-9ACF-36CBF85B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4023" y="5386864"/>
            <a:ext cx="72526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D97706"/>
                </a:solidFill>
                <a:latin typeface="Consolas"/>
                <a:ea typeface="Consolas"/>
                <a:cs typeface="Consolas"/>
              </a:rPr>
              <a:t>拒绝采用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010DF878-2D1E-459B-9ADC-95CFE24C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39706" y="5006340"/>
            <a:ext cx="129044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前台只保留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48C7F0FF-F740-478F-A165-6E7B71BC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39706" y="5330190"/>
            <a:ext cx="1544879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一套当前结论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EDFF186D-B30E-433A-A7B2-819BB294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15 / 24</a:t>
            </a:r>
          </a:p>
        </p:txBody>
      </p:sp>
    </p:spTree>
    <p:extLst>
      <p:ext uri="{BB962C8B-B14F-4D97-AF65-F5344CB8AC3E}">
        <p14:creationId xmlns:p14="http://schemas.microsoft.com/office/powerpoint/2010/main" val="2338166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415ECDC-4A9C-4BF2-BD49-69CCA117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0186948A-4754-46C9-8E3F-BEB9C29E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7F504393-9026-4ED0-96B7-611FF21A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6862305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前台交互只需要先回答五个问题</a:t>
            </a:r>
          </a:p>
        </p:txBody>
      </p:sp>
      <p:sp>
        <p:nvSpPr>
          <p:cNvPr id="9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747306C-2117-4F45-B783-28313C47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409700"/>
            <a:ext cx="6286500" cy="4267200"/>
          </a:xfrm>
          <a:prstGeom xmlns:a="http://schemas.openxmlformats.org/drawingml/2006/main" prst="roundRect">
            <a:avLst>
              <a:gd name="adj" fmla="val 1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96011AB8-9418-44E4-BAF3-C053877C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1332" y="1583055"/>
            <a:ext cx="269287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业务用户的阅读顺序</a:t>
            </a:r>
          </a:p>
        </p:txBody>
      </p:sp>
      <p:sp>
        <p:nvSpPr>
          <p:cNvPr id="11" name="Ellipse 11">
            <a:extLst xmlns:a="http://schemas.openxmlformats.org/drawingml/2006/main">
              <a:ext uri="{FF2B5EF4-FFF2-40B4-BE49-F238E27FC236}">
                <a16:creationId xmlns:a16="http://schemas.microsoft.com/office/drawing/2014/main" id="{304BED7E-3BD6-482F-88C7-C0DE67A4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20574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7EE3365C-7B3A-4F03-9B78-A79B17B0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262" y="217693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EEF7E6DA-593A-41EC-AD8B-35C4D37B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106" y="2129790"/>
            <a:ext cx="205374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现在完成了什么？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F3D70BD0-3E0D-4F68-A345-B07A5EF2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08273" y="2186464"/>
            <a:ext cx="207264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成果文件与确定性检查置顶</a:t>
            </a:r>
          </a:p>
        </p:txBody>
      </p:sp>
      <p:sp>
        <p:nvSpPr>
          <p:cNvPr id="15" name="Ellipse 15">
            <a:extLst xmlns:a="http://schemas.openxmlformats.org/drawingml/2006/main">
              <a:ext uri="{FF2B5EF4-FFF2-40B4-BE49-F238E27FC236}">
                <a16:creationId xmlns:a16="http://schemas.microsoft.com/office/drawing/2014/main" id="{CAD0C23A-A633-4321-BDC0-3079AF32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2724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86CDFF9B-AEED-48EC-B480-7AEE7101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262" y="28436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345A44F3-D413-4BBD-A179-F9B2060A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106" y="2796540"/>
            <a:ext cx="1544879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依据是什么？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C3EB9E3F-B99B-4CBC-8694-A332BD41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08273" y="2853214"/>
            <a:ext cx="224428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文件、原文位置与摘录可回开</a:t>
            </a:r>
          </a:p>
        </p:txBody>
      </p:sp>
      <p:sp>
        <p:nvSpPr>
          <p:cNvPr id="19" name="Ellipse 19">
            <a:extLst xmlns:a="http://schemas.openxmlformats.org/drawingml/2006/main">
              <a:ext uri="{FF2B5EF4-FFF2-40B4-BE49-F238E27FC236}">
                <a16:creationId xmlns:a16="http://schemas.microsoft.com/office/drawing/2014/main" id="{59F3F454-0A26-4DC4-996A-A00B72D2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33909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22CB6846-E3F4-4FFD-B3A6-DC3AA8F0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262" y="351043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53D94169-7FD2-47D5-ADC2-842734BA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106" y="3463290"/>
            <a:ext cx="129044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为什么停？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F853E03E-449A-4CEC-9B1E-802BD826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08273" y="3519964"/>
            <a:ext cx="241592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说明问题、影响范围和可选动作</a:t>
            </a:r>
          </a:p>
        </p:txBody>
      </p:sp>
      <p:sp>
        <p:nvSpPr>
          <p:cNvPr id="23" name="Ellipse 23">
            <a:extLst xmlns:a="http://schemas.openxmlformats.org/drawingml/2006/main">
              <a:ext uri="{FF2B5EF4-FFF2-40B4-BE49-F238E27FC236}">
                <a16:creationId xmlns:a16="http://schemas.microsoft.com/office/drawing/2014/main" id="{FCA7E531-F3DD-47DF-9956-8EE63E7F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4057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64130A11-44F5-4D4A-9FCF-EF1BABD6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262" y="41771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A1B08376-E271-4797-A1DD-6E11D55A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106" y="4130040"/>
            <a:ext cx="2562606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我确认后会改变什么？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4603AE6A-70F0-4C17-B160-659127B7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3573" y="4186714"/>
            <a:ext cx="150298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只恢复哪条分支</a:t>
            </a:r>
          </a:p>
        </p:txBody>
      </p:sp>
      <p:sp>
        <p:nvSpPr>
          <p:cNvPr id="27" name="Ellipse 27">
            <a:extLst xmlns:a="http://schemas.openxmlformats.org/drawingml/2006/main">
              <a:ext uri="{FF2B5EF4-FFF2-40B4-BE49-F238E27FC236}">
                <a16:creationId xmlns:a16="http://schemas.microsoft.com/office/drawing/2014/main" id="{3327603F-5662-4E0F-9154-02DBD3F7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47244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53D006CE-C762-4321-9C12-F10E4185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262" y="484393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D7C488D0-7436-418F-9E01-6FEF22FB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106" y="4796790"/>
            <a:ext cx="205374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什么绝不会发生？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7273EA66-0828-4F4A-848F-289602D1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08273" y="4853464"/>
            <a:ext cx="207264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未执行边界与外部动作回执</a:t>
            </a:r>
          </a:p>
        </p:txBody>
      </p:sp>
      <p:sp>
        <p:nvSpPr>
          <p:cNvPr id="33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3311AA4E-2929-4DE4-B9DA-7068E511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48500" y="1409700"/>
            <a:ext cx="4648200" cy="4267200"/>
          </a:xfrm>
          <a:prstGeom xmlns:a="http://schemas.openxmlformats.org/drawingml/2006/main" prst="roundRect">
            <a:avLst>
              <a:gd name="adj" fmla="val 1339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>
            <a:noFill/>
          </a:ln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47520823-B11A-44C5-8B1C-4CF2FB95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04532" y="1583055"/>
            <a:ext cx="1802359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三层信息架构</a:t>
            </a:r>
          </a:p>
        </p:txBody>
      </p:sp>
      <p:sp>
        <p:nvSpPr>
          <p:cNvPr id="35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7A06653B-C4FB-4B81-BC29-3DCF79C7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5200" y="2095500"/>
            <a:ext cx="41148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7FD9262C-D382-472A-8628-C9BF11F0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34656" y="2186940"/>
            <a:ext cx="179931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首屏：当前结论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517F9879-C6E3-46E2-932B-D5619665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37323" y="2529364"/>
            <a:ext cx="224428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成果、复核状态、未执行边界</a:t>
            </a:r>
          </a:p>
        </p:txBody>
      </p:sp>
      <p:sp>
        <p:nvSpPr>
          <p:cNvPr id="38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9BFBC345-D1E9-4726-866D-F106B92E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5200" y="3048000"/>
            <a:ext cx="41148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>
            <a:noFill/>
          </a:ln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5C657AD7-4C0F-4BFB-9B2B-5056F372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34656" y="3139440"/>
            <a:ext cx="1544879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展开：为什么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0C00FD29-ECE4-4839-8CF7-D8443B52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37323" y="3481864"/>
            <a:ext cx="258756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来源、校验、说明采用、局部决定</a:t>
            </a:r>
          </a:p>
        </p:txBody>
      </p:sp>
      <p:sp>
        <p:nvSpPr>
          <p:cNvPr id="41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D1451B06-AED4-456B-9971-EFFAEC16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5200" y="4000500"/>
            <a:ext cx="41148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9050">
            <a:solidFill>
              <a:srgbClr val="FFFFFF">
                <a:alpha val="25000"/>
              </a:srgbClr>
            </a:solidFill>
          </a:ln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66B0AD52-85A2-4CEA-AB2C-418006DD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34656" y="4091940"/>
            <a:ext cx="179931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审计：系统事实</a:t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F5C47769-2D41-4D50-98AD-F49EC901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37323" y="4434364"/>
            <a:ext cx="345617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状态快照、版本、有序事件与决定记录</a:t>
            </a:r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901082D0-5BA0-4484-B6B2-D958CAA6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6156" y="5844540"/>
            <a:ext cx="2308174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仍需用户研究验证：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6385EEC8-07BE-4BDD-8AB7-85C772D4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17673" y="5901214"/>
            <a:ext cx="642388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验证用户能否说清结果、来源、影响与下一步，并度量理解成本。</a:t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782C7D94-57E6-4CA0-82AC-1F7E6C44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63246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依据：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bc0fcb93588b44b3"/>
              </a:rPr>
              <a:t>microsoft.com/research/.../human-ai-interaction</a:t>
            </a: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 ·  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f70d0a482e4d458d"/>
              </a:rPr>
              <a:t>research.google/.../user-experience-metrics</a:t>
            </a:r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E5F6FD3F-C95E-4948-B2C9-8A2AECF9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16 / 24</a:t>
            </a:r>
          </a:p>
        </p:txBody>
      </p:sp>
    </p:spTree>
    <p:extLst>
      <p:ext uri="{BB962C8B-B14F-4D97-AF65-F5344CB8AC3E}">
        <p14:creationId xmlns:p14="http://schemas.microsoft.com/office/powerpoint/2010/main" val="104980867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0DDF4D6-2312-4550-BC52-6EAA153C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F6DCB580-D401-4C3F-930D-FEAC2261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6A272B59-1880-4272-B01D-82A1667B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8325288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我们到底做了什么：跑通办公任务纵切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9738438B-1842-4972-8D60-12E71C8E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4632" y="1221105"/>
            <a:ext cx="4473892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不是回答页，而是一条可复核链路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B41D6E58-E498-41EA-9C7A-89F43FC6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2950" y="1943100"/>
            <a:ext cx="9525" cy="2876550"/>
          </a:xfrm>
          <a:custGeom xmlns:a="http://schemas.openxmlformats.org/drawingml/2006/main">
            <a:rect l="l" t="t" r="r" b="b"/>
            <a:pathLst>
              <a:path w="9525" h="2876550">
                <a:moveTo>
                  <a:pt x="0" y="0"/>
                </a:moveTo>
                <a:lnTo>
                  <a:pt x="0" y="28765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38100">
            <a:solidFill>
              <a:srgbClr val="CBD5DF"/>
            </a:solidFill>
          </a:ln>
        </p:spPr>
      </p:sp>
      <p:sp>
        <p:nvSpPr>
          <p:cNvPr id="11" name="Ellipse 11">
            <a:extLst xmlns:a="http://schemas.openxmlformats.org/drawingml/2006/main">
              <a:ext uri="{FF2B5EF4-FFF2-40B4-BE49-F238E27FC236}">
                <a16:creationId xmlns:a16="http://schemas.microsoft.com/office/drawing/2014/main" id="{45188115-3934-4148-9231-8FBC1FEA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2450" y="1847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BCB74573-163E-4CC2-915A-E498E294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6912" y="19673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D2E6C3FE-5EEC-476D-B5A7-2EAEB102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756" y="1786890"/>
            <a:ext cx="1336853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资料库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49E8EBAE-937F-4A55-B63A-6D540003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8423" y="2110264"/>
            <a:ext cx="206405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15 个目录 · 96 份安全预览</a:t>
            </a:r>
          </a:p>
        </p:txBody>
      </p:sp>
      <p:sp>
        <p:nvSpPr>
          <p:cNvPr id="15" name="Ellipse 15">
            <a:extLst xmlns:a="http://schemas.openxmlformats.org/drawingml/2006/main">
              <a:ext uri="{FF2B5EF4-FFF2-40B4-BE49-F238E27FC236}">
                <a16:creationId xmlns:a16="http://schemas.microsoft.com/office/drawing/2014/main" id="{061E174E-F3C8-40F5-8A98-8D74D1DA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2450" y="2533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C37CD97A-8984-4727-9D8E-9FFDC15A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6912" y="26531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8809A272-2739-4C06-88C1-37687F76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756" y="2472690"/>
            <a:ext cx="1790429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任务约束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A6BC929E-4FF4-4C3E-B3BB-D5FA4033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8423" y="2796064"/>
            <a:ext cx="241592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目标、范围、预算由服务端冻结</a:t>
            </a:r>
          </a:p>
        </p:txBody>
      </p:sp>
      <p:sp>
        <p:nvSpPr>
          <p:cNvPr id="19" name="Ellipse 19">
            <a:extLst xmlns:a="http://schemas.openxmlformats.org/drawingml/2006/main">
              <a:ext uri="{FF2B5EF4-FFF2-40B4-BE49-F238E27FC236}">
                <a16:creationId xmlns:a16="http://schemas.microsoft.com/office/drawing/2014/main" id="{067CE459-76C6-4490-A34B-B81573AC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2450" y="32194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21D6EB3D-E03B-47A7-BD08-F92B5898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6912" y="33389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58CCA890-62C2-42E2-8387-6B1B24C5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756" y="3158490"/>
            <a:ext cx="2159973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规划与分析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706787E0-9327-487E-9EB3-85873939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8423" y="3481864"/>
            <a:ext cx="224428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调用、校验、采用分别留回执</a:t>
            </a:r>
          </a:p>
        </p:txBody>
      </p:sp>
      <p:sp>
        <p:nvSpPr>
          <p:cNvPr id="23" name="Ellipse 23">
            <a:extLst xmlns:a="http://schemas.openxmlformats.org/drawingml/2006/main">
              <a:ext uri="{FF2B5EF4-FFF2-40B4-BE49-F238E27FC236}">
                <a16:creationId xmlns:a16="http://schemas.microsoft.com/office/drawing/2014/main" id="{FD03B669-B794-4AF5-B58A-0BEADE03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2450" y="3905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F78175C8-C687-4616-900E-B4B7F0AB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6912" y="40247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28F404D4-49D1-4B09-ACA2-2EBB27BA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756" y="3844290"/>
            <a:ext cx="265081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分支证据门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E887249C-51F9-4983-8A5B-AB64273A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8423" y="4167664"/>
            <a:ext cx="275920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局部停、局部补证、保留已完成成果</a:t>
            </a:r>
          </a:p>
        </p:txBody>
      </p:sp>
      <p:sp>
        <p:nvSpPr>
          <p:cNvPr id="27" name="Ellipse 27">
            <a:extLst xmlns:a="http://schemas.openxmlformats.org/drawingml/2006/main">
              <a:ext uri="{FF2B5EF4-FFF2-40B4-BE49-F238E27FC236}">
                <a16:creationId xmlns:a16="http://schemas.microsoft.com/office/drawing/2014/main" id="{BF47D3F4-5A06-494E-9E4E-F23E0439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2450" y="45910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75F424E2-D2B2-4B7B-B8F4-BF023569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6912" y="47105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3DF4FA5D-6BFA-4682-91BB-2E51103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756" y="4530090"/>
            <a:ext cx="229982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成果与回执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2C7374FB-890A-4AE6-98AB-62E860AB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8423" y="4853464"/>
            <a:ext cx="343237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真实文件、确定性检查、状态快照与执行记录</a:t>
            </a:r>
          </a:p>
        </p:txBody>
      </p:sp>
      <p:sp>
        <p:nvSpPr>
          <p:cNvPr id="31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74810C7B-AFA0-436D-AE1F-1E144447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5257800"/>
            <a:ext cx="373380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>
            <a:noFill/>
          </a:ln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BC1936F6-608B-4F5F-BC69-BF3E6A62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4756" y="5387340"/>
            <a:ext cx="3096913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用户得到的不是一句“完成”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04DD3958-D23B-4A97-A0C5-C8729B49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423" y="5729764"/>
            <a:ext cx="258756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而是成果、依据、影响和下一步。</a:t>
            </a:r>
          </a:p>
        </p:txBody>
      </p:sp>
      <p:sp>
        <p:nvSpPr>
          <p:cNvPr id="35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EE8B1F28-2292-4259-A3CA-BAFF9358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57700" y="1333500"/>
            <a:ext cx="7239000" cy="5029200"/>
          </a:xfrm>
          <a:prstGeom xmlns:a="http://schemas.openxmlformats.org/drawingml/2006/main" prst="roundRect">
            <a:avLst>
              <a:gd name="adj" fmla="val 11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pic>
        <p:nvPicPr>
          <p:cNvPr id="72" name="Imag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cbf5af9b214a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552950" y="1428750"/>
            <a:ext cx="7048500" cy="4895850"/>
          </a:xfrm>
          <a:prstGeom xmlns:a="http://schemas.openxmlformats.org/drawingml/2006/main" prst="rect">
            <a:avLst/>
          </a:prstGeom>
        </p:spPr>
      </p:pic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D3A0B0DE-5C8A-4DF0-AD7C-95F8FE60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17 / 24</a:t>
            </a:r>
          </a:p>
        </p:txBody>
      </p:sp>
    </p:spTree>
    <p:extLst>
      <p:ext uri="{BB962C8B-B14F-4D97-AF65-F5344CB8AC3E}">
        <p14:creationId xmlns:p14="http://schemas.microsoft.com/office/powerpoint/2010/main" val="145509792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F8EFB8A-42EE-4D7E-A4C7-68A6A7D7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FA0F726C-CDD9-4712-8CE6-D68227A5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D79E9F79-514C-41D4-B9FC-EFBA6A6A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774" y="370522"/>
            <a:ext cx="9849367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实操 1：用户只说目标，</a:t>
            </a: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智能体自主选择资料</a:t>
            </a:r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75994BC-47ED-4593-9A5D-8A8243F2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333500"/>
            <a:ext cx="7543800" cy="5029200"/>
          </a:xfrm>
          <a:prstGeom xmlns:a="http://schemas.openxmlformats.org/drawingml/2006/main" prst="roundRect">
            <a:avLst>
              <a:gd name="adj" fmla="val 11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pic>
        <p:nvPicPr>
          <p:cNvPr id="41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dd05ab8c147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83336" y="1428750"/>
            <a:ext cx="6967728" cy="4838700"/>
          </a:xfrm>
          <a:prstGeom xmlns:a="http://schemas.openxmlformats.org/drawingml/2006/main" prst="rect">
            <a:avLst/>
          </a:prstGeom>
        </p:spPr>
      </p:pic>
      <p:sp>
        <p:nvSpPr>
          <p:cNvPr id="11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3A10EEB-B27D-4A12-97EB-3A35CF41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05800" y="1333500"/>
            <a:ext cx="33909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2" name="Ellipse 12">
            <a:extLst xmlns:a="http://schemas.openxmlformats.org/drawingml/2006/main">
              <a:ext uri="{FF2B5EF4-FFF2-40B4-BE49-F238E27FC236}">
                <a16:creationId xmlns:a16="http://schemas.microsoft.com/office/drawing/2014/main" id="{D970308A-2DBB-46A1-9343-91B3B04B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20100" y="1485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BF9C4FA3-40FD-4CEE-801A-194837AE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5512" y="15863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6EF649EB-C0F4-46FB-B64C-5E4A32BE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68156" y="1529715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用户动作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544C8411-7272-4BFB-8A4F-4E4334AF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7923" y="1976914"/>
            <a:ext cx="258756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只写自然语言目标，不先猜文件。</a:t>
            </a:r>
          </a:p>
        </p:txBody>
      </p:sp>
      <p:sp>
        <p:nvSpPr>
          <p:cNvPr id="17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40E0371-6E8D-4A7A-9C36-C1CAB2FF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05800" y="2743200"/>
            <a:ext cx="3390900" cy="144780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8" name="Ellipse 18">
            <a:extLst xmlns:a="http://schemas.openxmlformats.org/drawingml/2006/main">
              <a:ext uri="{FF2B5EF4-FFF2-40B4-BE49-F238E27FC236}">
                <a16:creationId xmlns:a16="http://schemas.microsoft.com/office/drawing/2014/main" id="{FF78CCB7-7073-4783-A41E-0B3E7931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20100" y="2895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FF6C33CC-23D8-449E-841C-0938D784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5512" y="29960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B3C673D6-817D-4D32-99B7-B0627D10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68156" y="2939415"/>
            <a:ext cx="129044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服务端事实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C2329EA5-6959-43F1-8B2C-B694894D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7923" y="3386614"/>
            <a:ext cx="221853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冻结完整安全资料索引；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D37DE3E2-0839-4AFF-B9B0-EBC1097A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7923" y="3653314"/>
            <a:ext cx="328319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规划器只看安全元数据，提出本轮所需证据。</a:t>
            </a:r>
          </a:p>
        </p:txBody>
      </p:sp>
      <p:sp>
        <p:nvSpPr>
          <p:cNvPr id="24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C8DFE47-E93E-4780-B58B-9922BD51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05800" y="4343400"/>
            <a:ext cx="33909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25" name="Ellipse 25">
            <a:extLst xmlns:a="http://schemas.openxmlformats.org/drawingml/2006/main">
              <a:ext uri="{FF2B5EF4-FFF2-40B4-BE49-F238E27FC236}">
                <a16:creationId xmlns:a16="http://schemas.microsoft.com/office/drawing/2014/main" id="{4E29F904-A687-468E-B39E-AE6E2AC8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20100" y="4495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A028EA97-49D1-405C-BE07-601D57EC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5512" y="45962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638144A5-17D2-4DF6-889D-B073511B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68156" y="4539615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前台反馈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11F72055-101F-4DB9-B7BB-C6AFFDDD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7923" y="4986814"/>
            <a:ext cx="275920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展示资料依据、模型采用、剩余预算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317F7A8F-9285-4ED4-BA64-598755CF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7923" y="5253514"/>
            <a:ext cx="175746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以及实时有序执行记录。</a:t>
            </a:r>
          </a:p>
        </p:txBody>
      </p:sp>
      <p:sp>
        <p:nvSpPr>
          <p:cNvPr id="30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E58D0A40-0904-4839-8B71-BF139B31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05800" y="5753100"/>
            <a:ext cx="33909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>
            <a:noFill/>
          </a:ln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5A74E39B-630F-4EC4-9447-5C083FAD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7923" y="5872639"/>
            <a:ext cx="3733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B54708"/>
                </a:solidFill>
                <a:latin typeface="Segoe UI Semibold"/>
                <a:ea typeface="Segoe UI Semibold"/>
                <a:cs typeface="Segoe UI Semibold"/>
              </a:rPr>
              <a:t>边界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C068FAAE-D744-4DC9-931E-6C45E559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9066" y="6125528"/>
            <a:ext cx="2554986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自主选资料不等于穷举正确，仍需复核。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6CAB141A-28FE-4BBA-B72C-51F8B0BF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273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18 / 24</a:t>
            </a:r>
          </a:p>
        </p:txBody>
      </p:sp>
    </p:spTree>
    <p:extLst>
      <p:ext uri="{BB962C8B-B14F-4D97-AF65-F5344CB8AC3E}">
        <p14:creationId xmlns:p14="http://schemas.microsoft.com/office/powerpoint/2010/main" val="78083777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E554E67-D96D-4735-B495-009CAC89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1FC50FD0-C0F3-47C3-83E9-5D46F90B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079D4D36-3953-4541-A4DE-45CF823F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774" y="370522"/>
            <a:ext cx="9227461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实操 2：证据有歧义，只恢复受影响的分支</a:t>
            </a:r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6ACBFAA-4BD2-45A2-A377-F5953337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333500"/>
            <a:ext cx="7543800" cy="5029200"/>
          </a:xfrm>
          <a:prstGeom xmlns:a="http://schemas.openxmlformats.org/drawingml/2006/main" prst="roundRect">
            <a:avLst>
              <a:gd name="adj" fmla="val 11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pic>
        <p:nvPicPr>
          <p:cNvPr id="35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f80f83ae2c47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32320" y="1428750"/>
            <a:ext cx="6869759" cy="4838700"/>
          </a:xfrm>
          <a:prstGeom xmlns:a="http://schemas.openxmlformats.org/drawingml/2006/main" prst="rect">
            <a:avLst/>
          </a:prstGeom>
        </p:spPr>
      </p:pic>
      <p:sp>
        <p:nvSpPr>
          <p:cNvPr id="11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8BFA594-E0F0-4A4F-99AF-311EE528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05800" y="1333500"/>
            <a:ext cx="339090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9B0161D2-5F5E-44D1-9729-BFACD48A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5256" y="1482090"/>
            <a:ext cx="205374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先解释发生了什么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9A831AFB-9F02-409D-9733-57BAFC2F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7923" y="1881664"/>
            <a:ext cx="275920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同一逐字片段出现多次，服务端无法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E2A51A06-36C9-411F-B1E8-997E69E8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7923" y="2148364"/>
            <a:ext cx="224428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唯一决定该回开哪一处原文。</a:t>
            </a:r>
          </a:p>
        </p:txBody>
      </p:sp>
      <p:sp>
        <p:nvSpPr>
          <p:cNvPr id="15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C5A0F41-55AB-4E09-B7C9-8C90109F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05800" y="2686050"/>
            <a:ext cx="339090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1CA688FB-ECEE-45B1-80DC-885C1923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5256" y="2834640"/>
            <a:ext cx="205374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再让用户决定位置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6EF7093B-F059-4A7E-A6FF-BEF9B75C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7923" y="3234214"/>
            <a:ext cx="275920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界面同时给出事实、影响、下一步，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C19FDF23-024B-4F23-90A4-A7029D91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7923" y="3500914"/>
            <a:ext cx="241592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并在安全预览中高亮候选原文。</a:t>
            </a:r>
          </a:p>
        </p:txBody>
      </p:sp>
      <p:sp>
        <p:nvSpPr>
          <p:cNvPr id="19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1AA4AC8-8545-4E58-A050-EF155A7E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05800" y="4038600"/>
            <a:ext cx="3390900" cy="1600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pic>
        <p:nvPicPr>
          <p:cNvPr id="45" name="Imag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8d529ebd284a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404968" y="4133850"/>
            <a:ext cx="3192564" cy="1514475"/>
          </a:xfrm>
          <a:prstGeom xmlns:a="http://schemas.openxmlformats.org/drawingml/2006/main" prst="rect">
            <a:avLst/>
          </a:prstGeom>
        </p:spPr>
      </p:pic>
      <p:sp>
        <p:nvSpPr>
          <p:cNvPr id="2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21F9EE39-6260-4D81-908D-33119E47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05800" y="5791200"/>
            <a:ext cx="33909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>
            <a:noFill/>
          </a:ln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EC1EEFEA-B699-49B2-BCC7-62B7E58E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7923" y="5901214"/>
            <a:ext cx="157749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2E7D32"/>
                </a:solidFill>
                <a:latin typeface="Segoe UI Semibold"/>
                <a:ea typeface="Segoe UI Semibold"/>
                <a:cs typeface="Segoe UI Semibold"/>
              </a:rPr>
              <a:t>只改变目标分支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5A55C57F-8DB2-474F-94EA-0651C3DF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9066" y="6135052"/>
            <a:ext cx="2130933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已完成成果和其他分支继续保留。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85582058-69FC-4145-BE65-7890AF47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19 / 24</a:t>
            </a:r>
          </a:p>
        </p:txBody>
      </p:sp>
    </p:spTree>
    <p:extLst>
      <p:ext uri="{BB962C8B-B14F-4D97-AF65-F5344CB8AC3E}">
        <p14:creationId xmlns:p14="http://schemas.microsoft.com/office/powerpoint/2010/main" val="24908951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A5EB052-952E-4E0C-B133-1EEE6267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DBF4082-DA3E-4248-A638-1DE954F4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3DAF9E33-BF38-46B2-9F59-5FA313A3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1912547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实操 3：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2B961C62-B0AF-4513-9534-D35C7183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73224" y="370522"/>
            <a:ext cx="7349966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成果可检查，模型说明不覆盖事实</a:t>
            </a:r>
          </a:p>
        </p:txBody>
      </p:sp>
      <p:sp>
        <p:nvSpPr>
          <p:cNvPr id="8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C9376D3-7C86-43CA-9B9F-CD94BAED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333500"/>
            <a:ext cx="5219700" cy="4838700"/>
          </a:xfrm>
          <a:prstGeom xmlns:a="http://schemas.openxmlformats.org/drawingml/2006/main" prst="roundRect">
            <a:avLst>
              <a:gd name="adj" fmla="val 11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B9A2868C-992C-4223-A3D1-781A4CA6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4756" y="1501140"/>
            <a:ext cx="281415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A. 成果与业务效果分层</a:t>
            </a:r>
          </a:p>
        </p:txBody>
      </p:sp>
      <p:pic>
        <p:nvPicPr>
          <p:cNvPr id="38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03e1d77b9745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28650" y="1869281"/>
            <a:ext cx="4953000" cy="2786062"/>
          </a:xfrm>
          <a:prstGeom xmlns:a="http://schemas.openxmlformats.org/drawingml/2006/main" prst="rect">
            <a:avLst/>
          </a:prstGeom>
        </p:spPr>
      </p:pic>
      <p:sp>
        <p:nvSpPr>
          <p:cNvPr id="11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BECE320-6428-44EA-A917-CFBACD64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" y="4857750"/>
            <a:ext cx="476250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>
            <a:noFill/>
          </a:ln>
        </p:spPr>
      </p:sp>
      <p:sp>
        <p:nvSpPr>
          <p:cNvPr id="12" name="Ellipse 12">
            <a:extLst xmlns:a="http://schemas.openxmlformats.org/drawingml/2006/main">
              <a:ext uri="{FF2B5EF4-FFF2-40B4-BE49-F238E27FC236}">
                <a16:creationId xmlns:a16="http://schemas.microsoft.com/office/drawing/2014/main" id="{378902DE-14B1-45BE-9650-F1CAC9B2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" y="5048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C9EF493A-0889-4CBA-A62B-523D79FE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5573" y="5063014"/>
            <a:ext cx="320449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真实文件写入隔离工作区，可下载。</a:t>
            </a:r>
          </a:p>
        </p:txBody>
      </p:sp>
      <p:sp>
        <p:nvSpPr>
          <p:cNvPr id="14" name="Ellipse 14">
            <a:extLst xmlns:a="http://schemas.openxmlformats.org/drawingml/2006/main">
              <a:ext uri="{FF2B5EF4-FFF2-40B4-BE49-F238E27FC236}">
                <a16:creationId xmlns:a16="http://schemas.microsoft.com/office/drawing/2014/main" id="{3DE74350-34DA-4629-85E2-303D9399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17E3AD04-AB37-4B12-99E2-A49CDE03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5573" y="5396389"/>
            <a:ext cx="338909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具名确定性检查与效果回执可追溯。</a:t>
            </a:r>
          </a:p>
        </p:txBody>
      </p:sp>
      <p:sp>
        <p:nvSpPr>
          <p:cNvPr id="16" name="Ellipse 16">
            <a:extLst xmlns:a="http://schemas.openxmlformats.org/drawingml/2006/main">
              <a:ext uri="{FF2B5EF4-FFF2-40B4-BE49-F238E27FC236}">
                <a16:creationId xmlns:a16="http://schemas.microsoft.com/office/drawing/2014/main" id="{F0E85219-7A15-473E-A04B-9957E4AD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" y="5715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116B33EE-1ED6-4C96-B4D7-0EB84C2D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5573" y="5729764"/>
            <a:ext cx="327412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未付款、未核销等动作继续明确为未发生。</a:t>
            </a:r>
          </a:p>
        </p:txBody>
      </p:sp>
      <p:sp>
        <p:nvSpPr>
          <p:cNvPr id="19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CF5F220-9C1B-4510-829F-FF96A083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1700" y="1333500"/>
            <a:ext cx="5715000" cy="4838700"/>
          </a:xfrm>
          <a:prstGeom xmlns:a="http://schemas.openxmlformats.org/drawingml/2006/main" prst="roundRect">
            <a:avLst>
              <a:gd name="adj" fmla="val 11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362C"/>
            </a:solidFill>
          </a:ln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964116F3-4848-49DC-B382-D6500329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01156" y="1501140"/>
            <a:ext cx="415832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B. 模型被调用，不代表说明被采用</a:t>
            </a:r>
          </a:p>
        </p:txBody>
      </p:sp>
      <p:pic>
        <p:nvPicPr>
          <p:cNvPr id="48" name="Imag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3d4f2880b949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115050" y="1866900"/>
            <a:ext cx="5448300" cy="4162425"/>
          </a:xfrm>
          <a:prstGeom xmlns:a="http://schemas.openxmlformats.org/drawingml/2006/main" prst="rect">
            <a:avLst/>
          </a:prstGeom>
        </p:spPr>
      </p:pic>
      <p:sp>
        <p:nvSpPr>
          <p:cNvPr id="22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7AED15CA-9255-44F1-8D4F-6A3728A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29350" y="1962150"/>
            <a:ext cx="2209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C0362C"/>
          </a:solidFill>
          <a:ln xmlns:a="http://schemas.openxmlformats.org/drawingml/2006/main">
            <a:noFill/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77E5C968-A911-4AD3-8658-24287859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4015" y="2034064"/>
            <a:ext cx="286047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模型已调用 · 说明未采用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653CEBE3-EC8D-4B96-933D-9EABA587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8823" y="6282214"/>
            <a:ext cx="91406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B54708"/>
                </a:solidFill>
                <a:latin typeface="Segoe UI Semibold"/>
                <a:ea typeface="Segoe UI Semibold"/>
                <a:cs typeface="Segoe UI Semibold"/>
              </a:rPr>
              <a:t>当前边界：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62C9017-5ED8-4DA7-96AD-ABAA9ADD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4173" y="6282214"/>
            <a:ext cx="619201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固定检查证明特定字段与效果，不是通用语义真值证明器；前台仍要求人工复核。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547E8474-67C4-4FA9-914B-165989D6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59225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20 / 24</a:t>
            </a:r>
          </a:p>
        </p:txBody>
      </p:sp>
    </p:spTree>
    <p:extLst>
      <p:ext uri="{BB962C8B-B14F-4D97-AF65-F5344CB8AC3E}">
        <p14:creationId xmlns:p14="http://schemas.microsoft.com/office/powerpoint/2010/main" val="196014890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8BACB3C-138A-4C16-B037-641A1D62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9C8DFB9-3E78-44EB-A153-4C5C31BC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E2E82ECD-C1E8-417E-AF5B-11F1E0FC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10544491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Demo 1：时间维连续性，单个任务如何持续推进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583D0C87-3BBC-40C6-ABED-1C3EEB4A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8823" y="1253014"/>
            <a:ext cx="829865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核心不是让智能体一直运行，而是让同一任务在证据冲突、用户纠偏和服务重启后仍能从可信状态继续。</a:t>
            </a:r>
          </a:p>
        </p:txBody>
      </p:sp>
      <p:sp>
        <p:nvSpPr>
          <p:cNvPr id="10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819DFDA-11EF-4C39-BF69-A33B2EFB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657350"/>
            <a:ext cx="1120140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11" name="Ellipse 11">
            <a:extLst xmlns:a="http://schemas.openxmlformats.org/drawingml/2006/main">
              <a:ext uri="{FF2B5EF4-FFF2-40B4-BE49-F238E27FC236}">
                <a16:creationId xmlns:a16="http://schemas.microsoft.com/office/drawing/2014/main" id="{EBBDD0CE-03BD-43FA-8A6C-EB7737A3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8650" y="1771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94DE36EC-59F5-4008-960D-CD247D51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4062" y="186261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9CD94407-4BEB-49D1-B7F4-0E790764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5023" y="2186464"/>
            <a:ext cx="126822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任务约束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7710F5CB-CA2D-40F7-8623-42BE33A8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6166" y="2458402"/>
            <a:ext cx="1424178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目标、交付、完成条件</a:t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238F2BEC-BA22-463E-840D-B61459AF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28850" y="2228850"/>
            <a:ext cx="247650" cy="9525"/>
          </a:xfrm>
          <a:custGeom xmlns:a="http://schemas.openxmlformats.org/drawingml/2006/main">
            <a:rect l="l" t="t" r="r" b="b"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69E0"/>
            </a:solidFill>
          </a:ln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9EE830A3-F92F-4536-AA06-140D16B0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1250" y="2171700"/>
            <a:ext cx="95250" cy="114300"/>
          </a:xfrm>
          <a:custGeom xmlns:a="http://schemas.openxmlformats.org/drawingml/2006/main"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8" name="Ellipse 18">
            <a:extLst xmlns:a="http://schemas.openxmlformats.org/drawingml/2006/main">
              <a:ext uri="{FF2B5EF4-FFF2-40B4-BE49-F238E27FC236}">
                <a16:creationId xmlns:a16="http://schemas.microsoft.com/office/drawing/2014/main" id="{C3B188E1-9C06-4796-8B75-5ACBED28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28900" y="1771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89C66E07-EA10-44B5-B568-CCF57FC5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44312" y="186261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48CDF3B9-1CE5-48C2-8296-A018AB38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03373" y="2186464"/>
            <a:ext cx="74875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观察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7C6545E7-33B8-492A-A601-3057BE7D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04516" y="2458402"/>
            <a:ext cx="1282827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读事件、状态、来源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5A4BFE3A-FA79-4CF1-B771-858A6533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05250" y="2228850"/>
            <a:ext cx="247650" cy="9525"/>
          </a:xfrm>
          <a:custGeom xmlns:a="http://schemas.openxmlformats.org/drawingml/2006/main">
            <a:rect l="l" t="t" r="r" b="b"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69E0"/>
            </a:solidFill>
          </a:ln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7BCC78E2-3C0D-4686-BC3D-AA30E2C0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57650" y="2171700"/>
            <a:ext cx="95250" cy="114300"/>
          </a:xfrm>
          <a:custGeom xmlns:a="http://schemas.openxmlformats.org/drawingml/2006/main"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25" name="Ellipse 25">
            <a:extLst xmlns:a="http://schemas.openxmlformats.org/drawingml/2006/main">
              <a:ext uri="{FF2B5EF4-FFF2-40B4-BE49-F238E27FC236}">
                <a16:creationId xmlns:a16="http://schemas.microsoft.com/office/drawing/2014/main" id="{0384FC33-CF80-4FBA-A534-C7644B2E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05300" y="1771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8E22E35D-AAE8-4455-9659-3092704F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0712" y="186261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C7B8F3C4-1F14-46A9-9AF5-BA332456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9773" y="2186464"/>
            <a:ext cx="36936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规划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B380B742-39A1-4CAC-A17F-55192981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80916" y="2458402"/>
            <a:ext cx="1282827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拆分支、依赖、预算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7305D871-DDB5-46C8-ABA3-1D7ECDAA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81650" y="2228850"/>
            <a:ext cx="247650" cy="9525"/>
          </a:xfrm>
          <a:custGeom xmlns:a="http://schemas.openxmlformats.org/drawingml/2006/main">
            <a:rect l="l" t="t" r="r" b="b"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69E0"/>
            </a:solidFill>
          </a:ln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DE317F0F-705D-4A95-B2AF-812F7B8F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34050" y="2171700"/>
            <a:ext cx="95250" cy="114300"/>
          </a:xfrm>
          <a:custGeom xmlns:a="http://schemas.openxmlformats.org/drawingml/2006/main"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32" name="Ellipse 32">
            <a:extLst xmlns:a="http://schemas.openxmlformats.org/drawingml/2006/main">
              <a:ext uri="{FF2B5EF4-FFF2-40B4-BE49-F238E27FC236}">
                <a16:creationId xmlns:a16="http://schemas.microsoft.com/office/drawing/2014/main" id="{B250DD53-F618-4805-9FDC-E2452A14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1700" y="1771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09CF6853-5F82-4734-8F8C-F3DE82ED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7112" y="186261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F28A2A60-880B-4054-8686-5B7F7583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56173" y="2186464"/>
            <a:ext cx="31593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执行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5392717D-692F-445C-A466-D04EE89C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57316" y="2458402"/>
            <a:ext cx="85877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产出候选工件</a:t>
            </a:r>
          </a:p>
        </p:txBody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7366D271-41BA-48D0-821B-DE2466D6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58050" y="2228850"/>
            <a:ext cx="247650" cy="9525"/>
          </a:xfrm>
          <a:custGeom xmlns:a="http://schemas.openxmlformats.org/drawingml/2006/main">
            <a:rect l="l" t="t" r="r" b="b"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97706"/>
            </a:solidFill>
          </a:ln>
        </p:spPr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EC26084A-76C1-4693-9273-A2ED436E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10450" y="2171700"/>
            <a:ext cx="95250" cy="114300"/>
          </a:xfrm>
          <a:custGeom xmlns:a="http://schemas.openxmlformats.org/drawingml/2006/main"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39" name="Ellipse 39">
            <a:extLst xmlns:a="http://schemas.openxmlformats.org/drawingml/2006/main">
              <a:ext uri="{FF2B5EF4-FFF2-40B4-BE49-F238E27FC236}">
                <a16:creationId xmlns:a16="http://schemas.microsoft.com/office/drawing/2014/main" id="{B6BC83E9-A5A5-46F8-9880-FD1A531D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8100" y="1771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B700F1AD-7441-4CFD-BCFF-191BE115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73512" y="186261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ECEAC07F-F070-491D-B180-B034F55B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32573" y="2186464"/>
            <a:ext cx="56781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核验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3114ABF5-EDB8-4409-A953-966B6776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33716" y="2458402"/>
            <a:ext cx="1395908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C0362C"/>
                </a:solidFill>
                <a:latin typeface="Segoe UI"/>
                <a:ea typeface="Segoe UI"/>
                <a:cs typeface="Segoe UI"/>
              </a:rPr>
              <a:t>2,400 万 vs 2,680 万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F9D60199-D754-4D73-BD8A-CFC2D94A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01150" y="2228850"/>
            <a:ext cx="247650" cy="9525"/>
          </a:xfrm>
          <a:custGeom xmlns:a="http://schemas.openxmlformats.org/drawingml/2006/main">
            <a:rect l="l" t="t" r="r" b="b"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E7D32"/>
            </a:solidFill>
          </a:ln>
        </p:spPr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90310E52-CA6E-4F93-8924-89DEDDE7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53550" y="2171700"/>
            <a:ext cx="95250" cy="114300"/>
          </a:xfrm>
          <a:custGeom xmlns:a="http://schemas.openxmlformats.org/drawingml/2006/main"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</p:sp>
      <p:sp>
        <p:nvSpPr>
          <p:cNvPr id="46" name="Ellipse 46">
            <a:extLst xmlns:a="http://schemas.openxmlformats.org/drawingml/2006/main">
              <a:ext uri="{FF2B5EF4-FFF2-40B4-BE49-F238E27FC236}">
                <a16:creationId xmlns:a16="http://schemas.microsoft.com/office/drawing/2014/main" id="{B74BA41F-A05A-4F60-A068-5B59CB59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1200" y="1771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C3AD1A81-6914-4886-BCB5-41A4CA50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16612" y="186261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9020B335-2C6E-433B-8F94-17F8C213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75673" y="2186464"/>
            <a:ext cx="64058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提交</a:t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C0BE5A71-E245-42C8-95F1-20EF58A2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76816" y="2458402"/>
            <a:ext cx="1261491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版本、来源、执行记录</a:t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C72F32E7-C05D-422C-A778-FE6A0E37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6156" y="3025140"/>
            <a:ext cx="3857928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证据门只暂停受影响分支</a:t>
            </a:r>
          </a:p>
        </p:txBody>
      </p:sp>
      <p:sp>
        <p:nvSpPr>
          <p:cNvPr id="53" name="Rectangle 53">
            <a:extLst xmlns:a="http://schemas.openxmlformats.org/drawingml/2006/main">
              <a:ext uri="{FF2B5EF4-FFF2-40B4-BE49-F238E27FC236}">
                <a16:creationId xmlns:a16="http://schemas.microsoft.com/office/drawing/2014/main" id="{02C0A5DA-FAB1-4035-808E-F08AD23B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3409950"/>
            <a:ext cx="7372350" cy="203835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4" name="Rectangle 54">
            <a:extLst xmlns:a="http://schemas.openxmlformats.org/drawingml/2006/main">
              <a:ext uri="{FF2B5EF4-FFF2-40B4-BE49-F238E27FC236}">
                <a16:creationId xmlns:a16="http://schemas.microsoft.com/office/drawing/2014/main" id="{66CE2BF5-E670-46A7-A9A3-6E8F292B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6750" y="3638550"/>
            <a:ext cx="21336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55" name="Freeform 55">
            <a:extLst xmlns:a="http://schemas.openxmlformats.org/drawingml/2006/main">
              <a:ext uri="{FF2B5EF4-FFF2-40B4-BE49-F238E27FC236}">
                <a16:creationId xmlns:a16="http://schemas.microsoft.com/office/drawing/2014/main" id="{681AF2B3-571C-46B0-BDF7-1E5F63D4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9156" y="3860006"/>
            <a:ext cx="185737" cy="185737"/>
          </a:xfrm>
          <a:custGeom xmlns:a="http://schemas.openxmlformats.org/drawingml/2006/main">
            <a:rect l="l" t="t" r="r" b="b"/>
            <a:pathLst>
              <a:path w="185737" h="185737">
                <a:moveTo>
                  <a:pt x="0" y="92868"/>
                </a:moveTo>
                <a:cubicBezTo>
                  <a:pt x="0" y="144158"/>
                  <a:pt x="41579" y="185737"/>
                  <a:pt x="92868" y="185737"/>
                </a:cubicBezTo>
                <a:cubicBezTo>
                  <a:pt x="144158" y="185737"/>
                  <a:pt x="185737" y="144158"/>
                  <a:pt x="185737" y="92868"/>
                </a:cubicBezTo>
                <a:cubicBezTo>
                  <a:pt x="185737" y="41579"/>
                  <a:pt x="144158" y="0"/>
                  <a:pt x="92868" y="0"/>
                </a:cubicBezTo>
                <a:cubicBezTo>
                  <a:pt x="41579" y="0"/>
                  <a:pt x="0" y="41579"/>
                  <a:pt x="0" y="9286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56" name="Freeform 56">
            <a:extLst xmlns:a="http://schemas.openxmlformats.org/drawingml/2006/main">
              <a:ext uri="{FF2B5EF4-FFF2-40B4-BE49-F238E27FC236}">
                <a16:creationId xmlns:a16="http://schemas.microsoft.com/office/drawing/2014/main" id="{F8AB6B34-9B28-41F3-BCF9-1973548A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1068" y="3932237"/>
            <a:ext cx="61912" cy="41275"/>
          </a:xfrm>
          <a:custGeom xmlns:a="http://schemas.openxmlformats.org/drawingml/2006/main">
            <a:rect l="l" t="t" r="r" b="b"/>
            <a:pathLst>
              <a:path w="61912" h="41275">
                <a:moveTo>
                  <a:pt x="0" y="20637"/>
                </a:moveTo>
                <a:lnTo>
                  <a:pt x="20637" y="41275"/>
                </a:lnTo>
                <a:lnTo>
                  <a:pt x="619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55552278-FE58-4957-951D-2FC65AA1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3673" y="3862864"/>
            <a:ext cx="143671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客户事实</a:t>
            </a:r>
          </a:p>
        </p:txBody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C54C38A3-BE99-4ED1-9A81-E6FECACE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2866" y="4115752"/>
            <a:ext cx="1000125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2E7D32"/>
                </a:solidFill>
                <a:latin typeface="Segoe UI"/>
                <a:ea typeface="Segoe UI"/>
                <a:cs typeface="Segoe UI"/>
              </a:rPr>
              <a:t>继续产出并保留</a:t>
            </a:r>
          </a:p>
        </p:txBody>
      </p:sp>
      <p:sp>
        <p:nvSpPr>
          <p:cNvPr id="60" name="Rectangle 60">
            <a:extLst xmlns:a="http://schemas.openxmlformats.org/drawingml/2006/main">
              <a:ext uri="{FF2B5EF4-FFF2-40B4-BE49-F238E27FC236}">
                <a16:creationId xmlns:a16="http://schemas.microsoft.com/office/drawing/2014/main" id="{9C4DE8EE-DD4C-4443-B300-BD272938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52750" y="3638550"/>
            <a:ext cx="21336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61" name="Freeform 61">
            <a:extLst xmlns:a="http://schemas.openxmlformats.org/drawingml/2006/main">
              <a:ext uri="{FF2B5EF4-FFF2-40B4-BE49-F238E27FC236}">
                <a16:creationId xmlns:a16="http://schemas.microsoft.com/office/drawing/2014/main" id="{247A9CBE-7B5C-4967-90FE-86A14D62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55156" y="3860006"/>
            <a:ext cx="185737" cy="185737"/>
          </a:xfrm>
          <a:custGeom xmlns:a="http://schemas.openxmlformats.org/drawingml/2006/main">
            <a:rect l="l" t="t" r="r" b="b"/>
            <a:pathLst>
              <a:path w="185737" h="185737">
                <a:moveTo>
                  <a:pt x="0" y="92868"/>
                </a:moveTo>
                <a:cubicBezTo>
                  <a:pt x="0" y="144158"/>
                  <a:pt x="41579" y="185737"/>
                  <a:pt x="92868" y="185737"/>
                </a:cubicBezTo>
                <a:cubicBezTo>
                  <a:pt x="144158" y="185737"/>
                  <a:pt x="185737" y="144158"/>
                  <a:pt x="185737" y="92868"/>
                </a:cubicBezTo>
                <a:cubicBezTo>
                  <a:pt x="185737" y="41579"/>
                  <a:pt x="144158" y="0"/>
                  <a:pt x="92868" y="0"/>
                </a:cubicBezTo>
                <a:cubicBezTo>
                  <a:pt x="41579" y="0"/>
                  <a:pt x="0" y="41579"/>
                  <a:pt x="0" y="9286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62" name="Freeform 62">
            <a:extLst xmlns:a="http://schemas.openxmlformats.org/drawingml/2006/main">
              <a:ext uri="{FF2B5EF4-FFF2-40B4-BE49-F238E27FC236}">
                <a16:creationId xmlns:a16="http://schemas.microsoft.com/office/drawing/2014/main" id="{10D0FA5B-C299-4956-9C14-EB7AF742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17068" y="3932237"/>
            <a:ext cx="61912" cy="41275"/>
          </a:xfrm>
          <a:custGeom xmlns:a="http://schemas.openxmlformats.org/drawingml/2006/main">
            <a:rect l="l" t="t" r="r" b="b"/>
            <a:pathLst>
              <a:path w="61912" h="41275">
                <a:moveTo>
                  <a:pt x="0" y="20637"/>
                </a:moveTo>
                <a:lnTo>
                  <a:pt x="20637" y="41275"/>
                </a:lnTo>
                <a:lnTo>
                  <a:pt x="619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332123A1-2E45-44F0-9259-5F29BAC5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79673" y="3862864"/>
            <a:ext cx="111231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项目风险</a:t>
            </a:r>
          </a:p>
        </p:txBody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453DDCED-AFCB-4BB6-AE12-0B0BF248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18866" y="4115752"/>
            <a:ext cx="1000125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2E7D32"/>
                </a:solidFill>
                <a:latin typeface="Segoe UI"/>
                <a:ea typeface="Segoe UI"/>
                <a:cs typeface="Segoe UI"/>
              </a:rPr>
              <a:t>继续产出并保留</a:t>
            </a:r>
          </a:p>
        </p:txBody>
      </p:sp>
      <p:sp>
        <p:nvSpPr>
          <p:cNvPr id="66" name="Rectangle 66">
            <a:extLst xmlns:a="http://schemas.openxmlformats.org/drawingml/2006/main">
              <a:ext uri="{FF2B5EF4-FFF2-40B4-BE49-F238E27FC236}">
                <a16:creationId xmlns:a16="http://schemas.microsoft.com/office/drawing/2014/main" id="{B3A5220A-4650-4771-84FD-CDEE0A58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38750" y="3638550"/>
            <a:ext cx="24574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67" name="Freeform 67">
            <a:extLst xmlns:a="http://schemas.openxmlformats.org/drawingml/2006/main">
              <a:ext uri="{FF2B5EF4-FFF2-40B4-BE49-F238E27FC236}">
                <a16:creationId xmlns:a16="http://schemas.microsoft.com/office/drawing/2014/main" id="{580B654B-794D-47DB-ABF1-3AFC0C3B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2112" y="3880644"/>
            <a:ext cx="41275" cy="144462"/>
          </a:xfrm>
          <a:custGeom xmlns:a="http://schemas.openxmlformats.org/drawingml/2006/main">
            <a:rect l="l" t="t" r="r" b="b"/>
            <a:pathLst>
              <a:path w="41275" h="144462">
                <a:moveTo>
                  <a:pt x="0" y="10319"/>
                </a:moveTo>
                <a:cubicBezTo>
                  <a:pt x="0" y="4620"/>
                  <a:pt x="4620" y="0"/>
                  <a:pt x="10319" y="0"/>
                </a:cubicBezTo>
                <a:lnTo>
                  <a:pt x="30956" y="0"/>
                </a:lnTo>
                <a:cubicBezTo>
                  <a:pt x="36655" y="0"/>
                  <a:pt x="41275" y="4620"/>
                  <a:pt x="41275" y="10319"/>
                </a:cubicBezTo>
                <a:lnTo>
                  <a:pt x="41275" y="134143"/>
                </a:lnTo>
                <a:cubicBezTo>
                  <a:pt x="41275" y="139842"/>
                  <a:pt x="36655" y="144462"/>
                  <a:pt x="30956" y="144462"/>
                </a:cubicBezTo>
                <a:lnTo>
                  <a:pt x="10319" y="144462"/>
                </a:lnTo>
                <a:cubicBezTo>
                  <a:pt x="4620" y="144462"/>
                  <a:pt x="0" y="139842"/>
                  <a:pt x="0" y="134143"/>
                </a:cubicBezTo>
                <a:lnTo>
                  <a:pt x="0" y="1031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68" name="Freeform 68">
            <a:extLst xmlns:a="http://schemas.openxmlformats.org/drawingml/2006/main">
              <a:ext uri="{FF2B5EF4-FFF2-40B4-BE49-F238E27FC236}">
                <a16:creationId xmlns:a16="http://schemas.microsoft.com/office/drawing/2014/main" id="{BB007F60-C53D-4A02-8103-9CDB7AB9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54662" y="3880644"/>
            <a:ext cx="41275" cy="144462"/>
          </a:xfrm>
          <a:custGeom xmlns:a="http://schemas.openxmlformats.org/drawingml/2006/main">
            <a:rect l="l" t="t" r="r" b="b"/>
            <a:pathLst>
              <a:path w="41275" h="144462">
                <a:moveTo>
                  <a:pt x="0" y="10319"/>
                </a:moveTo>
                <a:cubicBezTo>
                  <a:pt x="0" y="4620"/>
                  <a:pt x="4620" y="0"/>
                  <a:pt x="10319" y="0"/>
                </a:cubicBezTo>
                <a:lnTo>
                  <a:pt x="30956" y="0"/>
                </a:lnTo>
                <a:cubicBezTo>
                  <a:pt x="36655" y="0"/>
                  <a:pt x="41275" y="4620"/>
                  <a:pt x="41275" y="10319"/>
                </a:cubicBezTo>
                <a:lnTo>
                  <a:pt x="41275" y="134143"/>
                </a:lnTo>
                <a:cubicBezTo>
                  <a:pt x="41275" y="139842"/>
                  <a:pt x="36655" y="144462"/>
                  <a:pt x="30956" y="144462"/>
                </a:cubicBezTo>
                <a:lnTo>
                  <a:pt x="10319" y="144462"/>
                </a:lnTo>
                <a:cubicBezTo>
                  <a:pt x="4620" y="144462"/>
                  <a:pt x="0" y="139842"/>
                  <a:pt x="0" y="134143"/>
                </a:cubicBezTo>
                <a:lnTo>
                  <a:pt x="0" y="1031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70" name="TextBox 70">
            <a:extLst xmlns:a="http://schemas.openxmlformats.org/drawingml/2006/main">
              <a:ext uri="{FF2B5EF4-FFF2-40B4-BE49-F238E27FC236}">
                <a16:creationId xmlns:a16="http://schemas.microsoft.com/office/drawing/2014/main" id="{5B1E1525-9FFF-4B0F-AF49-F1FB3F45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65673" y="3862864"/>
            <a:ext cx="150880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收入基线</a:t>
            </a:r>
          </a:p>
        </p:txBody>
      </p:sp>
      <p:sp>
        <p:nvSpPr>
          <p:cNvPr id="71" name="TextBox 71">
            <a:extLst xmlns:a="http://schemas.openxmlformats.org/drawingml/2006/main">
              <a:ext uri="{FF2B5EF4-FFF2-40B4-BE49-F238E27FC236}">
                <a16:creationId xmlns:a16="http://schemas.microsoft.com/office/drawing/2014/main" id="{996E3F87-C9FB-42A9-BAD5-D5C74DAE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4866" y="4115752"/>
            <a:ext cx="1933042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B54708"/>
                </a:solidFill>
                <a:latin typeface="Segoe UI"/>
                <a:ea typeface="Segoe UI"/>
                <a:cs typeface="Segoe UI"/>
              </a:rPr>
              <a:t>等待输入：需要确认口径</a:t>
            </a:r>
          </a:p>
        </p:txBody>
      </p:sp>
      <p:sp>
        <p:nvSpPr>
          <p:cNvPr id="72" name="Freeform 72">
            <a:extLst xmlns:a="http://schemas.openxmlformats.org/drawingml/2006/main">
              <a:ext uri="{FF2B5EF4-FFF2-40B4-BE49-F238E27FC236}">
                <a16:creationId xmlns:a16="http://schemas.microsoft.com/office/drawing/2014/main" id="{372E9357-F8CE-4C3A-A791-1E6BF43C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7950" y="4362450"/>
            <a:ext cx="9525" cy="247650"/>
          </a:xfrm>
          <a:custGeom xmlns:a="http://schemas.openxmlformats.org/drawingml/2006/main">
            <a:rect l="l" t="t" r="r" b="b"/>
            <a:pathLst>
              <a:path w="9525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97706"/>
            </a:solidFill>
          </a:ln>
        </p:spPr>
      </p:sp>
      <p:sp>
        <p:nvSpPr>
          <p:cNvPr id="73" name="Freeform 73">
            <a:extLst xmlns:a="http://schemas.openxmlformats.org/drawingml/2006/main">
              <a:ext uri="{FF2B5EF4-FFF2-40B4-BE49-F238E27FC236}">
                <a16:creationId xmlns:a16="http://schemas.microsoft.com/office/drawing/2014/main" id="{142DB1B2-3063-4970-A214-6069B447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00800" y="4514850"/>
            <a:ext cx="114300" cy="95250"/>
          </a:xfrm>
          <a:custGeom xmlns:a="http://schemas.openxmlformats.org/drawingml/2006/main">
            <a:rect l="l" t="t" r="r" b="b"/>
            <a:pathLst>
              <a:path w="114300" h="95250">
                <a:moveTo>
                  <a:pt x="57150" y="95250"/>
                </a:moveTo>
                <a:lnTo>
                  <a:pt x="0" y="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74" name="Rectangle 74">
            <a:extLst xmlns:a="http://schemas.openxmlformats.org/drawingml/2006/main">
              <a:ext uri="{FF2B5EF4-FFF2-40B4-BE49-F238E27FC236}">
                <a16:creationId xmlns:a16="http://schemas.microsoft.com/office/drawing/2014/main" id="{B1C6DE36-2BC0-4A1C-A38D-A906EE43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52750" y="4667250"/>
            <a:ext cx="47434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75" name="Freeform 75">
            <a:extLst xmlns:a="http://schemas.openxmlformats.org/drawingml/2006/main">
              <a:ext uri="{FF2B5EF4-FFF2-40B4-BE49-F238E27FC236}">
                <a16:creationId xmlns:a16="http://schemas.microsoft.com/office/drawing/2014/main" id="{45851172-1678-454B-8A1D-F8CE50A5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63640" y="4862453"/>
            <a:ext cx="206003" cy="182610"/>
          </a:xfrm>
          <a:custGeom xmlns:a="http://schemas.openxmlformats.org/drawingml/2006/main">
            <a:rect l="l" t="t" r="r" b="b"/>
            <a:pathLst>
              <a:path w="206003" h="182610">
                <a:moveTo>
                  <a:pt x="10566" y="173096"/>
                </a:moveTo>
                <a:lnTo>
                  <a:pt x="23981" y="132853"/>
                </a:lnTo>
                <a:cubicBezTo>
                  <a:pt x="0" y="97388"/>
                  <a:pt x="9266" y="51625"/>
                  <a:pt x="45650" y="25807"/>
                </a:cubicBezTo>
                <a:cubicBezTo>
                  <a:pt x="82034" y="0"/>
                  <a:pt x="134288" y="2115"/>
                  <a:pt x="167875" y="30760"/>
                </a:cubicBezTo>
                <a:cubicBezTo>
                  <a:pt x="201463" y="59415"/>
                  <a:pt x="206003" y="105736"/>
                  <a:pt x="178493" y="139117"/>
                </a:cubicBezTo>
                <a:cubicBezTo>
                  <a:pt x="150983" y="172498"/>
                  <a:pt x="99916" y="182610"/>
                  <a:pt x="59064" y="162778"/>
                </a:cubicBezTo>
                <a:lnTo>
                  <a:pt x="10566" y="1730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76" name="TextBox 76">
            <a:extLst xmlns:a="http://schemas.openxmlformats.org/drawingml/2006/main">
              <a:ext uri="{FF2B5EF4-FFF2-40B4-BE49-F238E27FC236}">
                <a16:creationId xmlns:a16="http://schemas.microsoft.com/office/drawing/2014/main" id="{04DA38BB-E1CE-46A4-8E2D-4B02F513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17773" y="4758214"/>
            <a:ext cx="343038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纠偏：采用正式口径，保留预测差异说明</a:t>
            </a:r>
          </a:p>
        </p:txBody>
      </p:sp>
      <p:sp>
        <p:nvSpPr>
          <p:cNvPr id="77" name="TextBox 77">
            <a:extLst xmlns:a="http://schemas.openxmlformats.org/drawingml/2006/main">
              <a:ext uri="{FF2B5EF4-FFF2-40B4-BE49-F238E27FC236}">
                <a16:creationId xmlns:a16="http://schemas.microsoft.com/office/drawing/2014/main" id="{775685D9-A1AC-420D-A82F-DECCE336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18916" y="5011102"/>
            <a:ext cx="2696337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只恢复该分支；已完成工件和版本不被覆盖</a:t>
            </a:r>
          </a:p>
        </p:txBody>
      </p:sp>
      <p:sp>
        <p:nvSpPr>
          <p:cNvPr id="79" name="TextBox 79">
            <a:extLst xmlns:a="http://schemas.openxmlformats.org/drawingml/2006/main">
              <a:ext uri="{FF2B5EF4-FFF2-40B4-BE49-F238E27FC236}">
                <a16:creationId xmlns:a16="http://schemas.microsoft.com/office/drawing/2014/main" id="{F1694392-E8FE-4B69-8EC1-ADAD1161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44256" y="3025140"/>
            <a:ext cx="2906089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从 07-16 目标到当前事实</a:t>
            </a:r>
          </a:p>
        </p:txBody>
      </p:sp>
      <p:sp>
        <p:nvSpPr>
          <p:cNvPr id="80" name="Rectangle 80">
            <a:extLst xmlns:a="http://schemas.openxmlformats.org/drawingml/2006/main">
              <a:ext uri="{FF2B5EF4-FFF2-40B4-BE49-F238E27FC236}">
                <a16:creationId xmlns:a16="http://schemas.microsoft.com/office/drawing/2014/main" id="{321E0BBA-539B-49A2-888D-33DF3B70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53400" y="3409950"/>
            <a:ext cx="3543300" cy="203835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81" name="Rectangle 81">
            <a:extLst xmlns:a="http://schemas.openxmlformats.org/drawingml/2006/main">
              <a:ext uri="{FF2B5EF4-FFF2-40B4-BE49-F238E27FC236}">
                <a16:creationId xmlns:a16="http://schemas.microsoft.com/office/drawing/2014/main" id="{3199A3E0-EDB5-4834-90AA-52E2CA16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43900" y="3600450"/>
            <a:ext cx="895350" cy="2476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>
            <a:noFill/>
          </a:ln>
        </p:spPr>
      </p:sp>
      <p:sp>
        <p:nvSpPr>
          <p:cNvPr id="82" name="TextBox 82">
            <a:extLst xmlns:a="http://schemas.openxmlformats.org/drawingml/2006/main">
              <a:ext uri="{FF2B5EF4-FFF2-40B4-BE49-F238E27FC236}">
                <a16:creationId xmlns:a16="http://schemas.microsoft.com/office/drawing/2014/main" id="{0E2F9D13-B760-4593-9414-0E76AC44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15195" y="3668078"/>
            <a:ext cx="752761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当前已落地</a:t>
            </a:r>
          </a:p>
        </p:txBody>
      </p:sp>
      <p:sp>
        <p:nvSpPr>
          <p:cNvPr id="83" name="TextBox 83">
            <a:extLst xmlns:a="http://schemas.openxmlformats.org/drawingml/2006/main">
              <a:ext uri="{FF2B5EF4-FFF2-40B4-BE49-F238E27FC236}">
                <a16:creationId xmlns:a16="http://schemas.microsoft.com/office/drawing/2014/main" id="{ADAC552B-FC80-4918-8879-7B303DD1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7423" y="3958114"/>
            <a:ext cx="310564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服务端分支与分支级证据门</a:t>
            </a:r>
          </a:p>
        </p:txBody>
      </p:sp>
      <p:sp>
        <p:nvSpPr>
          <p:cNvPr id="84" name="TextBox 84">
            <a:extLst xmlns:a="http://schemas.openxmlformats.org/drawingml/2006/main">
              <a:ext uri="{FF2B5EF4-FFF2-40B4-BE49-F238E27FC236}">
                <a16:creationId xmlns:a16="http://schemas.microsoft.com/office/drawing/2014/main" id="{721A924D-148B-463F-A2D7-9366E294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7423" y="4205764"/>
            <a:ext cx="358025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追加式成果版本与任务提交</a:t>
            </a:r>
          </a:p>
        </p:txBody>
      </p:sp>
      <p:sp>
        <p:nvSpPr>
          <p:cNvPr id="85" name="TextBox 85">
            <a:extLst xmlns:a="http://schemas.openxmlformats.org/drawingml/2006/main">
              <a:ext uri="{FF2B5EF4-FFF2-40B4-BE49-F238E27FC236}">
                <a16:creationId xmlns:a16="http://schemas.microsoft.com/office/drawing/2014/main" id="{D4E54F66-2B31-4F14-943E-20194246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7423" y="4453414"/>
            <a:ext cx="304956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局部恢复与可选数据库重启恢复</a:t>
            </a:r>
          </a:p>
        </p:txBody>
      </p:sp>
      <p:sp>
        <p:nvSpPr>
          <p:cNvPr id="86" name="Freeform 86">
            <a:extLst xmlns:a="http://schemas.openxmlformats.org/drawingml/2006/main">
              <a:ext uri="{FF2B5EF4-FFF2-40B4-BE49-F238E27FC236}">
                <a16:creationId xmlns:a16="http://schemas.microsoft.com/office/drawing/2014/main" id="{0377CB2B-ED5D-42EC-B02C-02DD6BEA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43900" y="4762500"/>
            <a:ext cx="3162300" cy="9525"/>
          </a:xfrm>
          <a:custGeom xmlns:a="http://schemas.openxmlformats.org/drawingml/2006/main">
            <a:rect l="l" t="t" r="r" b="b"/>
            <a:pathLst>
              <a:path w="3162300" h="9525">
                <a:moveTo>
                  <a:pt x="0" y="0"/>
                </a:moveTo>
                <a:lnTo>
                  <a:pt x="3162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3E8ED"/>
            </a:solidFill>
          </a:ln>
        </p:spPr>
      </p:sp>
      <p:sp>
        <p:nvSpPr>
          <p:cNvPr id="87" name="TextBox 87">
            <a:extLst xmlns:a="http://schemas.openxmlformats.org/drawingml/2006/main">
              <a:ext uri="{FF2B5EF4-FFF2-40B4-BE49-F238E27FC236}">
                <a16:creationId xmlns:a16="http://schemas.microsoft.com/office/drawing/2014/main" id="{1E4A1BCE-E195-4E94-8648-17E050DB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8566" y="4896802"/>
            <a:ext cx="4325447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B54708"/>
                </a:solidFill>
                <a:latin typeface="Segoe UI Semibold"/>
                <a:ea typeface="Segoe UI Semibold"/>
                <a:cs typeface="Segoe UI Semibold"/>
              </a:rPr>
              <a:t>仍是目标：生产身份、通用可写办公成果、长期后台执行</a:t>
            </a:r>
          </a:p>
        </p:txBody>
      </p:sp>
      <p:sp>
        <p:nvSpPr>
          <p:cNvPr id="89" name="Rectangle 89">
            <a:extLst xmlns:a="http://schemas.openxmlformats.org/drawingml/2006/main">
              <a:ext uri="{FF2B5EF4-FFF2-40B4-BE49-F238E27FC236}">
                <a16:creationId xmlns:a16="http://schemas.microsoft.com/office/drawing/2014/main" id="{E252C05B-811E-47F9-A7E7-F47A878E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5715000"/>
            <a:ext cx="112014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>
            <a:noFill/>
          </a:ln>
        </p:spPr>
      </p:sp>
      <p:sp>
        <p:nvSpPr>
          <p:cNvPr id="90" name="TextBox 90">
            <a:extLst xmlns:a="http://schemas.openxmlformats.org/drawingml/2006/main">
              <a:ext uri="{FF2B5EF4-FFF2-40B4-BE49-F238E27FC236}">
                <a16:creationId xmlns:a16="http://schemas.microsoft.com/office/drawing/2014/main" id="{3445795E-2500-49B5-9EA7-A3DCAAA0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423" y="5891689"/>
            <a:ext cx="91406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交互变化：</a:t>
            </a:r>
          </a:p>
        </p:txBody>
      </p:sp>
      <p:sp>
        <p:nvSpPr>
          <p:cNvPr id="91" name="TextBox 91">
            <a:extLst xmlns:a="http://schemas.openxmlformats.org/drawingml/2006/main">
              <a:ext uri="{FF2B5EF4-FFF2-40B4-BE49-F238E27FC236}">
                <a16:creationId xmlns:a16="http://schemas.microsoft.com/office/drawing/2014/main" id="{096C6D96-4822-4764-B3A7-78B39034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93723" y="5891689"/>
            <a:ext cx="687857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用户不再重开对话、重讲背景，而是在同一任务里查看分支、处理冲突、恢复受影响部分。</a:t>
            </a:r>
          </a:p>
        </p:txBody>
      </p:sp>
      <p:sp>
        <p:nvSpPr>
          <p:cNvPr id="93" name="TextBox 93">
            <a:extLst xmlns:a="http://schemas.openxmlformats.org/drawingml/2006/main">
              <a:ext uri="{FF2B5EF4-FFF2-40B4-BE49-F238E27FC236}">
                <a16:creationId xmlns:a16="http://schemas.microsoft.com/office/drawing/2014/main" id="{E78E5F1D-6A11-4B3E-8DA6-583CD3EC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63246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依据：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cd0ee55fbdd049bd"/>
              </a:rPr>
              <a:t>docs.langchain.com/.../langgraph/persistence</a:t>
            </a: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 ·  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f8b9c8736efc4cfc"/>
              </a:rPr>
              <a:t>openai.github.io/.../human_in_the_loop/</a:t>
            </a:r>
          </a:p>
        </p:txBody>
      </p:sp>
      <p:sp>
        <p:nvSpPr>
          <p:cNvPr id="94" name="TextBox 94">
            <a:extLst xmlns:a="http://schemas.openxmlformats.org/drawingml/2006/main">
              <a:ext uri="{FF2B5EF4-FFF2-40B4-BE49-F238E27FC236}">
                <a16:creationId xmlns:a16="http://schemas.microsoft.com/office/drawing/2014/main" id="{1B37A97F-8785-451B-A030-B7A65BB3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21 / 24</a:t>
            </a:r>
          </a:p>
        </p:txBody>
      </p:sp>
    </p:spTree>
    <p:extLst>
      <p:ext uri="{BB962C8B-B14F-4D97-AF65-F5344CB8AC3E}">
        <p14:creationId xmlns:p14="http://schemas.microsoft.com/office/powerpoint/2010/main" val="55192286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112DDC3-4E64-4C0F-9DB0-F1223D0A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7DD4174-CA0A-429A-9529-2A6EAD79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01463D01-8D90-46C1-9A72-1BCA0FA0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7577120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Demo 2：复杂任务怎样拆解并收敛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CBD2AEA6-BEA1-4A8B-9A63-C7386B51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8823" y="1253014"/>
            <a:ext cx="757371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智能工作驾驶舱仍是目标；当前先验证复杂任务的拆解、依赖和成果汇合。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F7583894-8030-42CF-8D8A-C8AC08BC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100" y="1885950"/>
            <a:ext cx="9525" cy="3295650"/>
          </a:xfrm>
          <a:custGeom xmlns:a="http://schemas.openxmlformats.org/drawingml/2006/main">
            <a:rect l="l" t="t" r="r" b="b"/>
            <a:pathLst>
              <a:path w="9525" h="3295650">
                <a:moveTo>
                  <a:pt x="0" y="0"/>
                </a:moveTo>
                <a:lnTo>
                  <a:pt x="0" y="32956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BD5DF"/>
            </a:solidFill>
          </a:ln>
        </p:spPr>
      </p:sp>
      <p:sp>
        <p:nvSpPr>
          <p:cNvPr id="11" name="Ellipse 11">
            <a:extLst xmlns:a="http://schemas.openxmlformats.org/drawingml/2006/main">
              <a:ext uri="{FF2B5EF4-FFF2-40B4-BE49-F238E27FC236}">
                <a16:creationId xmlns:a16="http://schemas.microsoft.com/office/drawing/2014/main" id="{346B2539-917E-4D6A-AFFE-6DA53DBE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" y="1809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1BD39590-17AD-4F29-BBB5-F25CB6B0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0765" y="1940242"/>
            <a:ext cx="118669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5F6489B2-7425-4E55-A7D2-525D7C0A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1956" y="1777365"/>
            <a:ext cx="383476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输入：一个复杂但只读的办公任务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99124C89-D250-4C13-9CE1-190F5801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4623" y="2129314"/>
            <a:ext cx="3789045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跨产品、算法、交互三条工作线核对风险与证据，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1D96A14C-1A04-467D-9A43-27CD22A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4623" y="2376964"/>
            <a:ext cx="241592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先独立核对，再形成统一简报。</a:t>
            </a:r>
          </a:p>
        </p:txBody>
      </p:sp>
      <p:sp>
        <p:nvSpPr>
          <p:cNvPr id="16" name="Ellipse 16">
            <a:extLst xmlns:a="http://schemas.openxmlformats.org/drawingml/2006/main">
              <a:ext uri="{FF2B5EF4-FFF2-40B4-BE49-F238E27FC236}">
                <a16:creationId xmlns:a16="http://schemas.microsoft.com/office/drawing/2014/main" id="{C996B7E0-DE34-4203-8438-519AB2A3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" y="3048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EBC718CF-714F-4CF4-9133-DEAC2D70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0765" y="3178492"/>
            <a:ext cx="118669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BC7DE28B-222A-4248-94BC-9ABC0389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1956" y="3015615"/>
            <a:ext cx="332590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过程：依赖关系决定执行批次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4046007B-259C-4BE8-BC8E-3E2A4C24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4623" y="3367564"/>
            <a:ext cx="3511493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路线准入生成 5 个工作包：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1B6E6ACD-9C8B-495F-825E-0D9EE12D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4623" y="3615214"/>
            <a:ext cx="3909193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3 个根工作包先执行，2 个依赖工作包等待下一波。</a:t>
            </a:r>
          </a:p>
        </p:txBody>
      </p:sp>
      <p:sp>
        <p:nvSpPr>
          <p:cNvPr id="21" name="Ellipse 21">
            <a:extLst xmlns:a="http://schemas.openxmlformats.org/drawingml/2006/main">
              <a:ext uri="{FF2B5EF4-FFF2-40B4-BE49-F238E27FC236}">
                <a16:creationId xmlns:a16="http://schemas.microsoft.com/office/drawing/2014/main" id="{7B6B34DB-F387-4BF6-81D0-D50446D2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" y="4324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C85B1FA7-34AF-4A06-BC24-127F9191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0765" y="4454842"/>
            <a:ext cx="118669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72FE3858-C305-4D28-AFF1-3F3F8F3F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1956" y="4291965"/>
            <a:ext cx="3580333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输出：统一成果与一个明确待办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3C01F69-A74F-4DB9-9D07-30E599BD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5004" y="4652010"/>
            <a:ext cx="3617802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3 份贡献已采用，成果版本 1 已保留；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B7F9A6EB-A84F-4DB8-8BEB-1F339E70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5004" y="4890135"/>
            <a:ext cx="1966874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右侧只突出“继续下一批”，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320B1F82-EF14-407A-AD2F-B823467F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5004" y="5128260"/>
            <a:ext cx="195072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不要求用户管理多个会话。</a:t>
            </a:r>
          </a:p>
        </p:txBody>
      </p:sp>
      <p:sp>
        <p:nvSpPr>
          <p:cNvPr id="28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3BF7AB79-55B8-4E04-B98C-D552B109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950" y="1581150"/>
            <a:ext cx="6381750" cy="4343400"/>
          </a:xfrm>
          <a:prstGeom xmlns:a="http://schemas.openxmlformats.org/drawingml/2006/main" prst="roundRect">
            <a:avLst>
              <a:gd name="adj" fmla="val 1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pic>
        <p:nvPicPr>
          <p:cNvPr id="66" name="Imag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979bff200b4c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812501" y="1695450"/>
            <a:ext cx="5386647" cy="4114800"/>
          </a:xfrm>
          <a:prstGeom xmlns:a="http://schemas.openxmlformats.org/drawingml/2006/main" prst="rect">
            <a:avLst/>
          </a:prstGeom>
        </p:spPr>
      </p:pic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815A8C05-BB94-48B7-9160-9EE22F6B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43850" y="3810000"/>
            <a:ext cx="1181100" cy="9525"/>
          </a:xfrm>
          <a:custGeom xmlns:a="http://schemas.openxmlformats.org/drawingml/2006/main"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97706"/>
            </a:solidFill>
          </a:ln>
        </p:spPr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FC420AC3-7A9F-4E3D-9016-A654B83E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10650" y="3743325"/>
            <a:ext cx="114300" cy="133350"/>
          </a:xfrm>
          <a:custGeom xmlns:a="http://schemas.openxmlformats.org/drawingml/2006/main">
            <a:rect l="l" t="t" r="r" b="b"/>
            <a:pathLst>
              <a:path w="114300" h="133350">
                <a:moveTo>
                  <a:pt x="114300" y="66675"/>
                </a:moveTo>
                <a:lnTo>
                  <a:pt x="0" y="0"/>
                </a:lnTo>
                <a:lnTo>
                  <a:pt x="0" y="133350"/>
                </a:lnTo>
                <a:close/>
              </a:path>
            </a:pathLst>
          </a:cu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37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AC2C432E-8DF1-4923-94BC-E439AB9D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6115050"/>
            <a:ext cx="1120140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>
            <a:noFill/>
          </a:ln>
        </p:spPr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A19EF7E2-F8AB-46FB-A537-A3BFF955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423" y="6225064"/>
            <a:ext cx="91406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当前边界：</a:t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1A7616D5-D5AD-4A94-8564-713A1D9E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5623" y="6225064"/>
            <a:ext cx="8138073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单服务进程、顺序批次、每批最多 3 个只读执行单元；不是分布式协作，也不是完整智能工作驾驶舱。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B10D49BC-1805-43D9-BBCF-D8B3E4A0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6113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22 / 24</a:t>
            </a:r>
          </a:p>
        </p:txBody>
      </p:sp>
    </p:spTree>
    <p:extLst>
      <p:ext uri="{BB962C8B-B14F-4D97-AF65-F5344CB8AC3E}">
        <p14:creationId xmlns:p14="http://schemas.microsoft.com/office/powerpoint/2010/main" val="24559966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2847AB9-8253-4525-A7F4-C39C914D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4524E30-496E-490D-9859-1ED47A40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B3003848-5881-4445-8166-0D015BC2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536" y="386715"/>
            <a:ext cx="9139916" cy="645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3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Demo 3：动作维风险，方案与执行必须隔离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786C48CF-1C03-4AB9-B66C-ADD8E185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8823" y="1253014"/>
            <a:ext cx="790841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生成建议、形成草稿和真实发送或付款是三种不同事实；风险越高，用户越需要在动作发生前看见影响。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E889C0D2-5A8E-4B1F-8623-3034E9F7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6156" y="1596390"/>
            <a:ext cx="3526566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L0-L5 把风险映射为不同交互</a:t>
            </a:r>
          </a:p>
        </p:txBody>
      </p:sp>
      <p:sp>
        <p:nvSpPr>
          <p:cNvPr id="11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8995F4E-EFCB-4E67-8B29-AFF00B57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981200"/>
            <a:ext cx="17907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9CBA857D-A25A-416E-82F5-C46DCA66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9323" y="2091214"/>
            <a:ext cx="22242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L0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59250F81-24AA-4D9C-91A8-D4B20EE2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0323" y="2262664"/>
            <a:ext cx="73384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自动执行</a:t>
            </a:r>
          </a:p>
        </p:txBody>
      </p:sp>
      <p:sp>
        <p:nvSpPr>
          <p:cNvPr id="14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87262C5-798A-4E2D-9357-60D67694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1250" y="1981200"/>
            <a:ext cx="17907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DC60E0AA-51BF-49DA-B641-07B3F680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65273" y="2091214"/>
            <a:ext cx="22242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L1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E52258F9-F97D-4F9C-B406-0B366AA1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46273" y="2262664"/>
            <a:ext cx="91406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执行并通知</a:t>
            </a:r>
          </a:p>
        </p:txBody>
      </p:sp>
      <p:sp>
        <p:nvSpPr>
          <p:cNvPr id="17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9757A14-4B4D-485F-8585-99B2C9AA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7200" y="1981200"/>
            <a:ext cx="17907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4D5A8FB2-28DD-4E67-9581-71344DDB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51223" y="2091214"/>
            <a:ext cx="22242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769E0"/>
                </a:solidFill>
                <a:latin typeface="Consolas"/>
                <a:ea typeface="Consolas"/>
                <a:cs typeface="Consolas"/>
              </a:rPr>
              <a:t>L2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2DE7634C-9AC1-4BDE-98F6-1852E208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2223" y="2262664"/>
            <a:ext cx="91406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只生成草稿</a:t>
            </a:r>
          </a:p>
        </p:txBody>
      </p:sp>
      <p:sp>
        <p:nvSpPr>
          <p:cNvPr id="20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6D7B57AE-9BED-4BA0-B9F2-0EB73072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3150" y="1981200"/>
            <a:ext cx="17907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DB88D00C-4FAC-4446-A13F-0786F7EC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7173" y="2091214"/>
            <a:ext cx="22242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B54708"/>
                </a:solidFill>
                <a:latin typeface="Consolas"/>
                <a:ea typeface="Consolas"/>
                <a:cs typeface="Consolas"/>
              </a:rPr>
              <a:t>L3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DC49860A-C405-481A-9F00-94EAAAF4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18173" y="2262664"/>
            <a:ext cx="73384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普通确认</a:t>
            </a:r>
          </a:p>
        </p:txBody>
      </p:sp>
      <p:sp>
        <p:nvSpPr>
          <p:cNvPr id="2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C494AC5-38E4-42A8-9FBB-0C64051B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39100" y="1981200"/>
            <a:ext cx="17907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3D32A00D-1942-4264-A0B3-8D67CF78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3123" y="2091214"/>
            <a:ext cx="22242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B54708"/>
                </a:solidFill>
                <a:latin typeface="Consolas"/>
                <a:ea typeface="Consolas"/>
                <a:cs typeface="Consolas"/>
              </a:rPr>
              <a:t>L4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3060C4E8-B129-417F-B56F-97454672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04123" y="2262664"/>
            <a:ext cx="55362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强确认</a:t>
            </a:r>
          </a:p>
        </p:txBody>
      </p:sp>
      <p:sp>
        <p:nvSpPr>
          <p:cNvPr id="26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ED6265DE-CBF2-4DA5-9613-D276485F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25050" y="1981200"/>
            <a:ext cx="17716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362C"/>
            </a:solidFill>
          </a:ln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9A8C9598-7B73-466B-9A6C-D79BF384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09073" y="2091214"/>
            <a:ext cx="22242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C0362C"/>
                </a:solidFill>
                <a:latin typeface="Consolas"/>
                <a:ea typeface="Consolas"/>
                <a:cs typeface="Consolas"/>
              </a:rPr>
              <a:t>L5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6327C6F7-75C6-4148-AB8E-5B1DF8E0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90073" y="2262664"/>
            <a:ext cx="73384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直接拒绝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A425951A-0EE8-4987-8F7D-50E6C61B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6156" y="2758440"/>
            <a:ext cx="6066684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动作链：先让用户看见影响，再决定是否发放执行许可</a:t>
            </a:r>
          </a:p>
        </p:txBody>
      </p:sp>
      <p:sp>
        <p:nvSpPr>
          <p:cNvPr id="31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B9531E54-73E3-4663-8CDB-61DE0024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3143250"/>
            <a:ext cx="1120140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>
            <a:noFill/>
          </a:ln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82EF729D-DFB8-4AAE-BB59-B9EE62AC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6473" y="3481864"/>
            <a:ext cx="3733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方案</a:t>
            </a:r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35C50131-FE16-41A5-9959-496C350C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200" y="3543300"/>
            <a:ext cx="342900" cy="9525"/>
          </a:xfrm>
          <a:custGeom xmlns:a="http://schemas.openxmlformats.org/drawingml/2006/main"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BD5DF"/>
            </a:solidFill>
          </a:ln>
        </p:spPr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773DCCAD-F176-4AF3-B698-506EADC5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6850" y="3486150"/>
            <a:ext cx="95250" cy="114300"/>
          </a:xfrm>
          <a:custGeom xmlns:a="http://schemas.openxmlformats.org/drawingml/2006/main"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CBD5DF"/>
          </a:solidFill>
          <a:ln xmlns:a="http://schemas.openxmlformats.org/drawingml/2006/main">
            <a:noFill/>
          </a:ln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96438E0B-D445-4654-A8F3-7BF482EA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7073" y="3481864"/>
            <a:ext cx="73384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影响预览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0236E172-1487-4084-9D63-AD39DF91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28900" y="3543300"/>
            <a:ext cx="342900" cy="9525"/>
          </a:xfrm>
          <a:custGeom xmlns:a="http://schemas.openxmlformats.org/drawingml/2006/main"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BD5DF"/>
            </a:solidFill>
          </a:ln>
        </p:spPr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4C9DA321-A0B9-4FAF-A0A2-BDD74730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76550" y="3486150"/>
            <a:ext cx="95250" cy="114300"/>
          </a:xfrm>
          <a:custGeom xmlns:a="http://schemas.openxmlformats.org/drawingml/2006/main"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CBD5DF"/>
          </a:solidFill>
          <a:ln xmlns:a="http://schemas.openxmlformats.org/drawingml/2006/main">
            <a:noFill/>
          </a:ln>
        </p:spPr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DC4A324B-508F-46FE-AC84-F70629F8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36773" y="3481864"/>
            <a:ext cx="826293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风险评估</a:t>
            </a:r>
          </a:p>
        </p:txBody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AD6D87F9-D825-4181-805C-AD98E245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19550" y="3543300"/>
            <a:ext cx="342900" cy="9525"/>
          </a:xfrm>
          <a:custGeom xmlns:a="http://schemas.openxmlformats.org/drawingml/2006/main"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BD5DF"/>
            </a:solidFill>
          </a:ln>
        </p:spPr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81D08190-2692-47DA-BF7C-67BA11E7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7200" y="3486150"/>
            <a:ext cx="95250" cy="114300"/>
          </a:xfrm>
          <a:custGeom xmlns:a="http://schemas.openxmlformats.org/drawingml/2006/main"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CBD5DF"/>
          </a:solidFill>
          <a:ln xmlns:a="http://schemas.openxmlformats.org/drawingml/2006/main">
            <a:noFill/>
          </a:ln>
        </p:spPr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1E8CCD68-0C57-4380-AB12-8D6E07CC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27423" y="3481864"/>
            <a:ext cx="122274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证据门</a:t>
            </a:r>
          </a:p>
        </p:txBody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63F3463D-B8E4-49C1-9E21-4C90F629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34050" y="3543300"/>
            <a:ext cx="342900" cy="9525"/>
          </a:xfrm>
          <a:custGeom xmlns:a="http://schemas.openxmlformats.org/drawingml/2006/main"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BD5DF"/>
            </a:solidFill>
          </a:ln>
        </p:spPr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F1C224F4-CD20-4400-BF8C-F1EE20E2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1700" y="3486150"/>
            <a:ext cx="95250" cy="114300"/>
          </a:xfrm>
          <a:custGeom xmlns:a="http://schemas.openxmlformats.org/drawingml/2006/main"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CBD5DF"/>
          </a:solidFill>
          <a:ln xmlns:a="http://schemas.openxmlformats.org/drawingml/2006/main">
            <a:noFill/>
          </a:ln>
        </p:spPr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8F7D6B7C-522F-423A-9BD8-4860F107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1923" y="3481864"/>
            <a:ext cx="73384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人工确认</a:t>
            </a:r>
          </a:p>
        </p:txBody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FF7C8C3B-C2CF-4FD2-98F5-0C3771C4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24700" y="3543300"/>
            <a:ext cx="342900" cy="9525"/>
          </a:xfrm>
          <a:custGeom xmlns:a="http://schemas.openxmlformats.org/drawingml/2006/main"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97706"/>
            </a:solidFill>
          </a:ln>
        </p:spPr>
      </p:sp>
      <p:sp>
        <p:nvSpPr>
          <p:cNvPr id="46" name="Freeform 46">
            <a:extLst xmlns:a="http://schemas.openxmlformats.org/drawingml/2006/main">
              <a:ext uri="{FF2B5EF4-FFF2-40B4-BE49-F238E27FC236}">
                <a16:creationId xmlns:a16="http://schemas.microsoft.com/office/drawing/2014/main" id="{5BCD47B5-9C49-4650-B94D-67BBE074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72350" y="3486150"/>
            <a:ext cx="95250" cy="114300"/>
          </a:xfrm>
          <a:custGeom xmlns:a="http://schemas.openxmlformats.org/drawingml/2006/main"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3E3E2C06-EF56-440E-9086-C54CB82A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32573" y="3481864"/>
            <a:ext cx="604203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执行许可</a:t>
            </a:r>
          </a:p>
        </p:txBody>
      </p:sp>
      <p:sp>
        <p:nvSpPr>
          <p:cNvPr id="48" name="Freeform 48">
            <a:extLst xmlns:a="http://schemas.openxmlformats.org/drawingml/2006/main">
              <a:ext uri="{FF2B5EF4-FFF2-40B4-BE49-F238E27FC236}">
                <a16:creationId xmlns:a16="http://schemas.microsoft.com/office/drawing/2014/main" id="{C07B4FA0-CFD6-4CF2-93B4-CF2E1143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43900" y="3543300"/>
            <a:ext cx="342900" cy="9525"/>
          </a:xfrm>
          <a:custGeom xmlns:a="http://schemas.openxmlformats.org/drawingml/2006/main"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E7D32"/>
            </a:solidFill>
          </a:ln>
        </p:spPr>
      </p:sp>
      <p:sp>
        <p:nvSpPr>
          <p:cNvPr id="49" name="Freeform 49">
            <a:extLst xmlns:a="http://schemas.openxmlformats.org/drawingml/2006/main">
              <a:ext uri="{FF2B5EF4-FFF2-40B4-BE49-F238E27FC236}">
                <a16:creationId xmlns:a16="http://schemas.microsoft.com/office/drawing/2014/main" id="{602459E7-F5DD-44D4-B11F-259E14B8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91550" y="3486150"/>
            <a:ext cx="95250" cy="114300"/>
          </a:xfrm>
          <a:custGeom xmlns:a="http://schemas.openxmlformats.org/drawingml/2006/main"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3F8A443E-B276-4DE2-BC80-D9C51759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51773" y="3481864"/>
            <a:ext cx="73384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执行回执</a:t>
            </a:r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DD439509-0600-48CF-A9A3-F61023DB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5916" y="3506152"/>
            <a:ext cx="1014260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或明确“未发生”</a:t>
            </a:r>
          </a:p>
        </p:txBody>
      </p:sp>
      <p:sp>
        <p:nvSpPr>
          <p:cNvPr id="53" name="Rectangle 53">
            <a:extLst xmlns:a="http://schemas.openxmlformats.org/drawingml/2006/main">
              <a:ext uri="{FF2B5EF4-FFF2-40B4-BE49-F238E27FC236}">
                <a16:creationId xmlns:a16="http://schemas.microsoft.com/office/drawing/2014/main" id="{5995A16A-F44F-464F-8A3E-ADE62C8E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4191000"/>
            <a:ext cx="6457950" cy="184785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D32"/>
            </a:solidFill>
          </a:ln>
        </p:spPr>
      </p:sp>
      <p:pic>
        <p:nvPicPr>
          <p:cNvPr id="128" name="Image 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912a5e7ba740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251075" y="4286250"/>
            <a:ext cx="2946400" cy="1657350"/>
          </a:xfrm>
          <a:prstGeom xmlns:a="http://schemas.openxmlformats.org/drawingml/2006/main" prst="rect">
            <a:avLst/>
          </a:prstGeom>
        </p:spPr>
      </p:pic>
      <p:sp>
        <p:nvSpPr>
          <p:cNvPr id="58" name="Rectangle 58">
            <a:extLst xmlns:a="http://schemas.openxmlformats.org/drawingml/2006/main">
              <a:ext uri="{FF2B5EF4-FFF2-40B4-BE49-F238E27FC236}">
                <a16:creationId xmlns:a16="http://schemas.microsoft.com/office/drawing/2014/main" id="{D5B16838-367A-4170-A797-442DC7E2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81850" y="4191000"/>
            <a:ext cx="4514850" cy="184785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E70E6222-12BE-45CA-BAFB-CE475C7A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01306" y="4339590"/>
            <a:ext cx="2308174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当前已经能证明什么</a:t>
            </a:r>
          </a:p>
        </p:txBody>
      </p:sp>
      <p:sp>
        <p:nvSpPr>
          <p:cNvPr id="60" name="Freeform 60">
            <a:extLst xmlns:a="http://schemas.openxmlformats.org/drawingml/2006/main">
              <a:ext uri="{FF2B5EF4-FFF2-40B4-BE49-F238E27FC236}">
                <a16:creationId xmlns:a16="http://schemas.microsoft.com/office/drawing/2014/main" id="{3D0F3188-119E-4ABD-88FE-2B40AC9D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39025" y="4733925"/>
            <a:ext cx="171450" cy="171450"/>
          </a:xfrm>
          <a:custGeom xmlns:a="http://schemas.openxmlformats.org/drawingml/2006/main">
            <a:rect l="l" t="t" r="r" b="b"/>
            <a:pathLst>
              <a:path w="171450" h="171450">
                <a:moveTo>
                  <a:pt x="0" y="85725"/>
                </a:moveTo>
                <a:cubicBezTo>
                  <a:pt x="0" y="133070"/>
                  <a:pt x="38380" y="171450"/>
                  <a:pt x="85725" y="171450"/>
                </a:cubicBezTo>
                <a:cubicBezTo>
                  <a:pt x="133070" y="171450"/>
                  <a:pt x="171450" y="133070"/>
                  <a:pt x="171450" y="85725"/>
                </a:cubicBezTo>
                <a:cubicBezTo>
                  <a:pt x="171450" y="38380"/>
                  <a:pt x="133070" y="0"/>
                  <a:pt x="85725" y="0"/>
                </a:cubicBezTo>
                <a:cubicBezTo>
                  <a:pt x="38380" y="0"/>
                  <a:pt x="0" y="38380"/>
                  <a:pt x="0" y="857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61" name="Freeform 61">
            <a:extLst xmlns:a="http://schemas.openxmlformats.org/drawingml/2006/main">
              <a:ext uri="{FF2B5EF4-FFF2-40B4-BE49-F238E27FC236}">
                <a16:creationId xmlns:a16="http://schemas.microsoft.com/office/drawing/2014/main" id="{878A9C09-398B-4698-B87D-1D29CF3D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96175" y="4800600"/>
            <a:ext cx="57150" cy="38100"/>
          </a:xfrm>
          <a:custGeom xmlns:a="http://schemas.openxmlformats.org/drawingml/2006/main">
            <a:rect l="l" t="t" r="r" b="b"/>
            <a:pathLst>
              <a:path w="57150" h="38100">
                <a:moveTo>
                  <a:pt x="0" y="19050"/>
                </a:moveTo>
                <a:lnTo>
                  <a:pt x="19050" y="38100"/>
                </a:ln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63" name="TextBox 63">
            <a:extLst xmlns:a="http://schemas.openxmlformats.org/drawingml/2006/main">
              <a:ext uri="{FF2B5EF4-FFF2-40B4-BE49-F238E27FC236}">
                <a16:creationId xmlns:a16="http://schemas.microsoft.com/office/drawing/2014/main" id="{FB15D315-9BC7-4872-88EB-5DDD73C5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46873" y="4739164"/>
            <a:ext cx="383483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实际成果、具名检查器与效果回执</a:t>
            </a:r>
          </a:p>
        </p:txBody>
      </p:sp>
      <p:sp>
        <p:nvSpPr>
          <p:cNvPr id="64" name="Freeform 64">
            <a:extLst xmlns:a="http://schemas.openxmlformats.org/drawingml/2006/main">
              <a:ext uri="{FF2B5EF4-FFF2-40B4-BE49-F238E27FC236}">
                <a16:creationId xmlns:a16="http://schemas.microsoft.com/office/drawing/2014/main" id="{94E56198-980B-40F3-9E91-812F4694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39025" y="5038725"/>
            <a:ext cx="171450" cy="171450"/>
          </a:xfrm>
          <a:custGeom xmlns:a="http://schemas.openxmlformats.org/drawingml/2006/main">
            <a:rect l="l" t="t" r="r" b="b"/>
            <a:pathLst>
              <a:path w="171450" h="171450">
                <a:moveTo>
                  <a:pt x="0" y="85725"/>
                </a:moveTo>
                <a:cubicBezTo>
                  <a:pt x="0" y="133070"/>
                  <a:pt x="38380" y="171450"/>
                  <a:pt x="85725" y="171450"/>
                </a:cubicBezTo>
                <a:cubicBezTo>
                  <a:pt x="133070" y="171450"/>
                  <a:pt x="171450" y="133070"/>
                  <a:pt x="171450" y="85725"/>
                </a:cubicBezTo>
                <a:cubicBezTo>
                  <a:pt x="171450" y="38380"/>
                  <a:pt x="133070" y="0"/>
                  <a:pt x="85725" y="0"/>
                </a:cubicBezTo>
                <a:cubicBezTo>
                  <a:pt x="38380" y="0"/>
                  <a:pt x="0" y="38380"/>
                  <a:pt x="0" y="857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65" name="Freeform 65">
            <a:extLst xmlns:a="http://schemas.openxmlformats.org/drawingml/2006/main">
              <a:ext uri="{FF2B5EF4-FFF2-40B4-BE49-F238E27FC236}">
                <a16:creationId xmlns:a16="http://schemas.microsoft.com/office/drawing/2014/main" id="{0D7C8A21-25C6-4DFC-B7AE-C42B5CAF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96175" y="5105400"/>
            <a:ext cx="57150" cy="38100"/>
          </a:xfrm>
          <a:custGeom xmlns:a="http://schemas.openxmlformats.org/drawingml/2006/main">
            <a:rect l="l" t="t" r="r" b="b"/>
            <a:pathLst>
              <a:path w="57150" h="38100">
                <a:moveTo>
                  <a:pt x="0" y="19050"/>
                </a:moveTo>
                <a:lnTo>
                  <a:pt x="19050" y="38100"/>
                </a:ln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67" name="TextBox 67">
            <a:extLst xmlns:a="http://schemas.openxmlformats.org/drawingml/2006/main">
              <a:ext uri="{FF2B5EF4-FFF2-40B4-BE49-F238E27FC236}">
                <a16:creationId xmlns:a16="http://schemas.microsoft.com/office/drawing/2014/main" id="{B9F2C0B8-858B-4F86-BE3B-8DC707ED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46873" y="5043964"/>
            <a:ext cx="330845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前台明确展示“已生成”与“外部动作未发生”</a:t>
            </a:r>
          </a:p>
        </p:txBody>
      </p:sp>
      <p:sp>
        <p:nvSpPr>
          <p:cNvPr id="68" name="Freeform 68">
            <a:extLst xmlns:a="http://schemas.openxmlformats.org/drawingml/2006/main">
              <a:ext uri="{FF2B5EF4-FFF2-40B4-BE49-F238E27FC236}">
                <a16:creationId xmlns:a16="http://schemas.microsoft.com/office/drawing/2014/main" id="{9A329A8D-DB2D-44E7-96B6-35C27079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10450" y="5334000"/>
            <a:ext cx="4057650" cy="9525"/>
          </a:xfrm>
          <a:custGeom xmlns:a="http://schemas.openxmlformats.org/drawingml/2006/main">
            <a:rect l="l" t="t" r="r" b="b"/>
            <a:pathLst>
              <a:path w="4057650" h="9525">
                <a:moveTo>
                  <a:pt x="0" y="0"/>
                </a:moveTo>
                <a:lnTo>
                  <a:pt x="405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3E8ED"/>
            </a:solidFill>
          </a:ln>
        </p:spPr>
      </p:sp>
      <p:sp>
        <p:nvSpPr>
          <p:cNvPr id="69" name="Freeform 69">
            <a:extLst xmlns:a="http://schemas.openxmlformats.org/drawingml/2006/main">
              <a:ext uri="{FF2B5EF4-FFF2-40B4-BE49-F238E27FC236}">
                <a16:creationId xmlns:a16="http://schemas.microsoft.com/office/drawing/2014/main" id="{7A95E530-D627-42ED-92A3-149EF8BD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24750" y="5553075"/>
            <a:ext cx="9525" cy="38100"/>
          </a:xfrm>
          <a:custGeom xmlns:a="http://schemas.openxmlformats.org/drawingml/2006/main">
            <a:rect l="l" t="t" r="r" b="b"/>
            <a:pathLst>
              <a:path w="952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70" name="Freeform 70">
            <a:extLst xmlns:a="http://schemas.openxmlformats.org/drawingml/2006/main">
              <a:ext uri="{FF2B5EF4-FFF2-40B4-BE49-F238E27FC236}">
                <a16:creationId xmlns:a16="http://schemas.microsoft.com/office/drawing/2014/main" id="{2F70D383-5BE0-49DC-8C24-9DD96915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28689" y="5492761"/>
            <a:ext cx="192114" cy="165051"/>
          </a:xfrm>
          <a:custGeom xmlns:a="http://schemas.openxmlformats.org/drawingml/2006/main">
            <a:rect l="l" t="t" r="r" b="b"/>
            <a:pathLst>
              <a:path w="192114" h="165051">
                <a:moveTo>
                  <a:pt x="80468" y="8794"/>
                </a:moveTo>
                <a:lnTo>
                  <a:pt x="3259" y="137705"/>
                </a:lnTo>
                <a:cubicBezTo>
                  <a:pt x="20" y="143314"/>
                  <a:pt x="0" y="150220"/>
                  <a:pt x="3207" y="155848"/>
                </a:cubicBezTo>
                <a:cubicBezTo>
                  <a:pt x="6413" y="161475"/>
                  <a:pt x="12365" y="164979"/>
                  <a:pt x="18842" y="165051"/>
                </a:cubicBezTo>
                <a:lnTo>
                  <a:pt x="173280" y="165051"/>
                </a:lnTo>
                <a:cubicBezTo>
                  <a:pt x="179753" y="164977"/>
                  <a:pt x="185702" y="161474"/>
                  <a:pt x="188908" y="155850"/>
                </a:cubicBezTo>
                <a:cubicBezTo>
                  <a:pt x="192114" y="150226"/>
                  <a:pt x="192097" y="143323"/>
                  <a:pt x="188863" y="137715"/>
                </a:cubicBezTo>
                <a:lnTo>
                  <a:pt x="111653" y="8784"/>
                </a:lnTo>
                <a:cubicBezTo>
                  <a:pt x="108349" y="3331"/>
                  <a:pt x="102437" y="0"/>
                  <a:pt x="96061" y="0"/>
                </a:cubicBezTo>
                <a:cubicBezTo>
                  <a:pt x="89685" y="0"/>
                  <a:pt x="83772" y="3331"/>
                  <a:pt x="80468" y="8784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71" name="Freeform 71">
            <a:extLst xmlns:a="http://schemas.openxmlformats.org/drawingml/2006/main">
              <a:ext uri="{FF2B5EF4-FFF2-40B4-BE49-F238E27FC236}">
                <a16:creationId xmlns:a16="http://schemas.microsoft.com/office/drawing/2014/main" id="{C91FECD8-6A54-4EF3-9553-4E4D7C29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24750" y="5619750"/>
            <a:ext cx="9525" cy="9525"/>
          </a:xfrm>
          <a:custGeom xmlns:a="http://schemas.openxmlformats.org/drawingml/2006/main">
            <a:rect l="l" t="t" r="r" b="b"/>
            <a:pathLst>
              <a:path w="9525" h="9525">
                <a:moveTo>
                  <a:pt x="0" y="0"/>
                </a:moveTo>
                <a:lnTo>
                  <a:pt x="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73" name="TextBox 73">
            <a:extLst xmlns:a="http://schemas.openxmlformats.org/drawingml/2006/main">
              <a:ext uri="{FF2B5EF4-FFF2-40B4-BE49-F238E27FC236}">
                <a16:creationId xmlns:a16="http://schemas.microsoft.com/office/drawing/2014/main" id="{7B9F545A-A7BF-4C16-B05C-2ACAC990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46873" y="5482114"/>
            <a:ext cx="412882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B54708"/>
                </a:solidFill>
                <a:latin typeface="Segoe UI"/>
                <a:ea typeface="Segoe UI"/>
                <a:cs typeface="Segoe UI"/>
              </a:rPr>
              <a:t>生产连接器、身份授权与许可防重放仍未实现</a:t>
            </a:r>
          </a:p>
        </p:txBody>
      </p:sp>
      <p:sp>
        <p:nvSpPr>
          <p:cNvPr id="74" name="TextBox 74">
            <a:extLst xmlns:a="http://schemas.openxmlformats.org/drawingml/2006/main">
              <a:ext uri="{FF2B5EF4-FFF2-40B4-BE49-F238E27FC236}">
                <a16:creationId xmlns:a16="http://schemas.microsoft.com/office/drawing/2014/main" id="{E79D3001-583B-4146-AC72-F4E6487D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48016" y="5735002"/>
            <a:ext cx="3468167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因此当前不执行真实付款、发送、CRM 或生产变更。</a:t>
            </a:r>
          </a:p>
        </p:txBody>
      </p:sp>
      <p:sp>
        <p:nvSpPr>
          <p:cNvPr id="76" name="Rectangle 76">
            <a:extLst xmlns:a="http://schemas.openxmlformats.org/drawingml/2006/main">
              <a:ext uri="{FF2B5EF4-FFF2-40B4-BE49-F238E27FC236}">
                <a16:creationId xmlns:a16="http://schemas.microsoft.com/office/drawing/2014/main" id="{BA32825E-3A86-46F1-A05B-55DC4B4D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6153150"/>
            <a:ext cx="112014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>
            <a:noFill/>
          </a:ln>
        </p:spPr>
      </p:sp>
      <p:sp>
        <p:nvSpPr>
          <p:cNvPr id="77" name="TextBox 77">
            <a:extLst xmlns:a="http://schemas.openxmlformats.org/drawingml/2006/main">
              <a:ext uri="{FF2B5EF4-FFF2-40B4-BE49-F238E27FC236}">
                <a16:creationId xmlns:a16="http://schemas.microsoft.com/office/drawing/2014/main" id="{F876073E-9D78-451C-BFED-29D62185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95839" y="6206014"/>
            <a:ext cx="760032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交互变化：按钮不再只写“确认”，而要说明对象、影响、可逆性、证据、风险级别和动作回执。</a:t>
            </a:r>
          </a:p>
        </p:txBody>
      </p:sp>
      <p:sp>
        <p:nvSpPr>
          <p:cNvPr id="79" name="TextBox 79">
            <a:extLst xmlns:a="http://schemas.openxmlformats.org/drawingml/2006/main">
              <a:ext uri="{FF2B5EF4-FFF2-40B4-BE49-F238E27FC236}">
                <a16:creationId xmlns:a16="http://schemas.microsoft.com/office/drawing/2014/main" id="{58AA9C16-9A97-4510-B541-7232EECE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63246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依据：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abdd58f41f5b4147"/>
              </a:rPr>
              <a:t>openai.github.io/.../human_in_the_loop/</a:t>
            </a: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 ·  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9540268ddf884d4f"/>
              </a:rPr>
              <a:t>modelcontextprotocol.io/.../elicitation</a:t>
            </a:r>
          </a:p>
        </p:txBody>
      </p:sp>
      <p:sp>
        <p:nvSpPr>
          <p:cNvPr id="80" name="TextBox 80">
            <a:extLst xmlns:a="http://schemas.openxmlformats.org/drawingml/2006/main">
              <a:ext uri="{FF2B5EF4-FFF2-40B4-BE49-F238E27FC236}">
                <a16:creationId xmlns:a16="http://schemas.microsoft.com/office/drawing/2014/main" id="{F8796FF5-31E3-4BCA-A0DA-BA1DE247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59225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23 / 24</a:t>
            </a:r>
          </a:p>
        </p:txBody>
      </p:sp>
    </p:spTree>
    <p:extLst>
      <p:ext uri="{BB962C8B-B14F-4D97-AF65-F5344CB8AC3E}">
        <p14:creationId xmlns:p14="http://schemas.microsoft.com/office/powerpoint/2010/main" val="1144846548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3340765-02E3-487E-A413-230FFD30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1FAB7EE-5998-4064-9D81-FE861958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9A05774E-8A56-4128-AA2A-0A96E45E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408622"/>
            <a:ext cx="8983630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下一阶段：把 07-16 方向变成可证伪证据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87AC6E8D-8F19-480C-B8F7-7A26B86D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6156" y="1005840"/>
            <a:ext cx="583387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先闭合可信失败与恢复，再扩大业务效果和外部动作。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E1A294C9-D6F9-49D1-85D6-A8D40B1E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962150"/>
            <a:ext cx="2114550" cy="2286000"/>
          </a:xfrm>
          <a:custGeom xmlns:a="http://schemas.openxmlformats.org/drawingml/2006/main">
            <a:rect l="l" t="t" r="r" b="b"/>
            <a:pathLst>
              <a:path w="2114550" h="2286000">
                <a:moveTo>
                  <a:pt x="0" y="0"/>
                </a:moveTo>
                <a:lnTo>
                  <a:pt x="1828800" y="0"/>
                </a:lnTo>
                <a:lnTo>
                  <a:pt x="2114550" y="1143000"/>
                </a:lnTo>
                <a:lnTo>
                  <a:pt x="1828800" y="2286000"/>
                </a:lnTo>
                <a:lnTo>
                  <a:pt x="0" y="2286000"/>
                </a:lnTo>
                <a:close/>
              </a:path>
            </a:pathLst>
          </a:cu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698F1FF0-B7D6-4EB4-AC72-C2A5C559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6473" y="2262664"/>
            <a:ext cx="2111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769E0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F62D40D1-BD5E-4DE4-AD6C-6AB88D80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3806" y="2586990"/>
            <a:ext cx="159569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原生定位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300AF82-8FE9-4600-91A8-1BB426DB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6473" y="3005614"/>
            <a:ext cx="54795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PDF 页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5DBB0DD8-0E71-45C2-A96B-B9F5B787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6473" y="3272314"/>
            <a:ext cx="5278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表格行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45B22AFF-EC8E-4CCD-9F42-CF476A35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6473" y="3539014"/>
            <a:ext cx="139466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正文块与来源版本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AF5F529E-41A9-4386-A878-2CEE5D2A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09850" y="1962150"/>
            <a:ext cx="2019300" cy="2286000"/>
          </a:xfrm>
          <a:custGeom xmlns:a="http://schemas.openxmlformats.org/drawingml/2006/main">
            <a:rect l="l" t="t" r="r" b="b"/>
            <a:pathLst>
              <a:path w="2019300" h="2286000">
                <a:moveTo>
                  <a:pt x="0" y="0"/>
                </a:moveTo>
                <a:lnTo>
                  <a:pt x="1733550" y="0"/>
                </a:lnTo>
                <a:lnTo>
                  <a:pt x="2019300" y="1143000"/>
                </a:lnTo>
                <a:lnTo>
                  <a:pt x="1733550" y="2286000"/>
                </a:lnTo>
                <a:lnTo>
                  <a:pt x="0" y="2286000"/>
                </a:lnTo>
                <a:lnTo>
                  <a:pt x="285750" y="11430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4E3EA9A8-2468-4521-9659-A21638F5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84373" y="2262664"/>
            <a:ext cx="2111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769E0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820B01D1-232A-4382-A089-65C27C67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81706" y="2586990"/>
            <a:ext cx="129044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携证成果包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FDB30605-6CEB-4EA6-8E29-55575C18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84373" y="3005614"/>
            <a:ext cx="73030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成果文件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B12258EF-07B0-41EC-B318-31D8EE31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84373" y="3272314"/>
            <a:ext cx="120758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效果回执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B77471F2-A736-4E5E-A03A-D7ED2221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84373" y="3539014"/>
            <a:ext cx="149764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来源记录与边界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9FBA1869-FF08-4BE7-9E25-47109E4A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9150" y="1962150"/>
            <a:ext cx="2019300" cy="2286000"/>
          </a:xfrm>
          <a:custGeom xmlns:a="http://schemas.openxmlformats.org/drawingml/2006/main">
            <a:rect l="l" t="t" r="r" b="b"/>
            <a:pathLst>
              <a:path w="2019300" h="2286000">
                <a:moveTo>
                  <a:pt x="0" y="0"/>
                </a:moveTo>
                <a:lnTo>
                  <a:pt x="1733550" y="0"/>
                </a:lnTo>
                <a:lnTo>
                  <a:pt x="2019300" y="1143000"/>
                </a:lnTo>
                <a:lnTo>
                  <a:pt x="1733550" y="2286000"/>
                </a:lnTo>
                <a:lnTo>
                  <a:pt x="0" y="2286000"/>
                </a:lnTo>
                <a:lnTo>
                  <a:pt x="285750" y="1143000"/>
                </a:lnTo>
                <a:close/>
              </a:path>
            </a:pathLst>
          </a:cu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5573D6DE-D6B1-499A-8EE5-B177B86F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03673" y="2262664"/>
            <a:ext cx="2111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769E0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F25BE4A0-051C-4F18-90F8-3C343C9B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01006" y="2586990"/>
            <a:ext cx="160692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业务检查器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A9DC5A57-CE1C-4079-A592-2ED30F50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03673" y="3005614"/>
            <a:ext cx="104279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从固定适配器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92BC45D4-AB2E-47A2-A9C9-8A66E9F4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03673" y="3272314"/>
            <a:ext cx="104279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扩展到可配置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5CA838B4-4A43-4974-916B-B315B971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03673" y="3539014"/>
            <a:ext cx="121443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数值与语义规则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B456EED9-9DC7-4D52-A854-66C2F417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48450" y="1962150"/>
            <a:ext cx="2019300" cy="2286000"/>
          </a:xfrm>
          <a:custGeom xmlns:a="http://schemas.openxmlformats.org/drawingml/2006/main">
            <a:rect l="l" t="t" r="r" b="b"/>
            <a:pathLst>
              <a:path w="2019300" h="2286000">
                <a:moveTo>
                  <a:pt x="0" y="0"/>
                </a:moveTo>
                <a:lnTo>
                  <a:pt x="1733550" y="0"/>
                </a:lnTo>
                <a:lnTo>
                  <a:pt x="2019300" y="1143000"/>
                </a:lnTo>
                <a:lnTo>
                  <a:pt x="1733550" y="2286000"/>
                </a:lnTo>
                <a:lnTo>
                  <a:pt x="0" y="2286000"/>
                </a:lnTo>
                <a:lnTo>
                  <a:pt x="285750" y="11430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2810FC60-261A-4F89-96E8-B38D7E97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22973" y="2262664"/>
            <a:ext cx="2111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B54708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E99E7861-D75F-4CD7-95BD-8E487D0C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20306" y="2586990"/>
            <a:ext cx="129044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调度与动作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638A4808-FAE0-45BA-B811-FB835987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33235" y="3021806"/>
            <a:ext cx="1690845" cy="220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任务队列、租约与执行单元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A68FC0FA-70EF-41A0-B8B7-EDC61536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33997" y="3304699"/>
            <a:ext cx="1658629" cy="190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工具、外部连接器与执行许可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AC219B0B-1304-41CF-8821-EDB1E5D9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32473" y="3539014"/>
            <a:ext cx="69951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幂等回执</a:t>
            </a:r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3F48A83B-EC1D-467C-8C90-0A54CC36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67750" y="1962150"/>
            <a:ext cx="1981200" cy="2286000"/>
          </a:xfrm>
          <a:custGeom xmlns:a="http://schemas.openxmlformats.org/drawingml/2006/main">
            <a:rect l="l" t="t" r="r" b="b"/>
            <a:pathLst>
              <a:path w="1981200" h="2286000">
                <a:moveTo>
                  <a:pt x="0" y="0"/>
                </a:moveTo>
                <a:lnTo>
                  <a:pt x="1695450" y="0"/>
                </a:lnTo>
                <a:lnTo>
                  <a:pt x="1981200" y="1143000"/>
                </a:lnTo>
                <a:lnTo>
                  <a:pt x="1695450" y="2286000"/>
                </a:lnTo>
                <a:lnTo>
                  <a:pt x="0" y="2286000"/>
                </a:lnTo>
                <a:lnTo>
                  <a:pt x="285750" y="1143000"/>
                </a:lnTo>
                <a:close/>
              </a:path>
            </a:pathLst>
          </a:cu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A9CD4051-9222-41CF-BF52-27DD8E63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42273" y="2262664"/>
            <a:ext cx="2111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B54708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205D66C4-84E0-4863-82C1-86D5EE35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39606" y="2586990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同场挑战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A47EEAE5-BD8F-4C48-9920-D5DCED46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42273" y="3005614"/>
            <a:ext cx="1574883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固定任务、模型与来源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C6F8C899-3B83-40A6-B346-02083EBC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42273" y="3272314"/>
            <a:ext cx="69951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同条件方案实测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49B262E-A6D9-426C-B11E-C5C3B52E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42273" y="3539014"/>
            <a:ext cx="104279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目标用户研究</a:t>
            </a: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E93D5090-6DE1-486B-B94C-EC949DA2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48950" y="1962150"/>
            <a:ext cx="1047750" cy="2286000"/>
          </a:xfrm>
          <a:custGeom xmlns:a="http://schemas.openxmlformats.org/drawingml/2006/main">
            <a:rect l="l" t="t" r="r" b="b"/>
            <a:pathLst>
              <a:path w="1047750" h="2286000">
                <a:moveTo>
                  <a:pt x="0" y="0"/>
                </a:moveTo>
                <a:lnTo>
                  <a:pt x="1047750" y="0"/>
                </a:lnTo>
                <a:lnTo>
                  <a:pt x="1047750" y="2286000"/>
                </a:lnTo>
                <a:lnTo>
                  <a:pt x="0" y="2286000"/>
                </a:lnTo>
                <a:lnTo>
                  <a:pt x="285750" y="1143000"/>
                </a:lnTo>
                <a:close/>
              </a:path>
            </a:pathLst>
          </a:custGeom>
          <a:solidFill xmlns:a="http://schemas.openxmlformats.org/drawingml/2006/main">
            <a:srgbClr val="132A3A"/>
          </a:solidFill>
          <a:ln xmlns:a="http://schemas.openxmlformats.org/drawingml/2006/main">
            <a:noFill/>
          </a:ln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D07B5480-8986-423A-A636-A2ED527D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91558" y="2491740"/>
            <a:ext cx="781583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已验证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9AEC813A-275C-4D7F-B87F-ED87DC54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18774" y="2815590"/>
            <a:ext cx="52715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差异</a:t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491DADFD-2DF6-4C99-A160-4A3410A5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4314" y="3372802"/>
            <a:ext cx="576072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通过门后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C352298B-7459-4219-B81C-6379544E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52963" y="3601402"/>
            <a:ext cx="85877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才可升级结论</a:t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700D40A-C940-4C93-8DD0-C78D13AB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108" y="4712970"/>
            <a:ext cx="6056498" cy="469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办公智能体的产品，不是一段回答；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7E3D6893-2FC2-4026-BA41-70E22991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108" y="5132070"/>
            <a:ext cx="7826959" cy="469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而是一份可复核、可恢复、可追责的当前工作结论。</a:t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EC1FF49E-2D33-4296-8783-0FC14BA0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63246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依据：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1569d348a10042d7"/>
              </a:rPr>
              <a:t>w3.org/TR/prov-o/</a:t>
            </a: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 ·  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32a5aeabf6514c2f"/>
              </a:rPr>
              <a:t>research.google/.../user-experience-metrics</a:t>
            </a:r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8F63DBBD-5DA9-4118-A5ED-0024B289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24 / 24</a:t>
            </a:r>
          </a:p>
        </p:txBody>
      </p:sp>
    </p:spTree>
    <p:extLst>
      <p:ext uri="{BB962C8B-B14F-4D97-AF65-F5344CB8AC3E}">
        <p14:creationId xmlns:p14="http://schemas.microsoft.com/office/powerpoint/2010/main" val="27514334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2026-09-02T04:35:44.5170000Z</dcterms:created>
  <dcterms:modified xsi:type="dcterms:W3CDTF">2026-09-02T04:35:44.5170000Z</dcterms:modified>
</coreProperties>
</file>
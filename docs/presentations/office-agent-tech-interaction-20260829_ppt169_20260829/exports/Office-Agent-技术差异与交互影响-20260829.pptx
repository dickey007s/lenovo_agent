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这次汇报大部分内容沿用 07-16 的主线：未来办公 Agent 不是把聊天做得更长，而是让工作在持续、协作、治理和交付四个方向上收敛。右侧是当前系统真实 Workspace，15 个目录、96 份输入文件说明我们已经把抽象架构放进一个固定办公资料环境。今天新增的重点只有两个：第一，主流方案现在发展到哪里；第二，技术差异怎样具体改变用户动作和前台反馈。当前截图来自公开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>
            <a:endParaRPr lang="en-US" dirty="0"/>
          </a:p>
          <a:p>
            <a:r>
              <a:rPr lang="zh-CN" dirty="0"/>
              <a:t>转场：先看 07-16 的三个 Demo 分工在当前版本里发生了什么变化。</a:t>
            </a:r>
          </a:p>
          <a:p>
            <a:endParaRPr lang="en-US" dirty="0"/>
          </a:p>
          <a:p>
            <a:r>
              <a:rPr lang="zh-CN" dirty="0"/>
              <a:t>证据/边界：当前系统实测；不把截图当作正式用户研究。</a:t>
            </a:r>
          </a:p>
          <a:p>
            <a:endParaRPr lang="en-US" dirty="0"/>
          </a:p>
          <a:p>
            <a:r>
              <a:rPr lang="zh-CN" dirty="0"/>
              <a:t>预期问题：这次相对 07-16 到底新增了什么，而不是换了一套说法？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07-16 把三个 Demo 分成时间连续性、复杂任务组织和动作风险。这个分工保留不变。当前版本真正补上的，是把每个 Demo 的进展落到 Workspace 范围、Branch 证据门、真实 Artifact 和未执行边界。对用户而言，界面不再只说 Agent 正在运行，而要说明为什么停、从哪里继续、谁在做、依赖什么、确认后会改变什么。这里的设计依据来自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>
            <a:endParaRPr lang="en-US" dirty="0"/>
          </a:p>
          <a:p>
            <a:r>
              <a:rPr lang="zh-CN" dirty="0"/>
              <a:t>转场：下面回到 07-16 的核心架构，解释这些状态由谁负责。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；https://arxiv.org/abs/2210.03629</a:t>
            </a:r>
          </a:p>
          <a:p>
            <a:endParaRPr lang="en-US" dirty="0"/>
          </a:p>
          <a:p>
            <a:r>
              <a:rPr lang="zh-CN" dirty="0"/>
              <a:t>预期问题：为什么一定要拆成三个 Demo，而不是做一个大而全的 Agent？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这一页完整继承 07-16 的“一个底座、两层增强、三类控制”。统一 Runtime 负责 Task、State、Context、Execution、Capability、Evidence、Policy 和 Trace；长任务用 Agent Control Loop 增强，复杂任务用 Governed Adaptive Swarm 增强；Task、Evidence、Action 三类控制贯穿所有层。需要把当前边界说透：现在真实存在的是受限单 Loop、固定成果适配器和 Snapshot/SSE；多 Worker、通用 Tool Gateway、真实 Connector 仍是目标。线上运行时实践说明持久状态、人机暂停和恢复是常见方向，但业务语义仍需应用自己定义。</a:t>
            </a:r>
          </a:p>
          <a:p>
            <a:endParaRPr lang="en-US" dirty="0"/>
          </a:p>
          <a:p>
            <a:r>
              <a:rPr lang="zh-CN" dirty="0"/>
              <a:t>转场：把底座继续拆开，就是 07-16 的八个稳定职责。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预期问题：哪些模块已经能跑，哪些只是目标架构？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八个模块不是为了把架构画复杂，而是让每个用户状态都有责任主体。Catalog 负责能看什么，Task Contract 负责目标与范围，Planner 提议路径，Policy Compiler 决定能不能启动。后四项里，当前 Scheduler 只有受限单 Loop，Tool Gateway 还没有通用接入，Artifact 与 Verifier 依靠固定适配器，Checkpoint 和 Governance 有 Snapshot、SSE 与可选 PostgreSQL 恢复子集。用户不会直接操作模块名，但会看到浏览与回开、分支与依赖、成果与校验、暂停与恢复。蓝、橙、灰分别表示当前、部分和目标，不能互相替代。</a:t>
            </a:r>
          </a:p>
          <a:p>
            <a:endParaRPr lang="en-US" dirty="0"/>
          </a:p>
          <a:p>
            <a:r>
              <a:rPr lang="zh-CN" dirty="0"/>
              <a:t>转场：这些模块为什么会逐步出现，下一页沿着技术演进说明。</a:t>
            </a:r>
          </a:p>
          <a:p>
            <a:endParaRPr lang="en-US" dirty="0"/>
          </a:p>
          <a:p>
            <a:r>
              <a:rPr lang="zh-CN" dirty="0"/>
              <a:t>证据/边界：当前系统实测；MCP、ReAct、LangGraph 只作线上架构参照。</a:t>
            </a:r>
          </a:p>
          <a:p>
            <a:endParaRPr lang="en-US" dirty="0"/>
          </a:p>
          <a:p>
            <a:r>
              <a:rPr lang="zh-CN" dirty="0"/>
              <a:t>预期问题：八个模块会不会让前台变得更复杂？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>
            <a:endParaRPr lang="en-US" dirty="0"/>
          </a:p>
          <a:p>
            <a:r>
              <a:rPr lang="zh-CN" dirty="0"/>
              <a:t>转场：接下来不按功能打勾，而按用户实际审查的对象看主流方案。</a:t>
            </a:r>
          </a:p>
          <a:p>
            <a:endParaRPr lang="en-US" dirty="0"/>
          </a:p>
          <a:p>
            <a:r>
              <a:rPr lang="zh-CN" dirty="0"/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>
            <a:endParaRPr lang="en-US" dirty="0"/>
          </a:p>
          <a:p>
            <a:r>
              <a:rPr lang="zh-CN" dirty="0"/>
              <a:t>预期问题：Loop Engineering 是正式术语还是本方案的归纳？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Microsoft 365 Copilot 让用户引用文件、邮件、会议和站点；ChatGPT deep research 让用户审研究计划、来源、实时进度和带引用报告；Codex App 把 Task、隔离工作区、Diff 和审查队列做成核心对象；Claude Code 围绕项目会话、工具动作和验证结果；OpenClaw 围绕 Gateway Task、路由、会话与审批；ReAct 提供 Action-Observation 的基础循环。这里不做胜负判断，也不从官方文档未提及推断竞品做不到。Office Agent 的候选差异，是把资料、业务结论、成果、人工决定和未执行边界放进同一审查链。</a:t>
            </a:r>
          </a:p>
          <a:p>
            <a:endParaRPr lang="en-US" dirty="0"/>
          </a:p>
          <a:p>
            <a:r>
              <a:rPr lang="zh-CN" dirty="0"/>
              <a:t>转场：这个差异只有落到用户流程上才有意义。</a:t>
            </a:r>
          </a:p>
          <a:p>
            <a:endParaRPr lang="en-US" dirty="0"/>
          </a:p>
          <a:p>
            <a:r>
              <a:rPr lang="zh-CN" dirty="0"/>
              <a:t>证据/边界：https://support.microsoft.com/en-US/Microsoft-365-Copilot/refer-to-specific-files-and-more-in-microsoft-365-copilot ；https://help.openai.com/en/articles/10500283-deep-research ；https://openai.com/index/introducing-the-codex-app/ ；https://code.claude.com/docs/en/how-claude-code-works ；https://docs.openclaw.ai/automation/tasks ；https://arxiv.org/abs/2210.03629</a:t>
            </a:r>
          </a:p>
          <a:p>
            <a:endParaRPr lang="en-US" dirty="0"/>
          </a:p>
          <a:p>
            <a:r>
              <a:rPr lang="zh-CN" dirty="0"/>
              <a:t>预期问题：你们能否证明这些产品没有类似的业务治理能力？答案是不能，尚未同场实测。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>
            <a:endParaRPr lang="en-US" dirty="0"/>
          </a:p>
          <a:p>
            <a:r>
              <a:rPr lang="zh-CN" dirty="0"/>
              <a:t>转场：当这条流程跨多轮运行，风险会被循环放大。</a:t>
            </a:r>
          </a:p>
          <a:p>
            <a:endParaRPr lang="en-US" dirty="0"/>
          </a:p>
          <a:p>
            <a:r>
              <a:rPr lang="zh-CN" dirty="0"/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预期问题：为什么不让模型自己判断哪些输出可信？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受影响、如何暂停恢复或接管。这里不能夸大当前实现：系统最多三轮，pause 和 stop 只在模型调用之间的安全点生效，也不会硬取消在途 HTTP。它解决了一部分状态透明与局部恢复问题，还不是无限自治的长任务执行器。</a:t>
            </a:r>
          </a:p>
          <a:p>
            <a:endParaRPr lang="en-US" dirty="0"/>
          </a:p>
          <a:p>
            <a:r>
              <a:rPr lang="zh-CN" dirty="0"/>
              <a:t>转场：下一页把 Observe、Plan、Act、Verify、Commit 和外围控制放在一起看。</a:t>
            </a:r>
          </a:p>
          <a:p>
            <a:endParaRPr lang="en-US" dirty="0"/>
          </a:p>
          <a:p>
            <a:r>
              <a:rPr lang="zh-CN" dirty="0"/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预期问题：三轮预算是否足够？当前只能说它是固定上限，不是所有任务的合理预算。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>
            <a:endParaRPr lang="en-US" dirty="0"/>
          </a:p>
          <a:p>
            <a:r>
              <a:rPr lang="zh-CN" dirty="0"/>
              <a:t>转场：下面不再讲抽象模块，直接看六个办公场景。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；https://a2a-protocol.org/dev/specification/</a:t>
            </a:r>
          </a:p>
          <a:p>
            <a:endParaRPr lang="en-US" dirty="0"/>
          </a:p>
          <a:p>
            <a:r>
              <a:rPr lang="zh-CN" dirty="0"/>
              <a:t>预期问题：什么时候可以把它称为完整 Control Loop？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六个场景覆盖了成果、证据、人工判断和外部动作四种风险。TC-01 看成果与引用定位怎样分离；TC-05 看统计和会计判断怎样分离；TC-06、TC-07 把招聘与法务的最终权威留给人；TC-10 把文档产出和真实外呼拆开；TC-14、TC-15 处理来源冲突和模型说明冲突。每个场景都用同一条讲法：触发、Agent 路径、停顿、前台输出、后端事实和当前边界。这样场景不是故事，而是可以复现、失败和升级的测试。</a:t>
            </a:r>
          </a:p>
          <a:p>
            <a:endParaRPr lang="en-US" dirty="0"/>
          </a:p>
          <a:p>
            <a:r>
              <a:rPr lang="zh-CN" dirty="0"/>
              <a:t>转场：先从用户反馈最强烈的入职资产匹配开始。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预期问题：这些场景是不是为了 Demo 人工定制？答案是固定适配器范围内验证，尚未通用化。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用户输入的是根据时间表和规则生成 3 月 20 日到 4 月 20 日的资产匹配表。旧界面把已生成成果、引用定位缺口和 Loop 等待状态混在一起，用户自然会以为任务失败。实际上三件事可以同时成立：资产表通过文件检查；某段逐字 quote 在预览中出现多次，无法唯一定位；用户只需处理这一处审计问题。“缺一份引用”缺的是唯一可回开的定位，不是缺源文件，也不代表日期算错。当前前台把成果置顶、同源缺口合并，并说明补定位不影响现有成果。</a:t>
            </a:r>
          </a:p>
          <a:p>
            <a:endParaRPr lang="en-US" dirty="0"/>
          </a:p>
          <a:p>
            <a:r>
              <a:rPr lang="zh-CN" dirty="0"/>
              <a:t>转场：下一页继续回答“三期输入为什么只有两类统计文件”。</a:t>
            </a:r>
          </a:p>
          <a:p>
            <a:endParaRPr lang="en-US" dirty="0"/>
          </a:p>
          <a:p>
            <a:r>
              <a:rPr lang="zh-CN" dirty="0"/>
              <a:t>证据/边界：https://platform.claude.com/docs/en/build-with-claude/citations ；https://www.microsoft.com/en-us/research/publication/guidelines-for-human-ai-interaction/ ；左侧为用户反馈样本，非正式目标用户研究。</a:t>
            </a:r>
          </a:p>
          <a:p>
            <a:endParaRPr lang="en-US" dirty="0"/>
          </a:p>
          <a:p>
            <a:r>
              <a:rPr lang="zh-CN" dirty="0"/>
              <a:t>预期问题：为什么服务端不能总是一次定位准确？因为当前主要依靠逐字 quote 与安全预览匹配，格式原生 Locator 仍需补齐。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这里需要纠正一个容易产生的理解：三份输入工作簿，不是三期各输出一份统计。未付统计和未收统计只看最新 2026 期，分别提取正数贷方与正数借方期末余额；当前固定来源是 31 条和 2 条。真正使用三个期间的是跨期核对说明，它比较同一科目和客商的借方余额是否连续不变，当前风险候选为 0。前台必须在下载前解释三份成果各自代表什么。统计和候选都不是会计处置，系统没有付款、核销或记账。</a:t>
            </a:r>
          </a:p>
          <a:p>
            <a:endParaRPr lang="en-US" dirty="0"/>
          </a:p>
          <a:p>
            <a:r>
              <a:rPr lang="zh-CN" dirty="0"/>
              <a:t>转场：财务判断要保留人工门，招聘和法务更是如此。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；数字仅属于当前固定来源版本。</a:t>
            </a:r>
          </a:p>
          <a:p>
            <a:endParaRPr lang="en-US" dirty="0"/>
          </a:p>
          <a:p>
            <a:r>
              <a:rPr lang="zh-CN" dirty="0"/>
              <a:t>预期问题：0 条候选是否等于不存在僵尸账款？不等于，只表示这套固定启发式没有命中。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招聘场景读取两份 JD 和五份简历，输出候选顺序、支持证据、缺失信息和复核项；材料冲突时进入待复核，系统不执行录用或淘汰。法务场景从六份授权文件抽取主体、期限和范围，形成规则台账与风险候选；不一致时不自动裁决，也不代表法律意见或签署动作。两边共同体现 HAI Guidelines 的原则：系统要说明能力边界、给出上下文、允许用户纠正，并在高影响决定中保留人的控制权。</a:t>
            </a:r>
          </a:p>
          <a:p>
            <a:endParaRPr lang="en-US" dirty="0"/>
          </a:p>
          <a:p>
            <a:r>
              <a:rPr lang="zh-CN" dirty="0"/>
              <a:t>转场：有了人工门，还要继续区分“形成方案”和“执行动作”。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；自动化只验证固定成果，不验证公平性、法律适用性或业务效果。</a:t>
            </a:r>
          </a:p>
          <a:p>
            <a:endParaRPr lang="en-US" dirty="0"/>
          </a:p>
          <a:p>
            <a:r>
              <a:rPr lang="zh-CN" dirty="0"/>
              <a:t>预期问题：候选建议是否可能放大偏见？可能，因此需要规则、证据、隐私与人工复核共同约束。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TC-10 读取来源后生成流程图与 DOCX，这些文件和结构检查是真实发生的；拨号、写 CRM、发短信没有发生，因为没有 Connector receipt。TC-14 的日志存在相互冲突的信号，系统保留支持与反证，生成条件式诊断和止损提案，但不执行 ES 命令，也不触发生产降级。前台不能把“建议下一步”写成“已经执行”，也不能把未接入外部系统显示成失败。更准确的界面是并列展示已发生和未发生，让用户看到业务后果边界。</a:t>
            </a:r>
          </a:p>
          <a:p>
            <a:endParaRPr lang="en-US" dirty="0"/>
          </a:p>
          <a:p>
            <a:r>
              <a:rPr lang="zh-CN" dirty="0"/>
              <a:t>转场：最后一个场景处理的是模型说明和确定性成果互相冲突。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；https://www.w3.org/TR/prov-o/</a:t>
            </a:r>
          </a:p>
          <a:p>
            <a:endParaRPr lang="en-US" dirty="0"/>
          </a:p>
          <a:p>
            <a:r>
              <a:rPr lang="zh-CN" dirty="0"/>
              <a:t>预期问题：未来接入 Connector 后如何防止重复动作？需要 Permit、版本、幂等和执行回执共同约束。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TC-15 的确定性成果覆盖 212 行、形成 87 组，P0 到 P4 为 25、40、14、6、2。真实模型调用却声称只看了 60 行，并改写 P0 优先级。如果前台同时展示两套说法，用户会看到假绿和重复待办。当前服务端把模型调用和采用拆开：模型仍是 called=true，但 output_used=false；回执为 contradictory、deterministic_outcome、rejected。两份通过检查的成果继续保留，冲突说明只进入审计轨迹。这个机制只验证固定场景的结构化事实一致性，不是通用真值判断。</a:t>
            </a:r>
          </a:p>
          <a:p>
            <a:endParaRPr lang="en-US" dirty="0"/>
          </a:p>
          <a:p>
            <a:r>
              <a:rPr lang="zh-CN" dirty="0"/>
              <a:t>转场：从这些场景回到前台，用户真正需要先回答的只有五个问题。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</a:t>
            </a:r>
          </a:p>
          <a:p>
            <a:endParaRPr lang="en-US" dirty="0"/>
          </a:p>
          <a:p>
            <a:r>
              <a:rPr lang="zh-CN" dirty="0"/>
              <a:t>预期问题：一致就一定正确吗？不一定，一致只说明结构化事实没有冲突。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>
            <a:endParaRPr lang="en-US" dirty="0"/>
          </a:p>
          <a:p>
            <a:r>
              <a:rPr lang="zh-CN" dirty="0"/>
              <a:t>转场：最后一页把工程门和研究门放在同一条路线中。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预期问题：怎样证明界面真的更清晰？需要目标用户任务测试，不是更多截图。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Verifier；再引入 Worker、Tool、Connector、Permit 和幂等回执；最后冻结同一任务、模型和来源做竞品同场挑战，并开展目标用户研究。只有这些门通过，“差异候选”才可以升级为“已验证优势”。</a:t>
            </a:r>
          </a:p>
          <a:p>
            <a:endParaRPr lang="en-US" dirty="0"/>
          </a:p>
          <a:p>
            <a:r>
              <a:rPr lang="zh-CN" dirty="0"/>
              <a:t>转场：请评审决定的不是一句“看起来不错”，而是是否同意按这五道门继续生产证据。</a:t>
            </a:r>
          </a:p>
          <a:p>
            <a:endParaRPr lang="en-US" dirty="0"/>
          </a:p>
          <a:p>
            <a:r>
              <a:rPr lang="zh-CN" dirty="0"/>
              <a:t>证据/边界：https://modelcontextprotocol.io/specification/draft/client/elicitation ；https://a2a-protocol.org/dev/specification/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预期问题：当前可以对外承诺什么？只能承诺固定公开数据上的系统实测与明确边界，不承诺全面领先、生产 SLA 或用户价值。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f450026d0b7d8d4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87a38b6a3279434.jpg"/>
  <Relationship Id="rId3" Type="http://schemas.openxmlformats.org/officeDocument/2006/relationships/image" Target="../media/image_134b6f9220a40bf8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64c34752c86912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b1f25de3444c79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95300" y="62388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0550" y="1119664"/>
            <a:ext cx="4422056" cy="3362420"/>
            <a:chOff x="590550" y="1119664"/>
            <a:chExt cx="4422056" cy="3362420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119664"/>
              <a:ext cx="3212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延续 07-16 · OFFICE AGENT 技术方案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625918"/>
              <a:ext cx="442205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未来办公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3117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从一次回答到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997518"/>
              <a:ext cx="434223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可治理工作系统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806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技术演进、主流方案、办公场景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1300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与前台交互影响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0550" y="4591050"/>
            <a:ext cx="4607443" cy="1068705"/>
            <a:chOff x="590550" y="4591050"/>
            <a:chExt cx="4607443" cy="1068705"/>
          </a:xfrm>
        </p:grpSpPr>
        <p:sp>
          <p:nvSpPr>
            <p:cNvPr id="13" name="TextBox 13"/>
            <p:cNvSpPr txBox="1"/>
            <p:nvPr/>
          </p:nvSpPr>
          <p:spPr>
            <a:xfrm>
              <a:off x="5905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22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个顶层目录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273" y="508206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固定办公挑战现场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67000" y="45910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27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96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49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份输入文件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4973" y="5082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96/96 安全预览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857250"/>
            <a:ext cx="5791200" cy="4762500"/>
            <a:chOff x="5905500" y="857250"/>
            <a:chExt cx="5791200" cy="4762500"/>
          </a:xfrm>
        </p:grpSpPr>
        <p:sp>
          <p:nvSpPr>
            <p:cNvPr id="21" name="Rectangle 21"/>
            <p:cNvSpPr/>
            <p:nvPr/>
          </p:nvSpPr>
          <p:spPr>
            <a:xfrm>
              <a:off x="5905500" y="857250"/>
              <a:ext cx="5791200" cy="4762500"/>
            </a:xfrm>
            <a:prstGeom prst="roundRect">
              <a:avLst>
                <a:gd name="adj" fmla="val 12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9800" y="1428750"/>
              <a:ext cx="5562600" cy="3476625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019800" y="990600"/>
              <a:ext cx="1600200" cy="285750"/>
            </a:xfrm>
            <a:prstGeom prst="roundRect">
              <a:avLst>
                <a:gd name="adj" fmla="val 20000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174581" y="1069181"/>
              <a:ext cx="128587" cy="121444"/>
              <a:chOff x="6174581" y="1069181"/>
              <a:chExt cx="128587" cy="1214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203156" y="1069181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4288" y="0"/>
                    </a:moveTo>
                    <a:lnTo>
                      <a:pt x="35719" y="0"/>
                    </a:lnTo>
                    <a:lnTo>
                      <a:pt x="50006" y="14288"/>
                    </a:lnTo>
                    <a:lnTo>
                      <a:pt x="85725" y="14288"/>
                    </a:lnTo>
                    <a:cubicBezTo>
                      <a:pt x="93616" y="14288"/>
                      <a:pt x="100012" y="20684"/>
                      <a:pt x="100012" y="28575"/>
                    </a:cubicBez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74581" y="1097756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00012" y="64294"/>
                    </a:move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413373" y="1062514"/>
              <a:ext cx="136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真实 Workspace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4466" y="5163502"/>
              <a:ext cx="355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 · 公开 FORTE 数据，不是企业生产网盘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439852"/>
            <a:ext cx="11097768" cy="205359"/>
            <a:chOff x="604266" y="6439852"/>
            <a:chExt cx="110977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439852"/>
              <a:ext cx="1783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C8A98"/>
                  </a:solidFill>
                  <a:latin typeface="Segoe UI"/>
                  <a:ea typeface="Segoe UI"/>
                  <a:cs typeface="Segoe UI"/>
                </a:rPr>
                <a:t>Lenovo CAAI · 2026-08-29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784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01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539932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这次改版带来的能力跃迁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09131" y="519589"/>
              <a:ext cx="8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延续 07-16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78255"/>
            <a:ext cx="9471510" cy="671798"/>
            <a:chOff x="484632" y="1278255"/>
            <a:chExt cx="9471510" cy="67179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78255"/>
              <a:ext cx="75016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三类控制不变，验证对象从“回答”扩展到“真实办公成果”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700689"/>
              <a:ext cx="94673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Demo 1 管时间连续性，Demo 2 管复杂任务组织，Demo 3 管动作风险；当前版本补上 Workspace、Artifact 与证据回开。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95300" y="2286000"/>
            <a:ext cx="11201400" cy="2286000"/>
            <a:chOff x="495300" y="2286000"/>
            <a:chExt cx="112014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49530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5300" y="2286000"/>
              <a:ext cx="3390900" cy="762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0214" y="2605806"/>
              <a:ext cx="219694" cy="224739"/>
              <a:chOff x="760214" y="2605806"/>
              <a:chExt cx="219694" cy="2247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6775" y="2667000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0"/>
                    </a:moveTo>
                    <a:lnTo>
                      <a:pt x="0" y="47625"/>
                    </a:lnTo>
                    <a:lnTo>
                      <a:pt x="23812" y="714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60214" y="2605806"/>
                <a:ext cx="219694" cy="224739"/>
              </a:xfrm>
              <a:custGeom>
                <a:avLst/>
                <a:gdLst/>
                <a:ahLst/>
                <a:cxnLst/>
                <a:rect l="l" t="t" r="r" b="b"/>
                <a:pathLst>
                  <a:path w="219694" h="224739">
                    <a:moveTo>
                      <a:pt x="0" y="96913"/>
                    </a:moveTo>
                    <a:cubicBezTo>
                      <a:pt x="5524" y="42685"/>
                      <a:pt x="50876" y="1245"/>
                      <a:pt x="105381" y="623"/>
                    </a:cubicBezTo>
                    <a:cubicBezTo>
                      <a:pt x="159885" y="0"/>
                      <a:pt x="206172" y="40393"/>
                      <a:pt x="212933" y="94481"/>
                    </a:cubicBezTo>
                    <a:cubicBezTo>
                      <a:pt x="219694" y="148568"/>
                      <a:pt x="184774" y="199112"/>
                      <a:pt x="131794" y="211925"/>
                    </a:cubicBezTo>
                    <a:cubicBezTo>
                      <a:pt x="78813" y="224739"/>
                      <a:pt x="24655" y="195737"/>
                      <a:pt x="5953" y="144538"/>
                    </a:cubicBezTo>
                    <a:moveTo>
                      <a:pt x="0" y="204069"/>
                    </a:moveTo>
                    <a:lnTo>
                      <a:pt x="0" y="144538"/>
                    </a:lnTo>
                    <a:lnTo>
                      <a:pt x="59531" y="1445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513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 · 持续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75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同一任务跨轮推进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423" y="3481864"/>
              <a:ext cx="2215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新增：完整 Workspace 范围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423" y="3767614"/>
              <a:ext cx="2369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新增：Branch 级证据门与恢复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423" y="41295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前台：为什么停、从哪里继续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7195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71950" y="2286000"/>
              <a:ext cx="3390900" cy="762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460081" y="2619375"/>
              <a:ext cx="178595" cy="190500"/>
              <a:chOff x="4460081" y="2619375"/>
              <a:chExt cx="178595" cy="190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460081" y="27622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460081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79144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83894" y="26670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507706" y="27027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567238" y="27027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82803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 · 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140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复杂任务按需组织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4073" y="3481864"/>
              <a:ext cx="2589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当前：受限单 Loop 与固定适配器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4073" y="3767614"/>
              <a:ext cx="2282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目标：多 Worker 与共享工件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4073" y="4129564"/>
              <a:ext cx="199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前台：谁在做、依赖什么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48600" y="2286000"/>
              <a:ext cx="38481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48600" y="2286000"/>
              <a:ext cx="3848100" cy="76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096851" y="2607469"/>
              <a:ext cx="232508" cy="214312"/>
              <a:chOff x="8096851" y="2607469"/>
              <a:chExt cx="232508" cy="2143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96851" y="26074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55794" y="27741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046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 · 治理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8056" y="3044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真实动作前展示后果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70723" y="3481864"/>
              <a:ext cx="2720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新增：Artifact 与 EffectReceipt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0723" y="3767614"/>
              <a:ext cx="2698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边界：无 Connector 回执即未执行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70723" y="41295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前台：会改变什么、不会发生什么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1550" y="4878705"/>
            <a:ext cx="10096500" cy="700373"/>
            <a:chOff x="971550" y="4878705"/>
            <a:chExt cx="10096500" cy="700373"/>
          </a:xfrm>
        </p:grpSpPr>
        <p:sp>
          <p:nvSpPr>
            <p:cNvPr id="47" name="Freeform 47"/>
            <p:cNvSpPr/>
            <p:nvPr/>
          </p:nvSpPr>
          <p:spPr>
            <a:xfrm>
              <a:off x="1123950" y="5181600"/>
              <a:ext cx="9944100" cy="9525"/>
            </a:xfrm>
            <a:custGeom>
              <a:avLst/>
              <a:gdLst/>
              <a:ahLst/>
              <a:cxnLst/>
              <a:rect l="l" t="t" r="r" b="b"/>
              <a:pathLst>
                <a:path w="9944100" h="9525">
                  <a:moveTo>
                    <a:pt x="0" y="0"/>
                  </a:moveTo>
                  <a:lnTo>
                    <a:pt x="9944100" y="0"/>
                  </a:lnTo>
                </a:path>
              </a:pathLst>
            </a:custGeom>
            <a:noFill/>
            <a:ln w="38100">
              <a:solidFill>
                <a:srgbClr val="1769E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71550" y="5029200"/>
              <a:ext cx="304800" cy="3048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56182" y="4878705"/>
              <a:ext cx="6940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核心升级：Agent 的进展必须落到可核对的工作事实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0373" y="5329714"/>
              <a:ext cx="6020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当前系统实测只证明固定公开数据上的工程纵切，不证明生产能力或用户价值。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489966" y="6458902"/>
              <a:ext cx="3244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线上研究依据：Microsoft HAI Guidelines · ReAct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02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一个底座、两层增强、三类控制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58400" y="438150"/>
              <a:ext cx="16383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66040" y="519589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核心架构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4632" y="1240155"/>
            <a:ext cx="11212068" cy="1141095"/>
            <a:chOff x="484632" y="1240155"/>
            <a:chExt cx="11212068" cy="11410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三类控制贯穿所有层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695450"/>
              <a:ext cx="342900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19138" y="1919288"/>
              <a:ext cx="200025" cy="200025"/>
              <a:chOff x="719138" y="1919288"/>
              <a:chExt cx="200025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19138" y="20748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4713" y="19192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41363" y="194151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95756" y="1844040"/>
              <a:ext cx="1586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Control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8423" y="21293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方向、预算、暂停与停止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152900" y="1695450"/>
              <a:ext cx="342900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387849" y="1924971"/>
              <a:ext cx="183215" cy="188636"/>
              <a:chOff x="4387849" y="1924971"/>
              <a:chExt cx="183215" cy="18863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443413" y="19859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465638" y="192497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87849" y="200818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4753356" y="1844040"/>
              <a:ext cx="2081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Control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6023" y="21293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来源、冲突、验证与采用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1695450"/>
              <a:ext cx="388620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019341" y="1919288"/>
              <a:ext cx="217008" cy="200025"/>
              <a:chOff x="8019341" y="1919288"/>
              <a:chExt cx="217008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019341" y="19192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67688" y="20748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410956" y="1844040"/>
              <a:ext cx="1801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Action Control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3623" y="2129314"/>
              <a:ext cx="2187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风险、审批、Permit 与回执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76300" y="2895600"/>
            <a:ext cx="10439400" cy="1200150"/>
            <a:chOff x="876300" y="2895600"/>
            <a:chExt cx="10439400" cy="1200150"/>
          </a:xfrm>
        </p:grpSpPr>
        <p:sp>
          <p:nvSpPr>
            <p:cNvPr id="31" name="Rectangle 31"/>
            <p:cNvSpPr/>
            <p:nvPr/>
          </p:nvSpPr>
          <p:spPr>
            <a:xfrm>
              <a:off x="876300" y="2895600"/>
              <a:ext cx="4762500" cy="1200150"/>
            </a:xfrm>
            <a:prstGeom prst="roundRect">
              <a:avLst>
                <a:gd name="adj" fmla="val 4762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152525" y="3186281"/>
              <a:ext cx="190500" cy="199688"/>
              <a:chOff x="1152525" y="3186281"/>
              <a:chExt cx="190500" cy="1996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152525" y="318628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52525" y="329803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551432" y="3145155"/>
              <a:ext cx="27662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Agent Control Loop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8423" y="3596164"/>
              <a:ext cx="38801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长任务持续推进 · Branch 证据门 · Artifact 历史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2895600"/>
              <a:ext cx="4762500" cy="1200150"/>
            </a:xfrm>
            <a:prstGeom prst="roundRect">
              <a:avLst>
                <a:gd name="adj" fmla="val 4762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  <a:custDash>
                <a:ds d="400000" sp="300000"/>
              </a:custDash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841331" y="3190875"/>
              <a:ext cx="178595" cy="190500"/>
              <a:chOff x="6841331" y="3190875"/>
              <a:chExt cx="178595" cy="190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841331" y="33337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41331" y="31908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60394" y="31908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65144" y="32385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88956" y="32742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48488" y="32742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228332" y="3145155"/>
              <a:ext cx="37019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Governed Adaptive Swarm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5323" y="3596164"/>
              <a:ext cx="4302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Admission · 多 Worker · Shared Artifact · Resolver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63962" y="2991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目标设计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95300" y="4095750"/>
            <a:ext cx="11201400" cy="1676400"/>
            <a:chOff x="495300" y="4095750"/>
            <a:chExt cx="11201400" cy="1676400"/>
          </a:xfrm>
        </p:grpSpPr>
        <p:sp>
          <p:nvSpPr>
            <p:cNvPr id="49" name="Freeform 49"/>
            <p:cNvSpPr/>
            <p:nvPr/>
          </p:nvSpPr>
          <p:spPr>
            <a:xfrm>
              <a:off x="3257550" y="4095750"/>
              <a:ext cx="5676900" cy="342900"/>
            </a:xfrm>
            <a:custGeom>
              <a:avLst/>
              <a:gdLst/>
              <a:ahLst/>
              <a:cxnLst/>
              <a:rect l="l" t="t" r="r" b="b"/>
              <a:pathLst>
                <a:path w="5676900" h="342900">
                  <a:moveTo>
                    <a:pt x="0" y="0"/>
                  </a:moveTo>
                  <a:lnTo>
                    <a:pt x="0" y="342900"/>
                  </a:lnTo>
                  <a:moveTo>
                    <a:pt x="5676900" y="0"/>
                  </a:moveTo>
                  <a:lnTo>
                    <a:pt x="5676900" y="34290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95300" y="4438650"/>
              <a:ext cx="11201400" cy="1333500"/>
            </a:xfrm>
            <a:prstGeom prst="roundRect">
              <a:avLst>
                <a:gd name="adj" fmla="val 4286"/>
              </a:avLst>
            </a:prstGeom>
            <a:solidFill>
              <a:srgbClr val="132A3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02481" y="4740275"/>
              <a:ext cx="242888" cy="215900"/>
              <a:chOff x="802481" y="4740275"/>
              <a:chExt cx="242888" cy="2159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02481" y="474027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2481" y="48482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56456" y="4794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56456" y="49022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45108" y="4693920"/>
              <a:ext cx="3157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统一 Agent Runtime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523" y="5196364"/>
              <a:ext cx="6243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Segoe UI"/>
                  <a:ea typeface="Segoe UI"/>
                  <a:cs typeface="Segoe UI"/>
                </a:rPr>
                <a:t>Task · State · Context · Execution · Capability · Evidence · Policy · Trace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77200" y="4686300"/>
              <a:ext cx="3276600" cy="685800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8000"/>
              </a:srgbClr>
            </a:solidFill>
            <a:ln w="19050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99323" y="48153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当前真实实现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00466" y="5106352"/>
              <a:ext cx="3092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受限单 Loop · 固定成果适配器 · Snapshot/SSE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489966" y="6458902"/>
              <a:ext cx="5920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线上实践参照：ReAct · LangGraph Persistence · OpenAI Agents SDK Human-in-the-loop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03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45743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最小运行时：八个稳定职责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58400" y="438150"/>
              <a:ext cx="16383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66040" y="519589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内容升级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3875" y="1323975"/>
            <a:ext cx="11178159" cy="215836"/>
            <a:chOff x="523875" y="1323975"/>
            <a:chExt cx="11178159" cy="215836"/>
          </a:xfrm>
        </p:grpSpPr>
        <p:sp>
          <p:nvSpPr>
            <p:cNvPr id="9" name="Ellipse 9"/>
            <p:cNvSpPr/>
            <p:nvPr/>
          </p:nvSpPr>
          <p:spPr>
            <a:xfrm>
              <a:off x="523875" y="1323975"/>
              <a:ext cx="133350" cy="13335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7616" y="1334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当前实现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609725" y="1323975"/>
              <a:ext cx="133350" cy="1333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3466" y="1334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828925" y="1323975"/>
              <a:ext cx="133350" cy="133350"/>
            </a:xfrm>
            <a:prstGeom prst="ellipse">
              <a:avLst/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42666" y="1334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尚未实现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88399" y="13344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用户看到的是状态与结果，不是模块名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495300" y="1695450"/>
            <a:ext cx="11201400" cy="3771900"/>
            <a:chOff x="495300" y="1695450"/>
            <a:chExt cx="11201400" cy="3771900"/>
          </a:xfrm>
        </p:grpSpPr>
        <p:sp>
          <p:nvSpPr>
            <p:cNvPr id="17" name="Rectangle 17"/>
            <p:cNvSpPr/>
            <p:nvPr/>
          </p:nvSpPr>
          <p:spPr>
            <a:xfrm>
              <a:off x="495300" y="169545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19138" y="1919288"/>
              <a:ext cx="200025" cy="188913"/>
              <a:chOff x="719138" y="1919288"/>
              <a:chExt cx="200025" cy="18891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63588" y="1919288"/>
                <a:ext cx="15557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44463">
                    <a:moveTo>
                      <a:pt x="22225" y="0"/>
                    </a:moveTo>
                    <a:lnTo>
                      <a:pt x="55563" y="0"/>
                    </a:lnTo>
                    <a:lnTo>
                      <a:pt x="77788" y="22225"/>
                    </a:lnTo>
                    <a:lnTo>
                      <a:pt x="133350" y="22225"/>
                    </a:lnTo>
                    <a:cubicBezTo>
                      <a:pt x="145625" y="22225"/>
                      <a:pt x="155575" y="32176"/>
                      <a:pt x="155575" y="44450"/>
                    </a:cubicBezTo>
                    <a:lnTo>
                      <a:pt x="155575" y="122238"/>
                    </a:lnTo>
                    <a:cubicBezTo>
                      <a:pt x="155575" y="134512"/>
                      <a:pt x="145625" y="144463"/>
                      <a:pt x="133350" y="144463"/>
                    </a:cubicBezTo>
                    <a:lnTo>
                      <a:pt x="22225" y="144463"/>
                    </a:lnTo>
                    <a:cubicBezTo>
                      <a:pt x="9950" y="144463"/>
                      <a:pt x="0" y="134512"/>
                      <a:pt x="0" y="122238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9138" y="1963738"/>
                <a:ext cx="15557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44463">
                    <a:moveTo>
                      <a:pt x="155575" y="100013"/>
                    </a:moveTo>
                    <a:lnTo>
                      <a:pt x="155575" y="122238"/>
                    </a:lnTo>
                    <a:cubicBezTo>
                      <a:pt x="155575" y="134512"/>
                      <a:pt x="145625" y="144463"/>
                      <a:pt x="133350" y="144463"/>
                    </a:cubicBezTo>
                    <a:lnTo>
                      <a:pt x="22225" y="144463"/>
                    </a:lnTo>
                    <a:cubicBezTo>
                      <a:pt x="9950" y="144463"/>
                      <a:pt x="0" y="134512"/>
                      <a:pt x="0" y="122238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60323" y="1938814"/>
              <a:ext cx="165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 Catalog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9323" y="2224564"/>
              <a:ext cx="1314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&amp; Safe Preview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323" y="25865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用户：浏览、搜索、回开原文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2934652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当前：15 目录 · 96/96 预览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52800" y="169545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598863" y="1919288"/>
              <a:ext cx="155575" cy="200026"/>
              <a:chOff x="3598863" y="1919288"/>
              <a:chExt cx="155575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598863" y="1941513"/>
                <a:ext cx="1555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1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33350" y="177801"/>
                    </a:lnTo>
                    <a:cubicBezTo>
                      <a:pt x="145625" y="177801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643313" y="19192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643313" y="20193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917823" y="193881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36823" y="24150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用户：知道目标、范围和完成条件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7966" y="2934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当前：目标与整库范围冻结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10300" y="169545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34138" y="1919288"/>
              <a:ext cx="200025" cy="200025"/>
              <a:chOff x="6434138" y="191928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34138" y="20748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89713" y="19192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6363" y="194151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75323" y="1938814"/>
              <a:ext cx="66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4323" y="24150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用户：看到分支、依赖和证据范围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5466" y="29346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当前：安全元数据内提议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67800" y="169545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76641" y="1919288"/>
              <a:ext cx="217008" cy="200025"/>
              <a:chOff x="9276641" y="1919288"/>
              <a:chExt cx="217008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276641" y="19192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424988" y="20748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32823" y="1938814"/>
              <a:ext cx="1321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Policy Compiler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2966" y="2267902"/>
              <a:ext cx="1140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&amp; Plan Validator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51823" y="25865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用户：越界计划不会启动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52966" y="2934652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当前：预算、scope、依赖校验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95300" y="369570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41363" y="3930650"/>
              <a:ext cx="166687" cy="177801"/>
              <a:chOff x="741363" y="3930650"/>
              <a:chExt cx="166687" cy="17780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41363" y="40640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41363" y="39306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52488" y="39306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63588" y="39751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85813" y="40084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41375" y="40084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60323" y="3939064"/>
              <a:ext cx="1019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Scheduler &amp;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9323" y="4205764"/>
              <a:ext cx="144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Worker Manager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9323" y="45867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用户：分支状态与局部恢复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0466" y="4934902"/>
              <a:ext cx="1229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部分：受限单 Loop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352800" y="369570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7C8A98"/>
              </a:solidFill>
              <a:custDash>
                <a:ds d="400000" sp="300000"/>
              </a:custDash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3587750" y="3930650"/>
              <a:ext cx="177801" cy="177801"/>
              <a:chOff x="3587750" y="3930650"/>
              <a:chExt cx="177801" cy="17780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605588" y="3952875"/>
                <a:ext cx="137738" cy="137738"/>
              </a:xfrm>
              <a:custGeom>
                <a:avLst/>
                <a:gdLst/>
                <a:ahLst/>
                <a:cxnLst/>
                <a:rect l="l" t="t" r="r" b="b"/>
                <a:pathLst>
                  <a:path w="137738" h="137738">
                    <a:moveTo>
                      <a:pt x="46448" y="0"/>
                    </a:moveTo>
                    <a:lnTo>
                      <a:pt x="137738" y="91289"/>
                    </a:lnTo>
                    <a:lnTo>
                      <a:pt x="114912" y="114115"/>
                    </a:lnTo>
                    <a:cubicBezTo>
                      <a:pt x="98716" y="130959"/>
                      <a:pt x="74681" y="137738"/>
                      <a:pt x="52070" y="131837"/>
                    </a:cubicBezTo>
                    <a:cubicBezTo>
                      <a:pt x="29459" y="125937"/>
                      <a:pt x="11801" y="108279"/>
                      <a:pt x="5900" y="85668"/>
                    </a:cubicBezTo>
                    <a:cubicBezTo>
                      <a:pt x="0" y="63056"/>
                      <a:pt x="6778" y="39022"/>
                      <a:pt x="23623" y="22825"/>
                    </a:cubicBezTo>
                    <a:lnTo>
                      <a:pt x="46448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3587750" y="4069557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0" y="38894"/>
                    </a:moveTo>
                    <a:lnTo>
                      <a:pt x="38894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3671094" y="3930650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726657" y="3986213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3917823" y="3939064"/>
              <a:ext cx="1160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Tool Gateway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536823" y="44153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用户：动作许可与执行回执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37966" y="4934902"/>
              <a:ext cx="1895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目标：通用工具与 Connector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10300" y="369570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56363" y="3919538"/>
              <a:ext cx="155575" cy="200026"/>
              <a:chOff x="6456363" y="3919538"/>
              <a:chExt cx="155575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556375" y="39195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456363" y="39195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489700" y="40084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89700" y="4052888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23038" y="4008438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75323" y="3939064"/>
              <a:ext cx="1754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Workspace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394323" y="4205764"/>
              <a:ext cx="8750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&amp; Verifier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94323" y="45867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用户：下载成果、查看校验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95466" y="4934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部分：固定成果适配器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067800" y="3695700"/>
              <a:ext cx="2628900" cy="17716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9302750" y="3919538"/>
              <a:ext cx="177801" cy="200025"/>
              <a:chOff x="9302750" y="3919538"/>
              <a:chExt cx="177801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9302750" y="39195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302750" y="39528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02750" y="40195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9632823" y="3939064"/>
              <a:ext cx="1619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Checkpoint, Event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251823" y="4205764"/>
              <a:ext cx="1872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&amp; Governance Control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251823" y="45867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用户：状态、恢复与审计入口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252966" y="4934902"/>
              <a:ext cx="1816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部分：Snapshot / SSE / PG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489966" y="6458902"/>
              <a:ext cx="3749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当前系统实测；线上架构参照：ReAct · LangGraph · MCP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04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37464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技术演进：工程对象不断外扩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96500" y="438150"/>
              <a:ext cx="16002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64445" y="519589"/>
              <a:ext cx="1264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P05-P09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59205"/>
            <a:ext cx="7571304" cy="662273"/>
            <a:chOff x="484632" y="1259205"/>
            <a:chExt cx="7571304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59205"/>
              <a:ext cx="75713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不是模型突然“变成 Agent”，而是系统逐步接管更多责任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721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阶段名称是方案归纳，不代表学界统一命名；研究依据来自论文与产品官方实践。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2362200"/>
            <a:ext cx="11201400" cy="2076450"/>
            <a:chOff x="495300" y="2362200"/>
            <a:chExt cx="11201400" cy="2076450"/>
          </a:xfrm>
        </p:grpSpPr>
        <p:sp>
          <p:nvSpPr>
            <p:cNvPr id="12" name="Freeform 12"/>
            <p:cNvSpPr/>
            <p:nvPr/>
          </p:nvSpPr>
          <p:spPr>
            <a:xfrm>
              <a:off x="495300" y="2362200"/>
              <a:ext cx="11201400" cy="2076450"/>
            </a:xfrm>
            <a:custGeom>
              <a:avLst/>
              <a:gdLst/>
              <a:ahLst/>
              <a:cxnLst/>
              <a:rect l="l" t="t" r="r" b="b"/>
              <a:pathLst>
                <a:path w="11201400" h="2076450">
                  <a:moveTo>
                    <a:pt x="0" y="0"/>
                  </a:moveTo>
                  <a:lnTo>
                    <a:pt x="11201400" y="0"/>
                  </a:lnTo>
                  <a:lnTo>
                    <a:pt x="112014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95300" y="2362200"/>
              <a:ext cx="2076450" cy="2076450"/>
            </a:xfrm>
            <a:custGeom>
              <a:avLst/>
              <a:gdLst/>
              <a:ahLst/>
              <a:cxnLst/>
              <a:rect l="l" t="t" r="r" b="b"/>
              <a:pathLst>
                <a:path w="2076450" h="2076450">
                  <a:moveTo>
                    <a:pt x="0" y="0"/>
                  </a:moveTo>
                  <a:lnTo>
                    <a:pt x="1809750" y="0"/>
                  </a:lnTo>
                  <a:lnTo>
                    <a:pt x="2076450" y="1038225"/>
                  </a:lnTo>
                  <a:lnTo>
                    <a:pt x="1809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656" y="2663190"/>
              <a:ext cx="917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Prompt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932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工程对象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单次指令与示例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7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5506" y="2663190"/>
              <a:ext cx="1370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Agent 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5506" y="2948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0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8173" y="3767614"/>
              <a:ext cx="1775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Action / Observation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7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10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Context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1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1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317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状态与信息选择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38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5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Harness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15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18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工具、权限、沙箱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28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20506" y="26631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Loop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2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3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触发、验证、恢复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191750" y="2362200"/>
              <a:ext cx="1504950" cy="2076450"/>
            </a:xfrm>
            <a:custGeom>
              <a:avLst/>
              <a:gdLst/>
              <a:ahLst/>
              <a:cxnLst/>
              <a:rect l="l" t="t" r="r" b="b"/>
              <a:pathLst>
                <a:path w="1504950" h="2076450">
                  <a:moveTo>
                    <a:pt x="0" y="0"/>
                  </a:moveTo>
                  <a:lnTo>
                    <a:pt x="1504950" y="0"/>
                  </a:lnTo>
                  <a:lnTo>
                    <a:pt x="150495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6360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办公交付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66273" y="31008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业务成果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66273" y="33866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证据与边界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66273" y="37676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用户可复核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638" y="4935855"/>
            <a:ext cx="6109811" cy="700373"/>
            <a:chOff x="528638" y="4935855"/>
            <a:chExt cx="6109811" cy="700373"/>
          </a:xfrm>
        </p:grpSpPr>
        <p:grpSp>
          <p:nvGrpSpPr>
            <p:cNvPr id="46" name="Group 46"/>
            <p:cNvGrpSpPr/>
            <p:nvPr/>
          </p:nvGrpSpPr>
          <p:grpSpPr>
            <a:xfrm>
              <a:off x="528638" y="5019675"/>
              <a:ext cx="200025" cy="133350"/>
              <a:chOff x="528638" y="5019675"/>
              <a:chExt cx="200025" cy="1333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73088" y="50196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0" y="44450"/>
                    </a:moveTo>
                    <a:lnTo>
                      <a:pt x="155575" y="44450"/>
                    </a:ln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28638" y="51085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155575" y="0"/>
                    </a:moveTo>
                    <a:lnTo>
                      <a:pt x="0" y="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03732" y="49358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交互对象同步变化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7923" y="5386864"/>
              <a:ext cx="5730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从“改一句 Prompt”到“审查任务状态、来源、成果、恢复点与动作后果”。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426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研究依据：Brown et al. (2020) · ReAct (2022) · Anthropic Context Engineering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05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617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主流方案的差别，首先是“用户在审什么”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竞品官方调研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40155"/>
            <a:ext cx="4994720" cy="662273"/>
            <a:chOff x="484632" y="1240155"/>
            <a:chExt cx="4994720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不做功能打勾表，比较一等交互对象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53064"/>
              <a:ext cx="4990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官方材料可以说明产品重心，不能据此推出竞品做不到其他能力。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5300" y="2133600"/>
            <a:ext cx="11201400" cy="3238500"/>
            <a:chOff x="495300" y="2133600"/>
            <a:chExt cx="11201400" cy="3238500"/>
          </a:xfrm>
        </p:grpSpPr>
        <p:sp>
          <p:nvSpPr>
            <p:cNvPr id="12" name="Rectangle 12"/>
            <p:cNvSpPr/>
            <p:nvPr/>
          </p:nvSpPr>
          <p:spPr>
            <a:xfrm>
              <a:off x="4953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2376488"/>
              <a:ext cx="200026" cy="188913"/>
              <a:chOff x="738188" y="2376488"/>
              <a:chExt cx="200026" cy="1889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2420938"/>
                <a:ext cx="200026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44463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22238"/>
                    </a:lnTo>
                    <a:cubicBezTo>
                      <a:pt x="200026" y="134512"/>
                      <a:pt x="190075" y="144463"/>
                      <a:pt x="177801" y="144463"/>
                    </a:cubicBezTo>
                    <a:lnTo>
                      <a:pt x="22225" y="144463"/>
                    </a:lnTo>
                    <a:cubicBezTo>
                      <a:pt x="9950" y="144463"/>
                      <a:pt x="0" y="134512"/>
                      <a:pt x="0" y="122238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3750" y="2376488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2476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8188" y="2487613"/>
                <a:ext cx="200026" cy="31699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31699">
                    <a:moveTo>
                      <a:pt x="0" y="0"/>
                    </a:moveTo>
                    <a:cubicBezTo>
                      <a:pt x="62908" y="31699"/>
                      <a:pt x="137118" y="31699"/>
                      <a:pt x="200026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95756" y="2358390"/>
              <a:ext cx="27087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Microsoft 365 Copilot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373" y="2796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审：文件、邮件、会议、站点与人员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373" y="310086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交互对象：工作内容与引用范围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529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395788" y="2376488"/>
              <a:ext cx="200025" cy="200025"/>
              <a:chOff x="4395788" y="2376488"/>
              <a:chExt cx="20002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95788" y="23764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29138" y="25098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753356" y="2358390"/>
              <a:ext cx="2863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ChatGPT deep research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55973" y="27960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审：研究计划、来源、进度与报告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55973" y="31008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交互对象：可中断的研究过程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0" y="213360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75613" y="2387600"/>
              <a:ext cx="166687" cy="177801"/>
              <a:chOff x="8075613" y="2387600"/>
              <a:chExt cx="166687" cy="1778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75613" y="252095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75613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86738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97838" y="24320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0063" y="246538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75625" y="246538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410956" y="2358390"/>
              <a:ext cx="12310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Codex App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3573" y="2796064"/>
              <a:ext cx="2876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审：Task、隔离工作区、Diff 与队列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3573" y="31008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交互对象：代码任务与可审查变更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53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6808" y="4112538"/>
              <a:ext cx="221851" cy="196658"/>
            </a:xfrm>
            <a:custGeom>
              <a:avLst/>
              <a:gdLst/>
              <a:ahLst/>
              <a:cxnLst/>
              <a:rect l="l" t="t" r="r" b="b"/>
              <a:pathLst>
                <a:path w="221851" h="196658">
                  <a:moveTo>
                    <a:pt x="11379" y="186413"/>
                  </a:moveTo>
                  <a:lnTo>
                    <a:pt x="25826" y="143074"/>
                  </a:lnTo>
                  <a:cubicBezTo>
                    <a:pt x="0" y="104880"/>
                    <a:pt x="9979" y="55596"/>
                    <a:pt x="49162" y="27792"/>
                  </a:cubicBezTo>
                  <a:cubicBezTo>
                    <a:pt x="88345" y="0"/>
                    <a:pt x="144618" y="2278"/>
                    <a:pt x="180790" y="33126"/>
                  </a:cubicBezTo>
                  <a:cubicBezTo>
                    <a:pt x="216961" y="63986"/>
                    <a:pt x="221851" y="113870"/>
                    <a:pt x="192225" y="149819"/>
                  </a:cubicBezTo>
                  <a:cubicBezTo>
                    <a:pt x="162599" y="185768"/>
                    <a:pt x="107603" y="196658"/>
                    <a:pt x="63608" y="175300"/>
                  </a:cubicBezTo>
                  <a:lnTo>
                    <a:pt x="11379" y="186413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5756" y="4091940"/>
              <a:ext cx="1446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Claude Code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8373" y="45296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审：项目上下文、工具动作与验证结果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3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交互对象：项目会话与工具循环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1529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395788" y="4121150"/>
              <a:ext cx="200026" cy="177800"/>
              <a:chOff x="4395788" y="4121150"/>
              <a:chExt cx="200026" cy="177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395788" y="41211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395788" y="42100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440238" y="416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440238" y="4254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753356" y="4091940"/>
              <a:ext cx="119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OpenClaw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55973" y="4529614"/>
              <a:ext cx="3056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审：Gateway Task、路由、会话与审批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559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交互对象：任务账本与运行通道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0" y="386715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064500" y="4116863"/>
              <a:ext cx="177801" cy="186375"/>
              <a:chOff x="8064500" y="4116863"/>
              <a:chExt cx="177801" cy="18637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064500" y="41168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64500" y="4221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410956" y="4091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13573" y="4529614"/>
              <a:ext cx="3062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审：Action 是否得到环境 Observation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35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交互对象：推理与环境反馈循环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6156" y="5810250"/>
            <a:ext cx="11210544" cy="443484"/>
            <a:chOff x="486156" y="5810250"/>
            <a:chExt cx="11210544" cy="443484"/>
          </a:xfrm>
        </p:grpSpPr>
        <p:sp>
          <p:nvSpPr>
            <p:cNvPr id="61" name="Freeform 61"/>
            <p:cNvSpPr/>
            <p:nvPr/>
          </p:nvSpPr>
          <p:spPr>
            <a:xfrm>
              <a:off x="495300" y="5810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6156" y="5901690"/>
              <a:ext cx="10120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候选差异：用户审的是“资料 → 业务结论 → 成果 → 人工决定 → 未执行边界”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868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官方来源：Microsoft Support · OpenAI Help / Codex App · Claude Code Docs · OpenClaw Docs · ReAct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06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技术差异如何一步步改变用户流程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708862" y="519589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因果链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4632" y="1240155"/>
            <a:ext cx="6284599" cy="410718"/>
            <a:chOff x="484632" y="1240155"/>
            <a:chExt cx="628459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62845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不是增加更多状态，而是重新分配“谁负责判断”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247900"/>
            <a:ext cx="11201400" cy="3048000"/>
            <a:chOff x="495300" y="2247900"/>
            <a:chExt cx="11201400" cy="3048000"/>
          </a:xfrm>
        </p:grpSpPr>
        <p:sp>
          <p:nvSpPr>
            <p:cNvPr id="11" name="Freeform 11"/>
            <p:cNvSpPr/>
            <p:nvPr/>
          </p:nvSpPr>
          <p:spPr>
            <a:xfrm>
              <a:off x="685800" y="2476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00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2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486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58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772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4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58150" y="2247900"/>
              <a:ext cx="457200" cy="4572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30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344150" y="2247900"/>
              <a:ext cx="457200" cy="457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16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53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6656" y="30822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Workspace 合同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3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323" y="38057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只说业务目标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3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9323" y="45105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整库范围已冻结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466" y="489680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后端：allowlisted index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717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531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计划编译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7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55773" y="38057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查看分支与依赖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57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5773" y="4510564"/>
              <a:ext cx="140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能读/能做/禁止项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6916" y="4896802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后端：validated plan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482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29556" y="3082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模型采用门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32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不再猜模型是否可信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2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3366" y="4534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called / output_used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3366" y="489680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后端：schema + policy gate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060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局部恢复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86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8673" y="38057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只处理受影响问题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86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8673" y="45105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原因、影响、选择后果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9816" y="4896802"/>
              <a:ext cx="1627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后端：Branch + Decision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801100" y="2952750"/>
              <a:ext cx="2895600" cy="2343150"/>
            </a:xfrm>
            <a:prstGeom prst="roundRect">
              <a:avLst>
                <a:gd name="adj" fmla="val 24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20556" y="3082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可核对办公结论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23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23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下载成果，回开依据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3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23223" y="4510564"/>
              <a:ext cx="2124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 / 说明 / 外部动作分层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4366" y="4896802"/>
              <a:ext cx="23404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后端：Artifact + Effect + Receipt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2019" y="5795443"/>
            <a:ext cx="7007588" cy="250360"/>
            <a:chOff x="512019" y="5795443"/>
            <a:chExt cx="7007588" cy="250360"/>
          </a:xfrm>
        </p:grpSpPr>
        <p:grpSp>
          <p:nvGrpSpPr>
            <p:cNvPr id="61" name="Group 61"/>
            <p:cNvGrpSpPr/>
            <p:nvPr/>
          </p:nvGrpSpPr>
          <p:grpSpPr>
            <a:xfrm>
              <a:off x="512019" y="5795443"/>
              <a:ext cx="176105" cy="151297"/>
              <a:chOff x="512019" y="5795443"/>
              <a:chExt cx="176105" cy="1512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0075" y="58507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12019" y="57954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0075" y="591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2673" y="5796439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当前只在固定公开数据与有限适配器中验证；不是竞品同场实测，也不是用户效果结论。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397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ChatGPT deep research source control · MCP Elicitation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07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382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长任务 Loop 的风险，会被循环持续放大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633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5300" y="1466850"/>
            <a:ext cx="7086600" cy="4095750"/>
            <a:chOff x="495300" y="1466850"/>
            <a:chExt cx="7086600" cy="4095750"/>
          </a:xfrm>
        </p:grpSpPr>
        <p:sp>
          <p:nvSpPr>
            <p:cNvPr id="9" name="Rectangle 9"/>
            <p:cNvSpPr/>
            <p:nvPr/>
          </p:nvSpPr>
          <p:spPr>
            <a:xfrm>
              <a:off x="495300" y="1466850"/>
              <a:ext cx="7086600" cy="4095750"/>
            </a:xfrm>
            <a:prstGeom prst="roundRect">
              <a:avLst>
                <a:gd name="adj" fmla="val 1395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3232" y="1621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六类风险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23900" y="2076450"/>
              <a:ext cx="6629400" cy="3238500"/>
            </a:xfrm>
            <a:custGeom>
              <a:avLst/>
              <a:gdLst/>
              <a:ahLst/>
              <a:cxnLst/>
              <a:rect l="l" t="t" r="r" b="b"/>
              <a:pathLst>
                <a:path w="6629400" h="3238500">
                  <a:moveTo>
                    <a:pt x="0" y="0"/>
                  </a:moveTo>
                  <a:lnTo>
                    <a:pt x="6629400" y="0"/>
                  </a:lnTo>
                  <a:moveTo>
                    <a:pt x="3314700" y="0"/>
                  </a:moveTo>
                  <a:lnTo>
                    <a:pt x="3314700" y="3238500"/>
                  </a:lnTo>
                  <a:moveTo>
                    <a:pt x="0" y="1085850"/>
                  </a:moveTo>
                  <a:lnTo>
                    <a:pt x="6629400" y="1085850"/>
                  </a:lnTo>
                  <a:moveTo>
                    <a:pt x="0" y="2171700"/>
                  </a:moveTo>
                  <a:lnTo>
                    <a:pt x="6629400" y="21717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3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156" y="2244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方向漂移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0823" y="2605564"/>
              <a:ext cx="2646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中间目标逐步偏离 Task Contract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0957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210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244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上下文退化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523" y="2605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旧版本、噪声与关键约束丢失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3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81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错误复利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0823" y="36914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未经验证的事实进入后续成果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0957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210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28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成本扩张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5523" y="3691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重试、工具与分支持续增长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3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481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权限漂移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0823" y="47772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工具链扩展后超出原始授权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0957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210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28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停止困难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5523" y="47772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局部失败牵连整任务，用户难接管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848600" y="1466850"/>
            <a:ext cx="3848100" cy="4095750"/>
            <a:chOff x="7848600" y="1466850"/>
            <a:chExt cx="3848100" cy="4095750"/>
          </a:xfrm>
        </p:grpSpPr>
        <p:sp>
          <p:nvSpPr>
            <p:cNvPr id="37" name="Rectangle 37"/>
            <p:cNvSpPr/>
            <p:nvPr/>
          </p:nvSpPr>
          <p:spPr>
            <a:xfrm>
              <a:off x="7848600" y="1466850"/>
              <a:ext cx="3848100" cy="4095750"/>
            </a:xfrm>
            <a:prstGeom prst="roundRect">
              <a:avLst>
                <a:gd name="adj" fmla="val 1485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4632" y="16402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前台必须对应回答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136530" y="2234839"/>
              <a:ext cx="182275" cy="182291"/>
              <a:chOff x="8136530" y="2234839"/>
              <a:chExt cx="182275" cy="18229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220075" y="23145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81975" y="22764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36530" y="2234839"/>
                <a:ext cx="182275" cy="182291"/>
              </a:xfrm>
              <a:custGeom>
                <a:avLst/>
                <a:gdLst/>
                <a:ahLst/>
                <a:cxnLst/>
                <a:rect l="l" t="t" r="r" b="b"/>
                <a:pathLst>
                  <a:path w="182275" h="182291">
                    <a:moveTo>
                      <a:pt x="102595" y="4060"/>
                    </a:moveTo>
                    <a:cubicBezTo>
                      <a:pt x="66403" y="0"/>
                      <a:pt x="31596" y="19251"/>
                      <a:pt x="15798" y="52065"/>
                    </a:cubicBezTo>
                    <a:cubicBezTo>
                      <a:pt x="0" y="84879"/>
                      <a:pt x="6660" y="124094"/>
                      <a:pt x="32406" y="149852"/>
                    </a:cubicBezTo>
                    <a:cubicBezTo>
                      <a:pt x="58152" y="175611"/>
                      <a:pt x="97362" y="182291"/>
                      <a:pt x="130185" y="166509"/>
                    </a:cubicBezTo>
                    <a:cubicBezTo>
                      <a:pt x="163007" y="150728"/>
                      <a:pt x="182275" y="115931"/>
                      <a:pt x="178233" y="7973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8175" y="2238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0" y="57150"/>
                    </a:ln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29600" y="22955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489823" y="22436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当前目标是否仍然一致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162925" y="2714625"/>
              <a:ext cx="133350" cy="171450"/>
              <a:chOff x="8162925" y="2714625"/>
              <a:chExt cx="133350" cy="1714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248650" y="2714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62925" y="27146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01025" y="2771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01025" y="28098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01025" y="28479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489823" y="271986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当前用了哪一版来源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143875" y="3200400"/>
              <a:ext cx="171450" cy="161925"/>
              <a:chOff x="8143875" y="3200400"/>
              <a:chExt cx="171450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143875" y="32766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58175" y="32385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01025" y="32004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53400" y="3352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89823" y="31961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还剩多少轮次与调用预算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8162925" y="3667125"/>
              <a:ext cx="133350" cy="171450"/>
              <a:chOff x="8162925" y="3667125"/>
              <a:chExt cx="133350" cy="1714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162925" y="37433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20075" y="3781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91500" y="3667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489823" y="36723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允许与禁止的动作范围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8162925" y="4152900"/>
              <a:ext cx="142875" cy="152400"/>
              <a:chOff x="8162925" y="4152900"/>
              <a:chExt cx="142875" cy="1524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62925" y="4267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6292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817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81975" y="41910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01025" y="4219575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48650" y="42195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489823" y="4148614"/>
              <a:ext cx="15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哪条 Branch 受影响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172450" y="4638675"/>
              <a:ext cx="114300" cy="133350"/>
              <a:chOff x="8172450" y="4638675"/>
              <a:chExt cx="114300" cy="13335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724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486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489823" y="46248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如何暂停、恢复或接管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115300" y="5048250"/>
              <a:ext cx="3276600" cy="323850"/>
            </a:xfrm>
            <a:prstGeom prst="roundRect">
              <a:avLst>
                <a:gd name="adj" fmla="val 17647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75677" y="5129689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控制信息必须来自服务端事实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12019" y="5871643"/>
            <a:ext cx="6846360" cy="250360"/>
            <a:chOff x="512019" y="5871643"/>
            <a:chExt cx="6846360" cy="250360"/>
          </a:xfrm>
        </p:grpSpPr>
        <p:grpSp>
          <p:nvGrpSpPr>
            <p:cNvPr id="82" name="Group 82"/>
            <p:cNvGrpSpPr/>
            <p:nvPr/>
          </p:nvGrpSpPr>
          <p:grpSpPr>
            <a:xfrm>
              <a:off x="512019" y="5871643"/>
              <a:ext cx="176105" cy="151297"/>
              <a:chOff x="512019" y="5871643"/>
              <a:chExt cx="176105" cy="15129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0075" y="59269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12019" y="58716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00075" y="598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12673" y="587263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746123" y="5872639"/>
              <a:ext cx="5612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最多三轮只读 Control Loop；不是无限自治，也没有硬取消在途 HTTP。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489966" y="6458902"/>
              <a:ext cx="6948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Anthropic Context Engineering · LangGraph Persistence · ReAct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08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4872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Control Loop：当前实现与缺口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63200" y="438150"/>
              <a:ext cx="13335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9728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1295400"/>
            <a:ext cx="3314700" cy="292037"/>
            <a:chOff x="495300" y="1295400"/>
            <a:chExt cx="3314700" cy="292037"/>
          </a:xfrm>
        </p:grpSpPr>
        <p:sp>
          <p:nvSpPr>
            <p:cNvPr id="9" name="Rectangle 9"/>
            <p:cNvSpPr/>
            <p:nvPr/>
          </p:nvSpPr>
          <p:spPr>
            <a:xfrm>
              <a:off x="495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0263" y="1382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当前真实实现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38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4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81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07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尚未实现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00150" y="1981200"/>
            <a:ext cx="9467850" cy="1181100"/>
            <a:chOff x="1200150" y="1981200"/>
            <a:chExt cx="9467850" cy="1181100"/>
          </a:xfrm>
        </p:grpSpPr>
        <p:sp>
          <p:nvSpPr>
            <p:cNvPr id="16" name="Freeform 16"/>
            <p:cNvSpPr/>
            <p:nvPr/>
          </p:nvSpPr>
          <p:spPr>
            <a:xfrm>
              <a:off x="1200150" y="2647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219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90675" y="2419350"/>
              <a:ext cx="285751" cy="190500"/>
              <a:chOff x="1590675" y="2419350"/>
              <a:chExt cx="285751" cy="190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701800" y="2482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90675" y="2419350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59171" y="2872264"/>
              <a:ext cx="748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Observe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124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95675" y="2371725"/>
              <a:ext cx="285751" cy="285751"/>
              <a:chOff x="3495675" y="2371725"/>
              <a:chExt cx="285751" cy="2857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495675" y="2593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17926" y="2371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27425" y="2403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453869" y="2872264"/>
              <a:ext cx="369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Plan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02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416550" y="2387600"/>
              <a:ext cx="254001" cy="254001"/>
              <a:chOff x="5416550" y="2387600"/>
              <a:chExt cx="254001" cy="2540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442033" y="2419350"/>
                <a:ext cx="196768" cy="196768"/>
              </a:xfrm>
              <a:custGeom>
                <a:avLst/>
                <a:gdLst/>
                <a:ahLst/>
                <a:cxnLst/>
                <a:rect l="l" t="t" r="r" b="b"/>
                <a:pathLst>
                  <a:path w="196768" h="196768">
                    <a:moveTo>
                      <a:pt x="66354" y="0"/>
                    </a:moveTo>
                    <a:lnTo>
                      <a:pt x="196768" y="130413"/>
                    </a:lnTo>
                    <a:lnTo>
                      <a:pt x="164160" y="163021"/>
                    </a:lnTo>
                    <a:cubicBezTo>
                      <a:pt x="141022" y="187085"/>
                      <a:pt x="106687" y="196768"/>
                      <a:pt x="74386" y="188339"/>
                    </a:cubicBezTo>
                    <a:cubicBezTo>
                      <a:pt x="42084" y="179909"/>
                      <a:pt x="16858" y="154684"/>
                      <a:pt x="8429" y="122382"/>
                    </a:cubicBezTo>
                    <a:cubicBezTo>
                      <a:pt x="0" y="90081"/>
                      <a:pt x="9683" y="55745"/>
                      <a:pt x="33747" y="32607"/>
                    </a:cubicBezTo>
                    <a:lnTo>
                      <a:pt x="6635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416550" y="25860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535613" y="2387600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14988" y="2466975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385584" y="2872264"/>
              <a:ext cx="315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Act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84251" y="2371725"/>
              <a:ext cx="310011" cy="285751"/>
              <a:chOff x="7284251" y="2371725"/>
              <a:chExt cx="310011" cy="2857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284251" y="23717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96175" y="25939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64641" y="2872264"/>
              <a:ext cx="567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Verify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83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26550" y="2403475"/>
              <a:ext cx="254000" cy="222250"/>
              <a:chOff x="9226550" y="2403475"/>
              <a:chExt cx="254000" cy="222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321800" y="2403475"/>
                <a:ext cx="1587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2225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27000" y="0"/>
                    </a:lnTo>
                    <a:cubicBezTo>
                      <a:pt x="144535" y="0"/>
                      <a:pt x="158750" y="14215"/>
                      <a:pt x="158750" y="31750"/>
                    </a:cubicBezTo>
                    <a:lnTo>
                      <a:pt x="158750" y="190500"/>
                    </a:lnTo>
                    <a:cubicBezTo>
                      <a:pt x="158750" y="208035"/>
                      <a:pt x="144535" y="222250"/>
                      <a:pt x="127000" y="222250"/>
                    </a:cubicBezTo>
                    <a:lnTo>
                      <a:pt x="31750" y="222250"/>
                    </a:lnTo>
                    <a:cubicBezTo>
                      <a:pt x="14215" y="222250"/>
                      <a:pt x="0" y="208035"/>
                      <a:pt x="0" y="19050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274175" y="24352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26550" y="24511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33256" y="2872264"/>
              <a:ext cx="640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Commit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733550" y="1981200"/>
              <a:ext cx="8934450" cy="666750"/>
            </a:xfrm>
            <a:custGeom>
              <a:avLst/>
              <a:gdLst/>
              <a:ahLst/>
              <a:cxnLst/>
              <a:rect l="l" t="t" r="r" b="b"/>
              <a:pathLst>
                <a:path w="8934450" h="666750">
                  <a:moveTo>
                    <a:pt x="8134350" y="666750"/>
                  </a:moveTo>
                  <a:lnTo>
                    <a:pt x="8934450" y="666750"/>
                  </a:lnTo>
                  <a:lnTo>
                    <a:pt x="8934450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75164" y="2286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最多三轮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95300" y="3600450"/>
            <a:ext cx="11248858" cy="1885950"/>
            <a:chOff x="495300" y="3600450"/>
            <a:chExt cx="11248858" cy="1885950"/>
          </a:xfrm>
        </p:grpSpPr>
        <p:sp>
          <p:nvSpPr>
            <p:cNvPr id="49" name="Rectangle 49"/>
            <p:cNvSpPr/>
            <p:nvPr/>
          </p:nvSpPr>
          <p:spPr>
            <a:xfrm>
              <a:off x="495300" y="3600450"/>
              <a:ext cx="11201400" cy="18859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4756" y="37490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外围控制与状态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23900" y="4171950"/>
              <a:ext cx="10744200" cy="1123950"/>
            </a:xfrm>
            <a:custGeom>
              <a:avLst/>
              <a:gdLst/>
              <a:ahLst/>
              <a:cxnLst/>
              <a:rect l="l" t="t" r="r" b="b"/>
              <a:pathLst>
                <a:path w="10744200" h="1123950">
                  <a:moveTo>
                    <a:pt x="0" y="0"/>
                  </a:moveTo>
                  <a:lnTo>
                    <a:pt x="10744200" y="0"/>
                  </a:lnTo>
                  <a:moveTo>
                    <a:pt x="1790700" y="0"/>
                  </a:moveTo>
                  <a:lnTo>
                    <a:pt x="1790700" y="1123950"/>
                  </a:lnTo>
                  <a:moveTo>
                    <a:pt x="3581400" y="0"/>
                  </a:moveTo>
                  <a:lnTo>
                    <a:pt x="3581400" y="1123950"/>
                  </a:lnTo>
                  <a:moveTo>
                    <a:pt x="5372100" y="0"/>
                  </a:moveTo>
                  <a:lnTo>
                    <a:pt x="5372100" y="1123950"/>
                  </a:lnTo>
                  <a:moveTo>
                    <a:pt x="7162800" y="0"/>
                  </a:moveTo>
                  <a:lnTo>
                    <a:pt x="7162800" y="1123950"/>
                  </a:lnTo>
                  <a:moveTo>
                    <a:pt x="8953500" y="0"/>
                  </a:moveTo>
                  <a:lnTo>
                    <a:pt x="8953500" y="11239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0773" y="4358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916" y="472535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当前：目标/范围冻结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414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42616" y="4725352"/>
              <a:ext cx="1237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当前：Branch 级门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321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Budget &amp; Stop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33316" y="4725352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部分：轮次/调用/期限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28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Steer / Pause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4016" y="4725352"/>
              <a:ext cx="1818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部分：安全点；无 Takeover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135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Durable 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14716" y="472535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部分：可选 PG 重启恢复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04273" y="4358164"/>
              <a:ext cx="5141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Trace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5416" y="4725352"/>
              <a:ext cx="19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当前：named SSE + Snapshot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6156" y="5711190"/>
            <a:ext cx="7014972" cy="572071"/>
            <a:chOff x="486156" y="5711190"/>
            <a:chExt cx="7014972" cy="572071"/>
          </a:xfrm>
        </p:grpSpPr>
        <p:sp>
          <p:nvSpPr>
            <p:cNvPr id="65" name="TextBox 65"/>
            <p:cNvSpPr txBox="1"/>
            <p:nvPr/>
          </p:nvSpPr>
          <p:spPr>
            <a:xfrm>
              <a:off x="486156" y="5711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当前本质：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67256" y="57111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有反馈与恢复的只读办公任务纵切，不是完整执行器。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9966" y="6077902"/>
              <a:ext cx="4427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历史“约 30%”只属于早期架构审计基线，不是当前覆盖率或模型质量。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489966" y="6458902"/>
              <a:ext cx="678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线上运行时参照：LangGraph Persistence · OpenAI Agents SDK Human-in-the-loop · A2A Task States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09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83762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六个办公场景，共用同一条治理主线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场景地图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504950"/>
            <a:ext cx="6844741" cy="4436078"/>
            <a:chOff x="533400" y="1504950"/>
            <a:chExt cx="6844741" cy="4436078"/>
          </a:xfrm>
        </p:grpSpPr>
        <p:sp>
          <p:nvSpPr>
            <p:cNvPr id="9" name="Freeform 9"/>
            <p:cNvSpPr/>
            <p:nvPr/>
          </p:nvSpPr>
          <p:spPr>
            <a:xfrm>
              <a:off x="742950" y="15049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00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6912" y="173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806" y="1558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 入职资产匹配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7473" y="1881664"/>
              <a:ext cx="5951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产物：资产匹配表 人工门：业务规则复核 边界：引用定位问题不等于成果失败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362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6912" y="2500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4806" y="2320290"/>
              <a:ext cx="218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 三期往来款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473" y="2643664"/>
              <a:ext cx="5187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产物：未收/未付统计 人工门：僵尸账款判断 边界：不核销、不记账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124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6912" y="3262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806" y="3082290"/>
              <a:ext cx="2720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双岗位招聘筛选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7473" y="3405664"/>
              <a:ext cx="5436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产物：候选建议与依据 人工门：招聘负责人决定 边界：未录用、未淘汰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886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4806" y="3844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授权文件风控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473" y="4167664"/>
              <a:ext cx="5265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产物：规则台账与风险候选 人工门：法务复核 边界：不代表法律意见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648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6912" y="4786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806" y="4606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合规外呼流程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473" y="4929664"/>
              <a:ext cx="6260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产物：流程图与 DOCX 人工门：执行批准 边界：不拨号、不写 CRM、不发短信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410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912" y="554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806" y="5368290"/>
              <a:ext cx="4306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/ TC-15 冲突诊断与说明对账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473" y="5691664"/>
              <a:ext cx="5805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产物：条件式提案 / 排序成果 人工门：复核权威顺序 边界：不静默覆盖冲突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39200" y="1504950"/>
            <a:ext cx="2857500" cy="4324350"/>
            <a:chOff x="8839200" y="1504950"/>
            <a:chExt cx="2857500" cy="4324350"/>
          </a:xfrm>
        </p:grpSpPr>
        <p:sp>
          <p:nvSpPr>
            <p:cNvPr id="35" name="Rectangle 35"/>
            <p:cNvSpPr/>
            <p:nvPr/>
          </p:nvSpPr>
          <p:spPr>
            <a:xfrm>
              <a:off x="8839200" y="1504950"/>
              <a:ext cx="2857500" cy="4324350"/>
            </a:xfrm>
            <a:prstGeom prst="roundRect">
              <a:avLst>
                <a:gd name="adj" fmla="val 2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14282" y="1716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同一治理主线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15806" y="22631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1 触发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8473" y="25865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用户只说业务目标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5806" y="30060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2 路径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18473" y="33294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来源、计划、成果、验证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15806" y="37490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3 停顿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8473" y="40724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只暂停受影响部分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15806" y="4491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4 输出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8473" y="4815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成果、依据、决定、边界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18473" y="52916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每个场景都可被反证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64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场景设计依据：Microsoft HAI Guidelines · W3C PROV-O · OpenAI Agents SDK Human-in-the-loop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10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918099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TC-01：成果正确，不等于引用定位完整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用户反馈驱动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28750"/>
            <a:ext cx="4016121" cy="4343400"/>
            <a:chOff x="495300" y="1428750"/>
            <a:chExt cx="4016121" cy="4343400"/>
          </a:xfrm>
        </p:grpSpPr>
        <p:sp>
          <p:nvSpPr>
            <p:cNvPr id="9" name="Rectangle 9"/>
            <p:cNvSpPr/>
            <p:nvPr/>
          </p:nvSpPr>
          <p:spPr>
            <a:xfrm>
              <a:off x="495300" y="1428750"/>
              <a:ext cx="3429000" cy="43434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6656" y="15582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旧体验：成果与审计缺口混在一起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2169953"/>
              <a:ext cx="3124200" cy="2899094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804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用户反馈样本，非正式目标用户研究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52900" y="1428750"/>
            <a:ext cx="5059871" cy="4343400"/>
            <a:chOff x="4152900" y="1428750"/>
            <a:chExt cx="5059871" cy="4343400"/>
          </a:xfrm>
        </p:grpSpPr>
        <p:sp>
          <p:nvSpPr>
            <p:cNvPr id="14" name="Rectangle 14"/>
            <p:cNvSpPr/>
            <p:nvPr/>
          </p:nvSpPr>
          <p:spPr>
            <a:xfrm>
              <a:off x="4152900" y="1428750"/>
              <a:ext cx="4686300" cy="4343400"/>
            </a:xfrm>
            <a:prstGeom prst="roundRect">
              <a:avLst>
                <a:gd name="adj" fmla="val 131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2356" y="15582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现在把三个事实拆开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5023" y="1976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08423" y="1976914"/>
              <a:ext cx="3540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根据时间表和规则生成 3/20-4/20 资产匹配表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50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08423" y="2338864"/>
              <a:ext cx="3893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读取两份资料 → 生成 CSV → 文件检查 → 证据定位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5023" y="27008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成果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8423" y="2700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日期与资产表可通过确定性文件检查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5023" y="30627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08423" y="3062764"/>
              <a:ext cx="4020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同一逐字 quote 多次出现，无法唯一映射到原文位置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1500" y="3486150"/>
              <a:ext cx="42291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523" y="361521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“缺一份引用”到底是什么意思？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5523" y="3900964"/>
              <a:ext cx="46472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缺的是唯一可回开的定位，不是缺源文件，也不是日期算错。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5023" y="44915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8423" y="44915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成果置顶；同源缺口合并；只决定受影响定位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5023" y="48534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08423" y="4853464"/>
              <a:ext cx="3947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Artifact/Effect 与 Resolution/Branch 分开负责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75023" y="5215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8423" y="5215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用户仍需复核资产规则与特殊备注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67800" y="1428750"/>
            <a:ext cx="2628900" cy="4343400"/>
            <a:chOff x="9067800" y="1428750"/>
            <a:chExt cx="2628900" cy="4343400"/>
          </a:xfrm>
        </p:grpSpPr>
        <p:sp>
          <p:nvSpPr>
            <p:cNvPr id="34" name="Rectangle 34"/>
            <p:cNvSpPr/>
            <p:nvPr/>
          </p:nvSpPr>
          <p:spPr>
            <a:xfrm>
              <a:off x="9067800" y="1428750"/>
              <a:ext cx="2628900" cy="43434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49156" y="1558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现在：成果优先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0223" y="1962150"/>
              <a:ext cx="1564055" cy="33337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9252966" y="54111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489966" y="6458902"/>
              <a:ext cx="632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设计依据：Anthropic Citations · Microsoft HAI Guidelines；截图只证明当前系统渲染与运行事实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11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21152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TC-05：三份输入，不等于三期各出一份结果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语义说明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4632" y="1240155"/>
            <a:ext cx="10831068" cy="1179195"/>
            <a:chOff x="484632" y="1240155"/>
            <a:chExt cx="10831068" cy="11791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输入：三个期间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41363" y="1947863"/>
              <a:ext cx="155575" cy="200026"/>
              <a:chOff x="741363" y="1947863"/>
              <a:chExt cx="155575" cy="2000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41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1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4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4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8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79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上半年明细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62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408363" y="1947863"/>
              <a:ext cx="155575" cy="200026"/>
              <a:chOff x="3408363" y="1947863"/>
              <a:chExt cx="155575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508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08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441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41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75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746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下半年明细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29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075363" y="1947863"/>
              <a:ext cx="155575" cy="200026"/>
              <a:chOff x="6075363" y="1947863"/>
              <a:chExt cx="155575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175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75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08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08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142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413373" y="2005489"/>
              <a:ext cx="1184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2026 期初明细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496300" y="20669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125200" y="195262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08299" y="1786414"/>
              <a:ext cx="199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按不同目的生成三份成果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95300" y="2895600"/>
            <a:ext cx="11201400" cy="2209800"/>
            <a:chOff x="495300" y="2895600"/>
            <a:chExt cx="11201400" cy="2209800"/>
          </a:xfrm>
        </p:grpSpPr>
        <p:sp>
          <p:nvSpPr>
            <p:cNvPr id="38" name="Rectangle 38"/>
            <p:cNvSpPr/>
            <p:nvPr/>
          </p:nvSpPr>
          <p:spPr>
            <a:xfrm>
              <a:off x="4953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7400" y="3162300"/>
              <a:ext cx="177800" cy="228599"/>
              <a:chOff x="787400" y="3162300"/>
              <a:chExt cx="177800" cy="22859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017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74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55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5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36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704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未付统计.csv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4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4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提取正数贷方期末余额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6374" y="4294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31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70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1529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4445000" y="3162300"/>
              <a:ext cx="177800" cy="228599"/>
              <a:chOff x="4445000" y="3162300"/>
              <a:chExt cx="177800" cy="22859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45593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4450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4831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4831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5212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48280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未收统计.csv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750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750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提取正数借方期末余额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639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941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810500" y="2895600"/>
              <a:ext cx="38862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102600" y="3162300"/>
              <a:ext cx="177800" cy="228599"/>
              <a:chOff x="8102600" y="3162300"/>
              <a:chExt cx="177800" cy="22859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2169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026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53400" y="32385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53400" y="32893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53400" y="33400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485632" y="3145155"/>
              <a:ext cx="2351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跨期核对说明.md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32623" y="3672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这份文件才比较三个期间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32623" y="3977164"/>
              <a:ext cx="3128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同一科目 + 客商的借方余额是否连续不变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215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D97706"/>
                  </a:solidFill>
                  <a:latin typeface="Segoe UI Semibold"/>
                  <a:ea typeface="Segoe UI Semibold"/>
                  <a:cs typeface="Segoe UI Semibold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51723" y="4529614"/>
              <a:ext cx="2098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条风险候选 · 仍需财务复核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5429250"/>
            <a:ext cx="11201400" cy="666750"/>
            <a:chOff x="495300" y="5429250"/>
            <a:chExt cx="11201400" cy="666750"/>
          </a:xfrm>
        </p:grpSpPr>
        <p:sp>
          <p:nvSpPr>
            <p:cNvPr id="75" name="Rectangle 75"/>
            <p:cNvSpPr/>
            <p:nvPr/>
          </p:nvSpPr>
          <p:spPr>
            <a:xfrm>
              <a:off x="495300" y="5429250"/>
              <a:ext cx="112014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4756" y="5520690"/>
              <a:ext cx="411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前台必须先解释“每份成果代表什么”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423" y="5844064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统计完成不等于僵尸账款定论；系统未付款、未核销、未记账，也不替代会计政策判断。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458902"/>
              <a:ext cx="4444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当前系统实测；交互依据：Microsoft HAI Guidelines · W3C PROV-O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12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/ TC-07：高影响判断必须保留人工门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38150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3235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人机责任分层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5300" y="1390650"/>
            <a:ext cx="5334000" cy="4267200"/>
            <a:chOff x="495300" y="1390650"/>
            <a:chExt cx="53340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53340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42963" y="1697831"/>
              <a:ext cx="202407" cy="242889"/>
              <a:chOff x="842963" y="1697831"/>
              <a:chExt cx="202407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9950" y="16978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3" y="1859757"/>
                <a:ext cx="107950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44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27582" y="1678305"/>
              <a:ext cx="34400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· 双岗位招聘筛选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152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5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6073" y="2338864"/>
              <a:ext cx="2833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两份 JD + 五份简历，形成候选建议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6073" y="27389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职位条件 → 经历证据 → 匹配/缺口 → 建议台账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5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60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候选顺序、支持证据、缺失信息、复核项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5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6073" y="35390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材料冲突或关键条件缺失时标为待复核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73" y="3939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回开依据，确认或改写筛选规则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419600"/>
              <a:ext cx="48006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910614"/>
              <a:ext cx="4398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这是建议，不是录用/淘汰；不隐藏不确定性与隐私边界。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390650"/>
            <a:ext cx="5600700" cy="4267200"/>
            <a:chOff x="6096000" y="1390650"/>
            <a:chExt cx="5600700" cy="42672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390650"/>
              <a:ext cx="56007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384971" y="1697831"/>
              <a:ext cx="263510" cy="242888"/>
              <a:chOff x="6384971" y="1697831"/>
              <a:chExt cx="263510" cy="24288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384971" y="16978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651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828282" y="167830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· 授权文件风控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362700" y="21526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773" y="23388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六份授权文件，核对授权范围与风险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6773" y="2738914"/>
              <a:ext cx="3351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条款抽取 → 原文定位 → 规则台账 → 风险候选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67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文件级规则、来源位置、冲突与复核清单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62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6773" y="3539014"/>
              <a:ext cx="3119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授权主体/期限/范围不一致时不自动裁决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1573" y="3939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逐项回开原文，交由法务作最终判断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62700" y="4419600"/>
              <a:ext cx="50673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67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6723" y="4910614"/>
              <a:ext cx="3960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这是风险候选，不代表法律意见，也不会代替签署。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6000750"/>
            <a:ext cx="11210544" cy="443484"/>
            <a:chOff x="486156" y="6000750"/>
            <a:chExt cx="11210544" cy="443484"/>
          </a:xfrm>
        </p:grpSpPr>
        <p:sp>
          <p:nvSpPr>
            <p:cNvPr id="50" name="Freeform 50"/>
            <p:cNvSpPr/>
            <p:nvPr/>
          </p:nvSpPr>
          <p:spPr>
            <a:xfrm>
              <a:off x="495300" y="6000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6156" y="6092190"/>
              <a:ext cx="7750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共同原则：Agent 提供证据与候选，业务权威仍由有职责的人承担。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489966" y="6458902"/>
              <a:ext cx="4486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人机交互研究依据：Microsoft Guidelines for Human-AI Interaction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13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/ TC-14：形成方案，不等于执行动作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动作边界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95300" y="1390650"/>
            <a:ext cx="4762500" cy="4381500"/>
            <a:chOff x="495300" y="1390650"/>
            <a:chExt cx="4762500" cy="43815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47625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3431" y="1678781"/>
              <a:ext cx="242888" cy="242888"/>
              <a:chOff x="783431" y="167878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83431" y="18676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2344" y="16787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0419" y="170576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08532" y="165925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· 合规外呼流程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473" y="2167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023" y="2167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根据材料形成外呼流程与话术规则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473" y="2548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7023" y="2548414"/>
              <a:ext cx="3168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来源抽取 → 节点/条件 → 流程图 → DOCX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2950" y="3048000"/>
              <a:ext cx="42672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64406" y="3288506"/>
              <a:ext cx="185737" cy="185737"/>
              <a:chOff x="964406" y="3288506"/>
              <a:chExt cx="185737" cy="1857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4406" y="32885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6318" y="33607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324356" y="3253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7023" y="3596164"/>
              <a:ext cx="3404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生成流程图与可下载 DOCX，完成结构检查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2950" y="4095750"/>
              <a:ext cx="42672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53209" y="4351878"/>
              <a:ext cx="208123" cy="178805"/>
              <a:chOff x="953209" y="4351878"/>
              <a:chExt cx="208123" cy="17880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57275" y="44172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53209" y="43518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7275" y="4489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324356" y="43205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7023" y="4682014"/>
              <a:ext cx="239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未拨号、未写 CRM、未发短信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8166" y="4953952"/>
              <a:ext cx="3025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没有 Connector receipt，就不能显示“已执行”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24500" y="1390650"/>
            <a:ext cx="6172200" cy="4381500"/>
            <a:chOff x="5524500" y="1390650"/>
            <a:chExt cx="6172200" cy="4381500"/>
          </a:xfrm>
        </p:grpSpPr>
        <p:sp>
          <p:nvSpPr>
            <p:cNvPr id="34" name="Rectangle 34"/>
            <p:cNvSpPr/>
            <p:nvPr/>
          </p:nvSpPr>
          <p:spPr>
            <a:xfrm>
              <a:off x="5524500" y="1390650"/>
              <a:ext cx="61722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61482" y="1525905"/>
              <a:ext cx="37379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· SRE 冲突日志诊断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5051" y="1943100"/>
              <a:ext cx="3591098" cy="27432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5772150" y="4857750"/>
              <a:ext cx="260985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37123" y="49868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已发生：条件式诊断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38266" y="5258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保留支持、反证与止损提案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53450" y="4857750"/>
              <a:ext cx="28956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8423" y="49868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未发生：生产变更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9566" y="5258752"/>
              <a:ext cx="220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 ES 命令，未触发业务降级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6156" y="6038850"/>
            <a:ext cx="11210544" cy="443484"/>
            <a:chOff x="486156" y="6038850"/>
            <a:chExt cx="11210544" cy="443484"/>
          </a:xfrm>
        </p:grpSpPr>
        <p:sp>
          <p:nvSpPr>
            <p:cNvPr id="44" name="Freeform 44"/>
            <p:cNvSpPr/>
            <p:nvPr/>
          </p:nvSpPr>
          <p:spPr>
            <a:xfrm>
              <a:off x="495300" y="60388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6156" y="6130290"/>
              <a:ext cx="7651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前台输出必须同时写清：成果是什么，以及哪些业务动作没有发生。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7013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技术依据：OpenAI Agents SDK Human-in-the-loop · MCP Elicitation · W3C PROV-O；截图为当前系统实测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14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66573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TC-15：模型说明不能覆盖确定性成果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514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单一当前结论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390650"/>
            <a:ext cx="6819900" cy="4476750"/>
            <a:chOff x="495300" y="1390650"/>
            <a:chExt cx="6819900" cy="447675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6819900" cy="4476750"/>
            </a:xfrm>
            <a:prstGeom prst="roundRect">
              <a:avLst>
                <a:gd name="adj" fmla="val 127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4756" y="15392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当前系统实测：冲突说明被拒绝，成果仍保留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3159" y="1943100"/>
              <a:ext cx="4364182" cy="33337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718566" y="550640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桌面端拒绝态 · 不伪造竞品或生产截图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81900" y="1390650"/>
            <a:ext cx="4114800" cy="4476750"/>
            <a:chOff x="7581900" y="1390650"/>
            <a:chExt cx="4114800" cy="4476750"/>
          </a:xfrm>
        </p:grpSpPr>
        <p:sp>
          <p:nvSpPr>
            <p:cNvPr id="14" name="Rectangle 14"/>
            <p:cNvSpPr/>
            <p:nvPr/>
          </p:nvSpPr>
          <p:spPr>
            <a:xfrm>
              <a:off x="7581900" y="139065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04023" y="15768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确定性成果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99832" y="1887855"/>
              <a:ext cx="2603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212/212 行 · 87 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2281714"/>
              <a:ext cx="2352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P0-P4 = 25 / 40 / 14 / 6 /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81900" y="281940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C0362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04023" y="30056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模型冲突说明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023" y="3386614"/>
              <a:ext cx="2987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声称只覆盖 60 行，并改写 P0 优先级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4023" y="3691414"/>
              <a:ext cx="2724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81900" y="4248150"/>
              <a:ext cx="4114800" cy="1619250"/>
            </a:xfrm>
            <a:prstGeom prst="roundRect">
              <a:avLst>
                <a:gd name="adj" fmla="val 352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4023" y="44343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服务端采用回执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4023" y="4815364"/>
              <a:ext cx="1197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contradictory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023" y="5101114"/>
              <a:ext cx="1935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deterministic_outcome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023" y="5386864"/>
              <a:ext cx="725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7706"/>
                  </a:solidFill>
                  <a:latin typeface="Consolas"/>
                  <a:ea typeface="Consolas"/>
                  <a:cs typeface="Consolas"/>
                </a:rPr>
                <a:t>rejected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39706" y="5006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前台只保留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9706" y="533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一套当前结论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2019" y="6081193"/>
            <a:ext cx="8209071" cy="250360"/>
            <a:chOff x="512019" y="6081193"/>
            <a:chExt cx="8209071" cy="250360"/>
          </a:xfrm>
        </p:grpSpPr>
        <p:grpSp>
          <p:nvGrpSpPr>
            <p:cNvPr id="33" name="Group 33"/>
            <p:cNvGrpSpPr/>
            <p:nvPr/>
          </p:nvGrpSpPr>
          <p:grpSpPr>
            <a:xfrm>
              <a:off x="512019" y="6081193"/>
              <a:ext cx="176105" cy="151297"/>
              <a:chOff x="512019" y="6081193"/>
              <a:chExt cx="176105" cy="1512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0075" y="61364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2019" y="60811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0075" y="6197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12673" y="6082189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这只证明固定场景的结构化事实对账，不是通用自然语言真值证明器，也不证明排序方案带来用户价值。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489966" y="6458902"/>
              <a:ext cx="547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交互依据：Microsoft HAI Guidelines · W3C Status Messages；截图为当前系统实测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15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前台交互只需要先回答五个问题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5322" y="519589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界面与体验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5300" y="1409700"/>
            <a:ext cx="6286500" cy="4267200"/>
            <a:chOff x="495300" y="1409700"/>
            <a:chExt cx="62865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409700"/>
              <a:ext cx="62865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15830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业务用户的阅读顺序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85800" y="205740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0262" y="2176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106" y="2129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现在完成了什么？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8273" y="2186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成果文件与确定性检查置顶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5800" y="27241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0262" y="28436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106" y="2796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依据是什么？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28532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文件、原文位置与摘录可回开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5800" y="339090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262" y="35104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106" y="3463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为什么停？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8273" y="35199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说明问题、影响范围和可选动作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5800" y="40576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0262" y="4177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9106" y="41300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我确认后会改变什么？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3573" y="4186714"/>
              <a:ext cx="1502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只恢复哪条 Branch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5800" y="472440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0262" y="4843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9106" y="4796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什么绝不会发生？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8273" y="4853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未执行边界与外部动作回执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53349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技术字段放入二级或审计层，不抢占首屏。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48500" y="1409700"/>
            <a:ext cx="4648200" cy="4267200"/>
            <a:chOff x="7048500" y="1409700"/>
            <a:chExt cx="4648200" cy="4267200"/>
          </a:xfrm>
        </p:grpSpPr>
        <p:sp>
          <p:nvSpPr>
            <p:cNvPr id="33" name="Rectangle 33"/>
            <p:cNvSpPr/>
            <p:nvPr/>
          </p:nvSpPr>
          <p:spPr>
            <a:xfrm>
              <a:off x="7048500" y="1409700"/>
              <a:ext cx="4648200" cy="4267200"/>
            </a:xfrm>
            <a:prstGeom prst="roundRect">
              <a:avLst>
                <a:gd name="adj" fmla="val 13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4532" y="1583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三层信息架构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15200" y="2095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34656" y="2186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首屏：当前结论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323" y="2529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成果、复核状态、未执行边界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15200" y="30480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34656" y="3139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展开：为什么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323" y="34818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来源、校验、说明采用、局部决定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15200" y="4000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>
                <a:alpha val="8000"/>
              </a:srgbClr>
            </a:solidFill>
            <a:ln w="19050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34656" y="4091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审计：系统事实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7323" y="4434364"/>
              <a:ext cx="3456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Snapshot、version、SSE、DecisionRecord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15200" y="4991100"/>
              <a:ext cx="4114800" cy="476250"/>
            </a:xfrm>
            <a:prstGeom prst="roundRect">
              <a:avLst>
                <a:gd name="adj" fmla="val 12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4454" y="51582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目标：少解释概念，多解释下一步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6156" y="5844540"/>
            <a:ext cx="8655406" cy="352044"/>
            <a:chOff x="486156" y="5844540"/>
            <a:chExt cx="8655406" cy="352044"/>
          </a:xfrm>
        </p:grpSpPr>
        <p:sp>
          <p:nvSpPr>
            <p:cNvPr id="47" name="TextBox 47"/>
            <p:cNvSpPr txBox="1"/>
            <p:nvPr/>
          </p:nvSpPr>
          <p:spPr>
            <a:xfrm>
              <a:off x="486156" y="5844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仍需用户研究验证：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17673" y="5901214"/>
              <a:ext cx="6423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能否无引导说出当前结果、来源、影响、下一步；并用 HEART 度量理解与负担。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634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用户研究依据：Microsoft HAI Guidelines · W3C Status Messages / Target Size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16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408622"/>
            <a:ext cx="8983630" cy="949262"/>
            <a:chOff x="477774" y="408622"/>
            <a:chExt cx="8983630" cy="949262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408622"/>
              <a:ext cx="89836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下一阶段：把 07-16 方向变成可证伪证据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6156" y="1005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先闭合可信失败与恢复，再扩大业务效果和外部动作。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1962150"/>
            <a:ext cx="11201400" cy="2286000"/>
            <a:chOff x="495300" y="1962150"/>
            <a:chExt cx="11201400" cy="2286000"/>
          </a:xfrm>
        </p:grpSpPr>
        <p:sp>
          <p:nvSpPr>
            <p:cNvPr id="8" name="Freeform 8"/>
            <p:cNvSpPr/>
            <p:nvPr/>
          </p:nvSpPr>
          <p:spPr>
            <a:xfrm>
              <a:off x="495300" y="1962150"/>
              <a:ext cx="2114550" cy="2286000"/>
            </a:xfrm>
            <a:custGeom>
              <a:avLst/>
              <a:gdLst/>
              <a:ahLst/>
              <a:cxnLst/>
              <a:rect l="l" t="t" r="r" b="b"/>
              <a:pathLst>
                <a:path w="2114550" h="2286000">
                  <a:moveTo>
                    <a:pt x="0" y="0"/>
                  </a:moveTo>
                  <a:lnTo>
                    <a:pt x="1828800" y="0"/>
                  </a:lnTo>
                  <a:lnTo>
                    <a:pt x="2114550" y="1143000"/>
                  </a:lnTo>
                  <a:lnTo>
                    <a:pt x="1828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64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806" y="2586990"/>
              <a:ext cx="1595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原生 Locator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473" y="3005614"/>
              <a:ext cx="5479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PDF 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473" y="3272314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表格行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473" y="3539014"/>
              <a:ext cx="1394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正文块 + revision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098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843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1706" y="2586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携证成果包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4373" y="3005614"/>
              <a:ext cx="730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Artifact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4373" y="3272314"/>
              <a:ext cx="1207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EffectReceipt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4373" y="3539014"/>
              <a:ext cx="1497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provenance + 边界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6291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36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1006" y="2586990"/>
              <a:ext cx="1606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 Verifier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3673" y="30056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从固定适配器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3673" y="32723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扩展到可配置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3673" y="35390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数值与语义规则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6484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29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0306" y="2586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执行能力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22973" y="3005614"/>
              <a:ext cx="1158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Worker / Tool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22973" y="3272314"/>
              <a:ext cx="1629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Connector / Permit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2973" y="35390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幂等与动作回执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667750" y="1962150"/>
              <a:ext cx="1981200" cy="2286000"/>
            </a:xfrm>
            <a:custGeom>
              <a:avLst/>
              <a:gdLst/>
              <a:ahLst/>
              <a:cxnLst/>
              <a:rect l="l" t="t" r="r" b="b"/>
              <a:pathLst>
                <a:path w="1981200" h="2286000">
                  <a:moveTo>
                    <a:pt x="0" y="0"/>
                  </a:moveTo>
                  <a:lnTo>
                    <a:pt x="1695450" y="0"/>
                  </a:lnTo>
                  <a:lnTo>
                    <a:pt x="1981200" y="1143000"/>
                  </a:lnTo>
                  <a:lnTo>
                    <a:pt x="16954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422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39606" y="2586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同场挑战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2273" y="3005614"/>
              <a:ext cx="1574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固定任务/模型/来源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2273" y="32723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竞品实测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2273" y="3539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目标用户研究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648950" y="1962150"/>
              <a:ext cx="1047750" cy="2286000"/>
            </a:xfrm>
            <a:custGeom>
              <a:avLst/>
              <a:gdLst/>
              <a:ahLst/>
              <a:cxnLst/>
              <a:rect l="l" t="t" r="r" b="b"/>
              <a:pathLst>
                <a:path w="1047750" h="2286000">
                  <a:moveTo>
                    <a:pt x="0" y="0"/>
                  </a:moveTo>
                  <a:lnTo>
                    <a:pt x="1047750" y="0"/>
                  </a:lnTo>
                  <a:lnTo>
                    <a:pt x="10477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91558" y="2491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已验证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18774" y="28155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差异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9431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通过门后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52963" y="3601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才可升级结论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3108" y="4712970"/>
            <a:ext cx="7826959" cy="888492"/>
            <a:chOff x="483108" y="4712970"/>
            <a:chExt cx="7826959" cy="888492"/>
          </a:xfrm>
        </p:grpSpPr>
        <p:sp>
          <p:nvSpPr>
            <p:cNvPr id="44" name="TextBox 44"/>
            <p:cNvSpPr txBox="1"/>
            <p:nvPr/>
          </p:nvSpPr>
          <p:spPr>
            <a:xfrm>
              <a:off x="483108" y="4712970"/>
              <a:ext cx="6056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的产品，不是一段回答；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3108" y="5132070"/>
              <a:ext cx="782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而是一份可复核、可恢复、可追责的当前工作结论。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95300" y="5810250"/>
            <a:ext cx="11201400" cy="419100"/>
            <a:chOff x="495300" y="5810250"/>
            <a:chExt cx="11201400" cy="419100"/>
          </a:xfrm>
        </p:grpSpPr>
        <p:sp>
          <p:nvSpPr>
            <p:cNvPr id="47" name="Rectangle 47"/>
            <p:cNvSpPr/>
            <p:nvPr/>
          </p:nvSpPr>
          <p:spPr>
            <a:xfrm>
              <a:off x="495300" y="5810250"/>
              <a:ext cx="11201400" cy="419100"/>
            </a:xfrm>
            <a:prstGeom prst="roundRect">
              <a:avLst>
                <a:gd name="adj" fmla="val 13636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423" y="5939314"/>
              <a:ext cx="586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当前不证明全面领先 · 不证明生产 SLA · 不证明用户已经更信任或更高效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639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研究路线依据：MCP · A2A · W3C PROV-O · Microsoft HAI Guidelines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17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2026-08-29T05:30:04Z</dcterms:created>
  <dcterms:modified xsi:type="dcterms:W3CDTF">2026-08-29T05:30:04Z</dcterms:modified>
  <cp:category/>
  <cp:contentStatus/>
</cp:coreProperties>
</file>
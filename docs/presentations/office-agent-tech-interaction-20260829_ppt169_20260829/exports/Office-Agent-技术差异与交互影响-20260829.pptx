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  <Relationship Id="rId28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这次汇报大部分内容沿用 07-16 的主线：未来办公 Agent 不是把聊天做得更长，而是让工作在持续、协作、治理和交付四个方向上收敛。右侧是当前系统真实 Workspace，15 个目录、96 份输入文件说明我们已经把抽象架构放进一个固定办公资料环境。今天新增的重点只有两个：第一，主流方案现在发展到哪里；第二，技术差异怎样具体改变用户动作和前台反馈。当前截图来自公开 FORTE 固定数据，不是企业生产环境，也不证明用户价值。</a:t>
            </a:r>
          </a:p>
          <a:p>
            <a:endParaRPr lang="en-US" dirty="0"/>
          </a:p>
          <a:p>
            <a:r>
              <a:rPr lang="zh-CN" dirty="0"/>
              <a:t>转场：先看 07-16 的三个 Demo 分工在当前版本里发生了什么变化。</a:t>
            </a:r>
          </a:p>
          <a:p>
            <a:endParaRPr lang="en-US" dirty="0"/>
          </a:p>
          <a:p>
            <a:r>
              <a:rPr lang="zh-CN" dirty="0"/>
              <a:t>证据/边界：当前系统实测；不把截图当作正式用户研究。</a:t>
            </a:r>
          </a:p>
          <a:p>
            <a:endParaRPr lang="en-US" dirty="0"/>
          </a:p>
          <a:p>
            <a:r>
              <a:rPr lang="zh-CN" dirty="0"/>
              <a:t>预期问题：这次相对 07-16 到底新增了什么，而不是换了一套说法？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07-16 把三个 Demo 分成时间连续性、复杂任务组织和动作风险。这个分工保留不变。当前版本真正补上的，是把每个 Demo 的进展落到 Workspace 范围、Branch 证据门、真实 Artifact 和未执行边界。对用户而言，界面不再只说 Agent 正在运行，而要说明为什么停、从哪里继续、谁在做、依赖什么、确认后会改变什么。这里的设计依据来自 Microsoft HAI Guidelines 对能力边界、上下文和纠正控制的要求，以及 ReAct 对环境反馈循环的启发。它们支持设计方向，不证明当前方案优于竞品。</a:t>
            </a:r>
          </a:p>
          <a:p>
            <a:endParaRPr lang="en-US" dirty="0"/>
          </a:p>
          <a:p>
            <a:r>
              <a:rPr lang="zh-CN" dirty="0"/>
              <a:t>转场：下面回到 07-16 的核心架构，解释这些状态由谁负责。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；https://arxiv.org/abs/2210.03629</a:t>
            </a:r>
          </a:p>
          <a:p>
            <a:endParaRPr lang="en-US" dirty="0"/>
          </a:p>
          <a:p>
            <a:r>
              <a:rPr lang="zh-CN" dirty="0"/>
              <a:t>预期问题：为什么一定要拆成三个 Demo，而不是做一个大而全的 Agent？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这一页完整继承 07-16 的“一个底座、两层增强、三类控制”。统一 Runtime 负责 Task、State、Context、Execution、Capability、Evidence、Policy 和 Trace；长任务用 Agent Control Loop 增强，复杂任务用 Governed Adaptive Swarm 增强；Task、Evidence、Action 三类控制贯穿所有层。需要把当前边界说透：现在真实存在的是受限单 Loop、固定成果适配器和 Snapshot/SSE；多 Worker、通用 Tool Gateway、真实 Connector 仍是目标。线上运行时实践说明持久状态、人机暂停和恢复是常见方向，但业务语义仍需应用自己定义。</a:t>
            </a:r>
          </a:p>
          <a:p>
            <a:endParaRPr lang="en-US" dirty="0"/>
          </a:p>
          <a:p>
            <a:r>
              <a:rPr lang="zh-CN" dirty="0"/>
              <a:t>转场：把底座继续拆开，就是 07-16 的八个稳定职责。</a:t>
            </a:r>
          </a:p>
          <a:p>
            <a:endParaRPr lang="en-US" dirty="0"/>
          </a:p>
          <a:p>
            <a:r>
              <a:rPr lang="zh-CN" dirty="0"/>
              <a:t>证据/边界：https://docs.langchain.com/oss/javascript/langgraph/persistence ；https://openai.github.io/openai-agents-python/human_in_the_loop/</a:t>
            </a:r>
          </a:p>
          <a:p>
            <a:endParaRPr lang="en-US" dirty="0"/>
          </a:p>
          <a:p>
            <a:r>
              <a:rPr lang="zh-CN" dirty="0"/>
              <a:t>预期问题：哪些模块已经能跑，哪些只是目标架构？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八个模块不是为了把架构画复杂，而是让每个用户状态都有责任主体。Catalog 负责能看什么，Task Contract 负责目标与范围，Planner 提议路径，Policy Compiler 决定能不能启动。后四项里，当前 Scheduler 只有受限单 Loop，Tool Gateway 还没有通用接入，Artifact 与 Verifier 依靠固定适配器，Checkpoint 和 Governance 有 Snapshot、SSE 与可选 PostgreSQL 恢复子集。用户不会直接操作模块名，但会看到浏览与回开、分支与依赖、成果与校验、暂停与恢复。蓝、橙、灰分别表示当前、部分和目标，不能互相替代。</a:t>
            </a:r>
          </a:p>
          <a:p>
            <a:endParaRPr lang="en-US" dirty="0"/>
          </a:p>
          <a:p>
            <a:r>
              <a:rPr lang="zh-CN" dirty="0"/>
              <a:t>转场：这些模块为什么会逐步出现，下一页沿着技术演进说明。</a:t>
            </a:r>
          </a:p>
          <a:p>
            <a:endParaRPr lang="en-US" dirty="0"/>
          </a:p>
          <a:p>
            <a:r>
              <a:rPr lang="zh-CN" dirty="0"/>
              <a:t>证据/边界：当前系统实测；MCP、ReAct、LangGraph 只作线上架构参照。</a:t>
            </a:r>
          </a:p>
          <a:p>
            <a:endParaRPr lang="en-US" dirty="0"/>
          </a:p>
          <a:p>
            <a:r>
              <a:rPr lang="zh-CN" dirty="0"/>
              <a:t>预期问题：八个模块会不会让前台变得更复杂？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 07-16 的 P05 到 P09 合并成一条链。Prompt Engineering 关注一次指令与示例；ReAct 把工程对象扩展到 Action 和 Observation；Context Engineering 开始管理系统指令、工具、外部数据和历史；Harness Engineering 再把权限、沙箱和工具环境纳入系统；Loop Engineering 是我们对触发、验证、记录和恢复的方案归纳。最后一步是办公交付：业务成果、来源、人工决定和未执行边界都可复核。需要强调，这些阶段名不是学界统一年表，而是为了说明系统责任为什么不断外扩。</a:t>
            </a:r>
          </a:p>
          <a:p>
            <a:endParaRPr lang="en-US" dirty="0"/>
          </a:p>
          <a:p>
            <a:r>
              <a:rPr lang="zh-CN" dirty="0"/>
              <a:t>转场：接下来不按功能打勾，而按用户实际审查的对象看主流方案。</a:t>
            </a:r>
          </a:p>
          <a:p>
            <a:endParaRPr lang="en-US" dirty="0"/>
          </a:p>
          <a:p>
            <a:r>
              <a:rPr lang="zh-CN" dirty="0"/>
              <a:t>证据/边界：https://arxiv.org/abs/2005.14165 ；https://arxiv.org/abs/2210.03629 ；https://www.anthropic.com/engineering/effective-context-engineering-for-ai-agents ；https://docs.langchain.com/oss/javascript/langgraph/persistence</a:t>
            </a:r>
          </a:p>
          <a:p>
            <a:endParaRPr lang="en-US" dirty="0"/>
          </a:p>
          <a:p>
            <a:r>
              <a:rPr lang="zh-CN" dirty="0"/>
              <a:t>预期问题：Loop Engineering 是正式术语还是本方案的归纳？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Microsoft 365 Copilot 让用户引用文件、邮件、会议和站点；ChatGPT deep research 让用户审研究计划、来源、实时进度和带引用报告；Codex App 把 Task、隔离工作区、Diff 和审查队列做成核心对象；Claude Code 围绕项目会话、工具动作和验证结果；OpenClaw 围绕 Gateway Task、路由、会话与审批；ReAct 提供 Action-Observation 的基础循环。这里不做胜负判断，也不从官方文档未提及推断竞品做不到。Office Agent 的候选差异，是把资料、业务结论、成果、人工决定和未执行边界放进同一审查链。</a:t>
            </a:r>
          </a:p>
          <a:p>
            <a:endParaRPr lang="en-US" dirty="0"/>
          </a:p>
          <a:p>
            <a:r>
              <a:rPr lang="zh-CN" dirty="0"/>
              <a:t>转场：这个差异只有落到用户流程上才有意义。</a:t>
            </a:r>
          </a:p>
          <a:p>
            <a:endParaRPr lang="en-US" dirty="0"/>
          </a:p>
          <a:p>
            <a:r>
              <a:rPr lang="zh-CN" dirty="0"/>
              <a:t>证据/边界：https://support.microsoft.com/en-US/Microsoft-365-Copilot/refer-to-specific-files-and-more-in-microsoft-365-copilot ；https://help.openai.com/en/articles/10500283-deep-research ；https://openai.com/index/introducing-the-codex-app/ ；https://code.claude.com/docs/en/how-claude-code-works ；https://docs.openclaw.ai/automation/tasks ；https://arxiv.org/abs/2210.03629</a:t>
            </a:r>
          </a:p>
          <a:p>
            <a:endParaRPr lang="en-US" dirty="0"/>
          </a:p>
          <a:p>
            <a:r>
              <a:rPr lang="zh-CN" dirty="0"/>
              <a:t>预期问题：你们能否证明这些产品没有类似的业务治理能力？答案是不能，尚未同场实测。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用户先说目标，服务端冻结完整允许范围，而不是要求用户提前猜文件；Planner 提议计划，服务端再校验预算、依赖、工具和禁止动作；模型被调用与模型输出被采用是两个事实；证据定位多义时只处理受影响 Branch；最后把 Artifact、说明和外部动作分层。于是前台每一步都能回答用户动作、反馈和后端事实。这个设计与 deep research 的来源控制、MCP Elicitation 的结构化补充请求、HAI Guidelines 的纠正与控制原则相互呼应，但当前实测仍局限于固定公开数据。</a:t>
            </a:r>
          </a:p>
          <a:p>
            <a:endParaRPr lang="en-US" dirty="0"/>
          </a:p>
          <a:p>
            <a:r>
              <a:rPr lang="zh-CN" dirty="0"/>
              <a:t>转场：当这条流程跨多轮运行，风险会被循环放大。</a:t>
            </a:r>
          </a:p>
          <a:p>
            <a:endParaRPr lang="en-US" dirty="0"/>
          </a:p>
          <a:p>
            <a:r>
              <a:rPr lang="zh-CN" dirty="0"/>
              <a:t>证据/边界：https://help.openai.com/en/articles/10500283-deep-research ；https://modelcontextprotocol.io/specification/draft/client/elicitation ；https://www.microsoft.com/en-us/research/publication/guidelines-for-human-ai-interaction/</a:t>
            </a:r>
          </a:p>
          <a:p>
            <a:endParaRPr lang="en-US" dirty="0"/>
          </a:p>
          <a:p>
            <a:r>
              <a:rPr lang="zh-CN" dirty="0"/>
              <a:t>预期问题：为什么不让模型自己判断哪些输出可信？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方向漂移、上下文退化、错误复利、成本扩张、权限漂移和停止困难，是 07-16 已经提出的六类风险。它们对应六个前台问题：目标是否仍一致、用了哪版来源、预算还剩多少、允许什么动作、哪条 Branch 受影响、如何暂停恢复或接管。这里不能夸大当前实现：系统最多三轮，pause 和 stop 只在模型调用之间的安全点生效，也不会硬取消在途 HTTP。它解决了一部分状态透明与局部恢复问题，还不是无限自治的长任务执行器。</a:t>
            </a:r>
          </a:p>
          <a:p>
            <a:endParaRPr lang="en-US" dirty="0"/>
          </a:p>
          <a:p>
            <a:r>
              <a:rPr lang="zh-CN" dirty="0"/>
              <a:t>转场：下一页把 Observe、Plan、Act、Verify、Commit 和外围控制放在一起看。</a:t>
            </a:r>
          </a:p>
          <a:p>
            <a:endParaRPr lang="en-US" dirty="0"/>
          </a:p>
          <a:p>
            <a:r>
              <a:rPr lang="zh-CN" dirty="0"/>
              <a:t>证据/边界：https://www.anthropic.com/engineering/effective-context-engineering-for-ai-agents ；https://docs.langchain.com/oss/javascript/langgraph/persistence ；https://www.microsoft.com/en-us/research/publication/guidelines-for-human-ai-interaction/</a:t>
            </a:r>
          </a:p>
          <a:p>
            <a:endParaRPr lang="en-US" dirty="0"/>
          </a:p>
          <a:p>
            <a:r>
              <a:rPr lang="zh-CN" dirty="0"/>
              <a:t>预期问题：三轮预算是否足够？当前只能说它是固定上限，不是所有任务的合理预算。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中心五段里，Observe 和 Plan 已有清晰纵切；Act 仍主要是只读分析和固定成果适配器；Verify 能做 Schema、引用定位和部分确定性成果检查；Commit 是 append-only 的逻辑 ArtifactVersion 与 TaskCommit。外围控制里，Task Contract、Evidence Gate 和 Trace 较完整，Budget、Steer/Pause、Durable State 是部分近似，Takeover 和通用执行仍缺。旧审计曾给出约 30% 的历史架构成熟度基线，但那不是当前覆盖率，更不是模型质量。现阶段最准确的说法是：有反馈与恢复的只读办公任务纵切。</a:t>
            </a:r>
          </a:p>
          <a:p>
            <a:endParaRPr lang="en-US" dirty="0"/>
          </a:p>
          <a:p>
            <a:r>
              <a:rPr lang="zh-CN" dirty="0"/>
              <a:t>转场：下面不再讲抽象模块，直接看六个办公场景。</a:t>
            </a:r>
          </a:p>
          <a:p>
            <a:endParaRPr lang="en-US" dirty="0"/>
          </a:p>
          <a:p>
            <a:r>
              <a:rPr lang="zh-CN" dirty="0"/>
              <a:t>证据/边界：https://docs.langchain.com/oss/javascript/langgraph/persistence ；https://openai.github.io/openai-agents-python/human_in_the_loop/ ；https://a2a-protocol.org/dev/specification/</a:t>
            </a:r>
          </a:p>
          <a:p>
            <a:endParaRPr lang="en-US" dirty="0"/>
          </a:p>
          <a:p>
            <a:r>
              <a:rPr lang="zh-CN" dirty="0"/>
              <a:t>预期问题：什么时候可以把它称为完整 Control Loop？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六个场景覆盖了成果、证据、人工判断和外部动作四种风险。TC-01 看成果与引用定位怎样分离；TC-05 看统计和会计判断怎样分离；TC-06、TC-07 把招聘与法务的最终权威留给人；TC-10 把文档产出和真实外呼拆开；TC-14、TC-15 处理来源冲突和模型说明冲突。每个场景都用同一条讲法：触发、Agent 路径、停顿、前台输出、后端事实和当前边界。这样场景不是故事，而是可以复现、失败和升级的测试。</a:t>
            </a:r>
          </a:p>
          <a:p>
            <a:endParaRPr lang="en-US" dirty="0"/>
          </a:p>
          <a:p>
            <a:r>
              <a:rPr lang="zh-CN" dirty="0"/>
              <a:t>转场：先从用户反馈最强烈的入职资产匹配开始。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；https://www.w3.org/TR/prov-o/ ；https://openai.github.io/openai-agents-python/human_in_the_loop/</a:t>
            </a:r>
          </a:p>
          <a:p>
            <a:endParaRPr lang="en-US" dirty="0"/>
          </a:p>
          <a:p>
            <a:r>
              <a:rPr lang="zh-CN" dirty="0"/>
              <a:t>预期问题：这些场景是不是为了 Demo 人工定制？答案是固定适配器范围内验证，尚未通用化。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用户输入的是根据时间表和规则生成 3 月 20 日到 4 月 20 日的资产匹配表。旧界面把已生成成果、引用定位缺口和 Loop 等待状态混在一起，用户自然会以为任务失败。实际上三件事可以同时成立：资产表通过文件检查；某段逐字 quote 在预览中出现多次，无法唯一定位；用户只需处理这一处审计问题。“缺一份引用”缺的是唯一可回开的定位，不是缺源文件，也不代表日期算错。当前前台把成果置顶、同源缺口合并，并说明补定位不影响现有成果。</a:t>
            </a:r>
          </a:p>
          <a:p>
            <a:endParaRPr lang="en-US" dirty="0"/>
          </a:p>
          <a:p>
            <a:r>
              <a:rPr lang="zh-CN" dirty="0"/>
              <a:t>转场：下一页继续回答“三期输入为什么只有两类统计文件”。</a:t>
            </a:r>
          </a:p>
          <a:p>
            <a:endParaRPr lang="en-US" dirty="0"/>
          </a:p>
          <a:p>
            <a:r>
              <a:rPr lang="zh-CN" dirty="0"/>
              <a:t>证据/边界：https://platform.claude.com/docs/en/build-with-claude/citations ；https://www.microsoft.com/en-us/research/publication/guidelines-for-human-ai-interaction/ ；左侧为用户反馈样本，非正式目标用户研究。</a:t>
            </a:r>
          </a:p>
          <a:p>
            <a:endParaRPr lang="en-US" dirty="0"/>
          </a:p>
          <a:p>
            <a:r>
              <a:rPr lang="zh-CN" dirty="0"/>
              <a:t>预期问题：为什么服务端不能总是一次定位准确？因为当前主要依靠逐字 quote 与安全预览匹配，格式原生 Locator 仍需补齐。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这里需要纠正一个容易产生的理解：三份输入工作簿，不是三期各输出一份统计。未付统计和未收统计只看最新 2026 期，分别提取正数贷方与正数借方期末余额；当前固定来源是 31 条和 2 条。真正使用三个期间的是跨期核对说明，它比较同一科目和客商的借方余额是否连续不变，当前风险候选为 0。前台必须在下载前解释三份成果各自代表什么。统计和候选都不是会计处置，系统没有付款、核销或记账。</a:t>
            </a:r>
          </a:p>
          <a:p>
            <a:endParaRPr lang="en-US" dirty="0"/>
          </a:p>
          <a:p>
            <a:r>
              <a:rPr lang="zh-CN" dirty="0"/>
              <a:t>转场：财务判断要保留人工门，招聘和法务更是如此。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；https://www.w3.org/TR/prov-o/ ；数字仅属于当前固定来源版本。</a:t>
            </a:r>
          </a:p>
          <a:p>
            <a:endParaRPr lang="en-US" dirty="0"/>
          </a:p>
          <a:p>
            <a:r>
              <a:rPr lang="zh-CN" dirty="0"/>
              <a:t>预期问题：0 条候选是否等于不存在僵尸账款？不等于，只表示这套固定启发式没有命中。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招聘场景读取两份 JD 和五份简历，输出候选顺序、支持证据、缺失信息和复核项；材料冲突时进入待复核，系统不执行录用或淘汰。法务场景从六份授权文件抽取主体、期限和范围，形成规则台账与风险候选；不一致时不自动裁决，也不代表法律意见或签署动作。两边共同体现 HAI Guidelines 的原则：系统要说明能力边界、给出上下文、允许用户纠正，并在高影响决定中保留人的控制权。</a:t>
            </a:r>
          </a:p>
          <a:p>
            <a:endParaRPr lang="en-US" dirty="0"/>
          </a:p>
          <a:p>
            <a:r>
              <a:rPr lang="zh-CN" dirty="0"/>
              <a:t>转场：有了人工门，还要继续区分“形成方案”和“执行动作”。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；自动化只验证固定成果，不验证公平性、法律适用性或业务效果。</a:t>
            </a:r>
          </a:p>
          <a:p>
            <a:endParaRPr lang="en-US" dirty="0"/>
          </a:p>
          <a:p>
            <a:r>
              <a:rPr lang="zh-CN" dirty="0"/>
              <a:t>预期问题：候选建议是否可能放大偏见？可能，因此需要规则、证据、隐私与人工复核共同约束。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TC-10 读取来源后生成流程图与 DOCX，这些文件和结构检查是真实发生的；拨号、写 CRM、发短信没有发生，因为没有 Connector receipt。TC-14 的日志存在相互冲突的信号，系统保留支持与反证，生成条件式诊断和止损提案，但不执行 ES 命令，也不触发生产降级。前台不能把“建议下一步”写成“已经执行”，也不能把未接入外部系统显示成失败。更准确的界面是并列展示已发生和未发生，让用户看到业务后果边界。</a:t>
            </a:r>
          </a:p>
          <a:p>
            <a:endParaRPr lang="en-US" dirty="0"/>
          </a:p>
          <a:p>
            <a:r>
              <a:rPr lang="zh-CN" dirty="0"/>
              <a:t>转场：最后一个场景处理的是模型说明和确定性成果互相冲突。</a:t>
            </a:r>
          </a:p>
          <a:p>
            <a:endParaRPr lang="en-US" dirty="0"/>
          </a:p>
          <a:p>
            <a:r>
              <a:rPr lang="zh-CN" dirty="0"/>
              <a:t>证据/边界：https://openai.github.io/openai-agents-python/human_in_the_loop/ ；https://modelcontextprotocol.io/specification/draft/client/elicitation ；https://www.w3.org/TR/prov-o/</a:t>
            </a:r>
          </a:p>
          <a:p>
            <a:endParaRPr lang="en-US" dirty="0"/>
          </a:p>
          <a:p>
            <a:r>
              <a:rPr lang="zh-CN" dirty="0"/>
              <a:t>预期问题：未来接入 Connector 后如何防止重复动作？需要 Permit、版本、幂等和执行回执共同约束。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TC-15 的确定性成果覆盖 212 行、形成 87 组，P0 到 P4 为 25、40、14、6、2。真实模型调用却声称只看了 60 行，并改写 P0 优先级。如果前台同时展示两套说法，用户会看到假绿和重复待办。当前服务端把模型调用和采用拆开：模型仍是 called=true，但 output_used=false；回执为 contradictory、deterministic_outcome、rejected。两份通过检查的成果继续保留，冲突说明只进入审计轨迹。这个机制只验证固定场景的结构化事实一致性，不是通用真值判断。</a:t>
            </a:r>
          </a:p>
          <a:p>
            <a:endParaRPr lang="en-US" dirty="0"/>
          </a:p>
          <a:p>
            <a:r>
              <a:rPr lang="zh-CN" dirty="0"/>
              <a:t>转场：从这些场景回到前台，用户真正需要先回答的只有五个问题。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；https://www.w3.org/WAI/WCAG21/Understanding/status-messages</a:t>
            </a:r>
          </a:p>
          <a:p>
            <a:endParaRPr lang="en-US" dirty="0"/>
          </a:p>
          <a:p>
            <a:r>
              <a:rPr lang="zh-CN" dirty="0"/>
              <a:t>预期问题：一致就一定正确吗？不一定，一致只说明结构化事实没有冲突。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业务用户首先要知道五件事：完成了什么、依据是什么、为什么停、确认后会改变什么、什么绝不会发生。首屏只放当前结论、成果、复核状态和未执行边界；展开层解释来源、校验、模型说明采用和局部决定；审计层再放 Snapshot、version、named SSE 和 DecisionRecord。这样技术事实没有消失，只是不抢占业务阅读顺序。现在的截图和现场反馈还不是正式用户研究。下一步要让目标用户无引导说出结果、来源、影响和下一步，并用 HEART 记录理解、负担与任务成功。</a:t>
            </a:r>
          </a:p>
          <a:p>
            <a:endParaRPr lang="en-US" dirty="0"/>
          </a:p>
          <a:p>
            <a:r>
              <a:rPr lang="zh-CN" dirty="0"/>
              <a:t>转场：接下来用四页真实界面，把前面讲的系统纵切完整走一遍。</a:t>
            </a:r>
          </a:p>
          <a:p>
            <a:endParaRPr lang="en-US" dirty="0"/>
          </a:p>
          <a:p>
            <a:r>
              <a:rPr lang="zh-CN" dirty="0"/>
              <a:t>证据/边界：https://www.microsoft.com/en-us/research/publication/guidelines-for-human-ai-interaction/ ；https://www.w3.org/WAI/WCAG21/Understanding/status-messages ；https://www.w3.org/WAI/WCAG21/Understanding/target-size ；https://research.google/pubs/measuring-the-user-experience-on-a-large-scale-user-centered-metrics-for-web-applications/</a:t>
            </a:r>
          </a:p>
          <a:p>
            <a:endParaRPr lang="en-US" dirty="0"/>
          </a:p>
          <a:p>
            <a:r>
              <a:rPr lang="zh-CN" dirty="0"/>
              <a:t>预期问题：怎样证明界面真的更清晰？需要目标用户任务测试，不是更多截图。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这页回答最直接的问题：我们到底做了什么。不是又做了一张 Agent 对话页面，而是把一条办公任务纵切跑通了。</a:t>
            </a:r>
          </a:p>
          <a:p>
            <a:endParaRPr lang="en-US" dirty="0"/>
          </a:p>
          <a:p>
            <a:r>
              <a:rPr lang="zh-CN" dirty="0"/>
              <a:t>第一层是 Workspace。系统面对的是 15 个顶层目录、96 份输入文件，文件都通过服务端 allowlist、大小、哈希、格式和非链接校验后再进入安全预览。第二层是 Task Contract。用户只写任务目标，服务端冻结可读范围、预算、禁止动作和当前版本。第三层是 Planner 与 Analyst。模型调用、服务端校验和模型输出采用分别记录，不再把“模型返回了”写成“当前结论已经采用”。第四层是 Branch Evidence Gate。某条证据不能唯一定位时，只让受影响分支等待，其他已完成成果继续保留。第五层是真实 Artifact 与回执。当前固定场景可以生成可下载文件，执行具名确定性检查，并把 Snapshot 和有序 Trace 留下来。</a:t>
            </a:r>
          </a:p>
          <a:p>
            <a:endParaRPr lang="en-US" dirty="0"/>
          </a:p>
          <a:p>
            <a:r>
              <a:rPr lang="zh-CN" dirty="0"/>
              <a:t>右侧不是概念图，而是当前系统完成 TC-01 后的完整运行界面：左侧是资料库，中间是任务、Agent 路径和成果，右侧是有序 Control Loop 记录。</a:t>
            </a:r>
          </a:p>
          <a:p>
            <a:endParaRPr lang="en-US" dirty="0"/>
          </a:p>
          <a:p>
            <a:r>
              <a:rPr lang="zh-CN" dirty="0"/>
              <a:t>这条链已经证明的是固定公开数据上的受限纵切；尚未证明的是通用语义正确、任意办公文件写入、生产级 Connector 和生产 SLA。</a:t>
            </a:r>
          </a:p>
          <a:p>
            <a:endParaRPr lang="en-US" dirty="0"/>
          </a:p>
          <a:p>
            <a:r>
              <a:rPr lang="zh-CN" dirty="0"/>
              <a:t>转场：下一页从用户输入开始，看“自主选择资料”具体怎样发生。</a:t>
            </a:r>
          </a:p>
          <a:p>
            <a:endParaRPr lang="en-US" dirty="0"/>
          </a:p>
          <a:p>
            <a:r>
              <a:rPr lang="zh-CN" dirty="0"/>
              <a:t>证据/边界：当前系统实测；截图来自固定公开数据运行，不是竞品对照或生产环境。</a:t>
            </a:r>
          </a:p>
          <a:p>
            <a:endParaRPr lang="en-US" dirty="0"/>
          </a:p>
          <a:p>
            <a:r>
              <a:rPr lang="zh-CN" dirty="0"/>
              <a:t>预期问题：这是不是一个为固定 Demo 写死的流程？当前确有固定成果适配器，但 Workspace、合同、分支、证据门、Snapshot 和 Trace 是通用运行时结构。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用户做的第一件事只有一个：写清业务目标。浏览器不会再要求用户先勾选文件，也不会提交客户端的 selected_file_refs。这样减少了一个“用户必须先知道答案在哪里”的前置负担。</a:t>
            </a:r>
          </a:p>
          <a:p>
            <a:endParaRPr lang="en-US" dirty="0"/>
          </a:p>
          <a:p>
            <a:r>
              <a:rPr lang="zh-CN" dirty="0"/>
              <a:t>服务端创建 Run 时冻结完整 allowlisted 输入索引，scope_mode 是 whole_workspace。Planner 看到的是安全元数据，而不是绝对路径、隐藏任务、答案或内部哈希；它提出本轮需要的资料和分支，服务端再校验预算、来源、依赖、工具和禁止动作。</a:t>
            </a:r>
          </a:p>
          <a:p>
            <a:endParaRPr lang="en-US" dirty="0"/>
          </a:p>
          <a:p>
            <a:r>
              <a:rPr lang="zh-CN" dirty="0"/>
              <a:t>前台因此必须补上三类反馈。第一，解释本轮为什么选择这些资料；第二，区分规划模型和分析模型是否调用、输出是否被采用；第三，持续显示当前轮次、剩余调用预算、阶段和有序 Trace。用户少做了文件选择，但系统多承担了范围解释责任。</a:t>
            </a:r>
          </a:p>
          <a:p>
            <a:endParaRPr lang="en-US" dirty="0"/>
          </a:p>
          <a:p>
            <a:r>
              <a:rPr lang="zh-CN" dirty="0"/>
              <a:t>这里不能把“自主选择资料”说成“已经穷举所有相关资料”。当前最多三轮，选择仍可能不完整，所以完成结果仍需证据核对、成果检查和人工复核。</a:t>
            </a:r>
          </a:p>
          <a:p>
            <a:endParaRPr lang="en-US" dirty="0"/>
          </a:p>
          <a:p>
            <a:r>
              <a:rPr lang="zh-CN" dirty="0"/>
              <a:t>转场：如果选择到的来源文字不能唯一定位，系统不会把整项任务推倒重来。</a:t>
            </a:r>
          </a:p>
          <a:p>
            <a:endParaRPr lang="en-US" dirty="0"/>
          </a:p>
          <a:p>
            <a:r>
              <a:rPr lang="zh-CN" dirty="0"/>
              <a:t>证据/边界：当前系统实测；全库范围、服务端 Planner 和前台 Trace 的显示均以本次 Snapshot 为准。</a:t>
            </a:r>
          </a:p>
          <a:p>
            <a:endParaRPr lang="en-US" dirty="0"/>
          </a:p>
          <a:p>
            <a:r>
              <a:rPr lang="zh-CN" dirty="0"/>
              <a:t>预期问题：为什么不把全部 96 份文件都交给模型？因为服务端需要控制上下文、成本和来源范围，并保留每轮选择依据。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这页展示证据出现歧义时的真实处理。典型情况不是“没有源文件”，而是模型给出的逐字片段在安全预览里出现多次，服务端无法唯一决定应该回开哪一处。</a:t>
            </a:r>
          </a:p>
          <a:p>
            <a:endParaRPr lang="en-US" dirty="0"/>
          </a:p>
          <a:p>
            <a:r>
              <a:rPr lang="zh-CN" dirty="0"/>
              <a:t>界面先用业务语言回答三件事：发生了什么、这会影响什么、用户现在需要做什么。然后给出候选原文位置和安全预览高亮。用户选择的是来源位置，不是在替 Agent 判断结论一定正确。</a:t>
            </a:r>
          </a:p>
          <a:p>
            <a:endParaRPr lang="en-US" dirty="0"/>
          </a:p>
          <a:p>
            <a:r>
              <a:rPr lang="zh-CN" dirty="0"/>
              <a:t>右下角的小图展示同一轮里不同 Branch 可以有不同动作：一条需要用户确认原文位置，另一条可能只需要继续本分支。DecisionRequest 绑定 expected_version、source_revision、候选和受影响 Branch；来源版本变化时进入 stale，不能把旧选择直接套到新文件。</a:t>
            </a:r>
          </a:p>
          <a:p>
            <a:endParaRPr lang="en-US" dirty="0"/>
          </a:p>
          <a:p>
            <a:r>
              <a:rPr lang="zh-CN" dirty="0"/>
              <a:t>用户确认后，只恢复目标 Branch。已完成 ArtifactVersion、其他 Branch 和已有核对记录不被覆盖。这是局部恢复和整轮重跑在用户体验上的关键差别。</a:t>
            </a:r>
          </a:p>
          <a:p>
            <a:endParaRPr lang="en-US" dirty="0"/>
          </a:p>
          <a:p>
            <a:r>
              <a:rPr lang="zh-CN" dirty="0"/>
              <a:t>转场：最后看成果已经生成后，系统如何区分文件事实、业务效果和模型说明。</a:t>
            </a:r>
          </a:p>
          <a:p>
            <a:endParaRPr lang="en-US" dirty="0"/>
          </a:p>
          <a:p>
            <a:r>
              <a:rPr lang="zh-CN" dirty="0"/>
              <a:t>证据/边界：当前系统实测；位置确认只证明 locator 与来源成员关系，不证明自然语言蕴含、穷举或算术全面正确。</a:t>
            </a:r>
          </a:p>
          <a:p>
            <a:endParaRPr lang="en-US" dirty="0"/>
          </a:p>
          <a:p>
            <a:r>
              <a:rPr lang="zh-CN" dirty="0"/>
              <a:t>预期问题：为什么还要人选位置？格式原生 Locator 尚未完全覆盖，当前保留可审计的人工决定比服务端猜一个位置更稳妥。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左侧展示成果与业务效果分层。当前固定场景能够在隔离 Run 工作区生成真实文件，用户可以下载；系统还会执行具名确定性检查，并记录 EffectReceipt。与此同时，付款、核销、发送、写 CRM 等未发生动作会继续明确显示为未发生。</a:t>
            </a:r>
          </a:p>
          <a:p>
            <a:endParaRPr lang="en-US" dirty="0"/>
          </a:p>
          <a:p>
            <a:r>
              <a:rPr lang="zh-CN" dirty="0"/>
              <a:t>右侧展示模型说明与确定性成果冲突时的处理。模型确实被调用，因此 called=true；但它给出的行数或分组与确定性成果不一致时，output_used=false。前台只保留一套当前结论，冲突说明进入审计轨迹，而不是与通过检查的成果并排争夺用户注意力。</a:t>
            </a:r>
          </a:p>
          <a:p>
            <a:endParaRPr lang="en-US" dirty="0"/>
          </a:p>
          <a:p>
            <a:r>
              <a:rPr lang="zh-CN" dirty="0"/>
              <a:t>这一步把“模型说了什么”和“系统已经采用什么”分开，也把“文件存在”和“业务动作发生”分开。对用户的直接影响，是成果可以先用、依据可以继续审、错误说明不会覆盖事实。</a:t>
            </a:r>
          </a:p>
          <a:p>
            <a:endParaRPr lang="en-US" dirty="0"/>
          </a:p>
          <a:p>
            <a:r>
              <a:rPr lang="zh-CN" dirty="0"/>
              <a:t>当前边界仍然清楚：固定检查只证明特定字段、结构和效果，不是通用语义真值证明器；成果通过也不代表业务价值或最终判断自动成立。</a:t>
            </a:r>
          </a:p>
          <a:p>
            <a:endParaRPr lang="en-US" dirty="0"/>
          </a:p>
          <a:p>
            <a:r>
              <a:rPr lang="zh-CN" dirty="0"/>
              <a:t>转场：有了这条实操纵切，最后再看下一阶段怎样把差异候选升级为证据。</a:t>
            </a:r>
          </a:p>
          <a:p>
            <a:endParaRPr lang="en-US" dirty="0"/>
          </a:p>
          <a:p>
            <a:r>
              <a:rPr lang="zh-CN" dirty="0"/>
              <a:t>证据/边界：当前系统实测；固定成果适配器与叙事对账覆盖既定场景，不外推到任意办公任务。</a:t>
            </a:r>
          </a:p>
          <a:p>
            <a:endParaRPr lang="en-US" dirty="0"/>
          </a:p>
          <a:p>
            <a:r>
              <a:rPr lang="zh-CN" dirty="0"/>
              <a:t>预期问题：固定检查会不会把模型变得多余？不会，模型仍负责规划、跨资料归纳和提出候选；确定性检查负责约束可复算事实。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下一阶段仍然延续 07-16 的目标：让工作在约束下持续收敛，但结论必须经过五道证据门。先做 PDF、XLSX、DOCX 的格式原生 Locator；再让 Artifact、EffectReceipt、provenance 和未执行边界一起导出；随后把固定适配器扩展成可配置业务 Verifier；再引入 Worker、Tool、Connector、Permit 和幂等回执；最后冻结同一任务、模型和来源做竞品同场挑战，并开展目标用户研究。只有这些门通过，“差异候选”才可以升级为“已验证优势”。</a:t>
            </a:r>
          </a:p>
          <a:p>
            <a:endParaRPr lang="en-US" dirty="0"/>
          </a:p>
          <a:p>
            <a:r>
              <a:rPr lang="zh-CN" dirty="0"/>
              <a:t>转场：请评审决定的不是一句“看起来不错”，而是是否同意按这五道门继续生产证据。</a:t>
            </a:r>
          </a:p>
          <a:p>
            <a:endParaRPr lang="en-US" dirty="0"/>
          </a:p>
          <a:p>
            <a:r>
              <a:rPr lang="zh-CN" dirty="0"/>
              <a:t>证据/边界：https://modelcontextprotocol.io/specification/draft/client/elicitation ；https://a2a-protocol.org/dev/specification/ ；https://www.w3.org/TR/prov-o/ ；https://www.microsoft.com/en-us/research/publication/guidelines-for-human-ai-interaction/ ；https://research.google/pubs/measuring-the-user-experience-on-a-large-scale-user-centered-metrics-for-web-applications/</a:t>
            </a:r>
          </a:p>
          <a:p>
            <a:endParaRPr lang="en-US" dirty="0"/>
          </a:p>
          <a:p>
            <a:r>
              <a:rPr lang="zh-CN" dirty="0"/>
              <a:t>预期问题：当前可以对外承诺什么？只能承诺固定公开数据上的系统实测与明确边界，不承诺全面领先、生产 SLA 或用户价值。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3df4a81cf84db2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87a38b6a3279434.jpg"/>
  <Relationship Id="rId3" Type="http://schemas.openxmlformats.org/officeDocument/2006/relationships/image" Target="../media/image_134b6f9220a40bf8.png"/>
  <Relationship Id="rId4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764c34752c86912.png"/>
  <Relationship Id="rId3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b1f25de3444c798.png"/>
  <Relationship Id="rId3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3df4a81cf84db2.png"/>
  <Relationship Id="rId3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c3df4a81cf84db2.png"/>
  <Relationship Id="rId3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6a128846c02685a.png"/>
  <Relationship Id="rId3" Type="http://schemas.openxmlformats.org/officeDocument/2006/relationships/image" Target="../media/image_8d1c1725b10c83d3.png"/>
  <Relationship Id="rId4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40f8bdb4603e4a.png"/>
  <Relationship Id="rId3" Type="http://schemas.openxmlformats.org/officeDocument/2006/relationships/image" Target="../media/image_bb1f25de3444c798.png"/>
  <Relationship Id="rId4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71450" cy="6858000"/>
            </a:xfrm>
            <a:prstGeom prst="rect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4" name="Freeform 4"/>
            <p:cNvSpPr/>
            <p:nvPr/>
          </p:nvSpPr>
          <p:spPr>
            <a:xfrm>
              <a:off x="495300" y="62388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19050">
              <a:solidFill>
                <a:srgbClr val="CBD5DF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590550" y="1119664"/>
            <a:ext cx="4422056" cy="3362420"/>
            <a:chOff x="590550" y="1119664"/>
            <a:chExt cx="4422056" cy="3362420"/>
          </a:xfrm>
        </p:grpSpPr>
        <p:sp>
          <p:nvSpPr>
            <p:cNvPr id="6" name="TextBox 6"/>
            <p:cNvSpPr txBox="1"/>
            <p:nvPr/>
          </p:nvSpPr>
          <p:spPr>
            <a:xfrm>
              <a:off x="603123" y="1119664"/>
              <a:ext cx="32120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延续 07-16 · OFFICE AGENT 技术方案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0550" y="1625918"/>
              <a:ext cx="4422056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未来办公 Agent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0550" y="2311718"/>
              <a:ext cx="3727361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从一次回答到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0550" y="2997518"/>
              <a:ext cx="4342238" cy="8477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35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可治理工作系统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0456" y="3806190"/>
              <a:ext cx="34107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技术演进、主流方案、办公场景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0456" y="4130040"/>
              <a:ext cx="17145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与前台交互影响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90550" y="4591050"/>
            <a:ext cx="4607443" cy="1068705"/>
            <a:chOff x="590550" y="4591050"/>
            <a:chExt cx="4607443" cy="1068705"/>
          </a:xfrm>
        </p:grpSpPr>
        <p:sp>
          <p:nvSpPr>
            <p:cNvPr id="13" name="TextBox 13"/>
            <p:cNvSpPr txBox="1"/>
            <p:nvPr/>
          </p:nvSpPr>
          <p:spPr>
            <a:xfrm>
              <a:off x="590550" y="4669155"/>
              <a:ext cx="831079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1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15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22273" y="4796314"/>
              <a:ext cx="871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个顶层目录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22273" y="508206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固定办公挑战现场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2667000" y="4591050"/>
              <a:ext cx="9525" cy="742950"/>
            </a:xfrm>
            <a:custGeom>
              <a:avLst/>
              <a:gdLst/>
              <a:ahLst/>
              <a:cxnLst/>
              <a:rect l="l" t="t" r="r" b="b"/>
              <a:pathLst>
                <a:path w="9525" h="742950">
                  <a:moveTo>
                    <a:pt x="0" y="0"/>
                  </a:moveTo>
                  <a:lnTo>
                    <a:pt x="0" y="742950"/>
                  </a:lnTo>
                </a:path>
              </a:pathLst>
            </a:custGeom>
            <a:noFill/>
            <a:ln w="19050">
              <a:solidFill>
                <a:srgbClr val="CBD5D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52750" y="4669155"/>
              <a:ext cx="831079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5100" b="1" dirty="0">
                  <a:solidFill>
                    <a:srgbClr val="1769E0"/>
                  </a:solidFill>
                  <a:latin typeface="Segoe UI Semibold"/>
                  <a:ea typeface="Segoe UI Semibold"/>
                  <a:cs typeface="Segoe UI Semibold"/>
                </a:rPr>
                <a:t>96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74973" y="4796314"/>
              <a:ext cx="871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份输入文件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74973" y="5082064"/>
              <a:ext cx="12230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96/96 安全预览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05500" y="857250"/>
            <a:ext cx="5791200" cy="4762500"/>
            <a:chOff x="5905500" y="857250"/>
            <a:chExt cx="5791200" cy="4762500"/>
          </a:xfrm>
        </p:grpSpPr>
        <p:sp>
          <p:nvSpPr>
            <p:cNvPr id="21" name="Rectangle 21"/>
            <p:cNvSpPr/>
            <p:nvPr/>
          </p:nvSpPr>
          <p:spPr>
            <a:xfrm>
              <a:off x="5905500" y="857250"/>
              <a:ext cx="5791200" cy="4762500"/>
            </a:xfrm>
            <a:prstGeom prst="roundRect">
              <a:avLst>
                <a:gd name="adj" fmla="val 1200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23610" y="1333500"/>
              <a:ext cx="5554980" cy="3857625"/>
            </a:xfrm>
            <a:prstGeom prst="rect">
              <a:avLst/>
            </a:prstGeom>
          </p:spPr>
        </p:pic>
        <p:sp>
          <p:nvSpPr>
            <p:cNvPr id="23" name="Rectangle 23"/>
            <p:cNvSpPr/>
            <p:nvPr/>
          </p:nvSpPr>
          <p:spPr>
            <a:xfrm>
              <a:off x="6019800" y="990600"/>
              <a:ext cx="1600200" cy="285750"/>
            </a:xfrm>
            <a:prstGeom prst="roundRect">
              <a:avLst>
                <a:gd name="adj" fmla="val 20000"/>
              </a:avLst>
            </a:prstGeom>
            <a:solidFill>
              <a:srgbClr val="EDF1F4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6174581" y="1069181"/>
              <a:ext cx="128587" cy="121444"/>
              <a:chOff x="6174581" y="1069181"/>
              <a:chExt cx="128587" cy="12144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6203156" y="1069181"/>
                <a:ext cx="100012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2869">
                    <a:moveTo>
                      <a:pt x="14288" y="0"/>
                    </a:moveTo>
                    <a:lnTo>
                      <a:pt x="35719" y="0"/>
                    </a:lnTo>
                    <a:lnTo>
                      <a:pt x="50006" y="14288"/>
                    </a:lnTo>
                    <a:lnTo>
                      <a:pt x="85725" y="14288"/>
                    </a:lnTo>
                    <a:cubicBezTo>
                      <a:pt x="93616" y="14288"/>
                      <a:pt x="100012" y="20684"/>
                      <a:pt x="100012" y="28575"/>
                    </a:cubicBezTo>
                    <a:lnTo>
                      <a:pt x="100012" y="78581"/>
                    </a:lnTo>
                    <a:cubicBezTo>
                      <a:pt x="100012" y="86472"/>
                      <a:pt x="93616" y="92869"/>
                      <a:pt x="85725" y="92869"/>
                    </a:cubicBezTo>
                    <a:lnTo>
                      <a:pt x="14288" y="92869"/>
                    </a:lnTo>
                    <a:cubicBezTo>
                      <a:pt x="6397" y="92869"/>
                      <a:pt x="0" y="86472"/>
                      <a:pt x="0" y="78581"/>
                    </a:cubicBez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174581" y="1097756"/>
                <a:ext cx="100012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2869">
                    <a:moveTo>
                      <a:pt x="100012" y="64294"/>
                    </a:moveTo>
                    <a:lnTo>
                      <a:pt x="100012" y="78581"/>
                    </a:lnTo>
                    <a:cubicBezTo>
                      <a:pt x="100012" y="86472"/>
                      <a:pt x="93616" y="92869"/>
                      <a:pt x="85725" y="92869"/>
                    </a:cubicBezTo>
                    <a:lnTo>
                      <a:pt x="14288" y="92869"/>
                    </a:lnTo>
                    <a:cubicBezTo>
                      <a:pt x="6397" y="92869"/>
                      <a:pt x="0" y="86472"/>
                      <a:pt x="0" y="78581"/>
                    </a:cubicBez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6413373" y="1062514"/>
              <a:ext cx="13640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"/>
                  <a:ea typeface="Microsoft YaHei"/>
                  <a:cs typeface="Segoe UI"/>
                </a:rPr>
                <a:t>真实 Workspace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14466" y="5277802"/>
              <a:ext cx="35129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当前系统实测 · 自主检索、真实成果与有序 Trace 同屏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4266" y="6439852"/>
            <a:ext cx="11097768" cy="205359"/>
            <a:chOff x="604266" y="6439852"/>
            <a:chExt cx="11097768" cy="205359"/>
          </a:xfrm>
        </p:grpSpPr>
        <p:sp>
          <p:nvSpPr>
            <p:cNvPr id="30" name="TextBox 30"/>
            <p:cNvSpPr txBox="1"/>
            <p:nvPr/>
          </p:nvSpPr>
          <p:spPr>
            <a:xfrm>
              <a:off x="604266" y="6439852"/>
              <a:ext cx="17839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7C8A98"/>
                  </a:solidFill>
                  <a:latin typeface="Segoe UI"/>
                  <a:ea typeface="Segoe UI"/>
                  <a:cs typeface="Segoe UI"/>
                </a:rPr>
                <a:t>Lenovo CAAI · 2026-08-29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17840" y="643985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01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539932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这次改版带来的能力跃迁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401300" y="438150"/>
              <a:ext cx="12954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609131" y="519589"/>
              <a:ext cx="8797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延续 07-16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84632" y="1278255"/>
            <a:ext cx="9471510" cy="671798"/>
            <a:chOff x="484632" y="1278255"/>
            <a:chExt cx="9471510" cy="671798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78255"/>
              <a:ext cx="750163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三类控制不变，验证对象从“回答”扩展到“真实办公成果”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8823" y="1700689"/>
              <a:ext cx="94673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Demo 1 管时间连续性，Demo 2 管复杂任务组织，Demo 3 管动作风险；当前版本补上 Workspace、Artifact 与证据回开。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95300" y="2286000"/>
            <a:ext cx="11201400" cy="2286000"/>
            <a:chOff x="495300" y="2286000"/>
            <a:chExt cx="11201400" cy="2286000"/>
          </a:xfrm>
        </p:grpSpPr>
        <p:sp>
          <p:nvSpPr>
            <p:cNvPr id="12" name="Rectangle 12"/>
            <p:cNvSpPr/>
            <p:nvPr/>
          </p:nvSpPr>
          <p:spPr>
            <a:xfrm>
              <a:off x="495300" y="2286000"/>
              <a:ext cx="3390900" cy="2286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95300" y="2286000"/>
              <a:ext cx="3390900" cy="76200"/>
            </a:xfrm>
            <a:prstGeom prst="rect">
              <a:avLst/>
            </a:prstGeom>
            <a:solidFill>
              <a:srgbClr val="1769E0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60214" y="2605806"/>
              <a:ext cx="219694" cy="224739"/>
              <a:chOff x="760214" y="2605806"/>
              <a:chExt cx="219694" cy="224739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66775" y="2667000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0"/>
                    </a:moveTo>
                    <a:lnTo>
                      <a:pt x="0" y="47625"/>
                    </a:lnTo>
                    <a:lnTo>
                      <a:pt x="23812" y="7143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60214" y="2605806"/>
                <a:ext cx="219694" cy="224739"/>
              </a:xfrm>
              <a:custGeom>
                <a:avLst/>
                <a:gdLst/>
                <a:ahLst/>
                <a:cxnLst/>
                <a:rect l="l" t="t" r="r" b="b"/>
                <a:pathLst>
                  <a:path w="219694" h="224739">
                    <a:moveTo>
                      <a:pt x="0" y="96913"/>
                    </a:moveTo>
                    <a:cubicBezTo>
                      <a:pt x="5524" y="42685"/>
                      <a:pt x="50876" y="1245"/>
                      <a:pt x="105381" y="623"/>
                    </a:cubicBezTo>
                    <a:cubicBezTo>
                      <a:pt x="159885" y="0"/>
                      <a:pt x="206172" y="40393"/>
                      <a:pt x="212933" y="94481"/>
                    </a:cubicBezTo>
                    <a:cubicBezTo>
                      <a:pt x="219694" y="148568"/>
                      <a:pt x="184774" y="199112"/>
                      <a:pt x="131794" y="211925"/>
                    </a:cubicBezTo>
                    <a:cubicBezTo>
                      <a:pt x="78813" y="224739"/>
                      <a:pt x="24655" y="195737"/>
                      <a:pt x="5953" y="144538"/>
                    </a:cubicBezTo>
                    <a:moveTo>
                      <a:pt x="0" y="204069"/>
                    </a:moveTo>
                    <a:lnTo>
                      <a:pt x="0" y="144538"/>
                    </a:lnTo>
                    <a:lnTo>
                      <a:pt x="59531" y="14453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151382" y="2573655"/>
              <a:ext cx="19479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Demo 1 · 持续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4756" y="304419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同一任务跨轮推进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7423" y="3481864"/>
              <a:ext cx="2215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新增：完整 Workspace 范围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7423" y="3767614"/>
              <a:ext cx="23692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新增：Branch 级证据门与恢复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17423" y="4129564"/>
              <a:ext cx="2355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前台：为什么停、从哪里继续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171950" y="2286000"/>
              <a:ext cx="3390900" cy="2286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171950" y="2286000"/>
              <a:ext cx="3390900" cy="76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4460081" y="2619375"/>
              <a:ext cx="178595" cy="190500"/>
              <a:chOff x="4460081" y="2619375"/>
              <a:chExt cx="178595" cy="1905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460081" y="27622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460081" y="26193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579144" y="26193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483894" y="2667000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507706" y="2702719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567238" y="2702719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4828032" y="2573655"/>
              <a:ext cx="19479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Demo 2 · 协作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91406" y="304419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复杂任务按需组织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394073" y="3481864"/>
              <a:ext cx="25891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当前：受限单 Loop 与固定适配器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94073" y="3767614"/>
              <a:ext cx="22826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目标：多 Worker 与共享工件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94073" y="4129564"/>
              <a:ext cx="19954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前台：谁在做、依赖什么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848600" y="2286000"/>
              <a:ext cx="3848100" cy="2286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848600" y="2286000"/>
              <a:ext cx="3848100" cy="76200"/>
            </a:xfrm>
            <a:prstGeom prst="rect">
              <a:avLst/>
            </a:prstGeom>
            <a:solidFill>
              <a:srgbClr val="D97706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096851" y="2607469"/>
              <a:ext cx="232508" cy="214312"/>
              <a:chOff x="8096851" y="2607469"/>
              <a:chExt cx="232508" cy="21431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096851" y="2607469"/>
                <a:ext cx="232508" cy="212479"/>
              </a:xfrm>
              <a:custGeom>
                <a:avLst/>
                <a:gdLst/>
                <a:ahLst/>
                <a:cxnLst/>
                <a:rect l="l" t="t" r="r" b="b"/>
                <a:pathLst>
                  <a:path w="232508" h="212479">
                    <a:moveTo>
                      <a:pt x="116795" y="212479"/>
                    </a:moveTo>
                    <a:cubicBezTo>
                      <a:pt x="42208" y="189358"/>
                      <a:pt x="0" y="110638"/>
                      <a:pt x="22021" y="35719"/>
                    </a:cubicBezTo>
                    <a:cubicBezTo>
                      <a:pt x="59115" y="37416"/>
                      <a:pt x="95413" y="24605"/>
                      <a:pt x="123224" y="0"/>
                    </a:cubicBezTo>
                    <a:cubicBezTo>
                      <a:pt x="151035" y="24605"/>
                      <a:pt x="187333" y="37416"/>
                      <a:pt x="224427" y="35719"/>
                    </a:cubicBezTo>
                    <a:cubicBezTo>
                      <a:pt x="232508" y="63212"/>
                      <a:pt x="232135" y="92499"/>
                      <a:pt x="223356" y="119777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255794" y="2774156"/>
                <a:ext cx="71438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47625">
                    <a:moveTo>
                      <a:pt x="0" y="23812"/>
                    </a:moveTo>
                    <a:lnTo>
                      <a:pt x="23812" y="47625"/>
                    </a:lnTo>
                    <a:lnTo>
                      <a:pt x="71438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504682" y="2573655"/>
              <a:ext cx="19479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Demo 3 · 治理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68056" y="304419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真实动作前展示后果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070723" y="3481864"/>
              <a:ext cx="27208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新增：Artifact 与 EffectReceipt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070723" y="3767614"/>
              <a:ext cx="2698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边界：无 Connector 回执即未执行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70723" y="4129564"/>
              <a:ext cx="27162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前台：会改变什么、不会发生什么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971550" y="4878705"/>
            <a:ext cx="10096500" cy="700373"/>
            <a:chOff x="971550" y="4878705"/>
            <a:chExt cx="10096500" cy="700373"/>
          </a:xfrm>
        </p:grpSpPr>
        <p:sp>
          <p:nvSpPr>
            <p:cNvPr id="47" name="Freeform 47"/>
            <p:cNvSpPr/>
            <p:nvPr/>
          </p:nvSpPr>
          <p:spPr>
            <a:xfrm>
              <a:off x="1123950" y="5181600"/>
              <a:ext cx="9944100" cy="9525"/>
            </a:xfrm>
            <a:custGeom>
              <a:avLst/>
              <a:gdLst/>
              <a:ahLst/>
              <a:cxnLst/>
              <a:rect l="l" t="t" r="r" b="b"/>
              <a:pathLst>
                <a:path w="9944100" h="9525">
                  <a:moveTo>
                    <a:pt x="0" y="0"/>
                  </a:moveTo>
                  <a:lnTo>
                    <a:pt x="9944100" y="0"/>
                  </a:lnTo>
                </a:path>
              </a:pathLst>
            </a:custGeom>
            <a:noFill/>
            <a:ln w="38100">
              <a:solidFill>
                <a:srgbClr val="1769E0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971550" y="5029200"/>
              <a:ext cx="304800" cy="3048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456182" y="4878705"/>
              <a:ext cx="694088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核心升级：Agent 的进展必须落到可核对的工作事实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460373" y="5329714"/>
              <a:ext cx="60203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当前系统实测只证明固定公开数据上的工程纵切，不证明生产能力或用户价值。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52" name="TextBox 52"/>
            <p:cNvSpPr txBox="1"/>
            <p:nvPr/>
          </p:nvSpPr>
          <p:spPr>
            <a:xfrm>
              <a:off x="489966" y="6458902"/>
              <a:ext cx="3244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线上研究依据：Microsoft HAI Guidelines · ReAct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02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686230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一个底座、两层增强、三类控制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058400" y="438150"/>
              <a:ext cx="16383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266040" y="519589"/>
              <a:ext cx="12230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07-16 核心架构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84632" y="1240155"/>
            <a:ext cx="11212068" cy="1141095"/>
            <a:chOff x="484632" y="1240155"/>
            <a:chExt cx="11212068" cy="1141095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40155"/>
              <a:ext cx="269287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三类控制贯穿所有层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95300" y="1695450"/>
              <a:ext cx="3429000" cy="68580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19138" y="1919288"/>
              <a:ext cx="200025" cy="200025"/>
              <a:chOff x="719138" y="1919288"/>
              <a:chExt cx="200025" cy="200025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719138" y="2074863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74713" y="19192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44450"/>
                    </a:move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  <a:cubicBezTo>
                      <a:pt x="0" y="34500"/>
                      <a:pt x="9950" y="44450"/>
                      <a:pt x="22225" y="44450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41363" y="1941513"/>
                <a:ext cx="16668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55575">
                    <a:moveTo>
                      <a:pt x="66675" y="155575"/>
                    </a:moveTo>
                    <a:lnTo>
                      <a:pt x="127794" y="155575"/>
                    </a:lnTo>
                    <a:cubicBezTo>
                      <a:pt x="149275" y="155575"/>
                      <a:pt x="166688" y="138162"/>
                      <a:pt x="166688" y="116682"/>
                    </a:cubicBezTo>
                    <a:cubicBezTo>
                      <a:pt x="166688" y="95201"/>
                      <a:pt x="149275" y="77788"/>
                      <a:pt x="127794" y="77788"/>
                    </a:cubicBezTo>
                    <a:lnTo>
                      <a:pt x="38894" y="77788"/>
                    </a:lnTo>
                    <a:cubicBezTo>
                      <a:pt x="17413" y="77788"/>
                      <a:pt x="0" y="60374"/>
                      <a:pt x="0" y="38894"/>
                    </a:cubicBezTo>
                    <a:cubicBezTo>
                      <a:pt x="0" y="17413"/>
                      <a:pt x="17413" y="0"/>
                      <a:pt x="38894" y="0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95756" y="1844040"/>
              <a:ext cx="15862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Task Control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98423" y="212931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方向、预算、暂停与停止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152900" y="1695450"/>
              <a:ext cx="3429000" cy="68580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9050">
              <a:solidFill>
                <a:srgbClr val="2E7D32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387849" y="1924971"/>
              <a:ext cx="183215" cy="188636"/>
              <a:chOff x="4387849" y="1924971"/>
              <a:chExt cx="183215" cy="18863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4443413" y="1985963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66675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465638" y="1924971"/>
                <a:ext cx="105426" cy="105442"/>
              </a:xfrm>
              <a:custGeom>
                <a:avLst/>
                <a:gdLst/>
                <a:ahLst/>
                <a:cxnLst/>
                <a:rect l="l" t="t" r="r" b="b"/>
                <a:pathLst>
                  <a:path w="105426" h="105442">
                    <a:moveTo>
                      <a:pt x="0" y="27655"/>
                    </a:moveTo>
                    <a:lnTo>
                      <a:pt x="5145" y="21698"/>
                    </a:lnTo>
                    <a:cubicBezTo>
                      <a:pt x="26847" y="0"/>
                      <a:pt x="62029" y="2"/>
                      <a:pt x="83727" y="21704"/>
                    </a:cubicBezTo>
                    <a:cubicBezTo>
                      <a:pt x="105426" y="43405"/>
                      <a:pt x="105423" y="78588"/>
                      <a:pt x="83722" y="100286"/>
                    </a:cubicBezTo>
                    <a:lnTo>
                      <a:pt x="77788" y="105442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4387849" y="2008188"/>
                <a:ext cx="100014" cy="105419"/>
              </a:xfrm>
              <a:custGeom>
                <a:avLst/>
                <a:gdLst/>
                <a:ahLst/>
                <a:cxnLst/>
                <a:rect l="l" t="t" r="r" b="b"/>
                <a:pathLst>
                  <a:path w="100014" h="105419">
                    <a:moveTo>
                      <a:pt x="100014" y="77788"/>
                    </a:moveTo>
                    <a:lnTo>
                      <a:pt x="95603" y="83722"/>
                    </a:lnTo>
                    <a:cubicBezTo>
                      <a:pt x="73661" y="105419"/>
                      <a:pt x="38345" y="105419"/>
                      <a:pt x="16404" y="83722"/>
                    </a:cubicBezTo>
                    <a:cubicBezTo>
                      <a:pt x="5907" y="73343"/>
                      <a:pt x="0" y="59195"/>
                      <a:pt x="0" y="44433"/>
                    </a:cubicBezTo>
                    <a:cubicBezTo>
                      <a:pt x="0" y="29672"/>
                      <a:pt x="5907" y="15524"/>
                      <a:pt x="16404" y="5145"/>
                    </a:cubicBezTo>
                    <a:lnTo>
                      <a:pt x="22227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4753356" y="1844040"/>
              <a:ext cx="20819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Evidence Control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756023" y="212931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来源、冲突、验证与采用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1695450"/>
              <a:ext cx="3886200" cy="685800"/>
            </a:xfrm>
            <a:prstGeom prst="roundRect">
              <a:avLst>
                <a:gd name="adj" fmla="val 8333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019341" y="1919288"/>
              <a:ext cx="217008" cy="200025"/>
              <a:chOff x="8019341" y="1919288"/>
              <a:chExt cx="217008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019341" y="1919288"/>
                <a:ext cx="217008" cy="198314"/>
              </a:xfrm>
              <a:custGeom>
                <a:avLst/>
                <a:gdLst/>
                <a:ahLst/>
                <a:cxnLst/>
                <a:rect l="l" t="t" r="r" b="b"/>
                <a:pathLst>
                  <a:path w="217008" h="198314">
                    <a:moveTo>
                      <a:pt x="109009" y="198314"/>
                    </a:moveTo>
                    <a:cubicBezTo>
                      <a:pt x="39394" y="176735"/>
                      <a:pt x="0" y="103262"/>
                      <a:pt x="20553" y="33338"/>
                    </a:cubicBezTo>
                    <a:cubicBezTo>
                      <a:pt x="55175" y="34922"/>
                      <a:pt x="89053" y="22965"/>
                      <a:pt x="115010" y="0"/>
                    </a:cubicBezTo>
                    <a:cubicBezTo>
                      <a:pt x="140967" y="22965"/>
                      <a:pt x="174845" y="34922"/>
                      <a:pt x="209466" y="33338"/>
                    </a:cubicBezTo>
                    <a:cubicBezTo>
                      <a:pt x="217008" y="58998"/>
                      <a:pt x="216660" y="86333"/>
                      <a:pt x="208466" y="11179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167688" y="20748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8410956" y="1844040"/>
              <a:ext cx="18019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Action Control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13623" y="2129314"/>
              <a:ext cx="2187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风险、审批、Permit 与回执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876300" y="2895600"/>
            <a:ext cx="10439400" cy="1200150"/>
            <a:chOff x="876300" y="2895600"/>
            <a:chExt cx="10439400" cy="1200150"/>
          </a:xfrm>
        </p:grpSpPr>
        <p:sp>
          <p:nvSpPr>
            <p:cNvPr id="31" name="Rectangle 31"/>
            <p:cNvSpPr/>
            <p:nvPr/>
          </p:nvSpPr>
          <p:spPr>
            <a:xfrm>
              <a:off x="876300" y="2895600"/>
              <a:ext cx="4762500" cy="1200150"/>
            </a:xfrm>
            <a:prstGeom prst="roundRect">
              <a:avLst>
                <a:gd name="adj" fmla="val 4762"/>
              </a:avLst>
            </a:pr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1152525" y="3186281"/>
              <a:ext cx="190500" cy="199688"/>
              <a:chOff x="1152525" y="3186281"/>
              <a:chExt cx="190500" cy="199688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1152525" y="3186281"/>
                <a:ext cx="190500" cy="879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87938">
                    <a:moveTo>
                      <a:pt x="190500" y="87938"/>
                    </a:moveTo>
                    <a:cubicBezTo>
                      <a:pt x="184514" y="44867"/>
                      <a:pt x="150446" y="11129"/>
                      <a:pt x="107319" y="5565"/>
                    </a:cubicBezTo>
                    <a:cubicBezTo>
                      <a:pt x="64192" y="0"/>
                      <a:pt x="22676" y="23985"/>
                      <a:pt x="5953" y="64125"/>
                    </a:cubicBezTo>
                    <a:moveTo>
                      <a:pt x="0" y="16500"/>
                    </a:moveTo>
                    <a:lnTo>
                      <a:pt x="0" y="64125"/>
                    </a:lnTo>
                    <a:lnTo>
                      <a:pt x="47625" y="64125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152525" y="3298031"/>
                <a:ext cx="190500" cy="879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87938">
                    <a:moveTo>
                      <a:pt x="0" y="0"/>
                    </a:moveTo>
                    <a:cubicBezTo>
                      <a:pt x="5986" y="43070"/>
                      <a:pt x="40054" y="76808"/>
                      <a:pt x="83181" y="82373"/>
                    </a:cubicBezTo>
                    <a:cubicBezTo>
                      <a:pt x="126308" y="87938"/>
                      <a:pt x="167824" y="63953"/>
                      <a:pt x="184547" y="23812"/>
                    </a:cubicBezTo>
                    <a:moveTo>
                      <a:pt x="190500" y="71438"/>
                    </a:moveTo>
                    <a:lnTo>
                      <a:pt x="190500" y="23812"/>
                    </a:lnTo>
                    <a:lnTo>
                      <a:pt x="142875" y="23812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551432" y="3145155"/>
              <a:ext cx="27662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Agent Control Loop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98423" y="3596164"/>
              <a:ext cx="38801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长任务持续推进 · Branch 证据门 · Artifact 历史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53200" y="2895600"/>
              <a:ext cx="4762500" cy="1200150"/>
            </a:xfrm>
            <a:prstGeom prst="roundRect">
              <a:avLst>
                <a:gd name="adj" fmla="val 4762"/>
              </a:avLst>
            </a:prstGeom>
            <a:solidFill>
              <a:srgbClr val="EDF1F4"/>
            </a:solidFill>
            <a:ln w="19050">
              <a:solidFill>
                <a:srgbClr val="D97706"/>
              </a:solidFill>
              <a:custDash>
                <a:ds d="400000" sp="300000"/>
              </a:custDash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841331" y="3190875"/>
              <a:ext cx="178595" cy="190500"/>
              <a:chOff x="6841331" y="3190875"/>
              <a:chExt cx="178595" cy="190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841331" y="33337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841331" y="31908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60394" y="31908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865144" y="3238500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888956" y="3274219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48488" y="3274219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7228332" y="3145155"/>
              <a:ext cx="37019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Governed Adaptive Swarm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75323" y="3596164"/>
              <a:ext cx="43021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Admission · 多 Worker · Shared Artifact · Resolver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63962" y="29918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目标设计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495300" y="4095750"/>
            <a:ext cx="11201400" cy="1676400"/>
            <a:chOff x="495300" y="4095750"/>
            <a:chExt cx="11201400" cy="1676400"/>
          </a:xfrm>
        </p:grpSpPr>
        <p:sp>
          <p:nvSpPr>
            <p:cNvPr id="49" name="Freeform 49"/>
            <p:cNvSpPr/>
            <p:nvPr/>
          </p:nvSpPr>
          <p:spPr>
            <a:xfrm>
              <a:off x="3257550" y="4095750"/>
              <a:ext cx="5676900" cy="342900"/>
            </a:xfrm>
            <a:custGeom>
              <a:avLst/>
              <a:gdLst/>
              <a:ahLst/>
              <a:cxnLst/>
              <a:rect l="l" t="t" r="r" b="b"/>
              <a:pathLst>
                <a:path w="5676900" h="342900">
                  <a:moveTo>
                    <a:pt x="0" y="0"/>
                  </a:moveTo>
                  <a:lnTo>
                    <a:pt x="0" y="342900"/>
                  </a:lnTo>
                  <a:moveTo>
                    <a:pt x="5676900" y="0"/>
                  </a:moveTo>
                  <a:lnTo>
                    <a:pt x="5676900" y="342900"/>
                  </a:lnTo>
                </a:path>
              </a:pathLst>
            </a:custGeom>
            <a:noFill/>
            <a:ln w="28575">
              <a:solidFill>
                <a:srgbClr val="CBD5DF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95300" y="4438650"/>
              <a:ext cx="11201400" cy="1333500"/>
            </a:xfrm>
            <a:prstGeom prst="roundRect">
              <a:avLst>
                <a:gd name="adj" fmla="val 4286"/>
              </a:avLst>
            </a:prstGeom>
            <a:solidFill>
              <a:srgbClr val="132A3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802481" y="4740275"/>
              <a:ext cx="242888" cy="215900"/>
              <a:chOff x="802481" y="4740275"/>
              <a:chExt cx="242888" cy="2159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02481" y="4740275"/>
                <a:ext cx="242888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07950">
                    <a:moveTo>
                      <a:pt x="0" y="40481"/>
                    </a:moveTo>
                    <a:cubicBezTo>
                      <a:pt x="0" y="18124"/>
                      <a:pt x="18124" y="0"/>
                      <a:pt x="40481" y="0"/>
                    </a:cubicBezTo>
                    <a:lnTo>
                      <a:pt x="202407" y="0"/>
                    </a:lnTo>
                    <a:cubicBezTo>
                      <a:pt x="224764" y="0"/>
                      <a:pt x="242888" y="18124"/>
                      <a:pt x="242888" y="40481"/>
                    </a:cubicBezTo>
                    <a:lnTo>
                      <a:pt x="242888" y="67469"/>
                    </a:lnTo>
                    <a:cubicBezTo>
                      <a:pt x="242888" y="89826"/>
                      <a:pt x="224764" y="107950"/>
                      <a:pt x="202407" y="107950"/>
                    </a:cubicBezTo>
                    <a:lnTo>
                      <a:pt x="40481" y="107950"/>
                    </a:lnTo>
                    <a:cubicBezTo>
                      <a:pt x="18124" y="107950"/>
                      <a:pt x="0" y="89826"/>
                      <a:pt x="0" y="67469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02481" y="4848225"/>
                <a:ext cx="242888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07950">
                    <a:moveTo>
                      <a:pt x="0" y="40481"/>
                    </a:moveTo>
                    <a:cubicBezTo>
                      <a:pt x="0" y="18124"/>
                      <a:pt x="18124" y="0"/>
                      <a:pt x="40481" y="0"/>
                    </a:cubicBezTo>
                    <a:lnTo>
                      <a:pt x="202407" y="0"/>
                    </a:lnTo>
                    <a:cubicBezTo>
                      <a:pt x="224764" y="0"/>
                      <a:pt x="242888" y="18124"/>
                      <a:pt x="242888" y="40481"/>
                    </a:cubicBezTo>
                    <a:lnTo>
                      <a:pt x="242888" y="67469"/>
                    </a:lnTo>
                    <a:cubicBezTo>
                      <a:pt x="242888" y="89826"/>
                      <a:pt x="224764" y="107950"/>
                      <a:pt x="202407" y="107950"/>
                    </a:cubicBezTo>
                    <a:lnTo>
                      <a:pt x="40481" y="107950"/>
                    </a:lnTo>
                    <a:cubicBezTo>
                      <a:pt x="18124" y="107950"/>
                      <a:pt x="0" y="89826"/>
                      <a:pt x="0" y="67469"/>
                    </a:cubicBez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56456" y="4794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56456" y="49022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245108" y="4693920"/>
              <a:ext cx="3157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统一 Agent Runtime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55523" y="5196364"/>
              <a:ext cx="62438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BD5DF"/>
                  </a:solidFill>
                  <a:latin typeface="Segoe UI"/>
                  <a:ea typeface="Segoe UI"/>
                  <a:cs typeface="Segoe UI"/>
                </a:rPr>
                <a:t>Task · State · Context · Execution · Capability · Evidence · Policy · Trace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8077200" y="4686300"/>
              <a:ext cx="3276600" cy="685800"/>
            </a:xfrm>
            <a:prstGeom prst="roundRect">
              <a:avLst>
                <a:gd name="adj" fmla="val 8333"/>
              </a:avLst>
            </a:prstGeom>
            <a:solidFill>
              <a:srgbClr val="FFFFFF">
                <a:alpha val="8000"/>
              </a:srgbClr>
            </a:solidFill>
            <a:ln w="19050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299323" y="481536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当前真实实现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0466" y="5106352"/>
              <a:ext cx="30926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受限单 Loop · 固定成果适配器 · Snapshot/SSE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62" name="TextBox 62"/>
            <p:cNvSpPr txBox="1"/>
            <p:nvPr/>
          </p:nvSpPr>
          <p:spPr>
            <a:xfrm>
              <a:off x="489966" y="6458902"/>
              <a:ext cx="59208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线上实践参照：ReAct · LangGraph Persistence · OpenAI Agents SDK Human-in-the-loop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03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745743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Agent 最小运行时：八个稳定职责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058400" y="438150"/>
              <a:ext cx="16383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266040" y="519589"/>
              <a:ext cx="12230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07-16 内容升级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23875" y="1323975"/>
            <a:ext cx="11178159" cy="215836"/>
            <a:chOff x="523875" y="1323975"/>
            <a:chExt cx="11178159" cy="215836"/>
          </a:xfrm>
        </p:grpSpPr>
        <p:sp>
          <p:nvSpPr>
            <p:cNvPr id="9" name="Ellipse 9"/>
            <p:cNvSpPr/>
            <p:nvPr/>
          </p:nvSpPr>
          <p:spPr>
            <a:xfrm>
              <a:off x="523875" y="1323975"/>
              <a:ext cx="133350" cy="13335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37616" y="13344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当前实现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1609725" y="1323975"/>
              <a:ext cx="133350" cy="13335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23466" y="13344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部分近似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2828925" y="1323975"/>
              <a:ext cx="133350" cy="133350"/>
            </a:xfrm>
            <a:prstGeom prst="ellipse">
              <a:avLst/>
            </a:prstGeom>
            <a:solidFill>
              <a:srgbClr val="7C8A9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042666" y="13344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尚未实现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88399" y="1334452"/>
              <a:ext cx="24136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用户看到的是状态与结果，不是模块名</a:t>
              </a:r>
            </a:p>
          </p:txBody>
        </p:sp>
      </p:grpSp>
      <p:grpSp>
        <p:nvGrpSpPr>
          <p:cNvPr id="90" name="Group 90"/>
          <p:cNvGrpSpPr/>
          <p:nvPr/>
        </p:nvGrpSpPr>
        <p:grpSpPr>
          <a:xfrm>
            <a:off x="495300" y="1695450"/>
            <a:ext cx="11201400" cy="3771900"/>
            <a:chOff x="495300" y="1695450"/>
            <a:chExt cx="11201400" cy="3771900"/>
          </a:xfrm>
        </p:grpSpPr>
        <p:sp>
          <p:nvSpPr>
            <p:cNvPr id="17" name="Rectangle 17"/>
            <p:cNvSpPr/>
            <p:nvPr/>
          </p:nvSpPr>
          <p:spPr>
            <a:xfrm>
              <a:off x="495300" y="169545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19138" y="1919288"/>
              <a:ext cx="200025" cy="188913"/>
              <a:chOff x="719138" y="1919288"/>
              <a:chExt cx="200025" cy="18891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63588" y="1919288"/>
                <a:ext cx="15557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44463">
                    <a:moveTo>
                      <a:pt x="22225" y="0"/>
                    </a:moveTo>
                    <a:lnTo>
                      <a:pt x="55563" y="0"/>
                    </a:lnTo>
                    <a:lnTo>
                      <a:pt x="77788" y="22225"/>
                    </a:lnTo>
                    <a:lnTo>
                      <a:pt x="133350" y="22225"/>
                    </a:lnTo>
                    <a:cubicBezTo>
                      <a:pt x="145625" y="22225"/>
                      <a:pt x="155575" y="32176"/>
                      <a:pt x="155575" y="44450"/>
                    </a:cubicBezTo>
                    <a:lnTo>
                      <a:pt x="155575" y="122238"/>
                    </a:lnTo>
                    <a:cubicBezTo>
                      <a:pt x="155575" y="134512"/>
                      <a:pt x="145625" y="144463"/>
                      <a:pt x="133350" y="144463"/>
                    </a:cubicBezTo>
                    <a:lnTo>
                      <a:pt x="22225" y="144463"/>
                    </a:lnTo>
                    <a:cubicBezTo>
                      <a:pt x="9950" y="144463"/>
                      <a:pt x="0" y="134512"/>
                      <a:pt x="0" y="122238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9138" y="1963738"/>
                <a:ext cx="155575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44463">
                    <a:moveTo>
                      <a:pt x="155575" y="100013"/>
                    </a:moveTo>
                    <a:lnTo>
                      <a:pt x="155575" y="122238"/>
                    </a:lnTo>
                    <a:cubicBezTo>
                      <a:pt x="155575" y="134512"/>
                      <a:pt x="145625" y="144463"/>
                      <a:pt x="133350" y="144463"/>
                    </a:cubicBezTo>
                    <a:lnTo>
                      <a:pt x="22225" y="144463"/>
                    </a:lnTo>
                    <a:cubicBezTo>
                      <a:pt x="9950" y="144463"/>
                      <a:pt x="0" y="134512"/>
                      <a:pt x="0" y="122238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60323" y="1938814"/>
              <a:ext cx="16555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Workspace Catalog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9323" y="2224564"/>
              <a:ext cx="13148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&amp; Safe Preview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9323" y="258651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用户：浏览、搜索、回开原文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0466" y="2934652"/>
              <a:ext cx="17916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当前：15 目录 · 96/96 预览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352800" y="169545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3598863" y="1919288"/>
              <a:ext cx="155575" cy="200026"/>
              <a:chOff x="3598863" y="1919288"/>
              <a:chExt cx="155575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598863" y="1941513"/>
                <a:ext cx="155575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77801">
                    <a:moveTo>
                      <a:pt x="44450" y="0"/>
                    </a:moveTo>
                    <a:lnTo>
                      <a:pt x="22225" y="0"/>
                    </a:lnTo>
                    <a:cubicBezTo>
                      <a:pt x="9950" y="0"/>
                      <a:pt x="0" y="9950"/>
                      <a:pt x="0" y="22225"/>
                    </a:cubicBezTo>
                    <a:lnTo>
                      <a:pt x="0" y="155575"/>
                    </a:lnTo>
                    <a:cubicBezTo>
                      <a:pt x="0" y="167850"/>
                      <a:pt x="9950" y="177801"/>
                      <a:pt x="22225" y="177801"/>
                    </a:cubicBezTo>
                    <a:lnTo>
                      <a:pt x="133350" y="177801"/>
                    </a:lnTo>
                    <a:cubicBezTo>
                      <a:pt x="145625" y="177801"/>
                      <a:pt x="155575" y="167850"/>
                      <a:pt x="155575" y="155575"/>
                    </a:cubicBezTo>
                    <a:lnTo>
                      <a:pt x="155575" y="22225"/>
                    </a:lnTo>
                    <a:cubicBezTo>
                      <a:pt x="155575" y="9950"/>
                      <a:pt x="145625" y="0"/>
                      <a:pt x="133350" y="0"/>
                    </a:cubicBez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3643313" y="191928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44450" y="0"/>
                    </a:lnTo>
                    <a:cubicBezTo>
                      <a:pt x="56725" y="0"/>
                      <a:pt x="66675" y="9950"/>
                      <a:pt x="66675" y="22225"/>
                    </a:cubicBezTo>
                    <a:cubicBezTo>
                      <a:pt x="66675" y="34500"/>
                      <a:pt x="56725" y="44450"/>
                      <a:pt x="44450" y="44450"/>
                    </a:cubicBezTo>
                    <a:lnTo>
                      <a:pt x="22225" y="44450"/>
                    </a:lnTo>
                    <a:cubicBezTo>
                      <a:pt x="9950" y="44450"/>
                      <a:pt x="0" y="3450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3643313" y="201930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3917823" y="1938814"/>
              <a:ext cx="12682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Task Contract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36823" y="24150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用户：知道目标、范围和完成条件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537966" y="29346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当前：目标与整库范围冻结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10300" y="169545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434138" y="1919288"/>
              <a:ext cx="200025" cy="200025"/>
              <a:chOff x="6434138" y="191928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434138" y="2074863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589713" y="19192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44450"/>
                    </a:move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  <a:cubicBezTo>
                      <a:pt x="0" y="34500"/>
                      <a:pt x="9950" y="44450"/>
                      <a:pt x="22225" y="44450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456363" y="1941513"/>
                <a:ext cx="16668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55575">
                    <a:moveTo>
                      <a:pt x="66675" y="155575"/>
                    </a:moveTo>
                    <a:lnTo>
                      <a:pt x="127794" y="155575"/>
                    </a:lnTo>
                    <a:cubicBezTo>
                      <a:pt x="149275" y="155575"/>
                      <a:pt x="166688" y="138162"/>
                      <a:pt x="166688" y="116682"/>
                    </a:cubicBezTo>
                    <a:cubicBezTo>
                      <a:pt x="166688" y="95201"/>
                      <a:pt x="149275" y="77788"/>
                      <a:pt x="127794" y="77788"/>
                    </a:cubicBezTo>
                    <a:lnTo>
                      <a:pt x="38894" y="77788"/>
                    </a:lnTo>
                    <a:cubicBezTo>
                      <a:pt x="17413" y="77788"/>
                      <a:pt x="0" y="60374"/>
                      <a:pt x="0" y="38894"/>
                    </a:cubicBezTo>
                    <a:cubicBezTo>
                      <a:pt x="0" y="17413"/>
                      <a:pt x="17413" y="0"/>
                      <a:pt x="38894" y="0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775323" y="1938814"/>
              <a:ext cx="667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Planner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94323" y="24150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用户：看到分支、依赖和证据范围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95466" y="2934652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当前：安全元数据内提议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067800" y="169545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9276641" y="1919288"/>
              <a:ext cx="217008" cy="200025"/>
              <a:chOff x="9276641" y="1919288"/>
              <a:chExt cx="217008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9276641" y="1919288"/>
                <a:ext cx="217008" cy="198314"/>
              </a:xfrm>
              <a:custGeom>
                <a:avLst/>
                <a:gdLst/>
                <a:ahLst/>
                <a:cxnLst/>
                <a:rect l="l" t="t" r="r" b="b"/>
                <a:pathLst>
                  <a:path w="217008" h="198314">
                    <a:moveTo>
                      <a:pt x="109009" y="198314"/>
                    </a:moveTo>
                    <a:cubicBezTo>
                      <a:pt x="39394" y="176735"/>
                      <a:pt x="0" y="103262"/>
                      <a:pt x="20553" y="33338"/>
                    </a:cubicBezTo>
                    <a:cubicBezTo>
                      <a:pt x="55175" y="34922"/>
                      <a:pt x="89053" y="22965"/>
                      <a:pt x="115010" y="0"/>
                    </a:cubicBezTo>
                    <a:cubicBezTo>
                      <a:pt x="140967" y="22965"/>
                      <a:pt x="174845" y="34922"/>
                      <a:pt x="209466" y="33338"/>
                    </a:cubicBezTo>
                    <a:cubicBezTo>
                      <a:pt x="217008" y="58998"/>
                      <a:pt x="216660" y="86333"/>
                      <a:pt x="208466" y="111792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424988" y="20748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32823" y="1938814"/>
              <a:ext cx="13210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Policy Compiler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52966" y="2267902"/>
              <a:ext cx="1140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&amp; Plan Validator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251823" y="258651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用户：越界计划不会启动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52966" y="2934652"/>
              <a:ext cx="19542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当前：预算、scope、依赖校验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95300" y="369570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41363" y="3930650"/>
              <a:ext cx="166687" cy="177801"/>
              <a:chOff x="741363" y="3930650"/>
              <a:chExt cx="166687" cy="177801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41363" y="4064001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41363" y="3930650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52488" y="3930650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63588" y="3975100"/>
                <a:ext cx="952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8900">
                    <a:moveTo>
                      <a:pt x="0" y="0"/>
                    </a:moveTo>
                    <a:lnTo>
                      <a:pt x="0" y="8890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785813" y="4008438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77788"/>
                    </a:moveTo>
                    <a:lnTo>
                      <a:pt x="66675" y="77788"/>
                    </a:lnTo>
                    <a:cubicBezTo>
                      <a:pt x="78950" y="77788"/>
                      <a:pt x="88900" y="67837"/>
                      <a:pt x="88900" y="55563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41375" y="4008438"/>
                <a:ext cx="6667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33338">
                    <a:moveTo>
                      <a:pt x="0" y="33338"/>
                    </a:moveTo>
                    <a:lnTo>
                      <a:pt x="33338" y="0"/>
                    </a:lnTo>
                    <a:lnTo>
                      <a:pt x="66675" y="33338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60323" y="3939064"/>
              <a:ext cx="1019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Scheduler &amp;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79323" y="4205764"/>
              <a:ext cx="14400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Worker Manager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9323" y="458676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用户：分支状态与局部恢复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80466" y="4934902"/>
              <a:ext cx="1229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部分：受限单 Loop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3352800" y="369570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7C8A98"/>
              </a:solidFill>
              <a:custDash>
                <a:ds d="400000" sp="300000"/>
              </a:custDash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3587750" y="3930650"/>
              <a:ext cx="177801" cy="177801"/>
              <a:chOff x="3587750" y="3930650"/>
              <a:chExt cx="177801" cy="177801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605588" y="3952875"/>
                <a:ext cx="137738" cy="137738"/>
              </a:xfrm>
              <a:custGeom>
                <a:avLst/>
                <a:gdLst/>
                <a:ahLst/>
                <a:cxnLst/>
                <a:rect l="l" t="t" r="r" b="b"/>
                <a:pathLst>
                  <a:path w="137738" h="137738">
                    <a:moveTo>
                      <a:pt x="46448" y="0"/>
                    </a:moveTo>
                    <a:lnTo>
                      <a:pt x="137738" y="91289"/>
                    </a:lnTo>
                    <a:lnTo>
                      <a:pt x="114912" y="114115"/>
                    </a:lnTo>
                    <a:cubicBezTo>
                      <a:pt x="98716" y="130959"/>
                      <a:pt x="74681" y="137738"/>
                      <a:pt x="52070" y="131837"/>
                    </a:cubicBezTo>
                    <a:cubicBezTo>
                      <a:pt x="29459" y="125937"/>
                      <a:pt x="11801" y="108279"/>
                      <a:pt x="5900" y="85668"/>
                    </a:cubicBezTo>
                    <a:cubicBezTo>
                      <a:pt x="0" y="63056"/>
                      <a:pt x="6778" y="39022"/>
                      <a:pt x="23623" y="22825"/>
                    </a:cubicBezTo>
                    <a:lnTo>
                      <a:pt x="46448" y="0"/>
                    </a:lnTo>
                  </a:path>
                </a:pathLst>
              </a:custGeom>
              <a:noFill/>
              <a:ln w="19050">
                <a:solidFill>
                  <a:srgbClr val="7C8A9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3587750" y="4069557"/>
                <a:ext cx="38894" cy="38894"/>
              </a:xfrm>
              <a:custGeom>
                <a:avLst/>
                <a:gdLst/>
                <a:ahLst/>
                <a:cxnLst/>
                <a:rect l="l" t="t" r="r" b="b"/>
                <a:pathLst>
                  <a:path w="38894" h="38894">
                    <a:moveTo>
                      <a:pt x="0" y="38894"/>
                    </a:moveTo>
                    <a:lnTo>
                      <a:pt x="38894" y="0"/>
                    </a:lnTo>
                  </a:path>
                </a:pathLst>
              </a:custGeom>
              <a:noFill/>
              <a:ln w="19050">
                <a:solidFill>
                  <a:srgbClr val="7C8A9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3671094" y="3930650"/>
                <a:ext cx="38894" cy="38894"/>
              </a:xfrm>
              <a:custGeom>
                <a:avLst/>
                <a:gdLst/>
                <a:ahLst/>
                <a:cxnLst/>
                <a:rect l="l" t="t" r="r" b="b"/>
                <a:pathLst>
                  <a:path w="38894" h="38894">
                    <a:moveTo>
                      <a:pt x="38894" y="0"/>
                    </a:moveTo>
                    <a:lnTo>
                      <a:pt x="0" y="38894"/>
                    </a:lnTo>
                  </a:path>
                </a:pathLst>
              </a:custGeom>
              <a:noFill/>
              <a:ln w="19050">
                <a:solidFill>
                  <a:srgbClr val="7C8A98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3726657" y="3986213"/>
                <a:ext cx="38894" cy="38894"/>
              </a:xfrm>
              <a:custGeom>
                <a:avLst/>
                <a:gdLst/>
                <a:ahLst/>
                <a:cxnLst/>
                <a:rect l="l" t="t" r="r" b="b"/>
                <a:pathLst>
                  <a:path w="38894" h="38894">
                    <a:moveTo>
                      <a:pt x="38894" y="0"/>
                    </a:moveTo>
                    <a:lnTo>
                      <a:pt x="0" y="38894"/>
                    </a:lnTo>
                  </a:path>
                </a:pathLst>
              </a:custGeom>
              <a:noFill/>
              <a:ln w="19050">
                <a:solidFill>
                  <a:srgbClr val="7C8A98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3917823" y="3939064"/>
              <a:ext cx="11600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Tool Gateway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536823" y="441531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用户：动作许可与执行回执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3537966" y="4934902"/>
              <a:ext cx="18953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目标：通用工具与 Connector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210300" y="369570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6456363" y="3919538"/>
              <a:ext cx="155575" cy="200026"/>
              <a:chOff x="6456363" y="3919538"/>
              <a:chExt cx="155575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556375" y="3919538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456363" y="3919538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489700" y="4008438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77788"/>
                    </a:lnTo>
                    <a:lnTo>
                      <a:pt x="0" y="77788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6489700" y="4052888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6523038" y="4008438"/>
                <a:ext cx="9525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7788">
                    <a:moveTo>
                      <a:pt x="0" y="0"/>
                    </a:moveTo>
                    <a:lnTo>
                      <a:pt x="0" y="77788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6775323" y="3939064"/>
              <a:ext cx="17546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Artifact Workspace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394323" y="4205764"/>
              <a:ext cx="8750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&amp; Verifier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394323" y="458676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用户：下载成果、查看校验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395466" y="49349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部分：固定成果适配器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9067800" y="3695700"/>
              <a:ext cx="2628900" cy="1771650"/>
            </a:xfrm>
            <a:prstGeom prst="roundRect">
              <a:avLst>
                <a:gd name="adj" fmla="val 3226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9302750" y="3919538"/>
              <a:ext cx="177801" cy="200025"/>
              <a:chOff x="9302750" y="3919538"/>
              <a:chExt cx="177801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9302750" y="3919538"/>
                <a:ext cx="177801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66675">
                    <a:moveTo>
                      <a:pt x="0" y="33338"/>
                    </a:moveTo>
                    <a:cubicBezTo>
                      <a:pt x="0" y="51749"/>
                      <a:pt x="39802" y="66675"/>
                      <a:pt x="88900" y="66675"/>
                    </a:cubicBezTo>
                    <a:cubicBezTo>
                      <a:pt x="137999" y="66675"/>
                      <a:pt x="177801" y="51749"/>
                      <a:pt x="177801" y="33338"/>
                    </a:cubicBezTo>
                    <a:cubicBezTo>
                      <a:pt x="177801" y="14926"/>
                      <a:pt x="137999" y="0"/>
                      <a:pt x="88900" y="0"/>
                    </a:cubicBezTo>
                    <a:cubicBezTo>
                      <a:pt x="39802" y="0"/>
                      <a:pt x="0" y="14926"/>
                      <a:pt x="0" y="33338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9302750" y="3952875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9302750" y="4019550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9632823" y="3939064"/>
              <a:ext cx="16199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Checkpoint, Event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251823" y="4205764"/>
              <a:ext cx="18725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&amp; Governance Control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251823" y="458676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用户：状态、恢复与审计入口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9252966" y="4934902"/>
              <a:ext cx="18164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部分：Snapshot / SSE / PG</a:t>
              </a:r>
            </a:p>
          </p:txBody>
        </p:sp>
      </p:grpSp>
      <p:grpSp>
        <p:nvGrpSpPr>
          <p:cNvPr id="93" name="Group 93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91" name="TextBox 91"/>
            <p:cNvSpPr txBox="1"/>
            <p:nvPr/>
          </p:nvSpPr>
          <p:spPr>
            <a:xfrm>
              <a:off x="489966" y="6458902"/>
              <a:ext cx="37497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当前系统实测；线上架构参照：ReAct · LangGraph · MCP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04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637464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技术演进：工程对象不断外扩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096500" y="438150"/>
              <a:ext cx="16002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264445" y="519589"/>
              <a:ext cx="1264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769E0"/>
                  </a:solidFill>
                  <a:latin typeface="Segoe UI"/>
                  <a:ea typeface="Segoe UI"/>
                  <a:cs typeface="Segoe UI"/>
                </a:rPr>
                <a:t>07-16 P05-P09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84632" y="1259205"/>
            <a:ext cx="7571304" cy="662273"/>
            <a:chOff x="484632" y="1259205"/>
            <a:chExt cx="7571304" cy="662273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59205"/>
              <a:ext cx="757130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不是模型突然“变成 Agent”，而是系统逐步接管更多责任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8823" y="1672114"/>
              <a:ext cx="61920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阶段名称是方案归纳，不代表学界统一命名；研究依据来自论文与产品官方实践。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95300" y="2362200"/>
            <a:ext cx="11201400" cy="2076450"/>
            <a:chOff x="495300" y="2362200"/>
            <a:chExt cx="11201400" cy="2076450"/>
          </a:xfrm>
        </p:grpSpPr>
        <p:sp>
          <p:nvSpPr>
            <p:cNvPr id="12" name="Freeform 12"/>
            <p:cNvSpPr/>
            <p:nvPr/>
          </p:nvSpPr>
          <p:spPr>
            <a:xfrm>
              <a:off x="495300" y="2362200"/>
              <a:ext cx="11201400" cy="2076450"/>
            </a:xfrm>
            <a:custGeom>
              <a:avLst/>
              <a:gdLst/>
              <a:ahLst/>
              <a:cxnLst/>
              <a:rect l="l" t="t" r="r" b="b"/>
              <a:pathLst>
                <a:path w="11201400" h="2076450">
                  <a:moveTo>
                    <a:pt x="0" y="0"/>
                  </a:moveTo>
                  <a:lnTo>
                    <a:pt x="11201400" y="0"/>
                  </a:lnTo>
                  <a:lnTo>
                    <a:pt x="11201400" y="2076450"/>
                  </a:lnTo>
                  <a:lnTo>
                    <a:pt x="0" y="2076450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95300" y="2362200"/>
              <a:ext cx="2076450" cy="2076450"/>
            </a:xfrm>
            <a:custGeom>
              <a:avLst/>
              <a:gdLst/>
              <a:ahLst/>
              <a:cxnLst/>
              <a:rect l="l" t="t" r="r" b="b"/>
              <a:pathLst>
                <a:path w="2076450" h="2076450">
                  <a:moveTo>
                    <a:pt x="0" y="0"/>
                  </a:moveTo>
                  <a:lnTo>
                    <a:pt x="1809750" y="0"/>
                  </a:lnTo>
                  <a:lnTo>
                    <a:pt x="2076450" y="1038225"/>
                  </a:lnTo>
                  <a:lnTo>
                    <a:pt x="1809750" y="2076450"/>
                  </a:lnTo>
                  <a:lnTo>
                    <a:pt x="0" y="2076450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76656" y="2663190"/>
              <a:ext cx="9172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Prompt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76656" y="2948940"/>
              <a:ext cx="14376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Engineering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9323" y="35009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工程对象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9323" y="376761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单次指令与示例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2571750" y="2362200"/>
              <a:ext cx="1905000" cy="2076450"/>
            </a:xfrm>
            <a:custGeom>
              <a:avLst/>
              <a:gdLst/>
              <a:ahLst/>
              <a:cxnLst/>
              <a:rect l="l" t="t" r="r" b="b"/>
              <a:pathLst>
                <a:path w="1905000" h="2076450">
                  <a:moveTo>
                    <a:pt x="0" y="0"/>
                  </a:moveTo>
                  <a:lnTo>
                    <a:pt x="1638300" y="0"/>
                  </a:lnTo>
                  <a:lnTo>
                    <a:pt x="1905000" y="1038225"/>
                  </a:lnTo>
                  <a:lnTo>
                    <a:pt x="1638300" y="2076450"/>
                  </a:lnTo>
                  <a:lnTo>
                    <a:pt x="0" y="2076450"/>
                  </a:lnTo>
                  <a:lnTo>
                    <a:pt x="266700" y="10382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905506" y="2663190"/>
              <a:ext cx="13708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Agent Loop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05506" y="2948940"/>
              <a:ext cx="7338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ReAct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08173" y="35009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新增责任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08173" y="3767614"/>
              <a:ext cx="17753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769E0"/>
                  </a:solidFill>
                  <a:latin typeface="Segoe UI"/>
                  <a:ea typeface="Segoe UI"/>
                  <a:cs typeface="Segoe UI"/>
                </a:rPr>
                <a:t>Action / Observation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4476750" y="2362200"/>
              <a:ext cx="1905000" cy="2076450"/>
            </a:xfrm>
            <a:custGeom>
              <a:avLst/>
              <a:gdLst/>
              <a:ahLst/>
              <a:cxnLst/>
              <a:rect l="l" t="t" r="r" b="b"/>
              <a:pathLst>
                <a:path w="1905000" h="2076450">
                  <a:moveTo>
                    <a:pt x="0" y="0"/>
                  </a:moveTo>
                  <a:lnTo>
                    <a:pt x="1638300" y="0"/>
                  </a:lnTo>
                  <a:lnTo>
                    <a:pt x="1905000" y="1038225"/>
                  </a:lnTo>
                  <a:lnTo>
                    <a:pt x="1638300" y="2076450"/>
                  </a:lnTo>
                  <a:lnTo>
                    <a:pt x="0" y="2076450"/>
                  </a:lnTo>
                  <a:lnTo>
                    <a:pt x="266700" y="1038225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810506" y="266319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Context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10506" y="2948940"/>
              <a:ext cx="14376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Engineering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13173" y="35009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新增责任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13173" y="376761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状态与信息选择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381750" y="2362200"/>
              <a:ext cx="1905000" cy="2076450"/>
            </a:xfrm>
            <a:custGeom>
              <a:avLst/>
              <a:gdLst/>
              <a:ahLst/>
              <a:cxnLst/>
              <a:rect l="l" t="t" r="r" b="b"/>
              <a:pathLst>
                <a:path w="1905000" h="2076450">
                  <a:moveTo>
                    <a:pt x="0" y="0"/>
                  </a:moveTo>
                  <a:lnTo>
                    <a:pt x="1638300" y="0"/>
                  </a:lnTo>
                  <a:lnTo>
                    <a:pt x="1905000" y="1038225"/>
                  </a:lnTo>
                  <a:lnTo>
                    <a:pt x="1638300" y="2076450"/>
                  </a:lnTo>
                  <a:lnTo>
                    <a:pt x="0" y="2076450"/>
                  </a:lnTo>
                  <a:lnTo>
                    <a:pt x="266700" y="1038225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15506" y="266319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Harness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15506" y="2948940"/>
              <a:ext cx="14376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Engineering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18173" y="35009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新增责任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18173" y="376761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工具、权限、沙箱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8286750" y="2362200"/>
              <a:ext cx="1905000" cy="2076450"/>
            </a:xfrm>
            <a:custGeom>
              <a:avLst/>
              <a:gdLst/>
              <a:ahLst/>
              <a:cxnLst/>
              <a:rect l="l" t="t" r="r" b="b"/>
              <a:pathLst>
                <a:path w="1905000" h="2076450">
                  <a:moveTo>
                    <a:pt x="0" y="0"/>
                  </a:moveTo>
                  <a:lnTo>
                    <a:pt x="1638300" y="0"/>
                  </a:lnTo>
                  <a:lnTo>
                    <a:pt x="1905000" y="1038225"/>
                  </a:lnTo>
                  <a:lnTo>
                    <a:pt x="1638300" y="2076450"/>
                  </a:lnTo>
                  <a:lnTo>
                    <a:pt x="0" y="2076450"/>
                  </a:lnTo>
                  <a:lnTo>
                    <a:pt x="266700" y="1038225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620506" y="2663190"/>
              <a:ext cx="5859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Loop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620506" y="2948940"/>
              <a:ext cx="14376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Engineering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623173" y="35009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新增责任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623173" y="376761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触发、验证、恢复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10191750" y="2362200"/>
              <a:ext cx="1504950" cy="2076450"/>
            </a:xfrm>
            <a:custGeom>
              <a:avLst/>
              <a:gdLst/>
              <a:ahLst/>
              <a:cxnLst/>
              <a:rect l="l" t="t" r="r" b="b"/>
              <a:pathLst>
                <a:path w="1504950" h="2076450">
                  <a:moveTo>
                    <a:pt x="0" y="0"/>
                  </a:moveTo>
                  <a:lnTo>
                    <a:pt x="1504950" y="0"/>
                  </a:lnTo>
                  <a:lnTo>
                    <a:pt x="1504950" y="2076450"/>
                  </a:lnTo>
                  <a:lnTo>
                    <a:pt x="0" y="2076450"/>
                  </a:lnTo>
                  <a:lnTo>
                    <a:pt x="266700" y="1038225"/>
                  </a:lnTo>
                  <a:close/>
                </a:path>
              </a:pathLst>
            </a:custGeom>
            <a:solidFill>
              <a:srgbClr val="132A3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563606" y="2663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办公交付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66273" y="310086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业务成果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66273" y="3386614"/>
              <a:ext cx="871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证据与边界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66273" y="3767614"/>
              <a:ext cx="91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用户可复核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28638" y="4935855"/>
            <a:ext cx="6109811" cy="700373"/>
            <a:chOff x="528638" y="4935855"/>
            <a:chExt cx="6109811" cy="700373"/>
          </a:xfrm>
        </p:grpSpPr>
        <p:grpSp>
          <p:nvGrpSpPr>
            <p:cNvPr id="46" name="Group 46"/>
            <p:cNvGrpSpPr/>
            <p:nvPr/>
          </p:nvGrpSpPr>
          <p:grpSpPr>
            <a:xfrm>
              <a:off x="528638" y="5019675"/>
              <a:ext cx="200025" cy="133350"/>
              <a:chOff x="528638" y="5019675"/>
              <a:chExt cx="200025" cy="13335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73088" y="5019675"/>
                <a:ext cx="1555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44450">
                    <a:moveTo>
                      <a:pt x="0" y="44450"/>
                    </a:moveTo>
                    <a:lnTo>
                      <a:pt x="155575" y="44450"/>
                    </a:ln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528638" y="5108575"/>
                <a:ext cx="1555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44450">
                    <a:moveTo>
                      <a:pt x="155575" y="0"/>
                    </a:moveTo>
                    <a:lnTo>
                      <a:pt x="0" y="0"/>
                    </a:lnTo>
                    <a:lnTo>
                      <a:pt x="44450" y="4445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903732" y="4935855"/>
              <a:ext cx="239603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交互对象同步变化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7923" y="5386864"/>
              <a:ext cx="57305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从“改一句 Prompt”到“审查任务状态、来源、成果、恢复点与动作后果”。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489966" y="6458902"/>
              <a:ext cx="54264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研究依据：Brown et al. (2020) · ReAct (2022) · Anthropic Context Engineering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05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886171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主流方案的差别，首先是“用户在审什么”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89502" y="519589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竞品官方调研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84632" y="1240155"/>
            <a:ext cx="4994720" cy="662273"/>
            <a:chOff x="484632" y="1240155"/>
            <a:chExt cx="4994720" cy="662273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40155"/>
              <a:ext cx="477073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不做功能打勾表，比较一等交互对象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8823" y="1653064"/>
              <a:ext cx="49905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官方材料可以说明产品重心，不能据此推出竞品做不到其他能力。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495300" y="2133600"/>
            <a:ext cx="11201400" cy="3238500"/>
            <a:chOff x="495300" y="2133600"/>
            <a:chExt cx="11201400" cy="3238500"/>
          </a:xfrm>
        </p:grpSpPr>
        <p:sp>
          <p:nvSpPr>
            <p:cNvPr id="12" name="Rectangle 12"/>
            <p:cNvSpPr/>
            <p:nvPr/>
          </p:nvSpPr>
          <p:spPr>
            <a:xfrm>
              <a:off x="495300" y="2133600"/>
              <a:ext cx="34290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2376488"/>
              <a:ext cx="200026" cy="188913"/>
              <a:chOff x="738188" y="2376488"/>
              <a:chExt cx="200026" cy="18891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2420938"/>
                <a:ext cx="200026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44463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77801" y="0"/>
                    </a:lnTo>
                    <a:cubicBezTo>
                      <a:pt x="190075" y="0"/>
                      <a:pt x="200026" y="9950"/>
                      <a:pt x="200026" y="22225"/>
                    </a:cubicBezTo>
                    <a:lnTo>
                      <a:pt x="200026" y="122238"/>
                    </a:lnTo>
                    <a:cubicBezTo>
                      <a:pt x="200026" y="134512"/>
                      <a:pt x="190075" y="144463"/>
                      <a:pt x="177801" y="144463"/>
                    </a:cubicBezTo>
                    <a:lnTo>
                      <a:pt x="22225" y="144463"/>
                    </a:lnTo>
                    <a:cubicBezTo>
                      <a:pt x="9950" y="144463"/>
                      <a:pt x="0" y="134512"/>
                      <a:pt x="0" y="122238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93750" y="2376488"/>
                <a:ext cx="889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44450">
                    <a:moveTo>
                      <a:pt x="0" y="44450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66675" y="0"/>
                    </a:lnTo>
                    <a:cubicBezTo>
                      <a:pt x="78950" y="0"/>
                      <a:pt x="88900" y="9950"/>
                      <a:pt x="88900" y="22225"/>
                    </a:cubicBezTo>
                    <a:lnTo>
                      <a:pt x="88900" y="4445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38200" y="2476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38188" y="2487613"/>
                <a:ext cx="200026" cy="31699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31699">
                    <a:moveTo>
                      <a:pt x="0" y="0"/>
                    </a:moveTo>
                    <a:cubicBezTo>
                      <a:pt x="62908" y="31699"/>
                      <a:pt x="137118" y="31699"/>
                      <a:pt x="200026" y="0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95756" y="2358390"/>
              <a:ext cx="27087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Microsoft 365 Copilot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98373" y="279606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审：文件、邮件、会议、站点与人员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98373" y="3100864"/>
              <a:ext cx="2536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交互对象：工作内容与引用范围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152900" y="2133600"/>
              <a:ext cx="34290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4395788" y="2376488"/>
              <a:ext cx="200025" cy="200025"/>
              <a:chOff x="4395788" y="2376488"/>
              <a:chExt cx="200025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395788" y="237648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8"/>
                    </a:moveTo>
                    <a:cubicBezTo>
                      <a:pt x="0" y="120749"/>
                      <a:pt x="34827" y="155575"/>
                      <a:pt x="77788" y="155575"/>
                    </a:cubicBezTo>
                    <a:cubicBezTo>
                      <a:pt x="120749" y="155575"/>
                      <a:pt x="155575" y="120749"/>
                      <a:pt x="155575" y="77788"/>
                    </a:cubicBezTo>
                    <a:cubicBezTo>
                      <a:pt x="155575" y="34827"/>
                      <a:pt x="120749" y="0"/>
                      <a:pt x="77788" y="0"/>
                    </a:cubicBezTo>
                    <a:cubicBezTo>
                      <a:pt x="34827" y="0"/>
                      <a:pt x="0" y="34827"/>
                      <a:pt x="0" y="77788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529138" y="250983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4753356" y="2358390"/>
              <a:ext cx="286326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ChatGPT deep research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55973" y="27960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审：研究计划、来源、进度与报告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55973" y="3100864"/>
              <a:ext cx="2355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交互对象：可中断的研究过程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810500" y="2133600"/>
              <a:ext cx="38862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8075613" y="2387600"/>
              <a:ext cx="166687" cy="177801"/>
              <a:chOff x="8075613" y="2387600"/>
              <a:chExt cx="166687" cy="17780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075613" y="2520951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075613" y="2387600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86738" y="2387600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097838" y="2432050"/>
                <a:ext cx="952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8900">
                    <a:moveTo>
                      <a:pt x="0" y="0"/>
                    </a:moveTo>
                    <a:lnTo>
                      <a:pt x="0" y="8890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120063" y="2465388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77788"/>
                    </a:moveTo>
                    <a:lnTo>
                      <a:pt x="66675" y="77788"/>
                    </a:lnTo>
                    <a:cubicBezTo>
                      <a:pt x="78950" y="77788"/>
                      <a:pt x="88900" y="67837"/>
                      <a:pt x="88900" y="55563"/>
                    </a:cubicBez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175625" y="2465388"/>
                <a:ext cx="66675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33338">
                    <a:moveTo>
                      <a:pt x="0" y="33338"/>
                    </a:moveTo>
                    <a:lnTo>
                      <a:pt x="33338" y="0"/>
                    </a:lnTo>
                    <a:lnTo>
                      <a:pt x="66675" y="3333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8410956" y="2358390"/>
              <a:ext cx="12310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Codex App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13573" y="2796064"/>
              <a:ext cx="28763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审：Task、隔离工作区、Diff 与队列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13573" y="3100864"/>
              <a:ext cx="27162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交互对象：代码任务与可审查变更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95300" y="3867150"/>
              <a:ext cx="34290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26808" y="4112538"/>
              <a:ext cx="221851" cy="196658"/>
            </a:xfrm>
            <a:custGeom>
              <a:avLst/>
              <a:gdLst/>
              <a:ahLst/>
              <a:cxnLst/>
              <a:rect l="l" t="t" r="r" b="b"/>
              <a:pathLst>
                <a:path w="221851" h="196658">
                  <a:moveTo>
                    <a:pt x="11379" y="186413"/>
                  </a:moveTo>
                  <a:lnTo>
                    <a:pt x="25826" y="143074"/>
                  </a:lnTo>
                  <a:cubicBezTo>
                    <a:pt x="0" y="104880"/>
                    <a:pt x="9979" y="55596"/>
                    <a:pt x="49162" y="27792"/>
                  </a:cubicBezTo>
                  <a:cubicBezTo>
                    <a:pt x="88345" y="0"/>
                    <a:pt x="144618" y="2278"/>
                    <a:pt x="180790" y="33126"/>
                  </a:cubicBezTo>
                  <a:cubicBezTo>
                    <a:pt x="216961" y="63986"/>
                    <a:pt x="221851" y="113870"/>
                    <a:pt x="192225" y="149819"/>
                  </a:cubicBezTo>
                  <a:cubicBezTo>
                    <a:pt x="162599" y="185768"/>
                    <a:pt x="107603" y="196658"/>
                    <a:pt x="63608" y="175300"/>
                  </a:cubicBezTo>
                  <a:lnTo>
                    <a:pt x="11379" y="186413"/>
                  </a:lnTo>
                </a:path>
              </a:pathLst>
            </a:custGeom>
            <a:noFill/>
            <a:ln w="19050">
              <a:solidFill>
                <a:srgbClr val="D9770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95756" y="4091940"/>
              <a:ext cx="14463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Claude Code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8373" y="4529614"/>
              <a:ext cx="293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审：项目上下文、工具动作与验证结果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8373" y="4834414"/>
              <a:ext cx="2536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交互对象：项目会话与工具循环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4152900" y="3867150"/>
              <a:ext cx="34290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4395788" y="4121150"/>
              <a:ext cx="200026" cy="177800"/>
              <a:chOff x="4395788" y="4121150"/>
              <a:chExt cx="200026" cy="177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395788" y="412115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4395788" y="421005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440238" y="416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4440238" y="42545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4753356" y="4091940"/>
              <a:ext cx="11923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OpenClaw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355973" y="4529614"/>
              <a:ext cx="30562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审：Gateway Task、路由、会话与审批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355973" y="4834414"/>
              <a:ext cx="2536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交互对象：任务账本与运行通道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810500" y="3867150"/>
              <a:ext cx="3886200" cy="1504950"/>
            </a:xfrm>
            <a:prstGeom prst="roundRect">
              <a:avLst>
                <a:gd name="adj" fmla="val 379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064500" y="4116863"/>
              <a:ext cx="177801" cy="186375"/>
              <a:chOff x="8064500" y="4116863"/>
              <a:chExt cx="177801" cy="18637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8064500" y="411686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064500" y="422116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8410956" y="4091940"/>
              <a:ext cx="7338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ReAct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013573" y="4529614"/>
              <a:ext cx="30625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审：Action 是否得到环境 Observation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013573" y="4834414"/>
              <a:ext cx="2536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交互对象：推理与环境反馈循环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486156" y="5810250"/>
            <a:ext cx="11210544" cy="443484"/>
            <a:chOff x="486156" y="5810250"/>
            <a:chExt cx="11210544" cy="443484"/>
          </a:xfrm>
        </p:grpSpPr>
        <p:sp>
          <p:nvSpPr>
            <p:cNvPr id="61" name="Freeform 61"/>
            <p:cNvSpPr/>
            <p:nvPr/>
          </p:nvSpPr>
          <p:spPr>
            <a:xfrm>
              <a:off x="495300" y="5810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1769E0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86156" y="5901690"/>
              <a:ext cx="101203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Office Agent 候选差异：用户审的是“资料 → 业务结论 → 成果 → 人工决定 → 未执行边界”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64" name="TextBox 64"/>
            <p:cNvSpPr txBox="1"/>
            <p:nvPr/>
          </p:nvSpPr>
          <p:spPr>
            <a:xfrm>
              <a:off x="489966" y="6458902"/>
              <a:ext cx="68685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官方来源：Microsoft Support · OpenAI Help / Codex App · Claude Code Docs · OpenClaw Docs · ReAct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06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73499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技术差异如何一步步改变用户流程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248900" y="438150"/>
              <a:ext cx="14478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708862" y="519589"/>
              <a:ext cx="5278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因果链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84632" y="1240155"/>
            <a:ext cx="6284599" cy="410718"/>
            <a:chOff x="484632" y="1240155"/>
            <a:chExt cx="6284599" cy="410718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40155"/>
              <a:ext cx="628459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不是增加更多状态，而是重新分配“谁负责判断”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495300" y="2247900"/>
            <a:ext cx="11201400" cy="3048000"/>
            <a:chOff x="495300" y="2247900"/>
            <a:chExt cx="11201400" cy="3048000"/>
          </a:xfrm>
        </p:grpSpPr>
        <p:sp>
          <p:nvSpPr>
            <p:cNvPr id="11" name="Freeform 11"/>
            <p:cNvSpPr/>
            <p:nvPr/>
          </p:nvSpPr>
          <p:spPr>
            <a:xfrm>
              <a:off x="685800" y="2476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CBD5DF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1200150" y="2247900"/>
              <a:ext cx="457200" cy="4572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372712" y="2415064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3486150" y="2247900"/>
              <a:ext cx="457200" cy="4572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658712" y="2415064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772150" y="2247900"/>
              <a:ext cx="457200" cy="4572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44712" y="2415064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8058150" y="2247900"/>
              <a:ext cx="457200" cy="4572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30712" y="2415064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344150" y="2247900"/>
              <a:ext cx="457200" cy="4572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516712" y="2415064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95300" y="2952750"/>
              <a:ext cx="1866900" cy="2343150"/>
            </a:xfrm>
            <a:prstGeom prst="roundRect">
              <a:avLst>
                <a:gd name="adj" fmla="val 3061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6656" y="3082290"/>
              <a:ext cx="19257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Workspace 合同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9323" y="35199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9323" y="3805714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只说业务目标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9323" y="422481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9323" y="451056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整库范围已冻结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0466" y="48968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后端：allowlisted index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571750" y="2952750"/>
              <a:ext cx="1866900" cy="2343150"/>
            </a:xfrm>
            <a:prstGeom prst="roundRect">
              <a:avLst>
                <a:gd name="adj" fmla="val 3061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753106" y="30822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计划编译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55773" y="35199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755773" y="380571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查看分支与依赖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55773" y="422481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755773" y="4510564"/>
              <a:ext cx="140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能读/能做/禁止项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56916" y="4896802"/>
              <a:ext cx="13817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后端：validated plan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648200" y="2952750"/>
              <a:ext cx="1866900" cy="2343150"/>
            </a:xfrm>
            <a:prstGeom prst="roundRect">
              <a:avLst>
                <a:gd name="adj" fmla="val 3061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829556" y="30822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模型采用门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32223" y="35199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832223" y="3805714"/>
              <a:ext cx="15577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不再猜模型是否可信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2223" y="422481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33366" y="45348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5A6B7C"/>
                  </a:solidFill>
                  <a:latin typeface="Consolas"/>
                  <a:ea typeface="Consolas"/>
                  <a:cs typeface="Consolas"/>
                </a:rPr>
                <a:t>called / output_used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33366" y="4896802"/>
              <a:ext cx="18411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后端：schema + policy gate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24650" y="2952750"/>
              <a:ext cx="1866900" cy="2343150"/>
            </a:xfrm>
            <a:prstGeom prst="roundRect">
              <a:avLst>
                <a:gd name="adj" fmla="val 3061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06006" y="30822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局部恢复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908673" y="35199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08673" y="380571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只处理受影响问题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08673" y="422481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08673" y="451056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原因、影响、选择后果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09816" y="4896802"/>
              <a:ext cx="1627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后端：Branch + Decision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801100" y="2952750"/>
              <a:ext cx="2895600" cy="2343150"/>
            </a:xfrm>
            <a:prstGeom prst="roundRect">
              <a:avLst>
                <a:gd name="adj" fmla="val 2439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020556" y="308229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可核对办公结论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23223" y="35199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23223" y="3805714"/>
              <a:ext cx="15577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下载成果，回开依据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023223" y="422481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023223" y="4510564"/>
              <a:ext cx="21241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成果 / 说明 / 外部动作分层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024366" y="4896802"/>
              <a:ext cx="23404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后端：Artifact + Effect + Receipt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12019" y="5795443"/>
            <a:ext cx="7007588" cy="250360"/>
            <a:chOff x="512019" y="5795443"/>
            <a:chExt cx="7007588" cy="250360"/>
          </a:xfrm>
        </p:grpSpPr>
        <p:grpSp>
          <p:nvGrpSpPr>
            <p:cNvPr id="61" name="Group 61"/>
            <p:cNvGrpSpPr/>
            <p:nvPr/>
          </p:nvGrpSpPr>
          <p:grpSpPr>
            <a:xfrm>
              <a:off x="512019" y="5795443"/>
              <a:ext cx="176105" cy="151297"/>
              <a:chOff x="512019" y="5795443"/>
              <a:chExt cx="176105" cy="151297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00075" y="5850731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512019" y="5795443"/>
                <a:ext cx="176105" cy="151297"/>
              </a:xfrm>
              <a:custGeom>
                <a:avLst/>
                <a:gdLst/>
                <a:ahLst/>
                <a:cxnLst/>
                <a:rect l="l" t="t" r="r" b="b"/>
                <a:pathLst>
                  <a:path w="176105" h="151297">
                    <a:moveTo>
                      <a:pt x="73763" y="8061"/>
                    </a:moveTo>
                    <a:lnTo>
                      <a:pt x="2987" y="126230"/>
                    </a:lnTo>
                    <a:cubicBezTo>
                      <a:pt x="18" y="131371"/>
                      <a:pt x="0" y="137702"/>
                      <a:pt x="2939" y="142860"/>
                    </a:cubicBezTo>
                    <a:cubicBezTo>
                      <a:pt x="5879" y="148019"/>
                      <a:pt x="11335" y="151230"/>
                      <a:pt x="17271" y="151297"/>
                    </a:cubicBezTo>
                    <a:lnTo>
                      <a:pt x="158840" y="151297"/>
                    </a:lnTo>
                    <a:cubicBezTo>
                      <a:pt x="164774" y="151229"/>
                      <a:pt x="170227" y="148018"/>
                      <a:pt x="173166" y="142863"/>
                    </a:cubicBezTo>
                    <a:cubicBezTo>
                      <a:pt x="176105" y="137707"/>
                      <a:pt x="176089" y="131379"/>
                      <a:pt x="173124" y="126238"/>
                    </a:cubicBezTo>
                    <a:lnTo>
                      <a:pt x="102349" y="8052"/>
                    </a:lnTo>
                    <a:cubicBezTo>
                      <a:pt x="99320" y="3053"/>
                      <a:pt x="93900" y="0"/>
                      <a:pt x="88056" y="0"/>
                    </a:cubicBezTo>
                    <a:cubicBezTo>
                      <a:pt x="82211" y="0"/>
                      <a:pt x="76791" y="3053"/>
                      <a:pt x="73763" y="805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00075" y="59118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87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812673" y="5796439"/>
              <a:ext cx="67069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当前只在固定公开数据与有限适配器中验证；不是竞品同场实测，也不是用户效果结论。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64" name="TextBox 64"/>
            <p:cNvSpPr txBox="1"/>
            <p:nvPr/>
          </p:nvSpPr>
          <p:spPr>
            <a:xfrm>
              <a:off x="489966" y="6458902"/>
              <a:ext cx="63974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研究依据：Microsoft HAI Guidelines · ChatGPT deep research source control · MCP Elicitation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07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8838252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长任务 Loop 的风险，会被循环持续放大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401300" y="438150"/>
              <a:ext cx="12954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616336" y="519589"/>
              <a:ext cx="8653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769E0"/>
                  </a:solidFill>
                  <a:latin typeface="Segoe UI"/>
                  <a:ea typeface="Segoe UI"/>
                  <a:cs typeface="Segoe UI"/>
                </a:rPr>
                <a:t>07-16 P10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95300" y="1466850"/>
            <a:ext cx="7086600" cy="4095750"/>
            <a:chOff x="495300" y="1466850"/>
            <a:chExt cx="7086600" cy="4095750"/>
          </a:xfrm>
        </p:grpSpPr>
        <p:sp>
          <p:nvSpPr>
            <p:cNvPr id="9" name="Rectangle 9"/>
            <p:cNvSpPr/>
            <p:nvPr/>
          </p:nvSpPr>
          <p:spPr>
            <a:xfrm>
              <a:off x="495300" y="1466850"/>
              <a:ext cx="7086600" cy="4095750"/>
            </a:xfrm>
            <a:prstGeom prst="roundRect">
              <a:avLst>
                <a:gd name="adj" fmla="val 1395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3232" y="1621155"/>
              <a:ext cx="120868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六类风险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723900" y="2076450"/>
              <a:ext cx="6629400" cy="3238500"/>
            </a:xfrm>
            <a:custGeom>
              <a:avLst/>
              <a:gdLst/>
              <a:ahLst/>
              <a:cxnLst/>
              <a:rect l="l" t="t" r="r" b="b"/>
              <a:pathLst>
                <a:path w="6629400" h="3238500">
                  <a:moveTo>
                    <a:pt x="0" y="0"/>
                  </a:moveTo>
                  <a:lnTo>
                    <a:pt x="6629400" y="0"/>
                  </a:lnTo>
                  <a:moveTo>
                    <a:pt x="3314700" y="0"/>
                  </a:moveTo>
                  <a:lnTo>
                    <a:pt x="3314700" y="3238500"/>
                  </a:lnTo>
                  <a:moveTo>
                    <a:pt x="0" y="1085850"/>
                  </a:moveTo>
                  <a:lnTo>
                    <a:pt x="6629400" y="1085850"/>
                  </a:lnTo>
                  <a:moveTo>
                    <a:pt x="0" y="2171700"/>
                  </a:moveTo>
                  <a:lnTo>
                    <a:pt x="6629400" y="217170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E3E8ED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781050" y="2305050"/>
              <a:ext cx="342900" cy="342900"/>
            </a:xfrm>
            <a:prstGeom prst="ellipse">
              <a:avLst/>
            </a:prstGeom>
            <a:solidFill>
              <a:srgbClr val="C0362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351" y="24298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156" y="22440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方向漂移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823" y="2605564"/>
              <a:ext cx="26465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中间目标逐步偏离 Task Contract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4095750" y="2305050"/>
              <a:ext cx="342900" cy="342900"/>
            </a:xfrm>
            <a:prstGeom prst="ellipse">
              <a:avLst/>
            </a:prstGeom>
            <a:solidFill>
              <a:srgbClr val="C0362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221051" y="24298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2856" y="22440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上下文退化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65523" y="260556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旧版本、噪声与关键约束丢失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1050" y="3390900"/>
              <a:ext cx="342900" cy="3429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351" y="35156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48156" y="33299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错误复利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50823" y="369141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未经验证的事实进入后续成果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4095750" y="3390900"/>
              <a:ext cx="342900" cy="3429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221051" y="35156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62856" y="33299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成本扩张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65523" y="369141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重试、工具与分支持续增长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1050" y="4476750"/>
              <a:ext cx="342900" cy="342900"/>
            </a:xfrm>
            <a:prstGeom prst="ellipse">
              <a:avLst/>
            </a:prstGeom>
            <a:solidFill>
              <a:srgbClr val="B5470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351" y="46015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48156" y="44157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权限漂移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50823" y="477726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工具链扩展后超出原始授权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4095750" y="4476750"/>
              <a:ext cx="342900" cy="342900"/>
            </a:xfrm>
            <a:prstGeom prst="ellipse">
              <a:avLst/>
            </a:prstGeom>
            <a:solidFill>
              <a:srgbClr val="B5470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221051" y="46015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62856" y="44157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停止困难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65523" y="47772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局部失败牵连整任务，用户难接管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7848600" y="1466850"/>
            <a:ext cx="3848100" cy="4095750"/>
            <a:chOff x="7848600" y="1466850"/>
            <a:chExt cx="3848100" cy="4095750"/>
          </a:xfrm>
        </p:grpSpPr>
        <p:sp>
          <p:nvSpPr>
            <p:cNvPr id="37" name="Rectangle 37"/>
            <p:cNvSpPr/>
            <p:nvPr/>
          </p:nvSpPr>
          <p:spPr>
            <a:xfrm>
              <a:off x="7848600" y="1466850"/>
              <a:ext cx="3848100" cy="4095750"/>
            </a:xfrm>
            <a:prstGeom prst="roundRect">
              <a:avLst>
                <a:gd name="adj" fmla="val 1485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04632" y="1640205"/>
              <a:ext cx="239603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前台必须对应回答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8136530" y="2234839"/>
              <a:ext cx="182275" cy="182291"/>
              <a:chOff x="8136530" y="2234839"/>
              <a:chExt cx="182275" cy="18229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220075" y="2314575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181975" y="22764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47625" y="0"/>
                    </a:moveTo>
                    <a:cubicBezTo>
                      <a:pt x="21322" y="0"/>
                      <a:pt x="0" y="21322"/>
                      <a:pt x="0" y="47625"/>
                    </a:cubicBez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136530" y="2234839"/>
                <a:ext cx="182275" cy="182291"/>
              </a:xfrm>
              <a:custGeom>
                <a:avLst/>
                <a:gdLst/>
                <a:ahLst/>
                <a:cxnLst/>
                <a:rect l="l" t="t" r="r" b="b"/>
                <a:pathLst>
                  <a:path w="182275" h="182291">
                    <a:moveTo>
                      <a:pt x="102595" y="4060"/>
                    </a:moveTo>
                    <a:cubicBezTo>
                      <a:pt x="66403" y="0"/>
                      <a:pt x="31596" y="19251"/>
                      <a:pt x="15798" y="52065"/>
                    </a:cubicBezTo>
                    <a:cubicBezTo>
                      <a:pt x="0" y="84879"/>
                      <a:pt x="6660" y="124094"/>
                      <a:pt x="32406" y="149852"/>
                    </a:cubicBezTo>
                    <a:cubicBezTo>
                      <a:pt x="58152" y="175611"/>
                      <a:pt x="97362" y="182291"/>
                      <a:pt x="130185" y="166509"/>
                    </a:cubicBezTo>
                    <a:cubicBezTo>
                      <a:pt x="163007" y="150728"/>
                      <a:pt x="182275" y="115931"/>
                      <a:pt x="178233" y="79736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58175" y="22383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lnTo>
                      <a:pt x="0" y="57150"/>
                    </a:lnTo>
                    <a:lnTo>
                      <a:pt x="28575" y="57150"/>
                    </a:lnTo>
                    <a:lnTo>
                      <a:pt x="57150" y="28575"/>
                    </a:lnTo>
                    <a:lnTo>
                      <a:pt x="28575" y="28575"/>
                    </a:lnTo>
                    <a:lnTo>
                      <a:pt x="28575" y="0"/>
                    </a:ln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229600" y="2295525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28575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8489823" y="224361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当前目标是否仍然一致</a:t>
              </a:r>
            </a:p>
          </p:txBody>
        </p:sp>
        <p:grpSp>
          <p:nvGrpSpPr>
            <p:cNvPr id="51" name="Group 51"/>
            <p:cNvGrpSpPr/>
            <p:nvPr/>
          </p:nvGrpSpPr>
          <p:grpSpPr>
            <a:xfrm>
              <a:off x="8162925" y="2714625"/>
              <a:ext cx="133350" cy="171450"/>
              <a:chOff x="8162925" y="2714625"/>
              <a:chExt cx="133350" cy="17145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8248650" y="271462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0"/>
                    </a:moveTo>
                    <a:lnTo>
                      <a:pt x="0" y="38100"/>
                    </a:lnTo>
                    <a:cubicBezTo>
                      <a:pt x="0" y="43361"/>
                      <a:pt x="4264" y="47625"/>
                      <a:pt x="9525" y="47625"/>
                    </a:cubicBezTo>
                    <a:lnTo>
                      <a:pt x="47625" y="476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162925" y="2714625"/>
                <a:ext cx="1333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71450">
                    <a:moveTo>
                      <a:pt x="114300" y="171450"/>
                    </a:move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85725" y="0"/>
                    </a:lnTo>
                    <a:lnTo>
                      <a:pt x="133350" y="47625"/>
                    </a:lnTo>
                    <a:lnTo>
                      <a:pt x="133350" y="152400"/>
                    </a:lnTo>
                    <a:cubicBezTo>
                      <a:pt x="133350" y="162921"/>
                      <a:pt x="124821" y="171450"/>
                      <a:pt x="114300" y="1714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201025" y="27717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5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201025" y="280987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201025" y="284797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8489823" y="2719864"/>
              <a:ext cx="15577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当前用了哪一版来源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8143875" y="3200400"/>
              <a:ext cx="171450" cy="161925"/>
              <a:chOff x="8143875" y="3200400"/>
              <a:chExt cx="171450" cy="161925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8143875" y="3276600"/>
                <a:ext cx="5715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762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66675"/>
                    </a:lnTo>
                    <a:cubicBezTo>
                      <a:pt x="57150" y="71936"/>
                      <a:pt x="52886" y="76200"/>
                      <a:pt x="47625" y="76200"/>
                    </a:cubicBezTo>
                    <a:lnTo>
                      <a:pt x="9525" y="76200"/>
                    </a:lnTo>
                    <a:cubicBezTo>
                      <a:pt x="4264" y="76200"/>
                      <a:pt x="0" y="71936"/>
                      <a:pt x="0" y="666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258175" y="3238500"/>
                <a:ext cx="571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143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104775"/>
                    </a:lnTo>
                    <a:cubicBezTo>
                      <a:pt x="57150" y="110036"/>
                      <a:pt x="52886" y="114300"/>
                      <a:pt x="47625" y="114300"/>
                    </a:cubicBezTo>
                    <a:lnTo>
                      <a:pt x="9525" y="114300"/>
                    </a:lnTo>
                    <a:cubicBezTo>
                      <a:pt x="4264" y="114300"/>
                      <a:pt x="0" y="110036"/>
                      <a:pt x="0" y="1047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201025" y="3200400"/>
                <a:ext cx="5715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5240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47625" y="0"/>
                    </a:lnTo>
                    <a:cubicBezTo>
                      <a:pt x="52886" y="0"/>
                      <a:pt x="57150" y="4264"/>
                      <a:pt x="57150" y="9525"/>
                    </a:cubicBezTo>
                    <a:lnTo>
                      <a:pt x="57150" y="142875"/>
                    </a:lnTo>
                    <a:cubicBezTo>
                      <a:pt x="57150" y="148136"/>
                      <a:pt x="52886" y="152400"/>
                      <a:pt x="47625" y="152400"/>
                    </a:cubicBezTo>
                    <a:lnTo>
                      <a:pt x="9525" y="152400"/>
                    </a:lnTo>
                    <a:cubicBezTo>
                      <a:pt x="4264" y="152400"/>
                      <a:pt x="0" y="148136"/>
                      <a:pt x="0" y="14287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153400" y="3352800"/>
                <a:ext cx="1333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9525">
                    <a:moveTo>
                      <a:pt x="0" y="0"/>
                    </a:moveTo>
                    <a:lnTo>
                      <a:pt x="1333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8489823" y="319611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还剩多少轮次与调用预算</a:t>
              </a:r>
            </a:p>
          </p:txBody>
        </p:sp>
        <p:grpSp>
          <p:nvGrpSpPr>
            <p:cNvPr id="62" name="Group 62"/>
            <p:cNvGrpSpPr/>
            <p:nvPr/>
          </p:nvGrpSpPr>
          <p:grpSpPr>
            <a:xfrm>
              <a:off x="8162925" y="3667125"/>
              <a:ext cx="133350" cy="171450"/>
              <a:chOff x="8162925" y="3667125"/>
              <a:chExt cx="133350" cy="17145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162925" y="3743325"/>
                <a:ext cx="1333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952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14300" y="0"/>
                    </a:lnTo>
                    <a:cubicBezTo>
                      <a:pt x="124821" y="0"/>
                      <a:pt x="133350" y="8529"/>
                      <a:pt x="133350" y="19050"/>
                    </a:cubicBezTo>
                    <a:lnTo>
                      <a:pt x="133350" y="76200"/>
                    </a:lnTo>
                    <a:cubicBezTo>
                      <a:pt x="133350" y="86721"/>
                      <a:pt x="124821" y="95250"/>
                      <a:pt x="114300" y="95250"/>
                    </a:cubicBezTo>
                    <a:lnTo>
                      <a:pt x="19050" y="95250"/>
                    </a:lnTo>
                    <a:cubicBezTo>
                      <a:pt x="8529" y="95250"/>
                      <a:pt x="0" y="86721"/>
                      <a:pt x="0" y="762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20075" y="3781425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91500" y="3667125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76200"/>
                    </a:move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ubicBezTo>
                      <a:pt x="59142" y="0"/>
                      <a:pt x="76200" y="17058"/>
                      <a:pt x="76200" y="38100"/>
                    </a:cubicBezTo>
                    <a:lnTo>
                      <a:pt x="76200" y="762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8489823" y="367236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允许与禁止的动作范围</a:t>
              </a:r>
            </a:p>
          </p:txBody>
        </p:sp>
        <p:grpSp>
          <p:nvGrpSpPr>
            <p:cNvPr id="70" name="Group 70"/>
            <p:cNvGrpSpPr/>
            <p:nvPr/>
          </p:nvGrpSpPr>
          <p:grpSpPr>
            <a:xfrm>
              <a:off x="8162925" y="4152900"/>
              <a:ext cx="142875" cy="152400"/>
              <a:chOff x="8162925" y="4152900"/>
              <a:chExt cx="142875" cy="15240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8162925" y="42672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162925" y="41529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58175" y="41529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181975" y="4191000"/>
                <a:ext cx="95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201025" y="4219575"/>
                <a:ext cx="7620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66675">
                    <a:moveTo>
                      <a:pt x="0" y="66675"/>
                    </a:moveTo>
                    <a:lnTo>
                      <a:pt x="57150" y="66675"/>
                    </a:lnTo>
                    <a:cubicBezTo>
                      <a:pt x="67671" y="66675"/>
                      <a:pt x="76200" y="58146"/>
                      <a:pt x="76200" y="47625"/>
                    </a:cubicBez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48650" y="4219575"/>
                <a:ext cx="5715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28575">
                    <a:moveTo>
                      <a:pt x="0" y="28575"/>
                    </a:moveTo>
                    <a:lnTo>
                      <a:pt x="28575" y="0"/>
                    </a:lnTo>
                    <a:lnTo>
                      <a:pt x="57150" y="2857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8489823" y="4148614"/>
              <a:ext cx="1554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哪条 Branch 受影响</a:t>
              </a:r>
            </a:p>
          </p:txBody>
        </p:sp>
        <p:grpSp>
          <p:nvGrpSpPr>
            <p:cNvPr id="74" name="Group 74"/>
            <p:cNvGrpSpPr/>
            <p:nvPr/>
          </p:nvGrpSpPr>
          <p:grpSpPr>
            <a:xfrm>
              <a:off x="8172450" y="4638675"/>
              <a:ext cx="114300" cy="133350"/>
              <a:chOff x="8172450" y="4638675"/>
              <a:chExt cx="114300" cy="133350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8172450" y="4638675"/>
                <a:ext cx="381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28575" y="0"/>
                    </a:lnTo>
                    <a:cubicBezTo>
                      <a:pt x="33836" y="0"/>
                      <a:pt x="38100" y="4264"/>
                      <a:pt x="38100" y="9525"/>
                    </a:cubicBezTo>
                    <a:lnTo>
                      <a:pt x="38100" y="123825"/>
                    </a:lnTo>
                    <a:cubicBezTo>
                      <a:pt x="38100" y="129086"/>
                      <a:pt x="33836" y="133350"/>
                      <a:pt x="28575" y="133350"/>
                    </a:cubicBezTo>
                    <a:lnTo>
                      <a:pt x="9525" y="133350"/>
                    </a:lnTo>
                    <a:cubicBezTo>
                      <a:pt x="4264" y="133350"/>
                      <a:pt x="0" y="129086"/>
                      <a:pt x="0" y="12382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248650" y="4638675"/>
                <a:ext cx="381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3335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28575" y="0"/>
                    </a:lnTo>
                    <a:cubicBezTo>
                      <a:pt x="33836" y="0"/>
                      <a:pt x="38100" y="4264"/>
                      <a:pt x="38100" y="9525"/>
                    </a:cubicBezTo>
                    <a:lnTo>
                      <a:pt x="38100" y="123825"/>
                    </a:lnTo>
                    <a:cubicBezTo>
                      <a:pt x="38100" y="129086"/>
                      <a:pt x="33836" y="133350"/>
                      <a:pt x="28575" y="133350"/>
                    </a:cubicBezTo>
                    <a:lnTo>
                      <a:pt x="9525" y="133350"/>
                    </a:lnTo>
                    <a:cubicBezTo>
                      <a:pt x="4264" y="133350"/>
                      <a:pt x="0" y="129086"/>
                      <a:pt x="0" y="12382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8489823" y="462486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如何暂停、恢复或接管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115300" y="5048250"/>
              <a:ext cx="3276600" cy="323850"/>
            </a:xfrm>
            <a:prstGeom prst="roundRect">
              <a:avLst>
                <a:gd name="adj" fmla="val 17647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575677" y="5129689"/>
              <a:ext cx="23558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控制信息必须来自服务端事实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12019" y="5871643"/>
            <a:ext cx="6846360" cy="250360"/>
            <a:chOff x="512019" y="5871643"/>
            <a:chExt cx="6846360" cy="250360"/>
          </a:xfrm>
        </p:grpSpPr>
        <p:grpSp>
          <p:nvGrpSpPr>
            <p:cNvPr id="82" name="Group 82"/>
            <p:cNvGrpSpPr/>
            <p:nvPr/>
          </p:nvGrpSpPr>
          <p:grpSpPr>
            <a:xfrm>
              <a:off x="512019" y="5871643"/>
              <a:ext cx="176105" cy="151297"/>
              <a:chOff x="512019" y="5871643"/>
              <a:chExt cx="176105" cy="151297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600075" y="5926931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512019" y="5871643"/>
                <a:ext cx="176105" cy="151297"/>
              </a:xfrm>
              <a:custGeom>
                <a:avLst/>
                <a:gdLst/>
                <a:ahLst/>
                <a:cxnLst/>
                <a:rect l="l" t="t" r="r" b="b"/>
                <a:pathLst>
                  <a:path w="176105" h="151297">
                    <a:moveTo>
                      <a:pt x="73763" y="8061"/>
                    </a:moveTo>
                    <a:lnTo>
                      <a:pt x="2987" y="126230"/>
                    </a:lnTo>
                    <a:cubicBezTo>
                      <a:pt x="18" y="131371"/>
                      <a:pt x="0" y="137702"/>
                      <a:pt x="2939" y="142860"/>
                    </a:cubicBezTo>
                    <a:cubicBezTo>
                      <a:pt x="5879" y="148019"/>
                      <a:pt x="11335" y="151230"/>
                      <a:pt x="17271" y="151297"/>
                    </a:cubicBezTo>
                    <a:lnTo>
                      <a:pt x="158840" y="151297"/>
                    </a:lnTo>
                    <a:cubicBezTo>
                      <a:pt x="164774" y="151229"/>
                      <a:pt x="170227" y="148018"/>
                      <a:pt x="173166" y="142863"/>
                    </a:cubicBezTo>
                    <a:cubicBezTo>
                      <a:pt x="176105" y="137707"/>
                      <a:pt x="176089" y="131379"/>
                      <a:pt x="173124" y="126238"/>
                    </a:cubicBezTo>
                    <a:lnTo>
                      <a:pt x="102349" y="8052"/>
                    </a:lnTo>
                    <a:cubicBezTo>
                      <a:pt x="99320" y="3053"/>
                      <a:pt x="93900" y="0"/>
                      <a:pt x="88056" y="0"/>
                    </a:cubicBezTo>
                    <a:cubicBezTo>
                      <a:pt x="82211" y="0"/>
                      <a:pt x="76791" y="3053"/>
                      <a:pt x="73763" y="805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600075" y="5988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87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83" name="TextBox 83"/>
            <p:cNvSpPr txBox="1"/>
            <p:nvPr/>
          </p:nvSpPr>
          <p:spPr>
            <a:xfrm>
              <a:off x="812673" y="5872639"/>
              <a:ext cx="91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当前边界：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746123" y="5872639"/>
              <a:ext cx="56122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最多三轮只读 Control Loop；不是无限自治，也没有硬取消在途 HTTP。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86" name="TextBox 86"/>
            <p:cNvSpPr txBox="1"/>
            <p:nvPr/>
          </p:nvSpPr>
          <p:spPr>
            <a:xfrm>
              <a:off x="489966" y="6458902"/>
              <a:ext cx="69486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研究依据：Microsoft HAI Guidelines · Anthropic Context Engineering · LangGraph Persistence · ReAct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08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848720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Agent Control Loop：当前实现与缺口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63200" y="438150"/>
              <a:ext cx="13335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597286" y="519589"/>
              <a:ext cx="8653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769E0"/>
                  </a:solidFill>
                  <a:latin typeface="Segoe UI"/>
                  <a:ea typeface="Segoe UI"/>
                  <a:cs typeface="Segoe UI"/>
                </a:rPr>
                <a:t>07-16 P11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5300" y="1295400"/>
            <a:ext cx="3314700" cy="292037"/>
            <a:chOff x="495300" y="1295400"/>
            <a:chExt cx="3314700" cy="292037"/>
          </a:xfrm>
        </p:grpSpPr>
        <p:sp>
          <p:nvSpPr>
            <p:cNvPr id="9" name="Rectangle 9"/>
            <p:cNvSpPr/>
            <p:nvPr/>
          </p:nvSpPr>
          <p:spPr>
            <a:xfrm>
              <a:off x="495300" y="1295400"/>
              <a:ext cx="1028700" cy="285750"/>
            </a:xfrm>
            <a:prstGeom prst="roundRect">
              <a:avLst>
                <a:gd name="adj" fmla="val 20000"/>
              </a:avLst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80263" y="138207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当前真实实现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638300" y="1295400"/>
              <a:ext cx="1028700" cy="285750"/>
            </a:xfrm>
            <a:prstGeom prst="roundRect">
              <a:avLst>
                <a:gd name="adj" fmla="val 2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864614" y="13820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部分近似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781300" y="1295400"/>
              <a:ext cx="1028700" cy="285750"/>
            </a:xfrm>
            <a:prstGeom prst="roundRect">
              <a:avLst>
                <a:gd name="adj" fmla="val 20000"/>
              </a:avLst>
            </a:prstGeom>
            <a:solidFill>
              <a:srgbClr val="7C8A9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007614" y="13820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Segoe UI"/>
                  <a:ea typeface="Microsoft YaHei"/>
                  <a:cs typeface="Segoe UI"/>
                </a:rPr>
                <a:t>尚未实现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200150" y="1981200"/>
            <a:ext cx="9467850" cy="1181100"/>
            <a:chOff x="1200150" y="1981200"/>
            <a:chExt cx="9467850" cy="1181100"/>
          </a:xfrm>
        </p:grpSpPr>
        <p:sp>
          <p:nvSpPr>
            <p:cNvPr id="16" name="Freeform 16"/>
            <p:cNvSpPr/>
            <p:nvPr/>
          </p:nvSpPr>
          <p:spPr>
            <a:xfrm>
              <a:off x="1200150" y="2647950"/>
              <a:ext cx="8610600" cy="9525"/>
            </a:xfrm>
            <a:custGeom>
              <a:avLst/>
              <a:gdLst/>
              <a:ahLst/>
              <a:cxnLst/>
              <a:rect l="l" t="t" r="r" b="b"/>
              <a:pathLst>
                <a:path w="8610600" h="9525">
                  <a:moveTo>
                    <a:pt x="0" y="0"/>
                  </a:moveTo>
                  <a:lnTo>
                    <a:pt x="86106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CBD5DF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1219200" y="2133600"/>
              <a:ext cx="1028700" cy="10287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1590675" y="2419350"/>
              <a:ext cx="285751" cy="190500"/>
              <a:chOff x="1590675" y="2419350"/>
              <a:chExt cx="285751" cy="1905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701800" y="24828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1590675" y="2419350"/>
                <a:ext cx="285751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90500">
                    <a:moveTo>
                      <a:pt x="285751" y="95250"/>
                    </a:moveTo>
                    <a:cubicBezTo>
                      <a:pt x="247650" y="158750"/>
                      <a:pt x="200025" y="190500"/>
                      <a:pt x="142875" y="190500"/>
                    </a:cubicBezTo>
                    <a:cubicBezTo>
                      <a:pt x="85725" y="190500"/>
                      <a:pt x="38100" y="158750"/>
                      <a:pt x="0" y="95250"/>
                    </a:cubicBezTo>
                    <a:cubicBezTo>
                      <a:pt x="38100" y="31750"/>
                      <a:pt x="85725" y="0"/>
                      <a:pt x="142875" y="0"/>
                    </a:cubicBezTo>
                    <a:cubicBezTo>
                      <a:pt x="200025" y="0"/>
                      <a:pt x="247650" y="31750"/>
                      <a:pt x="285751" y="952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359171" y="2872264"/>
              <a:ext cx="7487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Segoe UI Semibold"/>
                  <a:ea typeface="Segoe UI Semibold"/>
                  <a:cs typeface="Segoe UI Semibold"/>
                </a:rPr>
                <a:t>Observe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3124200" y="2133600"/>
              <a:ext cx="1028700" cy="10287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3495675" y="2371725"/>
              <a:ext cx="285751" cy="285751"/>
              <a:chOff x="3495675" y="2371725"/>
              <a:chExt cx="285751" cy="285751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3495675" y="2593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3717926" y="2371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3527425" y="2403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3453869" y="2872264"/>
              <a:ext cx="369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Segoe UI Semibold"/>
                  <a:ea typeface="Segoe UI Semibold"/>
                  <a:cs typeface="Segoe UI Semibold"/>
                </a:rPr>
                <a:t>Plan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029200" y="2133600"/>
              <a:ext cx="1028700" cy="10287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416550" y="2387600"/>
              <a:ext cx="254001" cy="254001"/>
              <a:chOff x="5416550" y="2387600"/>
              <a:chExt cx="254001" cy="254001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442033" y="2419350"/>
                <a:ext cx="196768" cy="196768"/>
              </a:xfrm>
              <a:custGeom>
                <a:avLst/>
                <a:gdLst/>
                <a:ahLst/>
                <a:cxnLst/>
                <a:rect l="l" t="t" r="r" b="b"/>
                <a:pathLst>
                  <a:path w="196768" h="196768">
                    <a:moveTo>
                      <a:pt x="66354" y="0"/>
                    </a:moveTo>
                    <a:lnTo>
                      <a:pt x="196768" y="130413"/>
                    </a:lnTo>
                    <a:lnTo>
                      <a:pt x="164160" y="163021"/>
                    </a:lnTo>
                    <a:cubicBezTo>
                      <a:pt x="141022" y="187085"/>
                      <a:pt x="106687" y="196768"/>
                      <a:pt x="74386" y="188339"/>
                    </a:cubicBezTo>
                    <a:cubicBezTo>
                      <a:pt x="42084" y="179909"/>
                      <a:pt x="16858" y="154684"/>
                      <a:pt x="8429" y="122382"/>
                    </a:cubicBezTo>
                    <a:cubicBezTo>
                      <a:pt x="0" y="90081"/>
                      <a:pt x="9683" y="55745"/>
                      <a:pt x="33747" y="32607"/>
                    </a:cubicBezTo>
                    <a:lnTo>
                      <a:pt x="66354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416550" y="2586038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55563"/>
                    </a:moveTo>
                    <a:lnTo>
                      <a:pt x="55563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535613" y="2387600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55563" y="0"/>
                    </a:moveTo>
                    <a:lnTo>
                      <a:pt x="0" y="55563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614988" y="2466975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55563" y="0"/>
                    </a:moveTo>
                    <a:lnTo>
                      <a:pt x="0" y="55563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5385584" y="2872264"/>
              <a:ext cx="315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Segoe UI Semibold"/>
                  <a:ea typeface="Segoe UI Semibold"/>
                  <a:cs typeface="Segoe UI Semibold"/>
                </a:rPr>
                <a:t>Act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934200" y="2133600"/>
              <a:ext cx="1028700" cy="10287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284251" y="2371725"/>
              <a:ext cx="310011" cy="285751"/>
              <a:chOff x="7284251" y="2371725"/>
              <a:chExt cx="310011" cy="285751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284251" y="2371725"/>
                <a:ext cx="310011" cy="283306"/>
              </a:xfrm>
              <a:custGeom>
                <a:avLst/>
                <a:gdLst/>
                <a:ahLst/>
                <a:cxnLst/>
                <a:rect l="l" t="t" r="r" b="b"/>
                <a:pathLst>
                  <a:path w="310011" h="283306">
                    <a:moveTo>
                      <a:pt x="155727" y="283306"/>
                    </a:moveTo>
                    <a:cubicBezTo>
                      <a:pt x="56277" y="252479"/>
                      <a:pt x="0" y="147517"/>
                      <a:pt x="29362" y="47625"/>
                    </a:cubicBezTo>
                    <a:cubicBezTo>
                      <a:pt x="78821" y="49888"/>
                      <a:pt x="127218" y="32807"/>
                      <a:pt x="164299" y="0"/>
                    </a:cubicBezTo>
                    <a:cubicBezTo>
                      <a:pt x="201381" y="32807"/>
                      <a:pt x="249778" y="49888"/>
                      <a:pt x="299237" y="47625"/>
                    </a:cubicBezTo>
                    <a:cubicBezTo>
                      <a:pt x="310011" y="84282"/>
                      <a:pt x="309513" y="123332"/>
                      <a:pt x="297808" y="159703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496175" y="2593976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7164641" y="2872264"/>
              <a:ext cx="5678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Segoe UI Semibold"/>
                  <a:ea typeface="Segoe UI Semibold"/>
                  <a:cs typeface="Segoe UI Semibold"/>
                </a:rPr>
                <a:t>Verify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8839200" y="2133600"/>
              <a:ext cx="1028700" cy="10287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9226550" y="2403475"/>
              <a:ext cx="254000" cy="222250"/>
              <a:chOff x="9226550" y="2403475"/>
              <a:chExt cx="254000" cy="22225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9321800" y="2403475"/>
                <a:ext cx="158750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22250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127000" y="0"/>
                    </a:lnTo>
                    <a:cubicBezTo>
                      <a:pt x="144535" y="0"/>
                      <a:pt x="158750" y="14215"/>
                      <a:pt x="158750" y="31750"/>
                    </a:cubicBezTo>
                    <a:lnTo>
                      <a:pt x="158750" y="190500"/>
                    </a:lnTo>
                    <a:cubicBezTo>
                      <a:pt x="158750" y="208035"/>
                      <a:pt x="144535" y="222250"/>
                      <a:pt x="127000" y="222250"/>
                    </a:cubicBezTo>
                    <a:lnTo>
                      <a:pt x="31750" y="222250"/>
                    </a:lnTo>
                    <a:cubicBezTo>
                      <a:pt x="14215" y="222250"/>
                      <a:pt x="0" y="208035"/>
                      <a:pt x="0" y="19050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274175" y="2435225"/>
                <a:ext cx="9525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8750">
                    <a:moveTo>
                      <a:pt x="0" y="0"/>
                    </a:moveTo>
                    <a:lnTo>
                      <a:pt x="0" y="15875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226550" y="2451100"/>
                <a:ext cx="95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7000">
                    <a:moveTo>
                      <a:pt x="0" y="0"/>
                    </a:moveTo>
                    <a:lnTo>
                      <a:pt x="0" y="12700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033256" y="2872264"/>
              <a:ext cx="6405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Segoe UI Semibold"/>
                  <a:ea typeface="Segoe UI Semibold"/>
                  <a:cs typeface="Segoe UI Semibold"/>
                </a:rPr>
                <a:t>Commit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1733550" y="1981200"/>
              <a:ext cx="8934450" cy="666750"/>
            </a:xfrm>
            <a:custGeom>
              <a:avLst/>
              <a:gdLst/>
              <a:ahLst/>
              <a:cxnLst/>
              <a:rect l="l" t="t" r="r" b="b"/>
              <a:pathLst>
                <a:path w="8934450" h="666750">
                  <a:moveTo>
                    <a:pt x="8134350" y="666750"/>
                  </a:moveTo>
                  <a:lnTo>
                    <a:pt x="8934450" y="666750"/>
                  </a:lnTo>
                  <a:lnTo>
                    <a:pt x="8934450" y="0"/>
                  </a:lnTo>
                  <a:lnTo>
                    <a:pt x="0" y="0"/>
                  </a:lnTo>
                </a:path>
              </a:pathLst>
            </a:custGeom>
            <a:noFill/>
            <a:ln w="28575">
              <a:solidFill>
                <a:srgbClr val="D97706"/>
              </a:solidFill>
              <a:custDash>
                <a:ds d="266666" sp="200000"/>
              </a:custDash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075164" y="22869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最多三轮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495300" y="3600450"/>
            <a:ext cx="11248858" cy="1885950"/>
            <a:chOff x="495300" y="3600450"/>
            <a:chExt cx="11248858" cy="1885950"/>
          </a:xfrm>
        </p:grpSpPr>
        <p:sp>
          <p:nvSpPr>
            <p:cNvPr id="49" name="Rectangle 49"/>
            <p:cNvSpPr/>
            <p:nvPr/>
          </p:nvSpPr>
          <p:spPr>
            <a:xfrm>
              <a:off x="495300" y="3600450"/>
              <a:ext cx="11201400" cy="188595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4756" y="37490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外围控制与状态</a:t>
              </a:r>
            </a:p>
          </p:txBody>
        </p:sp>
        <p:sp>
          <p:nvSpPr>
            <p:cNvPr id="51" name="Freeform 51"/>
            <p:cNvSpPr/>
            <p:nvPr/>
          </p:nvSpPr>
          <p:spPr>
            <a:xfrm>
              <a:off x="723900" y="4171950"/>
              <a:ext cx="10744200" cy="1123950"/>
            </a:xfrm>
            <a:custGeom>
              <a:avLst/>
              <a:gdLst/>
              <a:ahLst/>
              <a:cxnLst/>
              <a:rect l="l" t="t" r="r" b="b"/>
              <a:pathLst>
                <a:path w="10744200" h="1123950">
                  <a:moveTo>
                    <a:pt x="0" y="0"/>
                  </a:moveTo>
                  <a:lnTo>
                    <a:pt x="10744200" y="0"/>
                  </a:lnTo>
                  <a:moveTo>
                    <a:pt x="1790700" y="0"/>
                  </a:moveTo>
                  <a:lnTo>
                    <a:pt x="1790700" y="1123950"/>
                  </a:lnTo>
                  <a:moveTo>
                    <a:pt x="3581400" y="0"/>
                  </a:moveTo>
                  <a:lnTo>
                    <a:pt x="3581400" y="1123950"/>
                  </a:lnTo>
                  <a:moveTo>
                    <a:pt x="5372100" y="0"/>
                  </a:moveTo>
                  <a:lnTo>
                    <a:pt x="5372100" y="1123950"/>
                  </a:lnTo>
                  <a:moveTo>
                    <a:pt x="7162800" y="0"/>
                  </a:moveTo>
                  <a:lnTo>
                    <a:pt x="7162800" y="1123950"/>
                  </a:lnTo>
                  <a:moveTo>
                    <a:pt x="8953500" y="0"/>
                  </a:moveTo>
                  <a:lnTo>
                    <a:pt x="8953500" y="112395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E3E8ED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50773" y="4358164"/>
              <a:ext cx="12682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Task Contract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1916" y="4725352"/>
              <a:ext cx="1360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当前：目标/范围冻结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641473" y="4358164"/>
              <a:ext cx="12227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Evidence Gate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2642616" y="4725352"/>
              <a:ext cx="12377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当前：Branch 级门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32173" y="4358164"/>
              <a:ext cx="1225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Budget &amp; Stop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433316" y="4725352"/>
              <a:ext cx="14383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部分：轮次/调用/期限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22873" y="4358164"/>
              <a:ext cx="12250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Steer / Pause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24016" y="4725352"/>
              <a:ext cx="18185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部分：安全点；无 Takeover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13573" y="4358164"/>
              <a:ext cx="12227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Durable State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014716" y="4725352"/>
              <a:ext cx="16087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B54708"/>
                  </a:solidFill>
                  <a:latin typeface="Segoe UI"/>
                  <a:ea typeface="Microsoft YaHei"/>
                  <a:cs typeface="Segoe UI"/>
                </a:rPr>
                <a:t>部分：可选 PG 重启恢复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804273" y="4358164"/>
              <a:ext cx="5141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Trace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805416" y="4725352"/>
              <a:ext cx="19387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当前：named SSE + Snapshot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86156" y="5711190"/>
            <a:ext cx="7014972" cy="572071"/>
            <a:chOff x="486156" y="5711190"/>
            <a:chExt cx="7014972" cy="572071"/>
          </a:xfrm>
        </p:grpSpPr>
        <p:sp>
          <p:nvSpPr>
            <p:cNvPr id="65" name="TextBox 65"/>
            <p:cNvSpPr txBox="1"/>
            <p:nvPr/>
          </p:nvSpPr>
          <p:spPr>
            <a:xfrm>
              <a:off x="486156" y="57111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当前本质：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667256" y="5711190"/>
              <a:ext cx="58338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有反馈与恢复的只读办公任务纵切，不是完整执行器。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89966" y="6077902"/>
              <a:ext cx="44278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历史“约 30%”只属于早期架构审计基线，不是当前覆盖率或模型质量。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69" name="TextBox 69"/>
            <p:cNvSpPr txBox="1"/>
            <p:nvPr/>
          </p:nvSpPr>
          <p:spPr>
            <a:xfrm>
              <a:off x="489966" y="6458902"/>
              <a:ext cx="67824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线上运行时参照：LangGraph Persistence · OpenAI Agents SDK Human-in-the-loop · A2A Task States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09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783762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六个办公场景，共用同一条治理主线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661142" y="519589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场景地图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33400" y="1504950"/>
            <a:ext cx="6844741" cy="4436078"/>
            <a:chOff x="533400" y="1504950"/>
            <a:chExt cx="6844741" cy="4436078"/>
          </a:xfrm>
        </p:grpSpPr>
        <p:sp>
          <p:nvSpPr>
            <p:cNvPr id="9" name="Freeform 9"/>
            <p:cNvSpPr/>
            <p:nvPr/>
          </p:nvSpPr>
          <p:spPr>
            <a:xfrm>
              <a:off x="742950" y="1504950"/>
              <a:ext cx="9525" cy="4152900"/>
            </a:xfrm>
            <a:custGeom>
              <a:avLst/>
              <a:gdLst/>
              <a:ahLst/>
              <a:cxnLst/>
              <a:rect l="l" t="t" r="r" b="b"/>
              <a:pathLst>
                <a:path w="9525" h="4152900">
                  <a:moveTo>
                    <a:pt x="0" y="0"/>
                  </a:moveTo>
                  <a:lnTo>
                    <a:pt x="0" y="415290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CBD5DF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600200"/>
              <a:ext cx="419100" cy="4191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86912" y="1738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14806" y="1558290"/>
              <a:ext cx="2451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TC-01 入职资产匹配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17473" y="1881664"/>
              <a:ext cx="59517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产物：资产匹配表 人工门：业务规则复核 边界：引用定位问题不等于成果失败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362200"/>
              <a:ext cx="419100" cy="4191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86912" y="2500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14806" y="2320290"/>
              <a:ext cx="218239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TC-05 三期往来款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17473" y="2643664"/>
              <a:ext cx="51879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产物：未收/未付统计 人工门：僵尸账款判断 边界：不核销、不记账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1242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6912" y="3262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14806" y="3082290"/>
              <a:ext cx="27200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TC-06 双岗位招聘筛选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17473" y="3405664"/>
              <a:ext cx="5436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产物：候选建议与依据 人工门：招聘负责人决定 边界：未录用、未淘汰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886200"/>
              <a:ext cx="419100" cy="4191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86912" y="4024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14806" y="3844290"/>
              <a:ext cx="2451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TC-07 授权文件风控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7473" y="4167664"/>
              <a:ext cx="5265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产物：规则台账与风险候选 人工门：法务复核 边界：不代表法律意见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33400" y="4648200"/>
              <a:ext cx="419100" cy="4191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86912" y="4786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14806" y="4606290"/>
              <a:ext cx="2451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TC-10 合规外呼流程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7473" y="4929664"/>
              <a:ext cx="62606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产物：流程图与 DOCX 人工门：执行批准 边界：不拨号、不写 CRM、不发短信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33400" y="5410200"/>
              <a:ext cx="419100" cy="4191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6912" y="5548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4806" y="5368290"/>
              <a:ext cx="4306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TC-14 / TC-15 冲突诊断与说明对账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17473" y="5691664"/>
              <a:ext cx="58058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产物：条件式提案 / 排序成果 人工门：复核权威顺序 边界：不静默覆盖冲突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839200" y="1504950"/>
            <a:ext cx="2857500" cy="4324350"/>
            <a:chOff x="8839200" y="1504950"/>
            <a:chExt cx="2857500" cy="4324350"/>
          </a:xfrm>
        </p:grpSpPr>
        <p:sp>
          <p:nvSpPr>
            <p:cNvPr id="35" name="Rectangle 35"/>
            <p:cNvSpPr/>
            <p:nvPr/>
          </p:nvSpPr>
          <p:spPr>
            <a:xfrm>
              <a:off x="8839200" y="1504950"/>
              <a:ext cx="2857500" cy="4324350"/>
            </a:xfrm>
            <a:prstGeom prst="roundRect">
              <a:avLst>
                <a:gd name="adj" fmla="val 2000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14282" y="1716405"/>
              <a:ext cx="180235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同一治理主线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115806" y="2263140"/>
              <a:ext cx="7434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1 触发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18473" y="258651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用户只说业务目标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15806" y="3006090"/>
              <a:ext cx="7434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2 路径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18473" y="332946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来源、计划、成果、验证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15806" y="3749040"/>
              <a:ext cx="7434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3 停顿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18473" y="4072414"/>
              <a:ext cx="138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只暂停受影响部分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115806" y="4491990"/>
              <a:ext cx="7434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4 输出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118473" y="481536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成果、依据、决定、边界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118473" y="5291614"/>
              <a:ext cx="16349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每个场景都可被反证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47" name="TextBox 47"/>
            <p:cNvSpPr txBox="1"/>
            <p:nvPr/>
          </p:nvSpPr>
          <p:spPr>
            <a:xfrm>
              <a:off x="489966" y="6458902"/>
              <a:ext cx="64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场景设计依据：Microsoft HAI Guidelines · W3C PROV-O · OpenAI Agents SDK Human-in-the-loop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10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918099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TC-01：成果正确，不等于引用定位完整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89502" y="519589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用户反馈驱动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5300" y="1428750"/>
            <a:ext cx="4016121" cy="4343400"/>
            <a:chOff x="495300" y="1428750"/>
            <a:chExt cx="4016121" cy="4343400"/>
          </a:xfrm>
        </p:grpSpPr>
        <p:sp>
          <p:nvSpPr>
            <p:cNvPr id="9" name="Rectangle 9"/>
            <p:cNvSpPr/>
            <p:nvPr/>
          </p:nvSpPr>
          <p:spPr>
            <a:xfrm>
              <a:off x="495300" y="1428750"/>
              <a:ext cx="3429000" cy="4343400"/>
            </a:xfrm>
            <a:prstGeom prst="roundRect">
              <a:avLst>
                <a:gd name="adj" fmla="val 166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6656" y="1558290"/>
              <a:ext cx="383476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C0362C"/>
                  </a:solidFill>
                  <a:latin typeface="Segoe UI Semibold"/>
                  <a:ea typeface="Microsoft YaHei"/>
                  <a:cs typeface="Segoe UI Semibold"/>
                </a:rPr>
                <a:t>旧体验：成果与审计缺口混在一起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2169953"/>
              <a:ext cx="3124200" cy="2899094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680466" y="541115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用户反馈样本，非正式目标用户研究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152900" y="1428750"/>
            <a:ext cx="5059871" cy="4343400"/>
            <a:chOff x="4152900" y="1428750"/>
            <a:chExt cx="5059871" cy="4343400"/>
          </a:xfrm>
        </p:grpSpPr>
        <p:sp>
          <p:nvSpPr>
            <p:cNvPr id="14" name="Rectangle 14"/>
            <p:cNvSpPr/>
            <p:nvPr/>
          </p:nvSpPr>
          <p:spPr>
            <a:xfrm>
              <a:off x="4152900" y="1428750"/>
              <a:ext cx="4686300" cy="4343400"/>
            </a:xfrm>
            <a:prstGeom prst="roundRect">
              <a:avLst>
                <a:gd name="adj" fmla="val 131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372356" y="1558290"/>
              <a:ext cx="2308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现在把三个事实拆开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75023" y="19769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触发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08423" y="1976914"/>
              <a:ext cx="35401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根据时间表和规则生成 3/20-4/20 资产匹配表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75023" y="23388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路径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08423" y="2338864"/>
              <a:ext cx="3893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读取两份资料 → 生成 CSV → 文件检查 → 证据定位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75023" y="27008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成果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08423" y="270081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日期与资产表可通过确定性文件检查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75023" y="30627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停顿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908423" y="3062764"/>
              <a:ext cx="40207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同一逐字 quote 多次出现，无法唯一映射到原文位置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381500" y="3486150"/>
              <a:ext cx="4229100" cy="781050"/>
            </a:xfrm>
            <a:prstGeom prst="roundRect">
              <a:avLst>
                <a:gd name="adj" fmla="val 731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5523" y="3615214"/>
              <a:ext cx="25540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“缺一份引用”到底是什么意思？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65523" y="3900964"/>
              <a:ext cx="46472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缺的是唯一可回开的定位，不是缺源文件，也不是日期算错。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75023" y="44915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前台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08423" y="4491514"/>
              <a:ext cx="34457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成果置顶；同源缺口合并；只决定受影响定位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75023" y="48534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08423" y="4853464"/>
              <a:ext cx="39472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Artifact/Effect 与 Resolution/Branch 分开负责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375023" y="52154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边界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08423" y="521541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用户仍需复核资产规则与特殊备注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067800" y="1428750"/>
            <a:ext cx="2628900" cy="4343400"/>
            <a:chOff x="9067800" y="1428750"/>
            <a:chExt cx="2628900" cy="4343400"/>
          </a:xfrm>
        </p:grpSpPr>
        <p:sp>
          <p:nvSpPr>
            <p:cNvPr id="34" name="Rectangle 34"/>
            <p:cNvSpPr/>
            <p:nvPr/>
          </p:nvSpPr>
          <p:spPr>
            <a:xfrm>
              <a:off x="9067800" y="1428750"/>
              <a:ext cx="2628900" cy="4343400"/>
            </a:xfrm>
            <a:prstGeom prst="roundRect">
              <a:avLst>
                <a:gd name="adj" fmla="val 2174"/>
              </a:avLst>
            </a:prstGeom>
            <a:solidFill>
              <a:srgbClr val="FFFFFF"/>
            </a:solidFill>
            <a:ln w="19050">
              <a:solidFill>
                <a:srgbClr val="2E7D3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49156" y="155829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现在：成果优先</a:t>
              </a:r>
            </a:p>
          </p:txBody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00223" y="1962150"/>
              <a:ext cx="1564055" cy="3333750"/>
            </a:xfrm>
            <a:prstGeom prst="rect">
              <a:avLst/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9252966" y="54111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当前系统实测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39" name="TextBox 39"/>
            <p:cNvSpPr txBox="1"/>
            <p:nvPr/>
          </p:nvSpPr>
          <p:spPr>
            <a:xfrm>
              <a:off x="489966" y="6458902"/>
              <a:ext cx="63274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设计依据：Anthropic Citations · Microsoft HAI Guidelines；截图只证明当前系统渲染与运行事实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11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1021152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TC-05：三份输入，不等于三期各出一份结果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661142" y="519589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语义说明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84632" y="1240155"/>
            <a:ext cx="10831068" cy="1179195"/>
            <a:chOff x="484632" y="1240155"/>
            <a:chExt cx="10831068" cy="1179195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40155"/>
              <a:ext cx="20991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输入：三个期间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495300" y="1714500"/>
              <a:ext cx="2476500" cy="704850"/>
            </a:xfrm>
            <a:prstGeom prst="roundRect">
              <a:avLst>
                <a:gd name="adj" fmla="val 8108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41363" y="1947863"/>
              <a:ext cx="155575" cy="200026"/>
              <a:chOff x="741363" y="1947863"/>
              <a:chExt cx="155575" cy="20002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41375" y="1947863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41363" y="1947863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4700" y="2036763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77788"/>
                    </a:lnTo>
                    <a:lnTo>
                      <a:pt x="0" y="77788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74700" y="2081213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08038" y="2036763"/>
                <a:ext cx="9525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7788">
                    <a:moveTo>
                      <a:pt x="0" y="0"/>
                    </a:moveTo>
                    <a:lnTo>
                      <a:pt x="0" y="7778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79373" y="2005489"/>
              <a:ext cx="1364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2025 上半年明细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162300" y="1714500"/>
              <a:ext cx="2476500" cy="704850"/>
            </a:xfrm>
            <a:prstGeom prst="roundRect">
              <a:avLst>
                <a:gd name="adj" fmla="val 8108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408363" y="1947863"/>
              <a:ext cx="155575" cy="200026"/>
              <a:chOff x="3408363" y="1947863"/>
              <a:chExt cx="155575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508375" y="1947863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408363" y="1947863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441700" y="2036763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77788"/>
                    </a:lnTo>
                    <a:lnTo>
                      <a:pt x="0" y="77788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441700" y="2081213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475038" y="2036763"/>
                <a:ext cx="9525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7788">
                    <a:moveTo>
                      <a:pt x="0" y="0"/>
                    </a:moveTo>
                    <a:lnTo>
                      <a:pt x="0" y="7778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3746373" y="2005489"/>
              <a:ext cx="1364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2025 下半年明细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829300" y="1714500"/>
              <a:ext cx="2476500" cy="704850"/>
            </a:xfrm>
            <a:prstGeom prst="roundRect">
              <a:avLst>
                <a:gd name="adj" fmla="val 8108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075363" y="1947863"/>
              <a:ext cx="155575" cy="200026"/>
              <a:chOff x="6075363" y="1947863"/>
              <a:chExt cx="155575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175375" y="1947863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075363" y="1947863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108700" y="2036763"/>
                <a:ext cx="88900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77788">
                    <a:moveTo>
                      <a:pt x="0" y="0"/>
                    </a:moveTo>
                    <a:lnTo>
                      <a:pt x="88900" y="0"/>
                    </a:lnTo>
                    <a:lnTo>
                      <a:pt x="88900" y="77788"/>
                    </a:lnTo>
                    <a:lnTo>
                      <a:pt x="0" y="77788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108700" y="2081213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142038" y="2036763"/>
                <a:ext cx="9525" cy="7778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7788">
                    <a:moveTo>
                      <a:pt x="0" y="0"/>
                    </a:moveTo>
                    <a:lnTo>
                      <a:pt x="0" y="77788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6413373" y="2005489"/>
              <a:ext cx="11844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2026 期初明细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8496300" y="2066925"/>
              <a:ext cx="2819400" cy="9525"/>
            </a:xfrm>
            <a:custGeom>
              <a:avLst/>
              <a:gdLst/>
              <a:ahLst/>
              <a:cxnLst/>
              <a:rect l="l" t="t" r="r" b="b"/>
              <a:pathLst>
                <a:path w="2819400" h="9525">
                  <a:moveTo>
                    <a:pt x="0" y="0"/>
                  </a:moveTo>
                  <a:lnTo>
                    <a:pt x="28194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1769E0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1125200" y="1952625"/>
              <a:ext cx="190500" cy="228600"/>
            </a:xfrm>
            <a:custGeom>
              <a:avLst/>
              <a:gdLst/>
              <a:ahLst/>
              <a:cxnLst/>
              <a:rect l="l" t="t" r="r" b="b"/>
              <a:pathLst>
                <a:path w="190500" h="228600">
                  <a:moveTo>
                    <a:pt x="190500" y="114300"/>
                  </a:move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1769E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908299" y="1786414"/>
              <a:ext cx="19954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按不同目的生成三份成果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495300" y="2895600"/>
            <a:ext cx="11201400" cy="2209800"/>
            <a:chOff x="495300" y="2895600"/>
            <a:chExt cx="11201400" cy="2209800"/>
          </a:xfrm>
        </p:grpSpPr>
        <p:sp>
          <p:nvSpPr>
            <p:cNvPr id="38" name="Rectangle 38"/>
            <p:cNvSpPr/>
            <p:nvPr/>
          </p:nvSpPr>
          <p:spPr>
            <a:xfrm>
              <a:off x="495300" y="2895600"/>
              <a:ext cx="3429000" cy="2209800"/>
            </a:xfrm>
            <a:prstGeom prst="roundRect">
              <a:avLst>
                <a:gd name="adj" fmla="val 258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87400" y="3162300"/>
              <a:ext cx="177800" cy="228599"/>
              <a:chOff x="787400" y="3162300"/>
              <a:chExt cx="177800" cy="228599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901700" y="31623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0" y="50800"/>
                    </a:lnTo>
                    <a:cubicBezTo>
                      <a:pt x="0" y="57814"/>
                      <a:pt x="5686" y="63500"/>
                      <a:pt x="12700" y="63500"/>
                    </a:cubicBezTo>
                    <a:lnTo>
                      <a:pt x="63500" y="6350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87400" y="3162300"/>
                <a:ext cx="177800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28599">
                    <a:moveTo>
                      <a:pt x="152400" y="228599"/>
                    </a:moveTo>
                    <a:lnTo>
                      <a:pt x="25400" y="228599"/>
                    </a:lnTo>
                    <a:cubicBezTo>
                      <a:pt x="11372" y="228599"/>
                      <a:pt x="0" y="217227"/>
                      <a:pt x="0" y="203199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14300" y="0"/>
                    </a:lnTo>
                    <a:lnTo>
                      <a:pt x="177800" y="63500"/>
                    </a:lnTo>
                    <a:lnTo>
                      <a:pt x="177800" y="203199"/>
                    </a:lnTo>
                    <a:cubicBezTo>
                      <a:pt x="177800" y="217227"/>
                      <a:pt x="166428" y="228599"/>
                      <a:pt x="152400" y="228599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25500" y="3263900"/>
                <a:ext cx="1016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889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88900"/>
                    </a:lnTo>
                    <a:lnTo>
                      <a:pt x="0" y="889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5500" y="3314700"/>
                <a:ext cx="101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9525">
                    <a:moveTo>
                      <a:pt x="0" y="0"/>
                    </a:moveTo>
                    <a:lnTo>
                      <a:pt x="1016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63600" y="3263900"/>
                <a:ext cx="952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8900">
                    <a:moveTo>
                      <a:pt x="0" y="0"/>
                    </a:moveTo>
                    <a:lnTo>
                      <a:pt x="0" y="8890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170432" y="3145155"/>
              <a:ext cx="186172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未付统计.csv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7423" y="3672364"/>
              <a:ext cx="1351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只看最新 2026 期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7423" y="397716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提取正数贷方期末余额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6374" y="4294822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769E0"/>
                  </a:solidFill>
                  <a:latin typeface="Segoe UI Semibold"/>
                  <a:ea typeface="Segoe UI Semibold"/>
                  <a:cs typeface="Segoe UI Semibold"/>
                </a:rPr>
                <a:t>31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327023" y="4529614"/>
              <a:ext cx="14118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条 · 当前固定来源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152900" y="2895600"/>
              <a:ext cx="3429000" cy="2209800"/>
            </a:xfrm>
            <a:prstGeom prst="roundRect">
              <a:avLst>
                <a:gd name="adj" fmla="val 2586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4445000" y="3162300"/>
              <a:ext cx="177800" cy="228599"/>
              <a:chOff x="4445000" y="3162300"/>
              <a:chExt cx="177800" cy="228599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559300" y="31623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0" y="50800"/>
                    </a:lnTo>
                    <a:cubicBezTo>
                      <a:pt x="0" y="57814"/>
                      <a:pt x="5686" y="63500"/>
                      <a:pt x="12700" y="63500"/>
                    </a:cubicBezTo>
                    <a:lnTo>
                      <a:pt x="63500" y="6350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4445000" y="3162300"/>
                <a:ext cx="177800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28599">
                    <a:moveTo>
                      <a:pt x="152400" y="228599"/>
                    </a:moveTo>
                    <a:lnTo>
                      <a:pt x="25400" y="228599"/>
                    </a:lnTo>
                    <a:cubicBezTo>
                      <a:pt x="11372" y="228599"/>
                      <a:pt x="0" y="217227"/>
                      <a:pt x="0" y="203199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14300" y="0"/>
                    </a:lnTo>
                    <a:lnTo>
                      <a:pt x="177800" y="63500"/>
                    </a:lnTo>
                    <a:lnTo>
                      <a:pt x="177800" y="203199"/>
                    </a:lnTo>
                    <a:cubicBezTo>
                      <a:pt x="177800" y="217227"/>
                      <a:pt x="166428" y="228599"/>
                      <a:pt x="152400" y="228599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4483100" y="3263900"/>
                <a:ext cx="1016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88900">
                    <a:moveTo>
                      <a:pt x="0" y="0"/>
                    </a:moveTo>
                    <a:lnTo>
                      <a:pt x="101600" y="0"/>
                    </a:lnTo>
                    <a:lnTo>
                      <a:pt x="101600" y="88900"/>
                    </a:lnTo>
                    <a:lnTo>
                      <a:pt x="0" y="8890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4483100" y="3314700"/>
                <a:ext cx="101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9525">
                    <a:moveTo>
                      <a:pt x="0" y="0"/>
                    </a:moveTo>
                    <a:lnTo>
                      <a:pt x="10160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521200" y="3263900"/>
                <a:ext cx="952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8900">
                    <a:moveTo>
                      <a:pt x="0" y="0"/>
                    </a:moveTo>
                    <a:lnTo>
                      <a:pt x="0" y="8890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4828032" y="3145155"/>
              <a:ext cx="186172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未收统计.csv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375023" y="3672364"/>
              <a:ext cx="13517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只看最新 2026 期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375023" y="3977164"/>
              <a:ext cx="1729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提取正数借方期末余额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363974" y="4294822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1769E0"/>
                  </a:solidFill>
                  <a:latin typeface="Segoe UI Semibold"/>
                  <a:ea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4794123" y="4529614"/>
              <a:ext cx="14118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条 · 当前固定来源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810500" y="2895600"/>
              <a:ext cx="3886200" cy="2209800"/>
            </a:xfrm>
            <a:prstGeom prst="roundRect">
              <a:avLst>
                <a:gd name="adj" fmla="val 2586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8102600" y="3162300"/>
              <a:ext cx="177800" cy="228599"/>
              <a:chOff x="8102600" y="3162300"/>
              <a:chExt cx="177800" cy="228599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8216900" y="31623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0" y="50800"/>
                    </a:lnTo>
                    <a:cubicBezTo>
                      <a:pt x="0" y="57814"/>
                      <a:pt x="5686" y="63500"/>
                      <a:pt x="12700" y="63500"/>
                    </a:cubicBezTo>
                    <a:lnTo>
                      <a:pt x="63500" y="6350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102600" y="3162300"/>
                <a:ext cx="177800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28599">
                    <a:moveTo>
                      <a:pt x="152400" y="228599"/>
                    </a:moveTo>
                    <a:lnTo>
                      <a:pt x="25400" y="228599"/>
                    </a:lnTo>
                    <a:cubicBezTo>
                      <a:pt x="11372" y="228599"/>
                      <a:pt x="0" y="217227"/>
                      <a:pt x="0" y="203199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14300" y="0"/>
                    </a:lnTo>
                    <a:lnTo>
                      <a:pt x="177800" y="63500"/>
                    </a:lnTo>
                    <a:lnTo>
                      <a:pt x="177800" y="203199"/>
                    </a:lnTo>
                    <a:cubicBezTo>
                      <a:pt x="177800" y="217227"/>
                      <a:pt x="166428" y="228599"/>
                      <a:pt x="152400" y="228599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153400" y="3238500"/>
                <a:ext cx="127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9525">
                    <a:moveTo>
                      <a:pt x="0" y="0"/>
                    </a:moveTo>
                    <a:lnTo>
                      <a:pt x="1270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153400" y="328930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153400" y="3340099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8485632" y="3145155"/>
              <a:ext cx="235150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跨期核对说明.md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032623" y="3672364"/>
              <a:ext cx="1901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这份文件才比较三个期间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32623" y="3977164"/>
              <a:ext cx="31282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同一科目 + 客商的借方余额是否连续不变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21574" y="4294822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450" b="1" dirty="0">
                  <a:solidFill>
                    <a:srgbClr val="D97706"/>
                  </a:solidFill>
                  <a:latin typeface="Segoe UI Semibold"/>
                  <a:ea typeface="Segoe UI Semibold"/>
                  <a:cs typeface="Segoe UI Semibold"/>
                </a:rPr>
                <a:t>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51723" y="4529614"/>
              <a:ext cx="20983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条风险候选 · 仍需财务复核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495300" y="5429250"/>
            <a:ext cx="11201400" cy="666750"/>
            <a:chOff x="495300" y="5429250"/>
            <a:chExt cx="11201400" cy="666750"/>
          </a:xfrm>
        </p:grpSpPr>
        <p:sp>
          <p:nvSpPr>
            <p:cNvPr id="75" name="Rectangle 75"/>
            <p:cNvSpPr/>
            <p:nvPr/>
          </p:nvSpPr>
          <p:spPr>
            <a:xfrm>
              <a:off x="495300" y="5429250"/>
              <a:ext cx="11201400" cy="666750"/>
            </a:xfrm>
            <a:prstGeom prst="roundRect">
              <a:avLst>
                <a:gd name="adj" fmla="val 8571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714756" y="5520690"/>
              <a:ext cx="41146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前台必须先解释“每份成果代表什么”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17423" y="5844064"/>
              <a:ext cx="67069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统计完成不等于僵尸账款定论；系统未付款、未核销、未记账，也不替代会计政策判断。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79" name="TextBox 79"/>
            <p:cNvSpPr txBox="1"/>
            <p:nvPr/>
          </p:nvSpPr>
          <p:spPr>
            <a:xfrm>
              <a:off x="489966" y="6458902"/>
              <a:ext cx="44445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当前系统实测；交互依据：Microsoft HAI Guidelines · W3C PROV-O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12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101599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TC-06 / TC-07：高影响判断必须保留人工门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210800" y="438150"/>
              <a:ext cx="14859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32352" y="519589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人机责任分层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95300" y="1390650"/>
            <a:ext cx="5334000" cy="4267200"/>
            <a:chOff x="495300" y="1390650"/>
            <a:chExt cx="5334000" cy="4267200"/>
          </a:xfrm>
        </p:grpSpPr>
        <p:sp>
          <p:nvSpPr>
            <p:cNvPr id="9" name="Rectangle 9"/>
            <p:cNvSpPr/>
            <p:nvPr/>
          </p:nvSpPr>
          <p:spPr>
            <a:xfrm>
              <a:off x="495300" y="1390650"/>
              <a:ext cx="5334000" cy="4267200"/>
            </a:xfrm>
            <a:prstGeom prst="roundRect">
              <a:avLst>
                <a:gd name="adj" fmla="val 1339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842963" y="1697831"/>
              <a:ext cx="202407" cy="242889"/>
              <a:chOff x="842963" y="1697831"/>
              <a:chExt cx="202407" cy="24288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869950" y="1697831"/>
                <a:ext cx="10795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107950">
                    <a:moveTo>
                      <a:pt x="0" y="53975"/>
                    </a:moveTo>
                    <a:cubicBezTo>
                      <a:pt x="0" y="83785"/>
                      <a:pt x="24165" y="107950"/>
                      <a:pt x="53975" y="107950"/>
                    </a:cubicBezTo>
                    <a:cubicBezTo>
                      <a:pt x="83785" y="107950"/>
                      <a:pt x="107950" y="83785"/>
                      <a:pt x="107950" y="53975"/>
                    </a:cubicBezTo>
                    <a:cubicBezTo>
                      <a:pt x="107950" y="24165"/>
                      <a:pt x="83785" y="0"/>
                      <a:pt x="53975" y="0"/>
                    </a:cubicBezTo>
                    <a:cubicBezTo>
                      <a:pt x="24165" y="0"/>
                      <a:pt x="0" y="24165"/>
                      <a:pt x="0" y="5397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42963" y="1859757"/>
                <a:ext cx="107950" cy="80963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80963">
                    <a:moveTo>
                      <a:pt x="0" y="80963"/>
                    </a:moveTo>
                    <a:lnTo>
                      <a:pt x="0" y="53975"/>
                    </a:lnTo>
                    <a:cubicBezTo>
                      <a:pt x="0" y="24165"/>
                      <a:pt x="24165" y="0"/>
                      <a:pt x="53975" y="0"/>
                    </a:cubicBez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64407" y="1886744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0" y="26988"/>
                    </a:moveTo>
                    <a:lnTo>
                      <a:pt x="26988" y="53975"/>
                    </a:lnTo>
                    <a:lnTo>
                      <a:pt x="80963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227582" y="1678305"/>
              <a:ext cx="344000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TC-06 · 双岗位招聘筛选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762000" y="21526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E3E8ED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55523" y="23388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触发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46073" y="2338864"/>
              <a:ext cx="28330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两份 JD + 五份简历，形成候选建议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5523" y="27389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路径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46073" y="2738914"/>
              <a:ext cx="34457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职位条件 → 经历证据 → 匹配/缺口 → 建议台账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5523" y="31389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输出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46073" y="3138964"/>
              <a:ext cx="31024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候选顺序、支持证据、缺失信息、复核项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5523" y="35390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停顿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346073" y="3539014"/>
              <a:ext cx="293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材料冲突或关键条件缺失时标为待复核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5523" y="39390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50873" y="3939064"/>
              <a:ext cx="24159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回开依据，确认或改写筛选规则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419600"/>
              <a:ext cx="4800600" cy="914400"/>
            </a:xfrm>
            <a:prstGeom prst="roundRect">
              <a:avLst>
                <a:gd name="adj" fmla="val 6250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6023" y="458676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前台必须明确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023" y="4910614"/>
              <a:ext cx="43983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这是建议，不是录用/淘汰；不隐藏不确定性与隐私边界。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0" y="1390650"/>
            <a:ext cx="5600700" cy="4267200"/>
            <a:chOff x="6096000" y="1390650"/>
            <a:chExt cx="5600700" cy="4267200"/>
          </a:xfrm>
        </p:grpSpPr>
        <p:sp>
          <p:nvSpPr>
            <p:cNvPr id="30" name="Rectangle 30"/>
            <p:cNvSpPr/>
            <p:nvPr/>
          </p:nvSpPr>
          <p:spPr>
            <a:xfrm>
              <a:off x="6096000" y="1390650"/>
              <a:ext cx="5600700" cy="4267200"/>
            </a:xfrm>
            <a:prstGeom prst="roundRect">
              <a:avLst>
                <a:gd name="adj" fmla="val 1339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6384971" y="1697831"/>
              <a:ext cx="263510" cy="242888"/>
              <a:chOff x="6384971" y="1697831"/>
              <a:chExt cx="263510" cy="24288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384971" y="1697831"/>
                <a:ext cx="263510" cy="240810"/>
              </a:xfrm>
              <a:custGeom>
                <a:avLst/>
                <a:gdLst/>
                <a:ahLst/>
                <a:cxnLst/>
                <a:rect l="l" t="t" r="r" b="b"/>
                <a:pathLst>
                  <a:path w="263510" h="240810">
                    <a:moveTo>
                      <a:pt x="132368" y="240810"/>
                    </a:moveTo>
                    <a:cubicBezTo>
                      <a:pt x="47836" y="214607"/>
                      <a:pt x="0" y="125390"/>
                      <a:pt x="24957" y="40481"/>
                    </a:cubicBezTo>
                    <a:cubicBezTo>
                      <a:pt x="66998" y="42405"/>
                      <a:pt x="108135" y="27886"/>
                      <a:pt x="139655" y="0"/>
                    </a:cubicBezTo>
                    <a:cubicBezTo>
                      <a:pt x="171174" y="27886"/>
                      <a:pt x="212311" y="42405"/>
                      <a:pt x="254352" y="40481"/>
                    </a:cubicBezTo>
                    <a:cubicBezTo>
                      <a:pt x="263510" y="71640"/>
                      <a:pt x="263086" y="104832"/>
                      <a:pt x="253137" y="135747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565107" y="1886744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0" y="26988"/>
                    </a:moveTo>
                    <a:lnTo>
                      <a:pt x="26988" y="53975"/>
                    </a:lnTo>
                    <a:lnTo>
                      <a:pt x="80963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6828282" y="1678305"/>
              <a:ext cx="31263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TC-07 · 授权文件风控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6362700" y="2152650"/>
              <a:ext cx="5067300" cy="9525"/>
            </a:xfrm>
            <a:custGeom>
              <a:avLst/>
              <a:gdLst/>
              <a:ahLst/>
              <a:cxnLst/>
              <a:rect l="l" t="t" r="r" b="b"/>
              <a:pathLst>
                <a:path w="5067300" h="9525">
                  <a:moveTo>
                    <a:pt x="0" y="0"/>
                  </a:moveTo>
                  <a:lnTo>
                    <a:pt x="50673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6223" y="23388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D97706"/>
                  </a:solidFill>
                  <a:latin typeface="Segoe UI Semibold"/>
                  <a:ea typeface="Microsoft YaHei"/>
                  <a:cs typeface="Segoe UI Semibold"/>
                </a:rPr>
                <a:t>触发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46773" y="233886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六份授权文件，核对授权范围与风险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6223" y="27389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D97706"/>
                  </a:solidFill>
                  <a:latin typeface="Segoe UI Semibold"/>
                  <a:ea typeface="Microsoft YaHei"/>
                  <a:cs typeface="Segoe UI Semibold"/>
                </a:rPr>
                <a:t>路径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46773" y="2738914"/>
              <a:ext cx="3351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条款抽取 → 原文定位 → 规则台账 → 风险候选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56223" y="313896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输出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46773" y="3138964"/>
              <a:ext cx="31024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文件级规则、来源位置、冲突与复核清单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56223" y="35390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停顿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46773" y="3539014"/>
              <a:ext cx="31196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授权主体/期限/范围不一致时不自动裁决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56223" y="3939064"/>
              <a:ext cx="7338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D97706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51573" y="393906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逐项回开原文，交由法务作最终判断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362700" y="4419600"/>
              <a:ext cx="5067300" cy="914400"/>
            </a:xfrm>
            <a:prstGeom prst="roundRect">
              <a:avLst>
                <a:gd name="adj" fmla="val 6250"/>
              </a:avLst>
            </a:prstGeom>
            <a:solidFill>
              <a:srgbClr val="EDF1F4"/>
            </a:solidFill>
            <a:ln w="19050">
              <a:solidFill>
                <a:srgbClr val="D9770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46723" y="458676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前台必须明确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46723" y="4910614"/>
              <a:ext cx="39606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这是风险候选，不代表法律意见，也不会代替签署。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86156" y="6000750"/>
            <a:ext cx="11210544" cy="443484"/>
            <a:chOff x="486156" y="6000750"/>
            <a:chExt cx="11210544" cy="443484"/>
          </a:xfrm>
        </p:grpSpPr>
        <p:sp>
          <p:nvSpPr>
            <p:cNvPr id="50" name="Freeform 50"/>
            <p:cNvSpPr/>
            <p:nvPr/>
          </p:nvSpPr>
          <p:spPr>
            <a:xfrm>
              <a:off x="495300" y="60007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1769E0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86156" y="6092190"/>
              <a:ext cx="77505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共同原则：Agent 提供证据与候选，业务权威仍由有职责的人承担。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53" name="TextBox 53"/>
            <p:cNvSpPr txBox="1"/>
            <p:nvPr/>
          </p:nvSpPr>
          <p:spPr>
            <a:xfrm>
              <a:off x="489966" y="6458902"/>
              <a:ext cx="4486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人机交互研究依据：Microsoft Guidelines for Human-AI Interaction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13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1015999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TC-10 / TC-14：形成方案，不等于执行动作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661142" y="519589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动作边界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95300" y="1390650"/>
            <a:ext cx="4762500" cy="4381500"/>
            <a:chOff x="495300" y="1390650"/>
            <a:chExt cx="4762500" cy="4381500"/>
          </a:xfrm>
        </p:grpSpPr>
        <p:sp>
          <p:nvSpPr>
            <p:cNvPr id="9" name="Rectangle 9"/>
            <p:cNvSpPr/>
            <p:nvPr/>
          </p:nvSpPr>
          <p:spPr>
            <a:xfrm>
              <a:off x="495300" y="1390650"/>
              <a:ext cx="4762500" cy="4381500"/>
            </a:xfrm>
            <a:prstGeom prst="roundRect">
              <a:avLst>
                <a:gd name="adj" fmla="val 1304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83431" y="1678781"/>
              <a:ext cx="242888" cy="242888"/>
              <a:chOff x="783431" y="1678781"/>
              <a:chExt cx="242888" cy="242888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783431" y="186769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972344" y="16787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26988" y="53975"/>
                    </a:move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  <a:cubicBezTo>
                      <a:pt x="0" y="41892"/>
                      <a:pt x="12083" y="53975"/>
                      <a:pt x="26988" y="53975"/>
                    </a:cubicBez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10419" y="1705769"/>
                <a:ext cx="202407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202407" h="188913">
                    <a:moveTo>
                      <a:pt x="80963" y="188913"/>
                    </a:moveTo>
                    <a:lnTo>
                      <a:pt x="155178" y="188913"/>
                    </a:lnTo>
                    <a:cubicBezTo>
                      <a:pt x="181262" y="188913"/>
                      <a:pt x="202407" y="167768"/>
                      <a:pt x="202407" y="141685"/>
                    </a:cubicBezTo>
                    <a:cubicBezTo>
                      <a:pt x="202407" y="115601"/>
                      <a:pt x="181262" y="94456"/>
                      <a:pt x="155178" y="94456"/>
                    </a:cubicBezTo>
                    <a:lnTo>
                      <a:pt x="47228" y="94456"/>
                    </a:lnTo>
                    <a:cubicBezTo>
                      <a:pt x="21145" y="94456"/>
                      <a:pt x="0" y="73312"/>
                      <a:pt x="0" y="47228"/>
                    </a:cubicBezTo>
                    <a:cubicBezTo>
                      <a:pt x="0" y="21145"/>
                      <a:pt x="21145" y="0"/>
                      <a:pt x="47228" y="0"/>
                    </a:cubicBez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1769E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208532" y="1659255"/>
              <a:ext cx="31263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TC-10 · 合规外呼流程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6473" y="21674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触发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7023" y="216741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根据材料形成外呼流程与话术规则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6473" y="2548414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路径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27023" y="2548414"/>
              <a:ext cx="31685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来源抽取 → 节点/条件 → 流程图 → DOCX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42950" y="3048000"/>
              <a:ext cx="4267200" cy="876300"/>
            </a:xfrm>
            <a:prstGeom prst="roundRect">
              <a:avLst>
                <a:gd name="adj" fmla="val 6522"/>
              </a:avLst>
            </a:prstGeom>
            <a:solidFill>
              <a:srgbClr val="EDF1F4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964406" y="3288506"/>
              <a:ext cx="185737" cy="185737"/>
              <a:chOff x="964406" y="3288506"/>
              <a:chExt cx="185737" cy="185737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964406" y="3288506"/>
                <a:ext cx="185737" cy="185737"/>
              </a:xfrm>
              <a:custGeom>
                <a:avLst/>
                <a:gdLst/>
                <a:ahLst/>
                <a:cxnLst/>
                <a:rect l="l" t="t" r="r" b="b"/>
                <a:pathLst>
                  <a:path w="185737" h="185737">
                    <a:moveTo>
                      <a:pt x="0" y="92868"/>
                    </a:moveTo>
                    <a:cubicBezTo>
                      <a:pt x="0" y="144158"/>
                      <a:pt x="41579" y="185737"/>
                      <a:pt x="92868" y="185737"/>
                    </a:cubicBezTo>
                    <a:cubicBezTo>
                      <a:pt x="144158" y="185737"/>
                      <a:pt x="185737" y="144158"/>
                      <a:pt x="185737" y="92868"/>
                    </a:cubicBezTo>
                    <a:cubicBezTo>
                      <a:pt x="185737" y="41579"/>
                      <a:pt x="144158" y="0"/>
                      <a:pt x="92868" y="0"/>
                    </a:cubicBezTo>
                    <a:cubicBezTo>
                      <a:pt x="41579" y="0"/>
                      <a:pt x="0" y="41579"/>
                      <a:pt x="0" y="92868"/>
                    </a:cubicBez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26318" y="3360737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7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E7D32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324356" y="325374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已发生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27023" y="3596164"/>
              <a:ext cx="34043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生成流程图与可下载 DOCX，完成结构检查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42950" y="4095750"/>
              <a:ext cx="4267200" cy="1104900"/>
            </a:xfrm>
            <a:prstGeom prst="roundRect">
              <a:avLst>
                <a:gd name="adj" fmla="val 5172"/>
              </a:avLst>
            </a:prstGeom>
            <a:solidFill>
              <a:srgbClr val="EDF1F4"/>
            </a:solidFill>
            <a:ln w="19050">
              <a:solidFill>
                <a:srgbClr val="D97706"/>
              </a:solidFill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953209" y="4351878"/>
              <a:ext cx="208123" cy="178805"/>
              <a:chOff x="953209" y="4351878"/>
              <a:chExt cx="208123" cy="17880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057275" y="4417218"/>
                <a:ext cx="952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1275">
                    <a:moveTo>
                      <a:pt x="0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53209" y="4351878"/>
                <a:ext cx="208123" cy="178805"/>
              </a:xfrm>
              <a:custGeom>
                <a:avLst/>
                <a:gdLst/>
                <a:ahLst/>
                <a:cxnLst/>
                <a:rect l="l" t="t" r="r" b="b"/>
                <a:pathLst>
                  <a:path w="208123" h="178805">
                    <a:moveTo>
                      <a:pt x="87174" y="9526"/>
                    </a:moveTo>
                    <a:lnTo>
                      <a:pt x="3530" y="149180"/>
                    </a:lnTo>
                    <a:cubicBezTo>
                      <a:pt x="21" y="155256"/>
                      <a:pt x="0" y="162738"/>
                      <a:pt x="3474" y="168834"/>
                    </a:cubicBezTo>
                    <a:cubicBezTo>
                      <a:pt x="6948" y="174931"/>
                      <a:pt x="13395" y="178726"/>
                      <a:pt x="20412" y="178805"/>
                    </a:cubicBezTo>
                    <a:lnTo>
                      <a:pt x="187719" y="178805"/>
                    </a:lnTo>
                    <a:cubicBezTo>
                      <a:pt x="194732" y="178724"/>
                      <a:pt x="201176" y="174930"/>
                      <a:pt x="204650" y="168837"/>
                    </a:cubicBezTo>
                    <a:cubicBezTo>
                      <a:pt x="208123" y="162744"/>
                      <a:pt x="208104" y="155266"/>
                      <a:pt x="204601" y="149190"/>
                    </a:cubicBezTo>
                    <a:lnTo>
                      <a:pt x="120957" y="9516"/>
                    </a:lnTo>
                    <a:cubicBezTo>
                      <a:pt x="117378" y="3609"/>
                      <a:pt x="110973" y="0"/>
                      <a:pt x="104065" y="0"/>
                    </a:cubicBezTo>
                    <a:cubicBezTo>
                      <a:pt x="97158" y="0"/>
                      <a:pt x="90753" y="3609"/>
                      <a:pt x="87174" y="9516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057275" y="4489449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03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324356" y="432054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未发生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327023" y="4682014"/>
              <a:ext cx="23977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未拨号、未写 CRM、未发短信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28166" y="4953952"/>
              <a:ext cx="30250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没有 Connector receipt，就不能显示“已执行”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524500" y="1390650"/>
            <a:ext cx="6172200" cy="4381500"/>
            <a:chOff x="5524500" y="1390650"/>
            <a:chExt cx="6172200" cy="4381500"/>
          </a:xfrm>
        </p:grpSpPr>
        <p:sp>
          <p:nvSpPr>
            <p:cNvPr id="34" name="Rectangle 34"/>
            <p:cNvSpPr/>
            <p:nvPr/>
          </p:nvSpPr>
          <p:spPr>
            <a:xfrm>
              <a:off x="5524500" y="1390650"/>
              <a:ext cx="6172200" cy="4381500"/>
            </a:xfrm>
            <a:prstGeom prst="roundRect">
              <a:avLst>
                <a:gd name="adj" fmla="val 1304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761482" y="1525905"/>
              <a:ext cx="373796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TC-14 · SRE 冲突日志诊断</a:t>
              </a:r>
            </a:p>
          </p:txBody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15051" y="1943100"/>
              <a:ext cx="3591098" cy="2743200"/>
            </a:xfrm>
            <a:prstGeom prst="rect">
              <a:avLst/>
            </a:prstGeom>
          </p:spPr>
        </p:pic>
        <p:sp>
          <p:nvSpPr>
            <p:cNvPr id="37" name="Rectangle 37"/>
            <p:cNvSpPr/>
            <p:nvPr/>
          </p:nvSpPr>
          <p:spPr>
            <a:xfrm>
              <a:off x="5772150" y="4857750"/>
              <a:ext cx="2609850" cy="666750"/>
            </a:xfrm>
            <a:prstGeom prst="roundRect">
              <a:avLst>
                <a:gd name="adj" fmla="val 8571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37123" y="4986814"/>
              <a:ext cx="16349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已发生：条件式诊断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938266" y="52587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保留支持、反证与止损提案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53450" y="4857750"/>
              <a:ext cx="2895600" cy="666750"/>
            </a:xfrm>
            <a:prstGeom prst="roundRect">
              <a:avLst>
                <a:gd name="adj" fmla="val 8571"/>
              </a:avLst>
            </a:prstGeom>
            <a:solidFill>
              <a:srgbClr val="EDF1F4"/>
            </a:solidFill>
            <a:ln w="19050">
              <a:solidFill>
                <a:srgbClr val="D9770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18423" y="4986814"/>
              <a:ext cx="1454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未发生：生产变更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19566" y="5258752"/>
              <a:ext cx="22061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未执行 ES 命令，未触发业务降级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86156" y="6038850"/>
            <a:ext cx="11210544" cy="443484"/>
            <a:chOff x="486156" y="6038850"/>
            <a:chExt cx="11210544" cy="443484"/>
          </a:xfrm>
        </p:grpSpPr>
        <p:sp>
          <p:nvSpPr>
            <p:cNvPr id="44" name="Freeform 44"/>
            <p:cNvSpPr/>
            <p:nvPr/>
          </p:nvSpPr>
          <p:spPr>
            <a:xfrm>
              <a:off x="495300" y="60388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1769E0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86156" y="6130290"/>
              <a:ext cx="76512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前台输出必须同时写清：成果是什么，以及哪些业务动作没有发生。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47" name="TextBox 47"/>
            <p:cNvSpPr txBox="1"/>
            <p:nvPr/>
          </p:nvSpPr>
          <p:spPr>
            <a:xfrm>
              <a:off x="489966" y="6458902"/>
              <a:ext cx="70136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技术依据：OpenAI Agents SDK Human-in-the-loop · MCP Elicitation · W3C PROV-O；截图为当前系统实测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14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8665731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TC-15：模型说明不能覆盖确定性成果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248900" y="438150"/>
              <a:ext cx="14478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51402" y="519589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单一当前结论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5300" y="1390650"/>
            <a:ext cx="6819900" cy="4476750"/>
            <a:chOff x="495300" y="1390650"/>
            <a:chExt cx="6819900" cy="4476750"/>
          </a:xfrm>
        </p:grpSpPr>
        <p:sp>
          <p:nvSpPr>
            <p:cNvPr id="9" name="Rectangle 9"/>
            <p:cNvSpPr/>
            <p:nvPr/>
          </p:nvSpPr>
          <p:spPr>
            <a:xfrm>
              <a:off x="495300" y="1390650"/>
              <a:ext cx="6819900" cy="4476750"/>
            </a:xfrm>
            <a:prstGeom prst="roundRect">
              <a:avLst>
                <a:gd name="adj" fmla="val 1277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4756" y="153924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当前系统实测：冲突说明被拒绝，成果仍保留</a:t>
              </a:r>
            </a:p>
          </p:txBody>
        </p:sp>
        <p:pic>
          <p:nvPicPr>
            <p:cNvPr id="11" name="Image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23159" y="1943100"/>
              <a:ext cx="4364182" cy="333375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18566" y="5506402"/>
              <a:ext cx="24348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桌面端拒绝态 · 不伪造竞品或生产截图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581900" y="1390650"/>
            <a:ext cx="4114800" cy="4476750"/>
            <a:chOff x="7581900" y="1390650"/>
            <a:chExt cx="4114800" cy="4476750"/>
          </a:xfrm>
        </p:grpSpPr>
        <p:sp>
          <p:nvSpPr>
            <p:cNvPr id="14" name="Rectangle 14"/>
            <p:cNvSpPr/>
            <p:nvPr/>
          </p:nvSpPr>
          <p:spPr>
            <a:xfrm>
              <a:off x="7581900" y="1390650"/>
              <a:ext cx="4114800" cy="1257300"/>
            </a:xfrm>
            <a:prstGeom prst="roundRect">
              <a:avLst>
                <a:gd name="adj" fmla="val 4545"/>
              </a:avLst>
            </a:prstGeom>
            <a:solidFill>
              <a:srgbClr val="EDF1F4"/>
            </a:solidFill>
            <a:ln w="19050">
              <a:solidFill>
                <a:srgbClr val="2E7D3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804023" y="1576864"/>
              <a:ext cx="91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确定性成果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99832" y="1887855"/>
              <a:ext cx="260381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212/212 行 · 87 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04023" y="2281714"/>
              <a:ext cx="23524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5A6B7C"/>
                  </a:solidFill>
                  <a:latin typeface="Consolas"/>
                  <a:ea typeface="Consolas"/>
                  <a:cs typeface="Consolas"/>
                </a:rPr>
                <a:t>P0-P4 = 25 / 40 / 14 / 6 / 2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581900" y="2819400"/>
              <a:ext cx="4114800" cy="1257300"/>
            </a:xfrm>
            <a:prstGeom prst="roundRect">
              <a:avLst>
                <a:gd name="adj" fmla="val 4545"/>
              </a:avLst>
            </a:prstGeom>
            <a:solidFill>
              <a:srgbClr val="EDF1F4"/>
            </a:solidFill>
            <a:ln w="19050">
              <a:solidFill>
                <a:srgbClr val="C0362C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04023" y="300561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C0362C"/>
                  </a:solidFill>
                  <a:latin typeface="Segoe UI Semibold"/>
                  <a:ea typeface="Microsoft YaHei"/>
                  <a:cs typeface="Segoe UI Semibold"/>
                </a:rPr>
                <a:t>模型冲突说明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04023" y="3386614"/>
              <a:ext cx="29871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声称只覆盖 60 行，并改写 P0 优先级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04023" y="3691414"/>
              <a:ext cx="27248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0362C"/>
                  </a:solidFill>
                  <a:latin typeface="Consolas"/>
                  <a:ea typeface="Consolas"/>
                  <a:cs typeface="Consolas"/>
                </a:rPr>
                <a:t>called=true · output_used=false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581900" y="4248150"/>
              <a:ext cx="4114800" cy="1619250"/>
            </a:xfrm>
            <a:prstGeom prst="roundRect">
              <a:avLst>
                <a:gd name="adj" fmla="val 3529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804023" y="4434364"/>
              <a:ext cx="12745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服务端采用回执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04023" y="4815364"/>
              <a:ext cx="11972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BD5DF"/>
                  </a:solidFill>
                  <a:latin typeface="Consolas"/>
                  <a:ea typeface="Consolas"/>
                  <a:cs typeface="Consolas"/>
                </a:rPr>
                <a:t>contradictory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04023" y="5101114"/>
              <a:ext cx="19353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CBD5DF"/>
                  </a:solidFill>
                  <a:latin typeface="Consolas"/>
                  <a:ea typeface="Consolas"/>
                  <a:cs typeface="Consolas"/>
                </a:rPr>
                <a:t>deterministic_outcome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04023" y="5386864"/>
              <a:ext cx="7252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7706"/>
                  </a:solidFill>
                  <a:latin typeface="Consolas"/>
                  <a:ea typeface="Consolas"/>
                  <a:cs typeface="Consolas"/>
                </a:rPr>
                <a:t>rejected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39706" y="50063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前台只保留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39706" y="5330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一套当前结论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12019" y="6081193"/>
            <a:ext cx="8209071" cy="250360"/>
            <a:chOff x="512019" y="6081193"/>
            <a:chExt cx="8209071" cy="250360"/>
          </a:xfrm>
        </p:grpSpPr>
        <p:grpSp>
          <p:nvGrpSpPr>
            <p:cNvPr id="33" name="Group 33"/>
            <p:cNvGrpSpPr/>
            <p:nvPr/>
          </p:nvGrpSpPr>
          <p:grpSpPr>
            <a:xfrm>
              <a:off x="512019" y="6081193"/>
              <a:ext cx="176105" cy="151297"/>
              <a:chOff x="512019" y="6081193"/>
              <a:chExt cx="176105" cy="15129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600075" y="6136481"/>
                <a:ext cx="95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925">
                    <a:moveTo>
                      <a:pt x="0" y="0"/>
                    </a:moveTo>
                    <a:lnTo>
                      <a:pt x="0" y="34925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12019" y="6081193"/>
                <a:ext cx="176105" cy="151297"/>
              </a:xfrm>
              <a:custGeom>
                <a:avLst/>
                <a:gdLst/>
                <a:ahLst/>
                <a:cxnLst/>
                <a:rect l="l" t="t" r="r" b="b"/>
                <a:pathLst>
                  <a:path w="176105" h="151297">
                    <a:moveTo>
                      <a:pt x="73763" y="8061"/>
                    </a:moveTo>
                    <a:lnTo>
                      <a:pt x="2987" y="126230"/>
                    </a:lnTo>
                    <a:cubicBezTo>
                      <a:pt x="18" y="131371"/>
                      <a:pt x="0" y="137702"/>
                      <a:pt x="2939" y="142860"/>
                    </a:cubicBezTo>
                    <a:cubicBezTo>
                      <a:pt x="5879" y="148019"/>
                      <a:pt x="11335" y="151230"/>
                      <a:pt x="17271" y="151297"/>
                    </a:cubicBezTo>
                    <a:lnTo>
                      <a:pt x="158840" y="151297"/>
                    </a:lnTo>
                    <a:cubicBezTo>
                      <a:pt x="164774" y="151229"/>
                      <a:pt x="170227" y="148018"/>
                      <a:pt x="173166" y="142863"/>
                    </a:cubicBezTo>
                    <a:cubicBezTo>
                      <a:pt x="176105" y="137707"/>
                      <a:pt x="176089" y="131379"/>
                      <a:pt x="173124" y="126238"/>
                    </a:cubicBezTo>
                    <a:lnTo>
                      <a:pt x="102349" y="8052"/>
                    </a:lnTo>
                    <a:cubicBezTo>
                      <a:pt x="99320" y="3053"/>
                      <a:pt x="93900" y="0"/>
                      <a:pt x="88056" y="0"/>
                    </a:cubicBezTo>
                    <a:cubicBezTo>
                      <a:pt x="82211" y="0"/>
                      <a:pt x="76791" y="3053"/>
                      <a:pt x="73763" y="8052"/>
                    </a:cubicBez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00075" y="6197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87" y="0"/>
                    </a:lnTo>
                  </a:path>
                </a:pathLst>
              </a:custGeom>
              <a:noFill/>
              <a:ln w="19050">
                <a:solidFill>
                  <a:srgbClr val="D97706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812673" y="6082189"/>
              <a:ext cx="79084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这只证明固定场景的结构化事实对账，不是通用自然语言真值证明器，也不证明排序方案带来用户价值。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36" name="TextBox 36"/>
            <p:cNvSpPr txBox="1"/>
            <p:nvPr/>
          </p:nvSpPr>
          <p:spPr>
            <a:xfrm>
              <a:off x="489966" y="6458902"/>
              <a:ext cx="54755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交互依据：Microsoft HAI Guidelines · W3C Status Messages；截图为当前系统实测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15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6862305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前台交互只需要先回答五个问题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325100" y="438150"/>
              <a:ext cx="13716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575322" y="519589"/>
              <a:ext cx="871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界面与体验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95300" y="1409700"/>
            <a:ext cx="6286500" cy="4267200"/>
            <a:chOff x="495300" y="1409700"/>
            <a:chExt cx="6286500" cy="4267200"/>
          </a:xfrm>
        </p:grpSpPr>
        <p:sp>
          <p:nvSpPr>
            <p:cNvPr id="9" name="Rectangle 9"/>
            <p:cNvSpPr/>
            <p:nvPr/>
          </p:nvSpPr>
          <p:spPr>
            <a:xfrm>
              <a:off x="495300" y="1409700"/>
              <a:ext cx="6286500" cy="4267200"/>
            </a:xfrm>
            <a:prstGeom prst="roundRect">
              <a:avLst>
                <a:gd name="adj" fmla="val 1339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51332" y="1583055"/>
              <a:ext cx="269287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业务用户的阅读顺序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685800" y="2057400"/>
              <a:ext cx="381000" cy="3810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20262" y="217693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29106" y="212979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现在完成了什么？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08273" y="218646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成果文件与确定性检查置顶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685800" y="2724150"/>
              <a:ext cx="381000" cy="3810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20262" y="28436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29106" y="279654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依据是什么？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273" y="285321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文件、原文位置与摘录可回开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85800" y="3390900"/>
              <a:ext cx="381000" cy="3810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0262" y="351043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29106" y="34632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为什么停？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273" y="3519964"/>
              <a:ext cx="24159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说明问题、影响范围和可选动作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85800" y="4057650"/>
              <a:ext cx="381000" cy="3810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20262" y="41771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29106" y="4130040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我确认后会改变什么？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03573" y="4186714"/>
              <a:ext cx="15029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只恢复哪条 Branch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85800" y="4724400"/>
              <a:ext cx="381000" cy="3810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0262" y="484393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29106" y="479679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什么绝不会发生？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08273" y="4853464"/>
              <a:ext cx="2072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未执行边界与外部动作回执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6666" y="5334952"/>
              <a:ext cx="26963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技术字段放入二级或审计层，不抢占首屏。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048500" y="1409700"/>
            <a:ext cx="4648200" cy="4267200"/>
            <a:chOff x="7048500" y="1409700"/>
            <a:chExt cx="4648200" cy="4267200"/>
          </a:xfrm>
        </p:grpSpPr>
        <p:sp>
          <p:nvSpPr>
            <p:cNvPr id="33" name="Rectangle 33"/>
            <p:cNvSpPr/>
            <p:nvPr/>
          </p:nvSpPr>
          <p:spPr>
            <a:xfrm>
              <a:off x="7048500" y="1409700"/>
              <a:ext cx="4648200" cy="4267200"/>
            </a:xfrm>
            <a:prstGeom prst="roundRect">
              <a:avLst>
                <a:gd name="adj" fmla="val 1339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304532" y="1583055"/>
              <a:ext cx="180235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三层信息架构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315200" y="2095500"/>
              <a:ext cx="4114800" cy="781050"/>
            </a:xfrm>
            <a:prstGeom prst="roundRect">
              <a:avLst>
                <a:gd name="adj" fmla="val 731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34656" y="21869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首屏：当前结论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37323" y="252936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成果、复核状态、未执行边界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315200" y="3048000"/>
              <a:ext cx="4114800" cy="781050"/>
            </a:xfrm>
            <a:prstGeom prst="roundRect">
              <a:avLst>
                <a:gd name="adj" fmla="val 731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34656" y="313944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展开：为什么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37323" y="34818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来源、校验、说明采用、局部决定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315200" y="4000500"/>
              <a:ext cx="4114800" cy="781050"/>
            </a:xfrm>
            <a:prstGeom prst="roundRect">
              <a:avLst>
                <a:gd name="adj" fmla="val 7317"/>
              </a:avLst>
            </a:prstGeom>
            <a:solidFill>
              <a:srgbClr val="FFFFFF">
                <a:alpha val="8000"/>
              </a:srgbClr>
            </a:solidFill>
            <a:ln w="19050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34656" y="40919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审计：系统事实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537323" y="4434364"/>
              <a:ext cx="34561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Snapshot、version、SSE、DecisionRecord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315200" y="4991100"/>
              <a:ext cx="4114800" cy="476250"/>
            </a:xfrm>
            <a:prstGeom prst="roundRect">
              <a:avLst>
                <a:gd name="adj" fmla="val 12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014454" y="5158264"/>
              <a:ext cx="27162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目标：少解释概念，多解释下一步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6156" y="5844540"/>
            <a:ext cx="8655406" cy="352044"/>
            <a:chOff x="486156" y="5844540"/>
            <a:chExt cx="8655406" cy="352044"/>
          </a:xfrm>
        </p:grpSpPr>
        <p:sp>
          <p:nvSpPr>
            <p:cNvPr id="47" name="TextBox 47"/>
            <p:cNvSpPr txBox="1"/>
            <p:nvPr/>
          </p:nvSpPr>
          <p:spPr>
            <a:xfrm>
              <a:off x="486156" y="5844540"/>
              <a:ext cx="2308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仍需用户研究验证：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717673" y="5901214"/>
              <a:ext cx="64238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能否无引导说出当前结果、来源、影响、下一步；并用 HEART 度量理解与负担。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489966" y="6458902"/>
              <a:ext cx="63459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用户研究依据：Microsoft HAI Guidelines · W3C Status Messages / Target Size · Google HEART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16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477774" y="370522"/>
            <a:ext cx="11218926" cy="674751"/>
            <a:chOff x="477774" y="370522"/>
            <a:chExt cx="1121892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8325288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我们到底做了什么：跑通办公任务纵切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10172700" y="438150"/>
              <a:ext cx="1524000" cy="323850"/>
            </a:xfrm>
            <a:prstGeom prst="roundRect">
              <a:avLst>
                <a:gd name="adj" fmla="val 17647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13302" y="519589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769E0"/>
                  </a:solidFill>
                  <a:latin typeface="Segoe UI"/>
                  <a:ea typeface="Microsoft YaHei"/>
                  <a:cs typeface="Segoe UI"/>
                </a:rPr>
                <a:t>当前系统实测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84632" y="1221105"/>
            <a:ext cx="4473892" cy="4836795"/>
            <a:chOff x="484632" y="1221105"/>
            <a:chExt cx="4473892" cy="4836795"/>
          </a:xfrm>
        </p:grpSpPr>
        <p:sp>
          <p:nvSpPr>
            <p:cNvPr id="9" name="TextBox 9"/>
            <p:cNvSpPr txBox="1"/>
            <p:nvPr/>
          </p:nvSpPr>
          <p:spPr>
            <a:xfrm>
              <a:off x="484632" y="1221105"/>
              <a:ext cx="447389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不是回答页，而是一条可复核链路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742950" y="1943100"/>
              <a:ext cx="9525" cy="2876550"/>
            </a:xfrm>
            <a:custGeom>
              <a:avLst/>
              <a:gdLst/>
              <a:ahLst/>
              <a:cxnLst/>
              <a:rect l="l" t="t" r="r" b="b"/>
              <a:pathLst>
                <a:path w="9525" h="2876550">
                  <a:moveTo>
                    <a:pt x="0" y="0"/>
                  </a:moveTo>
                  <a:lnTo>
                    <a:pt x="0" y="287655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rgbClr val="CBD5DF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552450" y="1847850"/>
              <a:ext cx="381000" cy="3810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86912" y="19673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95756" y="1786890"/>
              <a:ext cx="13368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Workspace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98423" y="2110264"/>
              <a:ext cx="20640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15 个目录 · 96 份安全预览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52450" y="2533650"/>
              <a:ext cx="381000" cy="3810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86912" y="26531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95756" y="2472690"/>
              <a:ext cx="17904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Task Contract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8423" y="2796064"/>
              <a:ext cx="24159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目标、范围、预算由服务端冻结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52450" y="3219450"/>
              <a:ext cx="381000" cy="3810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86912" y="33389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95756" y="3158490"/>
              <a:ext cx="21599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Planner + Analyst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98423" y="348186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调用、校验、采用分别留回执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52450" y="3905250"/>
              <a:ext cx="381000" cy="3810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6912" y="40247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95756" y="3844290"/>
              <a:ext cx="26508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Branch Evidence Gate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98423" y="416766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局部停、局部补证、保留已完成成果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52450" y="4591050"/>
              <a:ext cx="381000" cy="3810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6912" y="47105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95756" y="4530090"/>
              <a:ext cx="22998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132A3A"/>
                  </a:solidFill>
                  <a:latin typeface="Segoe UI Semibold"/>
                  <a:ea typeface="Segoe UI Semibold"/>
                  <a:cs typeface="Segoe UI Semibold"/>
                </a:rPr>
                <a:t>Artifact + Receipt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98423" y="4853464"/>
              <a:ext cx="34323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真实文件、确定性检查、Snapshot 与 Trace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95300" y="5257800"/>
              <a:ext cx="3733800" cy="800100"/>
            </a:xfrm>
            <a:prstGeom prst="roundRect">
              <a:avLst>
                <a:gd name="adj" fmla="val 7143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14756" y="5387340"/>
              <a:ext cx="3096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用户得到的不是一句“完成”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7423" y="572976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而是成果、依据、影响和下一步。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457700" y="1333500"/>
            <a:ext cx="7239000" cy="5029200"/>
            <a:chOff x="4457700" y="1333500"/>
            <a:chExt cx="7239000" cy="5029200"/>
          </a:xfrm>
        </p:grpSpPr>
        <p:sp>
          <p:nvSpPr>
            <p:cNvPr id="35" name="Rectangle 35"/>
            <p:cNvSpPr/>
            <p:nvPr/>
          </p:nvSpPr>
          <p:spPr>
            <a:xfrm>
              <a:off x="4457700" y="1333500"/>
              <a:ext cx="7239000" cy="5029200"/>
            </a:xfrm>
            <a:prstGeom prst="roundRect">
              <a:avLst>
                <a:gd name="adj" fmla="val 1136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52950" y="1428750"/>
              <a:ext cx="7048500" cy="4895850"/>
            </a:xfrm>
            <a:prstGeom prst="rect">
              <a:avLst/>
            </a:prstGeom>
          </p:spPr>
        </p:pic>
        <p:sp>
          <p:nvSpPr>
            <p:cNvPr id="37" name="Rectangle 37"/>
            <p:cNvSpPr/>
            <p:nvPr/>
          </p:nvSpPr>
          <p:spPr>
            <a:xfrm>
              <a:off x="4648200" y="1543050"/>
              <a:ext cx="1447800" cy="304800"/>
            </a:xfrm>
            <a:prstGeom prst="roundRect">
              <a:avLst>
                <a:gd name="adj" fmla="val 18750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824955" y="161496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真实运行界面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40" name="TextBox 40"/>
            <p:cNvSpPr txBox="1"/>
            <p:nvPr/>
          </p:nvSpPr>
          <p:spPr>
            <a:xfrm>
              <a:off x="489966" y="6458902"/>
              <a:ext cx="60319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当前边界：有界只读 Agent Control Loop + 固定成果适配器；不是通用执行器或生产 SLA 证明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17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477774" y="370522"/>
            <a:ext cx="9849367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32A3A"/>
                </a:solidFill>
                <a:latin typeface="Segoe UI Semibold"/>
                <a:ea typeface="Microsoft YaHei"/>
                <a:cs typeface="Segoe UI Semibold"/>
              </a:rPr>
              <a:t>实操 1：用户只说目标，Agent 自主选择资料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95300" y="1333500"/>
            <a:ext cx="7543800" cy="5029200"/>
            <a:chOff x="495300" y="1333500"/>
            <a:chExt cx="7543800" cy="5029200"/>
          </a:xfrm>
        </p:grpSpPr>
        <p:sp>
          <p:nvSpPr>
            <p:cNvPr id="6" name="Rectangle 6"/>
            <p:cNvSpPr/>
            <p:nvPr/>
          </p:nvSpPr>
          <p:spPr>
            <a:xfrm>
              <a:off x="495300" y="1333500"/>
              <a:ext cx="7543800" cy="5029200"/>
            </a:xfrm>
            <a:prstGeom prst="roundRect">
              <a:avLst>
                <a:gd name="adj" fmla="val 1136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3336" y="1428750"/>
              <a:ext cx="6967728" cy="4838700"/>
            </a:xfrm>
            <a:prstGeom prst="rect">
              <a:avLst/>
            </a:prstGeom>
          </p:spPr>
        </p:pic>
        <p:sp>
          <p:nvSpPr>
            <p:cNvPr id="8" name="Rectangle 8"/>
            <p:cNvSpPr/>
            <p:nvPr/>
          </p:nvSpPr>
          <p:spPr>
            <a:xfrm>
              <a:off x="685800" y="1524000"/>
              <a:ext cx="1466850" cy="304800"/>
            </a:xfrm>
            <a:prstGeom prst="roundRect">
              <a:avLst>
                <a:gd name="adj" fmla="val 18750"/>
              </a:avLst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72080" y="159591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当前系统实测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305800" y="1333500"/>
            <a:ext cx="3505314" cy="5029200"/>
            <a:chOff x="8305800" y="1333500"/>
            <a:chExt cx="3505314" cy="5029200"/>
          </a:xfrm>
        </p:grpSpPr>
        <p:sp>
          <p:nvSpPr>
            <p:cNvPr id="11" name="Rectangle 11"/>
            <p:cNvSpPr/>
            <p:nvPr/>
          </p:nvSpPr>
          <p:spPr>
            <a:xfrm>
              <a:off x="8305800" y="1333500"/>
              <a:ext cx="3390900" cy="12573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8420100" y="1485900"/>
              <a:ext cx="342900" cy="3429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35512" y="15863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868156" y="15297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用户动作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27923" y="1976914"/>
              <a:ext cx="25875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只写自然语言目标，不先猜文件。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29066" y="2248852"/>
              <a:ext cx="15019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769E0"/>
                  </a:solidFill>
                  <a:latin typeface="Consolas"/>
                  <a:ea typeface="Consolas"/>
                  <a:cs typeface="Consolas"/>
                </a:rPr>
                <a:t>no selected_file_refs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05800" y="2743200"/>
              <a:ext cx="3390900" cy="1447800"/>
            </a:xfrm>
            <a:prstGeom prst="roundRect">
              <a:avLst>
                <a:gd name="adj" fmla="val 3947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8420100" y="2895600"/>
              <a:ext cx="342900" cy="342900"/>
            </a:xfrm>
            <a:prstGeom prst="ellipse">
              <a:avLst/>
            </a:prstGeom>
            <a:solidFill>
              <a:srgbClr val="1769E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35512" y="29960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868156" y="2939415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服务端事实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27923" y="3386614"/>
              <a:ext cx="22185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冻结完整 allowlisted 索引；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27923" y="3653314"/>
              <a:ext cx="32831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Planner 只看安全元数据，提出本轮证据。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529066" y="3925252"/>
              <a:ext cx="20814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769E0"/>
                  </a:solidFill>
                  <a:latin typeface="Consolas"/>
                  <a:ea typeface="Consolas"/>
                  <a:cs typeface="Consolas"/>
                </a:rPr>
                <a:t>scope_mode=whole_workspace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05800" y="4343400"/>
              <a:ext cx="3390900" cy="12573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 w="19050">
              <a:solidFill>
                <a:srgbClr val="2E7D32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8420100" y="4495800"/>
              <a:ext cx="342900" cy="3429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35512" y="4596289"/>
              <a:ext cx="112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68156" y="4539615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前台反馈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27923" y="498681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展示资料依据、模型采用、剩余预算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27923" y="5253514"/>
              <a:ext cx="17574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以及实时有序 Trace。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305800" y="5753100"/>
              <a:ext cx="3390900" cy="609600"/>
            </a:xfrm>
            <a:prstGeom prst="roundRect">
              <a:avLst>
                <a:gd name="adj" fmla="val 9375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27923" y="5872639"/>
              <a:ext cx="3733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边界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29066" y="6125528"/>
              <a:ext cx="25549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自主选资料不等于穷举正确，仍需复核。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89966" y="6458902"/>
            <a:ext cx="11021568" cy="205359"/>
            <a:chOff x="489966" y="6458902"/>
            <a:chExt cx="11021568" cy="205359"/>
          </a:xfrm>
        </p:grpSpPr>
        <p:sp>
          <p:nvSpPr>
            <p:cNvPr id="34" name="TextBox 34"/>
            <p:cNvSpPr txBox="1"/>
            <p:nvPr/>
          </p:nvSpPr>
          <p:spPr>
            <a:xfrm>
              <a:off x="489966" y="6458902"/>
              <a:ext cx="4420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交互变化：从“用户先选文件”变为“用户说明目标，系统解释资料选择”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0273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18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477774" y="370522"/>
            <a:ext cx="922746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32A3A"/>
                </a:solidFill>
                <a:latin typeface="Segoe UI Semibold"/>
                <a:ea typeface="Microsoft YaHei"/>
                <a:cs typeface="Segoe UI Semibold"/>
              </a:rPr>
              <a:t>实操 2：证据有歧义，只恢复受影响的分支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495300" y="1333500"/>
            <a:ext cx="7543800" cy="5029200"/>
            <a:chOff x="495300" y="1333500"/>
            <a:chExt cx="7543800" cy="5029200"/>
          </a:xfrm>
        </p:grpSpPr>
        <p:sp>
          <p:nvSpPr>
            <p:cNvPr id="6" name="Rectangle 6"/>
            <p:cNvSpPr/>
            <p:nvPr/>
          </p:nvSpPr>
          <p:spPr>
            <a:xfrm>
              <a:off x="495300" y="1333500"/>
              <a:ext cx="7543800" cy="5029200"/>
            </a:xfrm>
            <a:prstGeom prst="roundRect">
              <a:avLst>
                <a:gd name="adj" fmla="val 1136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320" y="1428750"/>
              <a:ext cx="6869759" cy="4838700"/>
            </a:xfrm>
            <a:prstGeom prst="rect">
              <a:avLst/>
            </a:prstGeom>
          </p:spPr>
        </p:pic>
        <p:sp>
          <p:nvSpPr>
            <p:cNvPr id="8" name="Rectangle 8"/>
            <p:cNvSpPr/>
            <p:nvPr/>
          </p:nvSpPr>
          <p:spPr>
            <a:xfrm>
              <a:off x="685800" y="1524000"/>
              <a:ext cx="1619250" cy="304800"/>
            </a:xfrm>
            <a:prstGeom prst="roundRect">
              <a:avLst>
                <a:gd name="adj" fmla="val 1875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48280" y="1595914"/>
              <a:ext cx="10942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证据复核实景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8305800" y="1333500"/>
            <a:ext cx="3390900" cy="5029200"/>
            <a:chOff x="8305800" y="1333500"/>
            <a:chExt cx="3390900" cy="5029200"/>
          </a:xfrm>
        </p:grpSpPr>
        <p:sp>
          <p:nvSpPr>
            <p:cNvPr id="11" name="Rectangle 11"/>
            <p:cNvSpPr/>
            <p:nvPr/>
          </p:nvSpPr>
          <p:spPr>
            <a:xfrm>
              <a:off x="8305800" y="1333500"/>
              <a:ext cx="3390900" cy="1200150"/>
            </a:xfrm>
            <a:prstGeom prst="roundRect">
              <a:avLst>
                <a:gd name="adj" fmla="val 4762"/>
              </a:avLst>
            </a:pr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25256" y="148209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先解释发生了什么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27923" y="188166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同一逐字片段出现多次，服务端无法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527923" y="2148364"/>
              <a:ext cx="2244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唯一决定该回开哪一处原文。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8305800" y="2686050"/>
              <a:ext cx="3390900" cy="1200150"/>
            </a:xfrm>
            <a:prstGeom prst="roundRect">
              <a:avLst>
                <a:gd name="adj" fmla="val 4762"/>
              </a:avLst>
            </a:pr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25256" y="283464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再让用户决定位置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527923" y="3234214"/>
              <a:ext cx="27592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界面同时给出事实、影响、下一步，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527923" y="3500914"/>
              <a:ext cx="24159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并在安全预览中高亮候选原文。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305800" y="4038600"/>
              <a:ext cx="3390900" cy="1600200"/>
            </a:xfrm>
            <a:prstGeom prst="roundRect">
              <a:avLst>
                <a:gd name="adj" fmla="val 3571"/>
              </a:avLst>
            </a:prstGeom>
            <a:solidFill>
              <a:srgbClr val="FFFFFF"/>
            </a:solidFill>
            <a:ln w="19050">
              <a:solidFill>
                <a:srgbClr val="CBD5DF"/>
              </a:solidFill>
            </a:ln>
          </p:spPr>
        </p:sp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4968" y="4133850"/>
              <a:ext cx="3192564" cy="1514475"/>
            </a:xfrm>
            <a:prstGeom prst="rect">
              <a:avLst/>
            </a:prstGeom>
          </p:spPr>
        </p:pic>
        <p:sp>
          <p:nvSpPr>
            <p:cNvPr id="21" name="Rectangle 21"/>
            <p:cNvSpPr/>
            <p:nvPr/>
          </p:nvSpPr>
          <p:spPr>
            <a:xfrm>
              <a:off x="8439150" y="4191000"/>
              <a:ext cx="1219200" cy="285750"/>
            </a:xfrm>
            <a:prstGeom prst="roundRect">
              <a:avLst>
                <a:gd name="adj" fmla="val 20000"/>
              </a:avLst>
            </a:prstGeom>
            <a:solidFill>
              <a:srgbClr val="132A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98160" y="4277678"/>
              <a:ext cx="9011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分支动作实景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305800" y="5791200"/>
              <a:ext cx="3390900" cy="571500"/>
            </a:xfrm>
            <a:prstGeom prst="roundRect">
              <a:avLst>
                <a:gd name="adj" fmla="val 10000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527923" y="5901214"/>
              <a:ext cx="15774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32"/>
                  </a:solidFill>
                  <a:latin typeface="Segoe UI Semibold"/>
                  <a:ea typeface="Microsoft YaHei"/>
                  <a:cs typeface="Segoe UI Semibold"/>
                </a:rPr>
                <a:t>只改变目标 Branch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529066" y="613505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已完成成果和其他分支继续保留。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27" name="TextBox 27"/>
            <p:cNvSpPr txBox="1"/>
            <p:nvPr/>
          </p:nvSpPr>
          <p:spPr>
            <a:xfrm>
              <a:off x="489966" y="6458902"/>
              <a:ext cx="5760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用户确认的是原文位置，不是替 Agent 为结论背书；来源版本变化会进入 stale 并重新核对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19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Freeform 3"/>
            <p:cNvSpPr/>
            <p:nvPr/>
          </p:nvSpPr>
          <p:spPr>
            <a:xfrm>
              <a:off x="495300" y="106680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CBD5DF"/>
              </a:solidFill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77774" y="370522"/>
            <a:ext cx="9045416" cy="674751"/>
            <a:chOff x="477774" y="370522"/>
            <a:chExt cx="9045416" cy="674751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370522"/>
              <a:ext cx="1912547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实操 3：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173224" y="370522"/>
              <a:ext cx="73499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成果可检查，模型说明不覆盖事实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95300" y="1333500"/>
            <a:ext cx="5219700" cy="4838700"/>
            <a:chOff x="495300" y="1333500"/>
            <a:chExt cx="5219700" cy="4838700"/>
          </a:xfrm>
        </p:grpSpPr>
        <p:sp>
          <p:nvSpPr>
            <p:cNvPr id="8" name="Rectangle 8"/>
            <p:cNvSpPr/>
            <p:nvPr/>
          </p:nvSpPr>
          <p:spPr>
            <a:xfrm>
              <a:off x="495300" y="1333500"/>
              <a:ext cx="5219700" cy="4838700"/>
            </a:xfrm>
            <a:prstGeom prst="roundRect">
              <a:avLst>
                <a:gd name="adj" fmla="val 1181"/>
              </a:avLst>
            </a:prstGeom>
            <a:solidFill>
              <a:srgbClr val="FFFFFF"/>
            </a:solidFill>
            <a:ln w="19050">
              <a:solidFill>
                <a:srgbClr val="2E7D32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14756" y="1501140"/>
              <a:ext cx="28141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A. 成果与业务效果分层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8650" y="1869281"/>
              <a:ext cx="4953000" cy="2786062"/>
            </a:xfrm>
            <a:prstGeom prst="rect">
              <a:avLst/>
            </a:prstGeom>
          </p:spPr>
        </p:pic>
        <p:sp>
          <p:nvSpPr>
            <p:cNvPr id="11" name="Rectangle 11"/>
            <p:cNvSpPr/>
            <p:nvPr/>
          </p:nvSpPr>
          <p:spPr>
            <a:xfrm>
              <a:off x="723900" y="4857750"/>
              <a:ext cx="4762500" cy="1104900"/>
            </a:xfrm>
            <a:prstGeom prst="roundRect">
              <a:avLst>
                <a:gd name="adj" fmla="val 5172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857250" y="5048250"/>
              <a:ext cx="190500" cy="1905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55573" y="5063014"/>
              <a:ext cx="32044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真实文件写入隔离 Run 工作区，可下载。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857250" y="5381625"/>
              <a:ext cx="190500" cy="190500"/>
            </a:xfrm>
            <a:prstGeom prst="ellipse">
              <a:avLst/>
            </a:prstGeom>
            <a:solidFill>
              <a:srgbClr val="2E7D3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55573" y="5396389"/>
              <a:ext cx="3389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具名确定性检查与 EffectReceipt 可追溯。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857250" y="5715000"/>
              <a:ext cx="190500" cy="190500"/>
            </a:xfrm>
            <a:prstGeom prst="ellipse">
              <a:avLst/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5573" y="5729764"/>
              <a:ext cx="32741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B2733"/>
                  </a:solidFill>
                  <a:latin typeface="Segoe UI"/>
                  <a:ea typeface="Microsoft YaHei"/>
                  <a:cs typeface="Segoe UI"/>
                </a:rPr>
                <a:t>未付款、未核销等动作继续明确为未发生。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904015" y="1333500"/>
            <a:ext cx="5792685" cy="4838700"/>
            <a:chOff x="5904015" y="1333500"/>
            <a:chExt cx="5792685" cy="4838700"/>
          </a:xfrm>
        </p:grpSpPr>
        <p:sp>
          <p:nvSpPr>
            <p:cNvPr id="19" name="Rectangle 19"/>
            <p:cNvSpPr/>
            <p:nvPr/>
          </p:nvSpPr>
          <p:spPr>
            <a:xfrm>
              <a:off x="5981700" y="1333500"/>
              <a:ext cx="5715000" cy="4838700"/>
            </a:xfrm>
            <a:prstGeom prst="roundRect">
              <a:avLst>
                <a:gd name="adj" fmla="val 1181"/>
              </a:avLst>
            </a:prstGeom>
            <a:solidFill>
              <a:srgbClr val="FFFFFF"/>
            </a:solidFill>
            <a:ln w="19050">
              <a:solidFill>
                <a:srgbClr val="C0362C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01156" y="1501140"/>
              <a:ext cx="41583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B. 模型被调用，不代表说明被采用</a:t>
              </a:r>
            </a:p>
          </p:txBody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050" y="1866900"/>
              <a:ext cx="5448300" cy="4162425"/>
            </a:xfrm>
            <a:prstGeom prst="rect">
              <a:avLst/>
            </a:prstGeom>
          </p:spPr>
        </p:pic>
        <p:sp>
          <p:nvSpPr>
            <p:cNvPr id="22" name="Rectangle 22"/>
            <p:cNvSpPr/>
            <p:nvPr/>
          </p:nvSpPr>
          <p:spPr>
            <a:xfrm>
              <a:off x="6229350" y="1962150"/>
              <a:ext cx="2209800" cy="304800"/>
            </a:xfrm>
            <a:prstGeom prst="roundRect">
              <a:avLst>
                <a:gd name="adj" fmla="val 18750"/>
              </a:avLst>
            </a:prstGeom>
            <a:solidFill>
              <a:srgbClr val="C0362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04015" y="2034064"/>
              <a:ext cx="28604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called=true · output_used=false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88823" y="6282214"/>
            <a:ext cx="7087362" cy="249364"/>
            <a:chOff x="488823" y="6282214"/>
            <a:chExt cx="7087362" cy="249364"/>
          </a:xfrm>
        </p:grpSpPr>
        <p:sp>
          <p:nvSpPr>
            <p:cNvPr id="25" name="TextBox 25"/>
            <p:cNvSpPr txBox="1"/>
            <p:nvPr/>
          </p:nvSpPr>
          <p:spPr>
            <a:xfrm>
              <a:off x="488823" y="6282214"/>
              <a:ext cx="91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54708"/>
                  </a:solidFill>
                  <a:latin typeface="Segoe UI Semibold"/>
                  <a:ea typeface="Microsoft YaHei"/>
                  <a:cs typeface="Segoe UI Semibold"/>
                </a:rPr>
                <a:t>当前边界：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84173" y="6282214"/>
              <a:ext cx="61920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固定检查证明特定字段与效果，不是通用语义真值证明器；前台仍要求人工复核。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89966" y="6592252"/>
            <a:ext cx="11212068" cy="205359"/>
            <a:chOff x="489966" y="6592252"/>
            <a:chExt cx="11212068" cy="205359"/>
          </a:xfrm>
        </p:grpSpPr>
        <p:sp>
          <p:nvSpPr>
            <p:cNvPr id="28" name="TextBox 28"/>
            <p:cNvSpPr txBox="1"/>
            <p:nvPr/>
          </p:nvSpPr>
          <p:spPr>
            <a:xfrm>
              <a:off x="489966" y="6592252"/>
              <a:ext cx="46752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交互变化：先展示可用成果与检查回执，再解释模型说明是否采用及其原因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17840" y="659225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20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7F8FA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71450" cy="6858000"/>
            </a:xfrm>
            <a:prstGeom prst="rect">
              <a:avLst/>
            </a:prstGeom>
            <a:solidFill>
              <a:srgbClr val="1769E0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477774" y="408622"/>
            <a:ext cx="8983630" cy="949262"/>
            <a:chOff x="477774" y="408622"/>
            <a:chExt cx="8983630" cy="949262"/>
          </a:xfrm>
        </p:grpSpPr>
        <p:sp>
          <p:nvSpPr>
            <p:cNvPr id="5" name="TextBox 5"/>
            <p:cNvSpPr txBox="1"/>
            <p:nvPr/>
          </p:nvSpPr>
          <p:spPr>
            <a:xfrm>
              <a:off x="477774" y="408622"/>
              <a:ext cx="898363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下一阶段：把 07-16 方向变成可证伪证据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86156" y="1005840"/>
              <a:ext cx="58338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先闭合可信失败与恢复，再扩大业务效果和外部动作。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95300" y="1962150"/>
            <a:ext cx="11201400" cy="2286000"/>
            <a:chOff x="495300" y="1962150"/>
            <a:chExt cx="11201400" cy="2286000"/>
          </a:xfrm>
        </p:grpSpPr>
        <p:sp>
          <p:nvSpPr>
            <p:cNvPr id="8" name="Freeform 8"/>
            <p:cNvSpPr/>
            <p:nvPr/>
          </p:nvSpPr>
          <p:spPr>
            <a:xfrm>
              <a:off x="495300" y="1962150"/>
              <a:ext cx="2114550" cy="2286000"/>
            </a:xfrm>
            <a:custGeom>
              <a:avLst/>
              <a:gdLst/>
              <a:ahLst/>
              <a:cxnLst/>
              <a:rect l="l" t="t" r="r" b="b"/>
              <a:pathLst>
                <a:path w="2114550" h="2286000">
                  <a:moveTo>
                    <a:pt x="0" y="0"/>
                  </a:moveTo>
                  <a:lnTo>
                    <a:pt x="1828800" y="0"/>
                  </a:lnTo>
                  <a:lnTo>
                    <a:pt x="2114550" y="1143000"/>
                  </a:lnTo>
                  <a:lnTo>
                    <a:pt x="18288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36473" y="2262664"/>
              <a:ext cx="211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769E0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3806" y="2586990"/>
              <a:ext cx="1595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原生 Locator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6473" y="3005614"/>
              <a:ext cx="5479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PDF 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6473" y="3272314"/>
              <a:ext cx="5278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表格行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6473" y="3539014"/>
              <a:ext cx="1394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正文块 + revision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609850" y="1962150"/>
              <a:ext cx="2019300" cy="2286000"/>
            </a:xfrm>
            <a:custGeom>
              <a:avLst/>
              <a:gdLst/>
              <a:ahLst/>
              <a:cxnLst/>
              <a:rect l="l" t="t" r="r" b="b"/>
              <a:pathLst>
                <a:path w="2019300" h="2286000">
                  <a:moveTo>
                    <a:pt x="0" y="0"/>
                  </a:moveTo>
                  <a:lnTo>
                    <a:pt x="1733550" y="0"/>
                  </a:lnTo>
                  <a:lnTo>
                    <a:pt x="2019300" y="1143000"/>
                  </a:lnTo>
                  <a:lnTo>
                    <a:pt x="1733550" y="2286000"/>
                  </a:lnTo>
                  <a:lnTo>
                    <a:pt x="0" y="2286000"/>
                  </a:lnTo>
                  <a:lnTo>
                    <a:pt x="285750" y="1143000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1769E0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984373" y="2262664"/>
              <a:ext cx="211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769E0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81706" y="25869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携证成果包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84373" y="3005614"/>
              <a:ext cx="730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5A6B7C"/>
                  </a:solidFill>
                  <a:latin typeface="Segoe UI"/>
                  <a:ea typeface="Segoe UI"/>
                  <a:cs typeface="Segoe UI"/>
                </a:rPr>
                <a:t>Artifact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84373" y="3272314"/>
              <a:ext cx="12075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5A6B7C"/>
                  </a:solidFill>
                  <a:latin typeface="Segoe UI"/>
                  <a:ea typeface="Segoe UI"/>
                  <a:cs typeface="Segoe UI"/>
                </a:rPr>
                <a:t>EffectReceipt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984373" y="3539014"/>
              <a:ext cx="14976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provenance + 边界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4629150" y="1962150"/>
              <a:ext cx="2019300" cy="2286000"/>
            </a:xfrm>
            <a:custGeom>
              <a:avLst/>
              <a:gdLst/>
              <a:ahLst/>
              <a:cxnLst/>
              <a:rect l="l" t="t" r="r" b="b"/>
              <a:pathLst>
                <a:path w="2019300" h="2286000">
                  <a:moveTo>
                    <a:pt x="0" y="0"/>
                  </a:moveTo>
                  <a:lnTo>
                    <a:pt x="1733550" y="0"/>
                  </a:lnTo>
                  <a:lnTo>
                    <a:pt x="2019300" y="1143000"/>
                  </a:lnTo>
                  <a:lnTo>
                    <a:pt x="1733550" y="2286000"/>
                  </a:lnTo>
                  <a:lnTo>
                    <a:pt x="0" y="2286000"/>
                  </a:lnTo>
                  <a:lnTo>
                    <a:pt x="285750" y="1143000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1769E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003673" y="2262664"/>
              <a:ext cx="211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769E0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01006" y="2586990"/>
              <a:ext cx="16069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业务 Verifier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03673" y="3005614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从固定适配器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03673" y="3272314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扩展到可配置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03673" y="353901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数值与语义规则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648450" y="1962150"/>
              <a:ext cx="2019300" cy="2286000"/>
            </a:xfrm>
            <a:custGeom>
              <a:avLst/>
              <a:gdLst/>
              <a:ahLst/>
              <a:cxnLst/>
              <a:rect l="l" t="t" r="r" b="b"/>
              <a:pathLst>
                <a:path w="2019300" h="2286000">
                  <a:moveTo>
                    <a:pt x="0" y="0"/>
                  </a:moveTo>
                  <a:lnTo>
                    <a:pt x="1733550" y="0"/>
                  </a:lnTo>
                  <a:lnTo>
                    <a:pt x="2019300" y="1143000"/>
                  </a:lnTo>
                  <a:lnTo>
                    <a:pt x="1733550" y="2286000"/>
                  </a:lnTo>
                  <a:lnTo>
                    <a:pt x="0" y="2286000"/>
                  </a:lnTo>
                  <a:lnTo>
                    <a:pt x="285750" y="1143000"/>
                  </a:lnTo>
                  <a:close/>
                </a:path>
              </a:pathLst>
            </a:custGeom>
            <a:solidFill>
              <a:srgbClr val="FFFFFF"/>
            </a:solidFill>
            <a:ln w="19050">
              <a:solidFill>
                <a:srgbClr val="D9770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22973" y="2262664"/>
              <a:ext cx="211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B54708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20306" y="25869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执行能力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022973" y="3005614"/>
              <a:ext cx="11586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5A6B7C"/>
                  </a:solidFill>
                  <a:latin typeface="Segoe UI"/>
                  <a:ea typeface="Segoe UI"/>
                  <a:cs typeface="Segoe UI"/>
                </a:rPr>
                <a:t>Worker / Tool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22973" y="3272314"/>
              <a:ext cx="16299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5A6B7C"/>
                  </a:solidFill>
                  <a:latin typeface="Segoe UI"/>
                  <a:ea typeface="Segoe UI"/>
                  <a:cs typeface="Segoe UI"/>
                </a:rPr>
                <a:t>Connector / Permit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22973" y="3539014"/>
              <a:ext cx="1214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幂等与动作回执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8667750" y="1962150"/>
              <a:ext cx="1981200" cy="2286000"/>
            </a:xfrm>
            <a:custGeom>
              <a:avLst/>
              <a:gdLst/>
              <a:ahLst/>
              <a:cxnLst/>
              <a:rect l="l" t="t" r="r" b="b"/>
              <a:pathLst>
                <a:path w="1981200" h="2286000">
                  <a:moveTo>
                    <a:pt x="0" y="0"/>
                  </a:moveTo>
                  <a:lnTo>
                    <a:pt x="1695450" y="0"/>
                  </a:lnTo>
                  <a:lnTo>
                    <a:pt x="1981200" y="1143000"/>
                  </a:lnTo>
                  <a:lnTo>
                    <a:pt x="1695450" y="2286000"/>
                  </a:lnTo>
                  <a:lnTo>
                    <a:pt x="0" y="2286000"/>
                  </a:lnTo>
                  <a:lnTo>
                    <a:pt x="285750" y="1143000"/>
                  </a:lnTo>
                  <a:close/>
                </a:path>
              </a:pathLst>
            </a:custGeom>
            <a:solidFill>
              <a:srgbClr val="EDF1F4"/>
            </a:solidFill>
            <a:ln w="19050">
              <a:solidFill>
                <a:srgbClr val="D9770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42273" y="2262664"/>
              <a:ext cx="2111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B54708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39606" y="25869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同场挑战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042273" y="3005614"/>
              <a:ext cx="15748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固定任务/模型/来源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42273" y="3272314"/>
              <a:ext cx="699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竞品实测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042273" y="3539014"/>
              <a:ext cx="10427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目标用户研究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10648950" y="1962150"/>
              <a:ext cx="1047750" cy="2286000"/>
            </a:xfrm>
            <a:custGeom>
              <a:avLst/>
              <a:gdLst/>
              <a:ahLst/>
              <a:cxnLst/>
              <a:rect l="l" t="t" r="r" b="b"/>
              <a:pathLst>
                <a:path w="1047750" h="2286000">
                  <a:moveTo>
                    <a:pt x="0" y="0"/>
                  </a:moveTo>
                  <a:lnTo>
                    <a:pt x="1047750" y="0"/>
                  </a:lnTo>
                  <a:lnTo>
                    <a:pt x="1047750" y="2286000"/>
                  </a:lnTo>
                  <a:lnTo>
                    <a:pt x="0" y="2286000"/>
                  </a:lnTo>
                  <a:lnTo>
                    <a:pt x="285750" y="1143000"/>
                  </a:lnTo>
                  <a:close/>
                </a:path>
              </a:pathLst>
            </a:custGeom>
            <a:solidFill>
              <a:srgbClr val="132A3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791558" y="249174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已验证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18774" y="28155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Segoe UI Semibold"/>
                  <a:ea typeface="Microsoft YaHei"/>
                  <a:cs typeface="Segoe UI Semibold"/>
                </a:rPr>
                <a:t>差异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894314" y="33728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通过门后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752963" y="3601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CBD5DF"/>
                  </a:solidFill>
                  <a:latin typeface="Segoe UI"/>
                  <a:ea typeface="Microsoft YaHei"/>
                  <a:cs typeface="Segoe UI"/>
                </a:rPr>
                <a:t>才可升级结论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483108" y="4712970"/>
            <a:ext cx="7826959" cy="888492"/>
            <a:chOff x="483108" y="4712970"/>
            <a:chExt cx="7826959" cy="888492"/>
          </a:xfrm>
        </p:grpSpPr>
        <p:sp>
          <p:nvSpPr>
            <p:cNvPr id="44" name="TextBox 44"/>
            <p:cNvSpPr txBox="1"/>
            <p:nvPr/>
          </p:nvSpPr>
          <p:spPr>
            <a:xfrm>
              <a:off x="483108" y="4712970"/>
              <a:ext cx="605649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32A3A"/>
                  </a:solidFill>
                  <a:latin typeface="Segoe UI Semibold"/>
                  <a:ea typeface="Microsoft YaHei"/>
                  <a:cs typeface="Segoe UI Semibold"/>
                </a:rPr>
                <a:t>Office Agent 的产品，不是一段回答；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83108" y="5132070"/>
              <a:ext cx="782695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769E0"/>
                  </a:solidFill>
                  <a:latin typeface="Segoe UI Semibold"/>
                  <a:ea typeface="Microsoft YaHei"/>
                  <a:cs typeface="Segoe UI Semibold"/>
                </a:rPr>
                <a:t>而是一份可复核、可恢复、可追责的当前工作结论。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95300" y="5810250"/>
            <a:ext cx="11201400" cy="419100"/>
            <a:chOff x="495300" y="5810250"/>
            <a:chExt cx="11201400" cy="419100"/>
          </a:xfrm>
        </p:grpSpPr>
        <p:sp>
          <p:nvSpPr>
            <p:cNvPr id="47" name="Rectangle 47"/>
            <p:cNvSpPr/>
            <p:nvPr/>
          </p:nvSpPr>
          <p:spPr>
            <a:xfrm>
              <a:off x="495300" y="5810250"/>
              <a:ext cx="11201400" cy="419100"/>
            </a:xfrm>
            <a:prstGeom prst="roundRect">
              <a:avLst>
                <a:gd name="adj" fmla="val 13636"/>
              </a:avLst>
            </a:prstGeom>
            <a:solidFill>
              <a:srgbClr val="EDF1F4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17423" y="5939314"/>
              <a:ext cx="5861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A6B7C"/>
                  </a:solidFill>
                  <a:latin typeface="Segoe UI"/>
                  <a:ea typeface="Microsoft YaHei"/>
                  <a:cs typeface="Segoe UI"/>
                </a:rPr>
                <a:t>当前不证明全面领先 · 不证明生产 SLA · 不证明用户已经更信任或更高效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89966" y="6458902"/>
            <a:ext cx="11212068" cy="205359"/>
            <a:chOff x="489966" y="6458902"/>
            <a:chExt cx="11212068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489966" y="6458902"/>
              <a:ext cx="56392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7C8A98"/>
                  </a:solidFill>
                  <a:latin typeface="Segoe UI"/>
                  <a:ea typeface="Microsoft YaHei"/>
                  <a:cs typeface="Segoe UI"/>
                </a:rPr>
                <a:t>研究路线依据：MCP · A2A · W3C PROV-O · Microsoft HAI Guidelines · Google HEART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17840" y="64589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050" dirty="0">
                  <a:solidFill>
                    <a:srgbClr val="7C8A98"/>
                  </a:solidFill>
                  <a:latin typeface="Consolas"/>
                  <a:ea typeface="Consolas"/>
                  <a:cs typeface="Consolas"/>
                </a:rPr>
                <a:t>21 / 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2026-08-29T16:23:51Z</dcterms:created>
  <dcterms:modified xsi:type="dcterms:W3CDTF">2026-08-29T16:23:51Z</dcterms:modified>
  <cp:category/>
  <cp:contentStatus/>
</cp:coreProperties>
</file>
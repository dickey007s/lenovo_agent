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这次汇报大部分内容沿用 07-16 的主线：未来办公 Agent 不是把聊天做得更长，而是让工作在持续、协作、治理和交付四个方向上收敛。右侧是当前系统真实 Workspace，15 个目录、96 份输入文件说明我们已经把抽象架构放进一个固定办公资料环境。今天新增的重点只有两个：第一，主流方案现在发展到哪里；第二，技术差异怎样具体改变用户动作和前台反馈。当前截图来自公开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>
            <a:endParaRPr lang="en-US" dirty="0"/>
          </a:p>
          <a:p>
            <a:r>
              <a:rPr lang="zh-CN" dirty="0"/>
              <a:t>转场：先看 07-16 的三个 Demo 分工在当前版本里发生了什么变化。</a:t>
            </a:r>
          </a:p>
          <a:p>
            <a:endParaRPr lang="en-US" dirty="0"/>
          </a:p>
          <a:p>
            <a:r>
              <a:rPr lang="zh-CN" dirty="0"/>
              <a:t>证据/边界：当前系统实测；不把截图当作正式用户研究。</a:t>
            </a:r>
          </a:p>
          <a:p>
            <a:endParaRPr lang="en-US" dirty="0"/>
          </a:p>
          <a:p>
            <a:r>
              <a:rPr lang="zh-CN" dirty="0"/>
              <a:t>预期问题：这次相对 07-16 到底新增了什么，而不是换了一套说法？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07-16 把三个 Demo 分成时间连续性、复杂任务组织和动作风险。这个分工保留不变。当前版本真正补上的，是把每个 Demo 的进展落到 Workspace 范围、Branch 证据门、真实 Artifact 和未执行边界。对用户而言，界面不再只说 Agent 正在运行，而要说明为什么停、从哪里继续、谁在做、依赖什么、确认后会改变什么。这里的设计依据来自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>
            <a:endParaRPr lang="en-US" dirty="0"/>
          </a:p>
          <a:p>
            <a:r>
              <a:rPr lang="zh-CN" dirty="0"/>
              <a:t>转场：下面回到 07-16 的核心架构，解释这些状态由谁负责。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；https://arxiv.org/abs/2210.03629</a:t>
            </a:r>
          </a:p>
          <a:p>
            <a:endParaRPr lang="en-US" dirty="0"/>
          </a:p>
          <a:p>
            <a:r>
              <a:rPr lang="zh-CN" dirty="0"/>
              <a:t>预期问题：为什么一定要拆成三个 Demo，而不是做一个大而全的 Agent？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>
            <a:endParaRPr lang="en-US" dirty="0"/>
          </a:p>
          <a:p>
            <a:r>
              <a:rPr lang="zh-CN" dirty="0"/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Swarm，它面向高价值、跨来源、可并行的复杂工作，目标是用 Admission、Supervisor、多 Worker、共享成果和 Resolver 处理组织维复杂性；这部分当前还没有通用实现。</a:t>
            </a:r>
          </a:p>
          <a:p>
            <a:endParaRPr lang="en-US" dirty="0"/>
          </a:p>
          <a:p>
            <a:r>
              <a:rPr lang="zh-CN" dirty="0"/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>
            <a:endParaRPr lang="en-US" dirty="0"/>
          </a:p>
          <a:p>
            <a:r>
              <a:rPr lang="zh-CN" dirty="0"/>
              <a:t>转场：下一页把底座拆成八个稳定职责，并说明每两个模块共同回答一个用户问题。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>
            <a:endParaRPr lang="en-US" dirty="0"/>
          </a:p>
          <a:p>
            <a:r>
              <a:rPr lang="zh-CN" dirty="0"/>
              <a:t>预期问题：为什么不把所有任务都放进 Loop 或 Swarm？因为增强层有额外状态与协调成本，只有任务的时间跨度和组织复杂度值得时才应启用。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八个模块不是八个前台页面，而是一次任务从定范围到可恢复的四段责任链。</a:t>
            </a:r>
          </a:p>
          <a:p>
            <a:endParaRPr lang="en-US" dirty="0"/>
          </a:p>
          <a:p>
            <a:r>
              <a:rPr lang="zh-CN" dirty="0"/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>
            <a:endParaRPr lang="en-US" dirty="0"/>
          </a:p>
          <a:p>
            <a:r>
              <a:rPr lang="zh-CN" dirty="0"/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>
            <a:endParaRPr lang="en-US" dirty="0"/>
          </a:p>
          <a:p>
            <a:r>
              <a:rPr lang="zh-CN" dirty="0"/>
              <a:t>第三段是“推进执行”。Scheduler &amp; Worker Manager 决定哪个分支先做、何时等待、何时恢复；Tool Gateway 应统一真实工具的授权、超时、幂等和回执。当前只有受限单 Controller 的纵切，通用 Worker 与 Tool Gateway 仍是目标。前台要回答的是“现在做到哪一步、哪个分支受影响、动作是否真的执行”。</a:t>
            </a:r>
          </a:p>
          <a:p>
            <a:endParaRPr lang="en-US" dirty="0"/>
          </a:p>
          <a:p>
            <a:r>
              <a:rPr lang="zh-CN" dirty="0"/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>
            <a:endParaRPr lang="en-US" dirty="0"/>
          </a:p>
          <a:p>
            <a:r>
              <a:rPr lang="zh-CN" dirty="0"/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>
            <a:endParaRPr lang="en-US" dirty="0"/>
          </a:p>
          <a:p>
            <a:r>
              <a:rPr lang="zh-CN" dirty="0"/>
              <a:t>转场：这些职责为什么会逐步出现，下一页沿技术演进解释系统责任如何外扩。</a:t>
            </a:r>
          </a:p>
          <a:p>
            <a:endParaRPr lang="en-US" dirty="0"/>
          </a:p>
          <a:p>
            <a:r>
              <a:rPr lang="zh-CN" dirty="0"/>
              <a:t>证据/边界：当前系统实测；ReAct、LangGraph、MCP 与 A2A 只作线上架构参照。</a:t>
            </a:r>
          </a:p>
          <a:p>
            <a:endParaRPr lang="en-US" dirty="0"/>
          </a:p>
          <a:p>
            <a:r>
              <a:rPr lang="zh-CN" dirty="0"/>
              <a:t>预期问题：八个模块会不会让前台更复杂？不会要求用户操作模块名，但必须把模块产生的关键状态翻译成业务语言。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>
            <a:endParaRPr lang="en-US" dirty="0"/>
          </a:p>
          <a:p>
            <a:r>
              <a:rPr lang="zh-CN" dirty="0"/>
              <a:t>转场：接下来不按功能打勾，而按用户实际审查的对象看主流方案。</a:t>
            </a:r>
          </a:p>
          <a:p>
            <a:endParaRPr lang="en-US" dirty="0"/>
          </a:p>
          <a:p>
            <a:r>
              <a:rPr lang="zh-CN" dirty="0"/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>
            <a:endParaRPr lang="en-US" dirty="0"/>
          </a:p>
          <a:p>
            <a:r>
              <a:rPr lang="zh-CN" dirty="0"/>
              <a:t>预期问题：Loop Engineering 是正式术语还是本方案的归纳？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Microsoft 365 Copilot 让用户引用文件、邮件、会议和站点；ChatGPT deep research 让用户审研究计划、来源、实时进度和带引用报告；Codex App 把 Task、隔离工作区、Diff 和审查队列做成核心对象；Claude Code 围绕项目会话、工具动作和验证结果；OpenClaw 围绕 Gateway Task、路由、会话与审批；ReAct 提供 Action-Observation 的基础循环。这里不做胜负判断，也不从官方文档未提及推断竞品做不到。Office Agent 的候选差异，是把资料、业务结论、成果、人工决定和未执行边界放进同一审查链。</a:t>
            </a:r>
          </a:p>
          <a:p>
            <a:endParaRPr lang="en-US" dirty="0"/>
          </a:p>
          <a:p>
            <a:r>
              <a:rPr lang="zh-CN" dirty="0"/>
              <a:t>转场：这个差异只有落到用户流程上才有意义。</a:t>
            </a:r>
          </a:p>
          <a:p>
            <a:endParaRPr lang="en-US" dirty="0"/>
          </a:p>
          <a:p>
            <a:r>
              <a:rPr lang="zh-CN" dirty="0"/>
              <a:t>证据/边界：https://support.microsoft.com/en-US/Microsoft-365-Copilot/refer-to-specific-files-and-more-in-microsoft-365-copilot ；https://help.openai.com/en/articles/10500283-deep-research ；https://openai.com/index/introducing-the-codex-app/ ；https://code.claude.com/docs/en/how-claude-code-works ；https://docs.openclaw.ai/automation/tasks ；https://arxiv.org/abs/2210.03629</a:t>
            </a:r>
          </a:p>
          <a:p>
            <a:endParaRPr lang="en-US" dirty="0"/>
          </a:p>
          <a:p>
            <a:r>
              <a:rPr lang="zh-CN" dirty="0"/>
              <a:t>预期问题：你们能否证明这些产品没有类似的业务治理能力？答案是不能，尚未同场实测。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>
            <a:endParaRPr lang="en-US" dirty="0"/>
          </a:p>
          <a:p>
            <a:r>
              <a:rPr lang="zh-CN" dirty="0"/>
              <a:t>转场：当这条流程跨多轮运行，风险会被循环放大。</a:t>
            </a:r>
          </a:p>
          <a:p>
            <a:endParaRPr lang="en-US" dirty="0"/>
          </a:p>
          <a:p>
            <a:r>
              <a:rPr lang="zh-CN" dirty="0"/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预期问题：为什么不让模型自己判断哪些输出可信？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受影响、如何暂停恢复或接管。这里不能夸大当前实现：系统最多三轮，pause 和 stop 只在模型调用之间的安全点生效，也不会硬取消在途 HTTP。它解决了一部分状态透明与局部恢复问题，还不是无限自治的长任务执行器。</a:t>
            </a:r>
          </a:p>
          <a:p>
            <a:endParaRPr lang="en-US" dirty="0"/>
          </a:p>
          <a:p>
            <a:r>
              <a:rPr lang="zh-CN" dirty="0"/>
              <a:t>转场：下一页把 Observe、Plan、Act、Verify、Commit 和外围控制放在一起看。</a:t>
            </a:r>
          </a:p>
          <a:p>
            <a:endParaRPr lang="en-US" dirty="0"/>
          </a:p>
          <a:p>
            <a:r>
              <a:rPr lang="zh-CN" dirty="0"/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预期问题：三轮预算是否足够？当前只能说它是固定上限，不是所有任务的合理预算。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>
            <a:endParaRPr lang="en-US" dirty="0"/>
          </a:p>
          <a:p>
            <a:r>
              <a:rPr lang="zh-CN" dirty="0"/>
              <a:t>转场：下面不再讲抽象模块，直接看六个办公场景。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；https://a2a-protocol.org/dev/specification/</a:t>
            </a:r>
          </a:p>
          <a:p>
            <a:endParaRPr lang="en-US" dirty="0"/>
          </a:p>
          <a:p>
            <a:r>
              <a:rPr lang="zh-CN" dirty="0"/>
              <a:t>预期问题：什么时候可以把它称为完整 Control Loop？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>
            <a:endParaRPr lang="en-US" dirty="0"/>
          </a:p>
          <a:p>
            <a:r>
              <a:rPr lang="zh-CN" dirty="0"/>
              <a:t>转场：先从用户反馈最强烈的入职资产匹配开始。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预期问题：这些场景是不是为了 Demo 人工定制？答案是固定适配器范围内验证，尚未通用化。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>
            <a:endParaRPr lang="en-US" dirty="0"/>
          </a:p>
          <a:p>
            <a:r>
              <a:rPr lang="zh-CN" dirty="0"/>
              <a:t>转场：下一页继续回答“三期输入为什么只有两类统计文件”。</a:t>
            </a:r>
          </a:p>
          <a:p>
            <a:endParaRPr lang="en-US" dirty="0"/>
          </a:p>
          <a:p>
            <a:r>
              <a:rPr lang="zh-CN" dirty="0"/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>
            <a:endParaRPr lang="en-US" dirty="0"/>
          </a:p>
          <a:p>
            <a:r>
              <a:rPr lang="zh-CN" dirty="0"/>
              <a:t>预期问题：为什么服务端不能总是一次定位准确？因为当前主要依靠逐字 quote 与安全预览匹配，格式原生 Locator 仍需补齐。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>
            <a:endParaRPr lang="en-US" dirty="0"/>
          </a:p>
          <a:p>
            <a:r>
              <a:rPr lang="zh-CN" dirty="0"/>
              <a:t>转场：财务判断要保留人工门，招聘和法务更是如此。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；数字仅属于当前固定来源版本。</a:t>
            </a:r>
          </a:p>
          <a:p>
            <a:endParaRPr lang="en-US" dirty="0"/>
          </a:p>
          <a:p>
            <a:r>
              <a:rPr lang="zh-CN" dirty="0"/>
              <a:t>预期问题：0 条候选是否等于不存在僵尸账款？不等于，只表示这套固定启发式没有命中。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>
            <a:endParaRPr lang="en-US" dirty="0"/>
          </a:p>
          <a:p>
            <a:r>
              <a:rPr lang="zh-CN" dirty="0"/>
              <a:t>转场：有了人工门，还要继续区分“形成方案”和“执行动作”。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；自动化只验证固定成果，不验证公平性、法律适用性或业务效果。</a:t>
            </a:r>
          </a:p>
          <a:p>
            <a:endParaRPr lang="en-US" dirty="0"/>
          </a:p>
          <a:p>
            <a:r>
              <a:rPr lang="zh-CN" dirty="0"/>
              <a:t>预期问题：候选建议是否可能放大偏见？可能，因此需要规则、证据、隐私与人工复核共同约束。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>
            <a:endParaRPr lang="en-US" dirty="0"/>
          </a:p>
          <a:p>
            <a:r>
              <a:rPr lang="zh-CN" dirty="0"/>
              <a:t>转场：最后一个场景处理的是模型说明和确定性成果互相冲突。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；https://www.w3.org/TR/prov-o/</a:t>
            </a:r>
          </a:p>
          <a:p>
            <a:endParaRPr lang="en-US" dirty="0"/>
          </a:p>
          <a:p>
            <a:r>
              <a:rPr lang="zh-CN" dirty="0"/>
              <a:t>预期问题：未来接入 Connector 后如何防止重复动作？需要 Permit、版本、幂等和执行回执共同约束。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>
            <a:endParaRPr lang="en-US" dirty="0"/>
          </a:p>
          <a:p>
            <a:r>
              <a:rPr lang="zh-CN" dirty="0"/>
              <a:t>转场：从这些场景回到前台，用户真正需要先回答的只有五个问题。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</a:t>
            </a:r>
          </a:p>
          <a:p>
            <a:endParaRPr lang="en-US" dirty="0"/>
          </a:p>
          <a:p>
            <a:r>
              <a:rPr lang="zh-CN" dirty="0"/>
              <a:t>预期问题：一致就一定正确吗？不一定，一致只说明结构化事实没有冲突。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>
            <a:endParaRPr lang="en-US" dirty="0"/>
          </a:p>
          <a:p>
            <a:r>
              <a:rPr lang="zh-CN" dirty="0"/>
              <a:t>转场：接下来用四页真实界面，把前面讲的系统纵切完整走一遍。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预期问题：怎样证明界面真的更清晰？需要目标用户任务测试，不是更多截图。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这页回答最直接的问题：我们到底做了什么。不是又做了一张 Agent 对话页面，而是把一条办公任务纵切跑通了。</a:t>
            </a:r>
          </a:p>
          <a:p>
            <a:endParaRPr lang="en-US" dirty="0"/>
          </a:p>
          <a:p>
            <a:r>
              <a:rPr lang="zh-CN" dirty="0"/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>
            <a:endParaRPr lang="en-US" dirty="0"/>
          </a:p>
          <a:p>
            <a:r>
              <a:rPr lang="zh-CN" dirty="0"/>
              <a:t>右侧不是概念图，而是当前系统完成 TC-01 后的完整运行界面：左侧是资料库，中间是任务、Agent 路径和成果，右侧是有序 Control Loop 记录。</a:t>
            </a:r>
          </a:p>
          <a:p>
            <a:endParaRPr lang="en-US" dirty="0"/>
          </a:p>
          <a:p>
            <a:r>
              <a:rPr lang="zh-CN" dirty="0"/>
              <a:t>这条链已经证明的是固定公开数据上的受限纵切；尚未证明的是通用语义正确、任意办公文件写入、生产级 Connector 和生产 SLA。</a:t>
            </a:r>
          </a:p>
          <a:p>
            <a:endParaRPr lang="en-US" dirty="0"/>
          </a:p>
          <a:p>
            <a:r>
              <a:rPr lang="zh-CN" dirty="0"/>
              <a:t>转场：下一页从用户输入开始，看“自主选择资料”具体怎样发生。</a:t>
            </a:r>
          </a:p>
          <a:p>
            <a:endParaRPr lang="en-US" dirty="0"/>
          </a:p>
          <a:p>
            <a:r>
              <a:rPr lang="zh-CN" dirty="0"/>
              <a:t>证据/边界：当前系统实测；截图来自固定公开数据运行，不是竞品对照或生产环境。</a:t>
            </a:r>
          </a:p>
          <a:p>
            <a:endParaRPr lang="en-US" dirty="0"/>
          </a:p>
          <a:p>
            <a:r>
              <a:rPr lang="zh-CN" dirty="0"/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>
            <a:endParaRPr lang="en-US" dirty="0"/>
          </a:p>
          <a:p>
            <a:r>
              <a:rPr lang="zh-CN" dirty="0"/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>
            <a:endParaRPr lang="en-US" dirty="0"/>
          </a:p>
          <a:p>
            <a:r>
              <a:rPr lang="zh-CN" dirty="0"/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>
            <a:endParaRPr lang="en-US" dirty="0"/>
          </a:p>
          <a:p>
            <a:r>
              <a:rPr lang="zh-CN" dirty="0"/>
              <a:t>这里不能把“自主选择资料”说成“已经穷举所有相关资料”。当前最多三轮，选择仍可能不完整，所以完成结果仍需证据核对、成果检查和人工复核。</a:t>
            </a:r>
          </a:p>
          <a:p>
            <a:endParaRPr lang="en-US" dirty="0"/>
          </a:p>
          <a:p>
            <a:r>
              <a:rPr lang="zh-CN" dirty="0"/>
              <a:t>转场：如果选择到的来源文字不能唯一定位，系统不会把整项任务推倒重来。</a:t>
            </a:r>
          </a:p>
          <a:p>
            <a:endParaRPr lang="en-US" dirty="0"/>
          </a:p>
          <a:p>
            <a:r>
              <a:rPr lang="zh-CN" dirty="0"/>
              <a:t>证据/边界：当前系统实测；全库范围、服务端 Planner 和前台 Trace 的显示均以本次 Snapshot 为准。</a:t>
            </a:r>
          </a:p>
          <a:p>
            <a:endParaRPr lang="en-US" dirty="0"/>
          </a:p>
          <a:p>
            <a:r>
              <a:rPr lang="zh-CN" dirty="0"/>
              <a:t>预期问题：为什么不把全部 96 份文件都交给模型？因为服务端需要控制上下文、成本和来源范围，并保留每轮选择依据。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>
            <a:endParaRPr lang="en-US" dirty="0"/>
          </a:p>
          <a:p>
            <a:r>
              <a:rPr lang="zh-CN" dirty="0"/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>
            <a:endParaRPr lang="en-US" dirty="0"/>
          </a:p>
          <a:p>
            <a:r>
              <a:rPr lang="zh-CN" dirty="0"/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>
            <a:endParaRPr lang="en-US" dirty="0"/>
          </a:p>
          <a:p>
            <a:r>
              <a:rPr lang="zh-CN" dirty="0"/>
              <a:t>用户确认后，只恢复目标 Branch。已完成 ArtifactVersion、其他 Branch 和已有核对记录不被覆盖。这是局部恢复和整轮重跑在用户体验上的关键差别。</a:t>
            </a:r>
          </a:p>
          <a:p>
            <a:endParaRPr lang="en-US" dirty="0"/>
          </a:p>
          <a:p>
            <a:r>
              <a:rPr lang="zh-CN" dirty="0"/>
              <a:t>转场：最后看成果已经生成后，系统如何区分文件事实、业务效果和模型说明。</a:t>
            </a:r>
          </a:p>
          <a:p>
            <a:endParaRPr lang="en-US" dirty="0"/>
          </a:p>
          <a:p>
            <a:r>
              <a:rPr lang="zh-CN" dirty="0"/>
              <a:t>证据/边界：当前系统实测；位置确认只证明 locator 与来源成员关系，不证明自然语言蕴含、穷举或算术全面正确。</a:t>
            </a:r>
          </a:p>
          <a:p>
            <a:endParaRPr lang="en-US" dirty="0"/>
          </a:p>
          <a:p>
            <a:r>
              <a:rPr lang="zh-CN" dirty="0"/>
              <a:t>预期问题：为什么还要人选位置？格式原生 Locator 尚未完全覆盖，当前保留可审计的人工决定比服务端猜一个位置更稳妥。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>
            <a:endParaRPr lang="en-US" dirty="0"/>
          </a:p>
          <a:p>
            <a:r>
              <a:rPr lang="zh-CN" dirty="0"/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>
            <a:endParaRPr lang="en-US" dirty="0"/>
          </a:p>
          <a:p>
            <a:r>
              <a:rPr lang="zh-CN" dirty="0"/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>
            <a:endParaRPr lang="en-US" dirty="0"/>
          </a:p>
          <a:p>
            <a:r>
              <a:rPr lang="zh-CN" dirty="0"/>
              <a:t>当前边界仍然清楚：固定检查只证明特定字段、结构和效果，不是通用语义真值证明器；成果通过也不代表业务价值或最终判断自动成立。</a:t>
            </a:r>
          </a:p>
          <a:p>
            <a:endParaRPr lang="en-US" dirty="0"/>
          </a:p>
          <a:p>
            <a:r>
              <a:rPr lang="zh-CN" dirty="0"/>
              <a:t>转场：有了这条当前纵切，下面把它重新放回 07-16 的三个 Demo，分别看时间、组织和动作三个维度哪些已经落地、哪些仍是目标。</a:t>
            </a:r>
          </a:p>
          <a:p>
            <a:endParaRPr lang="en-US" dirty="0"/>
          </a:p>
          <a:p>
            <a:r>
              <a:rPr lang="zh-CN" dirty="0"/>
              <a:t>证据/边界：当前系统实测；固定成果适配器与叙事对账覆盖既定场景，不外推到任意办公任务。</a:t>
            </a:r>
          </a:p>
          <a:p>
            <a:endParaRPr lang="en-US" dirty="0"/>
          </a:p>
          <a:p>
            <a:r>
              <a:rPr lang="zh-CN" dirty="0"/>
              <a:t>预期问题：固定检查会不会把模型变得多余？不会，模型仍负责规划、跨资料归纳和提出候选；确定性检查负责约束可复算事实。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>
            <a:endParaRPr lang="en-US" dirty="0"/>
          </a:p>
          <a:p>
            <a:r>
              <a:rPr lang="zh-CN" dirty="0"/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>
            <a:endParaRPr lang="en-US" dirty="0"/>
          </a:p>
          <a:p>
            <a:r>
              <a:rPr lang="zh-CN" dirty="0"/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>
            <a:endParaRPr lang="en-US" dirty="0"/>
          </a:p>
          <a:p>
            <a:r>
              <a:rPr lang="zh-CN" dirty="0"/>
              <a:t>前台变化是用户不必重开对话、重讲背景；他在同一任务里看见哪个分支完成、哪个分支为何停、选择后恢复什么、旧成果是否保留。</a:t>
            </a:r>
          </a:p>
          <a:p>
            <a:endParaRPr lang="en-US" dirty="0"/>
          </a:p>
          <a:p>
            <a:r>
              <a:rPr lang="zh-CN" dirty="0"/>
              <a:t>转场：时间连续性解决以后，Demo 2 处理的是同时有很多待办和复杂分工时，工作如何被组织。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预期问题：现在已经支持手机和电脑控制同一生产任务吗？没有，当前证明的是服务端状态、分支与恢复机制，生产身份和跨端控制仍是目标。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2 保留 07-16 的智能工作驾驶舱。驾驶舱先聚合邮件、CRM、项目、报销和日历中的工作信号，生成今日重点，解释截止时间、客户等级和业务影响，并允许用户调整本次优先级。</a:t>
            </a:r>
          </a:p>
          <a:p>
            <a:endParaRPr lang="en-US" dirty="0"/>
          </a:p>
          <a:p>
            <a:r>
              <a:rPr lang="zh-CN" dirty="0"/>
              <a:t>随后每项待办走成本合适的路径。简单查证用 Tool Call，独立草稿用 Single Agent，稳定重复任务用 Fixed Workflow，只有高价值、跨来源、可并行且预算可承受的任务才进入 Adaptive Swarm。Swarm Admission 通过后，Supervisor 根据覆盖度和依赖生成 Worker；Worker 围绕 Shared Artifact 协作；Verifier 检查事实和成果，Conflict Resolver 只在冲突时介入；最终统一结果、待确认项和 Trace 回到同一个驾驶舱。</a:t>
            </a:r>
          </a:p>
          <a:p>
            <a:endParaRPr lang="en-US" dirty="0"/>
          </a:p>
          <a:p>
            <a:r>
              <a:rPr lang="zh-CN" dirty="0"/>
              <a:t>这一设计的交互价值不是“屏幕上出现更多 Agent”，而是用户只管理优先级、路由理由和统一成果，不需要在多个会话之间搬运上下文。系统还要解释为什么选择某条执行路径、Swarm 增加的质量或速度收益是否值得协调成本。</a:t>
            </a:r>
          </a:p>
          <a:p>
            <a:endParaRPr lang="en-US" dirty="0"/>
          </a:p>
          <a:p>
            <a:r>
              <a:rPr lang="zh-CN" dirty="0"/>
              <a:t>当前产品没有通用多 Worker Runtime，也没有完整 Swarm Admission、Supervisor 和 Resolver。现状是单 Controller、服务端 Branch 与固定成果适配器。这一页明确保留 07-16 的目标产品形态，作为后续架构与用户研究方向，不写成现行能力。</a:t>
            </a:r>
          </a:p>
          <a:p>
            <a:endParaRPr lang="en-US" dirty="0"/>
          </a:p>
          <a:p>
            <a:r>
              <a:rPr lang="zh-CN" dirty="0"/>
              <a:t>转场：无论任务由单 Agent、Workflow 还是 Swarm 完成，只要下一步涉及真实发送、付款或生产变更，都要进入 Demo 3 的动作风险门。</a:t>
            </a:r>
          </a:p>
          <a:p>
            <a:endParaRPr lang="en-US" dirty="0"/>
          </a:p>
          <a:p>
            <a:r>
              <a:rPr lang="zh-CN" dirty="0"/>
              <a:t>证据/边界：https://docs.openclaw.ai/multi-agent ；https://a2a-protocol.org/dev/specification/ ；https://modelcontextprotocol.io/specification/draft/client/elicitation</a:t>
            </a:r>
          </a:p>
          <a:p>
            <a:endParaRPr lang="en-US" dirty="0"/>
          </a:p>
          <a:p>
            <a:r>
              <a:rPr lang="zh-CN" dirty="0"/>
              <a:t>预期问题：多 Agent 一定比单 Agent 好吗？不一定，只有增量收益高于协调、验证和成本开销时才应该启动。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>
            <a:endParaRPr lang="en-US" dirty="0"/>
          </a:p>
          <a:p>
            <a:r>
              <a:rPr lang="zh-CN" dirty="0"/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>
            <a:endParaRPr lang="en-US" dirty="0"/>
          </a:p>
          <a:p>
            <a:r>
              <a:rPr lang="zh-CN" dirty="0"/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>
            <a:endParaRPr lang="en-US" dirty="0"/>
          </a:p>
          <a:p>
            <a:r>
              <a:rPr lang="zh-CN" dirty="0"/>
              <a:t>前台的直接变化是按钮不能只写“确认”。用户必须先看见对象、影响、证据、风险级别、可逆性和执行回执，才能知道自己的点击究竟会改变什么。</a:t>
            </a:r>
          </a:p>
          <a:p>
            <a:endParaRPr lang="en-US" dirty="0"/>
          </a:p>
          <a:p>
            <a:r>
              <a:rPr lang="zh-CN" dirty="0"/>
              <a:t>转场：三个 Demo 的方向保留，但下一步必须继续用可证伪证据而不是更多概念升级结论。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预期问题：当前是不是已经具备 L0-L5 的生产执行能力？没有，L0-L5 是目标控制模型，当前只有固定成果和未执行边界的有限实现。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Verifier；再引入 Worker、Tool、Connector、Permit 和幂等回执；最后冻结同一任务、模型和来源做竞品同场挑战，并开展目标用户研究。只有这些门通过，“差异候选”才可以升级为“已验证优势”。</a:t>
            </a:r>
          </a:p>
          <a:p>
            <a:endParaRPr lang="en-US" dirty="0"/>
          </a:p>
          <a:p>
            <a:r>
              <a:rPr lang="zh-CN" dirty="0"/>
              <a:t>转场：请评审决定的不是一句“看起来不错”，而是是否同意按这五道门继续生产证据。</a:t>
            </a:r>
          </a:p>
          <a:p>
            <a:endParaRPr lang="en-US" dirty="0"/>
          </a:p>
          <a:p>
            <a:r>
              <a:rPr lang="zh-CN" dirty="0"/>
              <a:t>证据/边界：https://modelcontextprotocol.io/specification/draft/client/elicitation ；https://a2a-protocol.org/dev/specification/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预期问题：当前可以对外承诺什么？只能承诺固定公开数据上的系统实测与明确边界，不承诺全面领先、生产 SLA 或用户价值。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87a38b6a3279434.jpg"/>
  <Relationship Id="rId3" Type="http://schemas.openxmlformats.org/officeDocument/2006/relationships/image" Target="../media/image_134b6f9220a40bf8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64c34752c86912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1f25de3444c79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a128846c02685a.png"/>
  <Relationship Id="rId3" Type="http://schemas.openxmlformats.org/officeDocument/2006/relationships/image" Target="../media/image_8d1c1725b10c83d3.png"/>
  <Relationship Id="rId4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image" Target="../media/image_bb1f25de3444c798.png"/>
  <Relationship Id="rId4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95300" y="62388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1119664"/>
            <a:ext cx="4422056" cy="3362420"/>
            <a:chOff x="590550" y="1119664"/>
            <a:chExt cx="4422056" cy="3362420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119664"/>
              <a:ext cx="3212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延续 07-16 · OFFICE AGENT 技术方案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625918"/>
              <a:ext cx="442205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未来办公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3117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从一次回答到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997518"/>
              <a:ext cx="434223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可治理工作系统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806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技术演进、主流方案、办公场景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1300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与前台交互影响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0550" y="4591050"/>
            <a:ext cx="4607443" cy="1068705"/>
            <a:chOff x="590550" y="4591050"/>
            <a:chExt cx="4607443" cy="1068705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22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个顶层目录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50820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固定办公挑战现场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45910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27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96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49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份输入文件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4973" y="5082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96/96 安全预览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857250"/>
            <a:ext cx="5791200" cy="4762500"/>
            <a:chOff x="5905500" y="857250"/>
            <a:chExt cx="57912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5905500" y="857250"/>
              <a:ext cx="5791200" cy="4762500"/>
            </a:xfrm>
            <a:prstGeom prst="roundRect">
              <a:avLst>
                <a:gd name="adj" fmla="val 12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3610" y="1333500"/>
              <a:ext cx="5554980" cy="385762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019800" y="990600"/>
              <a:ext cx="1600200" cy="285750"/>
            </a:xfrm>
            <a:prstGeom prst="roundRect">
              <a:avLst>
                <a:gd name="adj" fmla="val 20000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174581" y="1069181"/>
              <a:ext cx="128587" cy="121444"/>
              <a:chOff x="6174581" y="1069181"/>
              <a:chExt cx="128587" cy="1214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03156" y="1069181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4288" y="0"/>
                    </a:moveTo>
                    <a:lnTo>
                      <a:pt x="35719" y="0"/>
                    </a:lnTo>
                    <a:lnTo>
                      <a:pt x="50006" y="14288"/>
                    </a:lnTo>
                    <a:lnTo>
                      <a:pt x="85725" y="14288"/>
                    </a:lnTo>
                    <a:cubicBezTo>
                      <a:pt x="93616" y="14288"/>
                      <a:pt x="100012" y="20684"/>
                      <a:pt x="100012" y="28575"/>
                    </a:cubicBez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74581" y="1097756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00012" y="64294"/>
                    </a:move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13373" y="1062514"/>
              <a:ext cx="136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真实 Workspace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4466" y="5277802"/>
              <a:ext cx="3512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 · 自主检索、真实成果与有序 Trace 同屏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439852"/>
            <a:ext cx="11097768" cy="205359"/>
            <a:chOff x="604266" y="6439852"/>
            <a:chExt cx="110977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439852"/>
              <a:ext cx="1783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C8A98"/>
                  </a:solidFill>
                  <a:latin typeface="Segoe UI"/>
                  <a:ea typeface="Segoe UI"/>
                  <a:cs typeface="Segoe UI"/>
                </a:rPr>
                <a:t>Lenovo CAAI · 2026-08-29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784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539932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这次改版带来的能力跃迁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9131" y="519589"/>
              <a:ext cx="8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延续 07-16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78255"/>
            <a:ext cx="9471510" cy="671798"/>
            <a:chOff x="484632" y="1278255"/>
            <a:chExt cx="9471510" cy="67179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78255"/>
              <a:ext cx="75016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三类控制不变，验证对象从“回答”扩展到“真实办公成果”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700689"/>
              <a:ext cx="94673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Demo 1 管时间连续性，Demo 2 管复杂任务组织，Demo 3 管动作风险；当前版本补上 Workspace、Artifact 与证据回开。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5300" y="2286000"/>
            <a:ext cx="11201400" cy="2286000"/>
            <a:chOff x="495300" y="2286000"/>
            <a:chExt cx="112014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49530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5300" y="2286000"/>
              <a:ext cx="3390900" cy="762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0214" y="2605806"/>
              <a:ext cx="219694" cy="224739"/>
              <a:chOff x="760214" y="2605806"/>
              <a:chExt cx="219694" cy="2247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6775" y="2667000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0"/>
                    </a:moveTo>
                    <a:lnTo>
                      <a:pt x="0" y="47625"/>
                    </a:lnTo>
                    <a:lnTo>
                      <a:pt x="23812" y="714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60214" y="2605806"/>
                <a:ext cx="219694" cy="224739"/>
              </a:xfrm>
              <a:custGeom>
                <a:avLst/>
                <a:gdLst/>
                <a:ahLst/>
                <a:cxnLst/>
                <a:rect l="l" t="t" r="r" b="b"/>
                <a:pathLst>
                  <a:path w="219694" h="224739">
                    <a:moveTo>
                      <a:pt x="0" y="96913"/>
                    </a:moveTo>
                    <a:cubicBezTo>
                      <a:pt x="5524" y="42685"/>
                      <a:pt x="50876" y="1245"/>
                      <a:pt x="105381" y="623"/>
                    </a:cubicBezTo>
                    <a:cubicBezTo>
                      <a:pt x="159885" y="0"/>
                      <a:pt x="206172" y="40393"/>
                      <a:pt x="212933" y="94481"/>
                    </a:cubicBezTo>
                    <a:cubicBezTo>
                      <a:pt x="219694" y="148568"/>
                      <a:pt x="184774" y="199112"/>
                      <a:pt x="131794" y="211925"/>
                    </a:cubicBezTo>
                    <a:cubicBezTo>
                      <a:pt x="78813" y="224739"/>
                      <a:pt x="24655" y="195737"/>
                      <a:pt x="5953" y="144538"/>
                    </a:cubicBezTo>
                    <a:moveTo>
                      <a:pt x="0" y="204069"/>
                    </a:moveTo>
                    <a:lnTo>
                      <a:pt x="0" y="144538"/>
                    </a:lnTo>
                    <a:lnTo>
                      <a:pt x="59531" y="1445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513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 · 持续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75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同一任务跨轮推进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423" y="3481864"/>
              <a:ext cx="2215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新增：完整 Workspace 范围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23" y="3767614"/>
              <a:ext cx="2369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新增：Branch 级证据门与恢复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42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前台：为什么停、从哪里继续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7195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71950" y="2286000"/>
              <a:ext cx="3390900" cy="76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460081" y="2619375"/>
              <a:ext cx="178595" cy="190500"/>
              <a:chOff x="4460081" y="2619375"/>
              <a:chExt cx="178595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60081" y="27622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60081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79144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83894" y="26670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507706" y="27027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67238" y="27027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2803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 · 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140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复杂任务按需组织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4073" y="3481864"/>
              <a:ext cx="2589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当前：受限单 Loop 与固定适配器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4073" y="3767614"/>
              <a:ext cx="2282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目标：多 Worker 与共享工件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4073" y="412956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前台：谁在做、依赖什么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48600" y="2286000"/>
              <a:ext cx="38481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48600" y="2286000"/>
              <a:ext cx="3848100" cy="76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096851" y="2607469"/>
              <a:ext cx="232508" cy="214312"/>
              <a:chOff x="8096851" y="2607469"/>
              <a:chExt cx="232508" cy="214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96851" y="26074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55794" y="27741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046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 · 治理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8056" y="3044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真实动作前展示后果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0723" y="3481864"/>
              <a:ext cx="2720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新增：Artifact 与 EffectReceipt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0723" y="3767614"/>
              <a:ext cx="2698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边界：无 Connector 回执即未执行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0723" y="41295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前台：会改变什么、不会发生什么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1550" y="4878705"/>
            <a:ext cx="10096500" cy="700373"/>
            <a:chOff x="971550" y="4878705"/>
            <a:chExt cx="10096500" cy="700373"/>
          </a:xfrm>
        </p:grpSpPr>
        <p:sp>
          <p:nvSpPr>
            <p:cNvPr id="47" name="Freeform 47"/>
            <p:cNvSpPr/>
            <p:nvPr/>
          </p:nvSpPr>
          <p:spPr>
            <a:xfrm>
              <a:off x="1123950" y="5181600"/>
              <a:ext cx="9944100" cy="9525"/>
            </a:xfrm>
            <a:custGeom>
              <a:avLst/>
              <a:gdLst/>
              <a:ahLst/>
              <a:cxnLst/>
              <a:rect l="l" t="t" r="r" b="b"/>
              <a:pathLst>
                <a:path w="9944100" h="9525">
                  <a:moveTo>
                    <a:pt x="0" y="0"/>
                  </a:moveTo>
                  <a:lnTo>
                    <a:pt x="9944100" y="0"/>
                  </a:lnTo>
                </a:path>
              </a:pathLst>
            </a:custGeom>
            <a:noFill/>
            <a:ln w="38100">
              <a:solidFill>
                <a:srgbClr val="1769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1550" y="5029200"/>
              <a:ext cx="304800" cy="3048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56182" y="4878705"/>
              <a:ext cx="6940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核心升级：Agent 的进展必须落到可核对的工作事实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0373" y="5329714"/>
              <a:ext cx="6020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当前系统实测只证明固定公开数据上的工程纵切，不证明生产能力或用户价值。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489966" y="6458902"/>
              <a:ext cx="3244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线上研究依据：Microsoft HAI Guidelines · ReAct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一个底座、两层增强、三类控制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架构主线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565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底座负责每次任务都要有的稳定能力；增强层只在任务变长、变复杂时启用；控制机制贯穿所有层。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6156" y="1596390"/>
            <a:ext cx="3351345" cy="3909060"/>
            <a:chOff x="486156" y="1596390"/>
            <a:chExt cx="3351345" cy="390906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三类控制：决定“能不能继续”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20002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9749" y="2217875"/>
              <a:ext cx="197464" cy="197481"/>
              <a:chOff x="689749" y="2217875"/>
              <a:chExt cx="197464" cy="19748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80256" y="230425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38981" y="22629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51594" y="0"/>
                    </a:moveTo>
                    <a:cubicBezTo>
                      <a:pt x="23099" y="0"/>
                      <a:pt x="0" y="23099"/>
                      <a:pt x="0" y="51594"/>
                    </a:cubicBez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89749" y="2217875"/>
                <a:ext cx="197464" cy="197481"/>
              </a:xfrm>
              <a:custGeom>
                <a:avLst/>
                <a:gdLst/>
                <a:ahLst/>
                <a:cxnLst/>
                <a:rect l="l" t="t" r="r" b="b"/>
                <a:pathLst>
                  <a:path w="197464" h="197481">
                    <a:moveTo>
                      <a:pt x="111144" y="4399"/>
                    </a:moveTo>
                    <a:cubicBezTo>
                      <a:pt x="71936" y="0"/>
                      <a:pt x="34229" y="20855"/>
                      <a:pt x="17114" y="56404"/>
                    </a:cubicBezTo>
                    <a:cubicBezTo>
                      <a:pt x="0" y="91952"/>
                      <a:pt x="7215" y="134434"/>
                      <a:pt x="35106" y="162340"/>
                    </a:cubicBezTo>
                    <a:cubicBezTo>
                      <a:pt x="62997" y="190245"/>
                      <a:pt x="105476" y="197481"/>
                      <a:pt x="141033" y="180385"/>
                    </a:cubicBezTo>
                    <a:cubicBezTo>
                      <a:pt x="176590" y="163288"/>
                      <a:pt x="197464" y="125591"/>
                      <a:pt x="193085" y="86381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1531" y="2221706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lnTo>
                      <a:pt x="0" y="61912"/>
                    </a:lnTo>
                    <a:lnTo>
                      <a:pt x="30956" y="61912"/>
                    </a:lnTo>
                    <a:lnTo>
                      <a:pt x="61912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0575" y="2283618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9556" y="2186940"/>
              <a:ext cx="158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Control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273" y="25293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目标、范围、预算、暂停、停止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416" y="27822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防止任务跑偏或无限继续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5300" y="32194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8023" y="3446183"/>
              <a:ext cx="170128" cy="175162"/>
              <a:chOff x="708023" y="3446183"/>
              <a:chExt cx="170128" cy="175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59618" y="350281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80256" y="3446183"/>
                <a:ext cx="97895" cy="97910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0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6" y="20154"/>
                    </a:cubicBezTo>
                    <a:cubicBezTo>
                      <a:pt x="97895" y="40305"/>
                      <a:pt x="97892" y="72974"/>
                      <a:pt x="77741" y="93122"/>
                    </a:cubicBezTo>
                    <a:lnTo>
                      <a:pt x="72231" y="9791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8023" y="352345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3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6"/>
                      <a:pt x="0" y="41259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19556" y="3406140"/>
              <a:ext cx="2081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Control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273" y="37485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来源、冲突、验证、采用与拒绝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416" y="40014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防止模型说明覆盖业务事实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" y="44386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83781" y="4660106"/>
              <a:ext cx="201506" cy="185737"/>
              <a:chOff x="683781" y="4660106"/>
              <a:chExt cx="201506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3781" y="46601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1531" y="48045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19556" y="4625340"/>
              <a:ext cx="1801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Action Control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273" y="4967764"/>
              <a:ext cx="2481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风险、审批、Permit、执行回执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416" y="5220652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防止“建议”被误认成“已执行”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381756" y="1596390"/>
            <a:ext cx="5442511" cy="3925538"/>
            <a:chOff x="3381756" y="1596390"/>
            <a:chExt cx="5442511" cy="3925538"/>
          </a:xfrm>
        </p:grpSpPr>
        <p:sp>
          <p:nvSpPr>
            <p:cNvPr id="37" name="TextBox 37"/>
            <p:cNvSpPr txBox="1"/>
            <p:nvPr/>
          </p:nvSpPr>
          <p:spPr>
            <a:xfrm>
              <a:off x="3381756" y="15963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两层增强：任务越复杂，运行时越强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90900" y="20002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  <a:custDash>
                <a:ds d="400000" sp="300000"/>
              </a:custDash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636963" y="2254250"/>
              <a:ext cx="166687" cy="177801"/>
              <a:chOff x="3636963" y="2254250"/>
              <a:chExt cx="166687" cy="17780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636963" y="23876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636963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48088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659188" y="229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681413" y="23320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736975" y="23320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972306" y="2205990"/>
              <a:ext cx="4160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2：Governed Adaptive Swarm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74923" y="2548414"/>
              <a:ext cx="5249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高价值并行任务：Admission → Supervisor → 多 Worker → Resolver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0" y="2133600"/>
              <a:ext cx="7048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84389" y="2201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目标设计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953125" y="3009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390900" y="32194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3625850" y="3469163"/>
              <a:ext cx="177801" cy="186375"/>
              <a:chOff x="3625850" y="3469163"/>
              <a:chExt cx="177801" cy="18637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3625850" y="3469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25850" y="35734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3972306" y="3425190"/>
              <a:ext cx="3361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1：Agent Control 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74923" y="3767614"/>
              <a:ext cx="5143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长任务：按轮推进、按 Branch 补证、保留 Artifact 历史并可恢复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410450" y="3352800"/>
              <a:ext cx="914400" cy="24765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38263" y="3420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当前受限实现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5953125" y="42291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3390900" y="4438650"/>
              <a:ext cx="5124450" cy="1066800"/>
            </a:xfrm>
            <a:prstGeom prst="roundRect">
              <a:avLst>
                <a:gd name="adj" fmla="val 5357"/>
              </a:avLst>
            </a:prstGeom>
            <a:solidFill>
              <a:srgbClr val="132A3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3617119" y="4695825"/>
              <a:ext cx="214312" cy="190500"/>
              <a:chOff x="3617119" y="4695825"/>
              <a:chExt cx="214312" cy="1905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617119" y="46958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617119" y="47910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3664744" y="4743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3664744" y="4838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008882" y="4650105"/>
              <a:ext cx="40644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底座：Unified Agent Runtime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74923" y="5043964"/>
              <a:ext cx="4680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每个任务都稳定承接：Task · State · Context · Execution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574923" y="5272564"/>
              <a:ext cx="3109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Segoe UI"/>
                  <a:ea typeface="Segoe UI"/>
                  <a:cs typeface="Segoe UI"/>
                </a:rPr>
                <a:t>Capability · Evidence · Policy · Trace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11006" y="1596390"/>
            <a:ext cx="2885694" cy="3909060"/>
            <a:chOff x="8811006" y="1596390"/>
            <a:chExt cx="2885694" cy="3909060"/>
          </a:xfrm>
        </p:grpSpPr>
        <p:sp>
          <p:nvSpPr>
            <p:cNvPr id="70" name="TextBox 70"/>
            <p:cNvSpPr txBox="1"/>
            <p:nvPr/>
          </p:nvSpPr>
          <p:spPr>
            <a:xfrm>
              <a:off x="8811006" y="15963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前台最终只回答三件事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820150" y="2000250"/>
              <a:ext cx="2876550" cy="3505200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953500" y="2247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68912" y="23388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23273" y="22245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任务现在走到哪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24416" y="2506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轮次、分支、版本、预算、恢复点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9048750" y="289560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8953500" y="314325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068912" y="323421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23273" y="31199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当前结论凭什么成立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24416" y="34013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来源、成果校验、冲突与采用状态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9048750" y="379095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8953500" y="40386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068912" y="41295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23273" y="40152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哪些动作发生了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424416" y="42967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影响预览、人工确认、执行或未发生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048750" y="4762500"/>
              <a:ext cx="241935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436789" y="48587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用户不需要理解架构名词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3343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只需看见状态、依据与下一步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95300" y="5772150"/>
            <a:ext cx="11201400" cy="457200"/>
            <a:chOff x="495300" y="5772150"/>
            <a:chExt cx="11201400" cy="457200"/>
          </a:xfrm>
        </p:grpSpPr>
        <p:sp>
          <p:nvSpPr>
            <p:cNvPr id="90" name="Rectangle 90"/>
            <p:cNvSpPr/>
            <p:nvPr/>
          </p:nvSpPr>
          <p:spPr>
            <a:xfrm>
              <a:off x="495300" y="5772150"/>
              <a:ext cx="11201400" cy="457200"/>
            </a:xfrm>
            <a:prstGeom prst="roundRect">
              <a:avLst>
                <a:gd name="adj" fmla="val 125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7423" y="592978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一句话：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03223" y="59297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底座保证任务不失控，增强层处理时间和组织复杂度，三类控制保证结果与动作可被复核。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4" name="TextBox 94"/>
            <p:cNvSpPr txBox="1"/>
            <p:nvPr/>
          </p:nvSpPr>
          <p:spPr>
            <a:xfrm>
              <a:off x="489966" y="6458902"/>
              <a:ext cx="6364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线上实践依据：ReAct · LangGraph Persistence · OpenAI Agents SDK Human-in-the-loop · MCP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45743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最小运行时：八个稳定职责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内容展开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8823" y="1272064"/>
            <a:ext cx="10810113" cy="249364"/>
            <a:chOff x="488823" y="1272064"/>
            <a:chExt cx="10810113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488823" y="1272064"/>
              <a:ext cx="6741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不要把八个模块理解成八个页面：它们是一次任务从“定范围”到“可恢复”的四段责任链。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639175" y="1285875"/>
              <a:ext cx="133350" cy="13335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529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667875" y="1285875"/>
              <a:ext cx="133350" cy="1333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816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0791825" y="1285875"/>
              <a:ext cx="133350" cy="133350"/>
            </a:xfrm>
            <a:prstGeom prst="ellipse">
              <a:avLst/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05566" y="1296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16" y="1639252"/>
            <a:ext cx="10003098" cy="205359"/>
            <a:chOff x="661416" y="1639252"/>
            <a:chExt cx="1000309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61416" y="1639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责任阶段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3016" y="1639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两个稳定模块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14566" y="16392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后端必须负责什么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14916" y="16392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前台要回答什么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5300" y="1885950"/>
            <a:ext cx="11201400" cy="876300"/>
            <a:chOff x="495300" y="1885950"/>
            <a:chExt cx="11201400" cy="876300"/>
          </a:xfrm>
        </p:grpSpPr>
        <p:sp>
          <p:nvSpPr>
            <p:cNvPr id="22" name="Rectangle 22"/>
            <p:cNvSpPr/>
            <p:nvPr/>
          </p:nvSpPr>
          <p:spPr>
            <a:xfrm>
              <a:off x="495300" y="18859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18859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323" y="20721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23202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定范围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031206" y="2107406"/>
              <a:ext cx="185737" cy="175418"/>
              <a:chOff x="2031206" y="2107406"/>
              <a:chExt cx="185737" cy="17541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072481" y="2107406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20637" y="0"/>
                    </a:moveTo>
                    <a:lnTo>
                      <a:pt x="51594" y="0"/>
                    </a:lnTo>
                    <a:lnTo>
                      <a:pt x="72231" y="20637"/>
                    </a:lnTo>
                    <a:lnTo>
                      <a:pt x="123825" y="20637"/>
                    </a:lnTo>
                    <a:cubicBezTo>
                      <a:pt x="135222" y="20637"/>
                      <a:pt x="144462" y="29877"/>
                      <a:pt x="144462" y="41275"/>
                    </a:cubicBez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031206" y="2148681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144462" y="92868"/>
                    </a:move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36673" y="2129314"/>
              <a:ext cx="3011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 Catalog &amp; Safe Preview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051844" y="2431256"/>
              <a:ext cx="144462" cy="185737"/>
              <a:chOff x="2051844" y="2431256"/>
              <a:chExt cx="144462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051844" y="2451894"/>
                <a:ext cx="14446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65099">
                    <a:moveTo>
                      <a:pt x="41275" y="0"/>
                    </a:moveTo>
                    <a:lnTo>
                      <a:pt x="20637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099"/>
                      <a:pt x="20637" y="165099"/>
                    </a:cubicBezTo>
                    <a:lnTo>
                      <a:pt x="123825" y="165099"/>
                    </a:lnTo>
                    <a:cubicBezTo>
                      <a:pt x="135222" y="165099"/>
                      <a:pt x="144462" y="155860"/>
                      <a:pt x="144462" y="144462"/>
                    </a:cubicBezTo>
                    <a:lnTo>
                      <a:pt x="144462" y="20637"/>
                    </a:lnTo>
                    <a:cubicBezTo>
                      <a:pt x="144462" y="9240"/>
                      <a:pt x="135222" y="0"/>
                      <a:pt x="123825" y="0"/>
                    </a:cubicBez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093118" y="2431256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7" y="41275"/>
                    </a:lnTo>
                    <a:cubicBezTo>
                      <a:pt x="9240" y="41275"/>
                      <a:pt x="0" y="32035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093118" y="2524125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336673" y="2453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3423" y="20721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限定能读的资料；冻结目标、范围、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3423" y="23198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完成条件和禁止事项。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13773" y="20721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“你读了哪些资料？”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14916" y="2363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目录、来源范围、任务自述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876550"/>
            <a:ext cx="11201400" cy="876300"/>
            <a:chOff x="495300" y="2876550"/>
            <a:chExt cx="11201400" cy="876300"/>
          </a:xfrm>
        </p:grpSpPr>
        <p:sp>
          <p:nvSpPr>
            <p:cNvPr id="40" name="Rectangle 40"/>
            <p:cNvSpPr/>
            <p:nvPr/>
          </p:nvSpPr>
          <p:spPr>
            <a:xfrm>
              <a:off x="495300" y="28765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5300" y="28765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323" y="30627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6656" y="33108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定计划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2031206" y="3098006"/>
              <a:ext cx="185737" cy="185737"/>
              <a:chOff x="2031206" y="3098006"/>
              <a:chExt cx="185737" cy="185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031206" y="324246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175668" y="309800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051844" y="3118644"/>
                <a:ext cx="154781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2">
                    <a:moveTo>
                      <a:pt x="61912" y="144462"/>
                    </a:moveTo>
                    <a:lnTo>
                      <a:pt x="118665" y="144462"/>
                    </a:lnTo>
                    <a:cubicBezTo>
                      <a:pt x="138611" y="144462"/>
                      <a:pt x="154781" y="128293"/>
                      <a:pt x="154781" y="108347"/>
                    </a:cubicBezTo>
                    <a:cubicBezTo>
                      <a:pt x="154781" y="88400"/>
                      <a:pt x="138611" y="72231"/>
                      <a:pt x="118665" y="72231"/>
                    </a:cubicBezTo>
                    <a:lnTo>
                      <a:pt x="36116" y="72231"/>
                    </a:ln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2336673" y="3119914"/>
              <a:ext cx="66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2017281" y="3421856"/>
              <a:ext cx="201506" cy="185737"/>
              <a:chOff x="2017281" y="3421856"/>
              <a:chExt cx="201506" cy="18573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017281" y="34218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2155031" y="35663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2336673" y="3443764"/>
              <a:ext cx="3745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Admission, Policy Compiler &amp; Plan Validator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13423" y="306276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模型先提议路线；服务端再校验预算、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3423" y="3310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依赖、资料范围和副作用。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13773" y="3062764"/>
              <a:ext cx="1472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“为什么这样拆？”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14916" y="33537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分支、依赖、驳回与修复原因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95300" y="3867150"/>
            <a:ext cx="11574423" cy="876300"/>
            <a:chOff x="495300" y="3867150"/>
            <a:chExt cx="11574423" cy="876300"/>
          </a:xfrm>
        </p:grpSpPr>
        <p:sp>
          <p:nvSpPr>
            <p:cNvPr id="58" name="Rectangle 58"/>
            <p:cNvSpPr/>
            <p:nvPr/>
          </p:nvSpPr>
          <p:spPr>
            <a:xfrm>
              <a:off x="495300" y="38671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5300" y="38671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323" y="40533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6656" y="4301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推进执行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051844" y="4098925"/>
              <a:ext cx="154780" cy="165099"/>
              <a:chOff x="2051844" y="4098925"/>
              <a:chExt cx="154780" cy="16509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2051844" y="422274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051844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2155031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2072481" y="41402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093118" y="41711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lnTo>
                      <a:pt x="61912" y="72231"/>
                    </a:lnTo>
                    <a:cubicBezTo>
                      <a:pt x="73310" y="72231"/>
                      <a:pt x="82550" y="62991"/>
                      <a:pt x="82550" y="51594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144712" y="417115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2336673" y="4110514"/>
              <a:ext cx="2501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Scheduler &amp; Worker Manager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2041525" y="4422775"/>
              <a:ext cx="165100" cy="165100"/>
              <a:chOff x="2041525" y="4422775"/>
              <a:chExt cx="165100" cy="1651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2058088" y="4443412"/>
                <a:ext cx="127898" cy="127898"/>
              </a:xfrm>
              <a:custGeom>
                <a:avLst/>
                <a:gdLst/>
                <a:ahLst/>
                <a:cxnLst/>
                <a:rect l="l" t="t" r="r" b="b"/>
                <a:pathLst>
                  <a:path w="127898" h="127898">
                    <a:moveTo>
                      <a:pt x="43130" y="0"/>
                    </a:moveTo>
                    <a:lnTo>
                      <a:pt x="127898" y="84768"/>
                    </a:lnTo>
                    <a:lnTo>
                      <a:pt x="106704" y="105963"/>
                    </a:lnTo>
                    <a:cubicBezTo>
                      <a:pt x="91664" y="121604"/>
                      <a:pt x="69346" y="127898"/>
                      <a:pt x="48350" y="122419"/>
                    </a:cubicBezTo>
                    <a:cubicBezTo>
                      <a:pt x="27355" y="116941"/>
                      <a:pt x="10958" y="100544"/>
                      <a:pt x="5479" y="79548"/>
                    </a:cubicBezTo>
                    <a:cubicBezTo>
                      <a:pt x="0" y="58552"/>
                      <a:pt x="6294" y="36234"/>
                      <a:pt x="21936" y="21195"/>
                    </a:cubicBezTo>
                    <a:lnTo>
                      <a:pt x="43130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2041525" y="4551759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0" y="36116"/>
                    </a:moveTo>
                    <a:lnTo>
                      <a:pt x="36116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2118915" y="4422775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2170509" y="4474368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2336673" y="4434364"/>
              <a:ext cx="1160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Tool Gateway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13423" y="405336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决定哪个分支先做、谁来做、何时停；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13423" y="43010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真实工具动作需许可、幂等与回执。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13773" y="40533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“现在做到哪一步？”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14916" y="4344352"/>
              <a:ext cx="2454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当前仅受限单 Loop；通用 Tool 为目标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95300" y="4857750"/>
            <a:ext cx="11672565" cy="876300"/>
            <a:chOff x="495300" y="4857750"/>
            <a:chExt cx="11672565" cy="876300"/>
          </a:xfrm>
        </p:grpSpPr>
        <p:sp>
          <p:nvSpPr>
            <p:cNvPr id="81" name="Rectangle 81"/>
            <p:cNvSpPr/>
            <p:nvPr/>
          </p:nvSpPr>
          <p:spPr>
            <a:xfrm>
              <a:off x="495300" y="48577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495300" y="48577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9323" y="50439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665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成果恢复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2051844" y="5079206"/>
              <a:ext cx="144462" cy="185737"/>
              <a:chOff x="2051844" y="5079206"/>
              <a:chExt cx="144462" cy="185737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2144712" y="50792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2051844" y="507920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2082800" y="51617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0"/>
                    </a:moveTo>
                    <a:lnTo>
                      <a:pt x="82550" y="0"/>
                    </a:lnTo>
                    <a:lnTo>
                      <a:pt x="82550" y="72231"/>
                    </a:lnTo>
                    <a:lnTo>
                      <a:pt x="0" y="72231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2082800" y="5203031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2113756" y="5161756"/>
                <a:ext cx="952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2231">
                    <a:moveTo>
                      <a:pt x="0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2336673" y="5101114"/>
              <a:ext cx="2671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Workspace &amp; Verifier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2041525" y="5403056"/>
              <a:ext cx="165099" cy="185737"/>
              <a:chOff x="2041525" y="5403056"/>
              <a:chExt cx="165099" cy="185737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2041525" y="540305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2041525" y="543401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2041525" y="549592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2336673" y="5424964"/>
              <a:ext cx="3534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Checkpoint, Event &amp; Governance Control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813423" y="5043964"/>
              <a:ext cx="3124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保存成果版本与校验；让 Snapshot 成为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13423" y="52916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状态权威，事件只负责有序投影。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613773" y="504396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“结果能否下载、核对、恢复？”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14916" y="53349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固定成果校验、版本、审计与重启恢复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495300" y="5905500"/>
            <a:ext cx="11201400" cy="330803"/>
            <a:chOff x="495300" y="5905500"/>
            <a:chExt cx="11201400" cy="330803"/>
          </a:xfrm>
        </p:grpSpPr>
        <p:sp>
          <p:nvSpPr>
            <p:cNvPr id="102" name="Rectangle 102"/>
            <p:cNvSpPr/>
            <p:nvPr/>
          </p:nvSpPr>
          <p:spPr>
            <a:xfrm>
              <a:off x="495300" y="5905500"/>
              <a:ext cx="11201400" cy="323850"/>
            </a:xfrm>
            <a:prstGeom prst="roundRect">
              <a:avLst>
                <a:gd name="adj" fmla="val 17647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2394961" y="5986939"/>
              <a:ext cx="7402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模块对后端是职责；对用户则是四个问题：读什么、怎么做、做到哪、结果能否复核与恢复。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489966" y="6458902"/>
            <a:ext cx="10945368" cy="205359"/>
            <a:chOff x="489966" y="6458902"/>
            <a:chExt cx="10945368" cy="205359"/>
          </a:xfrm>
        </p:grpSpPr>
        <p:sp>
          <p:nvSpPr>
            <p:cNvPr id="105" name="TextBox 105"/>
            <p:cNvSpPr txBox="1"/>
            <p:nvPr/>
          </p:nvSpPr>
          <p:spPr>
            <a:xfrm>
              <a:off x="489966" y="6458902"/>
              <a:ext cx="564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当前系统实测；线上架构依据：ReAct · LangGraph Persistence · MCP · A2A Protocol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9511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37464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技术演进：工程对象不断外扩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96500" y="438150"/>
              <a:ext cx="16002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4445" y="519589"/>
              <a:ext cx="1264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P05-P09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59205"/>
            <a:ext cx="7571304" cy="662273"/>
            <a:chOff x="484632" y="1259205"/>
            <a:chExt cx="7571304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59205"/>
              <a:ext cx="75713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不是模型突然“变成 Agent”，而是系统逐步接管更多责任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721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阶段名称是方案归纳，不代表学界统一命名；研究依据来自论文与产品官方实践。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2362200"/>
            <a:ext cx="11201400" cy="2076450"/>
            <a:chOff x="495300" y="2362200"/>
            <a:chExt cx="11201400" cy="2076450"/>
          </a:xfrm>
        </p:grpSpPr>
        <p:sp>
          <p:nvSpPr>
            <p:cNvPr id="12" name="Freeform 12"/>
            <p:cNvSpPr/>
            <p:nvPr/>
          </p:nvSpPr>
          <p:spPr>
            <a:xfrm>
              <a:off x="495300" y="2362200"/>
              <a:ext cx="11201400" cy="2076450"/>
            </a:xfrm>
            <a:custGeom>
              <a:avLst/>
              <a:gdLst/>
              <a:ahLst/>
              <a:cxnLst/>
              <a:rect l="l" t="t" r="r" b="b"/>
              <a:pathLst>
                <a:path w="11201400" h="2076450">
                  <a:moveTo>
                    <a:pt x="0" y="0"/>
                  </a:moveTo>
                  <a:lnTo>
                    <a:pt x="11201400" y="0"/>
                  </a:lnTo>
                  <a:lnTo>
                    <a:pt x="11201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5300" y="2362200"/>
              <a:ext cx="2076450" cy="2076450"/>
            </a:xfrm>
            <a:custGeom>
              <a:avLst/>
              <a:gdLst/>
              <a:ahLst/>
              <a:cxnLst/>
              <a:rect l="l" t="t" r="r" b="b"/>
              <a:pathLst>
                <a:path w="2076450" h="2076450">
                  <a:moveTo>
                    <a:pt x="0" y="0"/>
                  </a:moveTo>
                  <a:lnTo>
                    <a:pt x="1809750" y="0"/>
                  </a:lnTo>
                  <a:lnTo>
                    <a:pt x="2076450" y="1038225"/>
                  </a:lnTo>
                  <a:lnTo>
                    <a:pt x="1809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26631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Prompt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932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工程对象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单次指令与示例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7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5506" y="2663190"/>
              <a:ext cx="1370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Agent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5506" y="2948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8173" y="3767614"/>
              <a:ext cx="177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Action / Observation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10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Context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1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1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317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状态与信息选择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8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5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Harness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15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工具、权限、沙箱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8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20506" y="26631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Loop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2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触发、验证、恢复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191750" y="2362200"/>
              <a:ext cx="1504950" cy="2076450"/>
            </a:xfrm>
            <a:custGeom>
              <a:avLst/>
              <a:gdLst/>
              <a:ahLst/>
              <a:cxnLst/>
              <a:rect l="l" t="t" r="r" b="b"/>
              <a:pathLst>
                <a:path w="1504950" h="2076450">
                  <a:moveTo>
                    <a:pt x="0" y="0"/>
                  </a:moveTo>
                  <a:lnTo>
                    <a:pt x="1504950" y="0"/>
                  </a:lnTo>
                  <a:lnTo>
                    <a:pt x="150495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6360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办公交付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66273" y="31008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业务成果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6273" y="33866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证据与边界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6273" y="37676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用户可复核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638" y="4935855"/>
            <a:ext cx="6109811" cy="700373"/>
            <a:chOff x="528638" y="4935855"/>
            <a:chExt cx="6109811" cy="700373"/>
          </a:xfrm>
        </p:grpSpPr>
        <p:grpSp>
          <p:nvGrpSpPr>
            <p:cNvPr id="46" name="Group 46"/>
            <p:cNvGrpSpPr/>
            <p:nvPr/>
          </p:nvGrpSpPr>
          <p:grpSpPr>
            <a:xfrm>
              <a:off x="528638" y="5019675"/>
              <a:ext cx="200025" cy="133350"/>
              <a:chOff x="528638" y="5019675"/>
              <a:chExt cx="200025" cy="1333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73088" y="50196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8638" y="51085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03732" y="49358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交互对象同步变化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7923" y="5386864"/>
              <a:ext cx="573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从“改一句 Prompt”到“审查任务状态、来源、成果、恢复点与动作后果”。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426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研究依据：Brown et al. (2020) · ReAct (2022) · Anthropic Context Engineering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617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主流方案的差别，首先是“用户在审什么”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竞品官方调研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40155"/>
            <a:ext cx="4994720" cy="662273"/>
            <a:chOff x="484632" y="1240155"/>
            <a:chExt cx="4994720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不做功能打勾表，比较一等交互对象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53064"/>
              <a:ext cx="4990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官方材料可以说明产品重心，不能据此推出竞品做不到其他能力。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5300" y="2133600"/>
            <a:ext cx="11201400" cy="3238500"/>
            <a:chOff x="495300" y="2133600"/>
            <a:chExt cx="11201400" cy="3238500"/>
          </a:xfrm>
        </p:grpSpPr>
        <p:sp>
          <p:nvSpPr>
            <p:cNvPr id="12" name="Rectangle 12"/>
            <p:cNvSpPr/>
            <p:nvPr/>
          </p:nvSpPr>
          <p:spPr>
            <a:xfrm>
              <a:off x="4953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2376488"/>
              <a:ext cx="200026" cy="188913"/>
              <a:chOff x="738188" y="2376488"/>
              <a:chExt cx="200026" cy="1889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2420938"/>
                <a:ext cx="20002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444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22238"/>
                    </a:lnTo>
                    <a:cubicBezTo>
                      <a:pt x="200026" y="134512"/>
                      <a:pt x="190075" y="144463"/>
                      <a:pt x="177801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3750" y="2376488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2476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8188" y="2487613"/>
                <a:ext cx="200026" cy="31699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31699">
                    <a:moveTo>
                      <a:pt x="0" y="0"/>
                    </a:moveTo>
                    <a:cubicBezTo>
                      <a:pt x="62908" y="31699"/>
                      <a:pt x="137118" y="31699"/>
                      <a:pt x="200026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95756" y="2358390"/>
              <a:ext cx="27087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Microsoft 365 Copilot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373" y="2796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审：文件、邮件、会议、站点与人员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310086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交互对象：工作内容与引用范围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529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395788" y="2376488"/>
              <a:ext cx="200025" cy="200025"/>
              <a:chOff x="4395788" y="2376488"/>
              <a:chExt cx="20002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95788" y="23764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29138" y="2509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753356" y="2358390"/>
              <a:ext cx="2863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ChatGPT deep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55973" y="2796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审：研究计划、来源、进度与报告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55973" y="31008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交互对象：可中断的研究过程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0" y="213360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75613" y="2387600"/>
              <a:ext cx="166687" cy="177801"/>
              <a:chOff x="8075613" y="2387600"/>
              <a:chExt cx="166687" cy="1778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75613" y="252095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75613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86738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97838" y="24320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0063" y="246538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75625" y="246538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410956" y="2358390"/>
              <a:ext cx="1231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Codex App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3573" y="2796064"/>
              <a:ext cx="2876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审：Task、隔离工作区、Diff 与队列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3573" y="31008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交互对象：代码任务与可审查变更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6808" y="4112538"/>
              <a:ext cx="221851" cy="196658"/>
            </a:xfrm>
            <a:custGeom>
              <a:avLst/>
              <a:gdLst/>
              <a:ahLst/>
              <a:cxnLst/>
              <a:rect l="l" t="t" r="r" b="b"/>
              <a:pathLst>
                <a:path w="221851" h="196658">
                  <a:moveTo>
                    <a:pt x="11379" y="186413"/>
                  </a:moveTo>
                  <a:lnTo>
                    <a:pt x="25826" y="143074"/>
                  </a:lnTo>
                  <a:cubicBezTo>
                    <a:pt x="0" y="104880"/>
                    <a:pt x="9979" y="55596"/>
                    <a:pt x="49162" y="27792"/>
                  </a:cubicBezTo>
                  <a:cubicBezTo>
                    <a:pt x="88345" y="0"/>
                    <a:pt x="144618" y="2278"/>
                    <a:pt x="180790" y="33126"/>
                  </a:cubicBezTo>
                  <a:cubicBezTo>
                    <a:pt x="216961" y="63986"/>
                    <a:pt x="221851" y="113870"/>
                    <a:pt x="192225" y="149819"/>
                  </a:cubicBezTo>
                  <a:cubicBezTo>
                    <a:pt x="162599" y="185768"/>
                    <a:pt x="107603" y="196658"/>
                    <a:pt x="63608" y="175300"/>
                  </a:cubicBezTo>
                  <a:lnTo>
                    <a:pt x="11379" y="186413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5756" y="4091940"/>
              <a:ext cx="1446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Claude Code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8373" y="45296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审：项目上下文、工具动作与验证结果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3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交互对象：项目会话与工具循环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1529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395788" y="4121150"/>
              <a:ext cx="200026" cy="177800"/>
              <a:chOff x="4395788" y="4121150"/>
              <a:chExt cx="200026" cy="177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395788" y="41211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395788" y="42100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440238" y="416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40238" y="4254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753356" y="4091940"/>
              <a:ext cx="119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OpenClaw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55973" y="4529614"/>
              <a:ext cx="3056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审：Gateway Task、路由、会话与审批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559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交互对象：任务账本与运行通道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0" y="386715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064500" y="4116863"/>
              <a:ext cx="177801" cy="186375"/>
              <a:chOff x="8064500" y="4116863"/>
              <a:chExt cx="177801" cy="1863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064500" y="41168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64500" y="4221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410956" y="4091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3573" y="4529614"/>
              <a:ext cx="3062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审：Action 是否得到环境 Observation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35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交互对象：推理与环境反馈循环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6156" y="5810250"/>
            <a:ext cx="11210544" cy="443484"/>
            <a:chOff x="486156" y="5810250"/>
            <a:chExt cx="11210544" cy="443484"/>
          </a:xfrm>
        </p:grpSpPr>
        <p:sp>
          <p:nvSpPr>
            <p:cNvPr id="61" name="Freeform 61"/>
            <p:cNvSpPr/>
            <p:nvPr/>
          </p:nvSpPr>
          <p:spPr>
            <a:xfrm>
              <a:off x="495300" y="5810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6156" y="5901690"/>
              <a:ext cx="10120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候选差异：用户审的是“资料 → 业务结论 → 成果 → 人工决定 → 未执行边界”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868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官方来源：Microsoft Support · OpenAI Help / Codex App · Claude Code Docs · OpenClaw Docs · ReAct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技术差异如何一步步改变用户流程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08862" y="519589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因果链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4632" y="1240155"/>
            <a:ext cx="6284599" cy="410718"/>
            <a:chOff x="484632" y="1240155"/>
            <a:chExt cx="628459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6284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不是增加更多状态，而是重新分配“谁负责判断”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247900"/>
            <a:ext cx="11201400" cy="3048000"/>
            <a:chOff x="495300" y="2247900"/>
            <a:chExt cx="11201400" cy="3048000"/>
          </a:xfrm>
        </p:grpSpPr>
        <p:sp>
          <p:nvSpPr>
            <p:cNvPr id="11" name="Freeform 11"/>
            <p:cNvSpPr/>
            <p:nvPr/>
          </p:nvSpPr>
          <p:spPr>
            <a:xfrm>
              <a:off x="685800" y="2476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00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2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486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8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772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4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58150" y="2247900"/>
              <a:ext cx="457200" cy="457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30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44150" y="2247900"/>
              <a:ext cx="457200" cy="457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16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53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6656" y="30822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Workspace 合同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3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323" y="38057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只说业务目标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3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323" y="45105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整库范围已冻结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466" y="48968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后端：allowlisted index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717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531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计划编译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7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5773" y="38057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查看分支与依赖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57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5773" y="4510564"/>
              <a:ext cx="140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能读/能做/禁止项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916" y="489680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后端：validated plan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482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29556" y="3082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模型采用门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32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不再猜模型是否可信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2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33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called / output_used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3366" y="489680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后端：schema + policy gate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060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局部恢复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8673" y="38057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只处理受影响问题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6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8673" y="45105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原因、影响、选择后果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9816" y="4896802"/>
              <a:ext cx="1627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后端：Branch + Decision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01100" y="2952750"/>
              <a:ext cx="2895600" cy="2343150"/>
            </a:xfrm>
            <a:prstGeom prst="roundRect">
              <a:avLst>
                <a:gd name="adj" fmla="val 24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20556" y="3082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可核对办公结论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23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23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下载成果，回开依据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3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23223" y="4510564"/>
              <a:ext cx="212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 / 说明 / 外部动作分层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4366" y="4896802"/>
              <a:ext cx="2340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后端：Artifact + Effect + Receipt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2019" y="5795443"/>
            <a:ext cx="7007588" cy="250360"/>
            <a:chOff x="512019" y="5795443"/>
            <a:chExt cx="7007588" cy="250360"/>
          </a:xfrm>
        </p:grpSpPr>
        <p:grpSp>
          <p:nvGrpSpPr>
            <p:cNvPr id="61" name="Group 61"/>
            <p:cNvGrpSpPr/>
            <p:nvPr/>
          </p:nvGrpSpPr>
          <p:grpSpPr>
            <a:xfrm>
              <a:off x="512019" y="5795443"/>
              <a:ext cx="176105" cy="151297"/>
              <a:chOff x="512019" y="5795443"/>
              <a:chExt cx="176105" cy="1512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0075" y="5850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12019" y="5795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0075" y="591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2673" y="5796439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当前只在固定公开数据与有限适配器中验证；不是竞品同场实测，也不是用户效果结论。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397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ChatGPT deep research source control · MCP Elicitation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382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长任务 Loop 的风险，会被循环持续放大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633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5300" y="1466850"/>
            <a:ext cx="7086600" cy="4095750"/>
            <a:chOff x="495300" y="1466850"/>
            <a:chExt cx="7086600" cy="4095750"/>
          </a:xfrm>
        </p:grpSpPr>
        <p:sp>
          <p:nvSpPr>
            <p:cNvPr id="9" name="Rectangle 9"/>
            <p:cNvSpPr/>
            <p:nvPr/>
          </p:nvSpPr>
          <p:spPr>
            <a:xfrm>
              <a:off x="495300" y="1466850"/>
              <a:ext cx="7086600" cy="4095750"/>
            </a:xfrm>
            <a:prstGeom prst="roundRect">
              <a:avLst>
                <a:gd name="adj" fmla="val 1395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3232" y="1621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六类风险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23900" y="2076450"/>
              <a:ext cx="6629400" cy="3238500"/>
            </a:xfrm>
            <a:custGeom>
              <a:avLst/>
              <a:gdLst/>
              <a:ahLst/>
              <a:cxnLst/>
              <a:rect l="l" t="t" r="r" b="b"/>
              <a:pathLst>
                <a:path w="6629400" h="3238500">
                  <a:moveTo>
                    <a:pt x="0" y="0"/>
                  </a:moveTo>
                  <a:lnTo>
                    <a:pt x="6629400" y="0"/>
                  </a:lnTo>
                  <a:moveTo>
                    <a:pt x="3314700" y="0"/>
                  </a:moveTo>
                  <a:lnTo>
                    <a:pt x="3314700" y="3238500"/>
                  </a:lnTo>
                  <a:moveTo>
                    <a:pt x="0" y="1085850"/>
                  </a:moveTo>
                  <a:lnTo>
                    <a:pt x="6629400" y="1085850"/>
                  </a:lnTo>
                  <a:moveTo>
                    <a:pt x="0" y="2171700"/>
                  </a:moveTo>
                  <a:lnTo>
                    <a:pt x="6629400" y="2171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3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156" y="2244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方向漂移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823" y="2605564"/>
              <a:ext cx="2646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中间目标逐步偏离 Task Contract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0957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10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244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上下文退化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523" y="2605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旧版本、噪声与关键约束丢失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3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81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错误复利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0823" y="36914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未经验证的事实进入后续成果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0957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10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28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成本扩张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523" y="3691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重试、工具与分支持续增长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3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81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权限漂移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0823" y="47772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工具链扩展后超出原始授权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0957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210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28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停止困难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5523" y="47772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局部失败牵连整任务，用户难接管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848600" y="1466850"/>
            <a:ext cx="3848100" cy="4095750"/>
            <a:chOff x="7848600" y="1466850"/>
            <a:chExt cx="3848100" cy="4095750"/>
          </a:xfrm>
        </p:grpSpPr>
        <p:sp>
          <p:nvSpPr>
            <p:cNvPr id="37" name="Rectangle 37"/>
            <p:cNvSpPr/>
            <p:nvPr/>
          </p:nvSpPr>
          <p:spPr>
            <a:xfrm>
              <a:off x="7848600" y="1466850"/>
              <a:ext cx="3848100" cy="4095750"/>
            </a:xfrm>
            <a:prstGeom prst="roundRect">
              <a:avLst>
                <a:gd name="adj" fmla="val 1485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4632" y="16402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前台必须对应回答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136530" y="2234839"/>
              <a:ext cx="182275" cy="182291"/>
              <a:chOff x="8136530" y="2234839"/>
              <a:chExt cx="182275" cy="18229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220075" y="2314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81975" y="22764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36530" y="223483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8175" y="2238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29600" y="22955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489823" y="22436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当前目标是否仍然一致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162925" y="2714625"/>
              <a:ext cx="133350" cy="171450"/>
              <a:chOff x="8162925" y="2714625"/>
              <a:chExt cx="1333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48650" y="2714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62925" y="27146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01025" y="2771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01025" y="28098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01025" y="28479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489823" y="271986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当前用了哪一版来源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143875" y="3200400"/>
              <a:ext cx="171450" cy="161925"/>
              <a:chOff x="8143875" y="3200400"/>
              <a:chExt cx="171450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143875" y="32766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8175" y="32385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01025" y="32004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53400" y="3352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9823" y="31961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还剩多少轮次与调用预算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8162925" y="3667125"/>
              <a:ext cx="133350" cy="171450"/>
              <a:chOff x="8162925" y="3667125"/>
              <a:chExt cx="133350" cy="1714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162925" y="3743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20075" y="3781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91500" y="3667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489823" y="36723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允许与禁止的动作范围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162925" y="4152900"/>
              <a:ext cx="142875" cy="152400"/>
              <a:chOff x="8162925" y="4152900"/>
              <a:chExt cx="142875" cy="1524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62925" y="4267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6292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817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81975" y="4191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01025" y="421957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48650" y="42195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489823" y="4148614"/>
              <a:ext cx="15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哪条 Branch 受影响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172450" y="4638675"/>
              <a:ext cx="114300" cy="133350"/>
              <a:chOff x="8172450" y="4638675"/>
              <a:chExt cx="114300" cy="1333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724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486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489823" y="46248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如何暂停、恢复或接管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15300" y="5048250"/>
              <a:ext cx="3276600" cy="323850"/>
            </a:xfrm>
            <a:prstGeom prst="roundRect">
              <a:avLst>
                <a:gd name="adj" fmla="val 17647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75677" y="5129689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控制信息必须来自服务端事实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12019" y="5871643"/>
            <a:ext cx="6846360" cy="250360"/>
            <a:chOff x="512019" y="5871643"/>
            <a:chExt cx="6846360" cy="250360"/>
          </a:xfrm>
        </p:grpSpPr>
        <p:grpSp>
          <p:nvGrpSpPr>
            <p:cNvPr id="82" name="Group 82"/>
            <p:cNvGrpSpPr/>
            <p:nvPr/>
          </p:nvGrpSpPr>
          <p:grpSpPr>
            <a:xfrm>
              <a:off x="512019" y="5871643"/>
              <a:ext cx="176105" cy="151297"/>
              <a:chOff x="512019" y="5871643"/>
              <a:chExt cx="176105" cy="1512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0075" y="59269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12019" y="58716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00075" y="598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12673" y="587263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46123" y="5872639"/>
              <a:ext cx="561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最多三轮只读 Control Loop；不是无限自治，也没有硬取消在途 HTTP。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489966" y="6458902"/>
              <a:ext cx="694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Anthropic Context Engineering · LangGraph Persistence · ReAct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4872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Control Loop：当前实现与缺口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63200" y="4381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9728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1295400"/>
            <a:ext cx="3314700" cy="292037"/>
            <a:chOff x="495300" y="1295400"/>
            <a:chExt cx="3314700" cy="292037"/>
          </a:xfrm>
        </p:grpSpPr>
        <p:sp>
          <p:nvSpPr>
            <p:cNvPr id="9" name="Rectangle 9"/>
            <p:cNvSpPr/>
            <p:nvPr/>
          </p:nvSpPr>
          <p:spPr>
            <a:xfrm>
              <a:off x="495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0263" y="1382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当前真实实现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38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4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81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07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尚未实现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00150" y="1981200"/>
            <a:ext cx="9467850" cy="1181100"/>
            <a:chOff x="1200150" y="1981200"/>
            <a:chExt cx="9467850" cy="1181100"/>
          </a:xfrm>
        </p:grpSpPr>
        <p:sp>
          <p:nvSpPr>
            <p:cNvPr id="16" name="Freeform 16"/>
            <p:cNvSpPr/>
            <p:nvPr/>
          </p:nvSpPr>
          <p:spPr>
            <a:xfrm>
              <a:off x="1200150" y="2647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219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90675" y="2419350"/>
              <a:ext cx="285751" cy="190500"/>
              <a:chOff x="1590675" y="2419350"/>
              <a:chExt cx="285751" cy="190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701800" y="2482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90675" y="24193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9171" y="2872264"/>
              <a:ext cx="748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Observe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124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95675" y="2371725"/>
              <a:ext cx="285751" cy="285751"/>
              <a:chOff x="3495675" y="2371725"/>
              <a:chExt cx="28575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495675" y="2593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7926" y="2371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27425" y="2403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53869" y="2872264"/>
              <a:ext cx="369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Plan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02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416550" y="2387600"/>
              <a:ext cx="254001" cy="254001"/>
              <a:chOff x="5416550" y="2387600"/>
              <a:chExt cx="254001" cy="254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442033" y="2419350"/>
                <a:ext cx="196768" cy="196768"/>
              </a:xfrm>
              <a:custGeom>
                <a:avLst/>
                <a:gdLst/>
                <a:ahLst/>
                <a:cxnLst/>
                <a:rect l="l" t="t" r="r" b="b"/>
                <a:pathLst>
                  <a:path w="196768" h="196768">
                    <a:moveTo>
                      <a:pt x="66354" y="0"/>
                    </a:moveTo>
                    <a:lnTo>
                      <a:pt x="196768" y="130413"/>
                    </a:lnTo>
                    <a:lnTo>
                      <a:pt x="164160" y="163021"/>
                    </a:lnTo>
                    <a:cubicBezTo>
                      <a:pt x="141022" y="187085"/>
                      <a:pt x="106687" y="196768"/>
                      <a:pt x="74386" y="188339"/>
                    </a:cubicBezTo>
                    <a:cubicBezTo>
                      <a:pt x="42084" y="179909"/>
                      <a:pt x="16858" y="154684"/>
                      <a:pt x="8429" y="122382"/>
                    </a:cubicBezTo>
                    <a:cubicBezTo>
                      <a:pt x="0" y="90081"/>
                      <a:pt x="9683" y="55745"/>
                      <a:pt x="33747" y="32607"/>
                    </a:cubicBezTo>
                    <a:lnTo>
                      <a:pt x="6635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416550" y="25860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535613" y="2387600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14988" y="2466975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385584" y="2872264"/>
              <a:ext cx="315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Act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84251" y="2371725"/>
              <a:ext cx="310011" cy="285751"/>
              <a:chOff x="7284251" y="2371725"/>
              <a:chExt cx="310011" cy="2857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284251" y="23717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96175" y="25939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64641" y="2872264"/>
              <a:ext cx="567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Verify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83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26550" y="2403475"/>
              <a:ext cx="254000" cy="222250"/>
              <a:chOff x="9226550" y="2403475"/>
              <a:chExt cx="254000" cy="222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321800" y="2403475"/>
                <a:ext cx="1587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222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27000" y="0"/>
                    </a:lnTo>
                    <a:cubicBezTo>
                      <a:pt x="144535" y="0"/>
                      <a:pt x="158750" y="14215"/>
                      <a:pt x="158750" y="31750"/>
                    </a:cubicBezTo>
                    <a:lnTo>
                      <a:pt x="158750" y="190500"/>
                    </a:lnTo>
                    <a:cubicBezTo>
                      <a:pt x="158750" y="208035"/>
                      <a:pt x="144535" y="222250"/>
                      <a:pt x="127000" y="222250"/>
                    </a:cubicBez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74175" y="24352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26550" y="24511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33256" y="2872264"/>
              <a:ext cx="640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Commit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733550" y="1981200"/>
              <a:ext cx="8934450" cy="666750"/>
            </a:xfrm>
            <a:custGeom>
              <a:avLst/>
              <a:gdLst/>
              <a:ahLst/>
              <a:cxnLst/>
              <a:rect l="l" t="t" r="r" b="b"/>
              <a:pathLst>
                <a:path w="8934450" h="666750">
                  <a:moveTo>
                    <a:pt x="8134350" y="666750"/>
                  </a:moveTo>
                  <a:lnTo>
                    <a:pt x="8934450" y="666750"/>
                  </a:lnTo>
                  <a:lnTo>
                    <a:pt x="893445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75164" y="2286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最多三轮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5300" y="3600450"/>
            <a:ext cx="11248858" cy="1885950"/>
            <a:chOff x="495300" y="3600450"/>
            <a:chExt cx="11248858" cy="1885950"/>
          </a:xfrm>
        </p:grpSpPr>
        <p:sp>
          <p:nvSpPr>
            <p:cNvPr id="49" name="Rectangle 49"/>
            <p:cNvSpPr/>
            <p:nvPr/>
          </p:nvSpPr>
          <p:spPr>
            <a:xfrm>
              <a:off x="495300" y="3600450"/>
              <a:ext cx="11201400" cy="18859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4756" y="3749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外围控制与状态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3900" y="4171950"/>
              <a:ext cx="10744200" cy="1123950"/>
            </a:xfrm>
            <a:custGeom>
              <a:avLst/>
              <a:gdLst/>
              <a:ahLst/>
              <a:cxnLst/>
              <a:rect l="l" t="t" r="r" b="b"/>
              <a:pathLst>
                <a:path w="10744200" h="1123950">
                  <a:moveTo>
                    <a:pt x="0" y="0"/>
                  </a:moveTo>
                  <a:lnTo>
                    <a:pt x="10744200" y="0"/>
                  </a:lnTo>
                  <a:moveTo>
                    <a:pt x="1790700" y="0"/>
                  </a:moveTo>
                  <a:lnTo>
                    <a:pt x="1790700" y="1123950"/>
                  </a:lnTo>
                  <a:moveTo>
                    <a:pt x="3581400" y="0"/>
                  </a:moveTo>
                  <a:lnTo>
                    <a:pt x="3581400" y="1123950"/>
                  </a:lnTo>
                  <a:moveTo>
                    <a:pt x="5372100" y="0"/>
                  </a:moveTo>
                  <a:lnTo>
                    <a:pt x="5372100" y="1123950"/>
                  </a:lnTo>
                  <a:moveTo>
                    <a:pt x="7162800" y="0"/>
                  </a:moveTo>
                  <a:lnTo>
                    <a:pt x="7162800" y="1123950"/>
                  </a:lnTo>
                  <a:moveTo>
                    <a:pt x="8953500" y="0"/>
                  </a:moveTo>
                  <a:lnTo>
                    <a:pt x="8953500" y="11239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773" y="4358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16" y="47253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当前：目标/范围冻结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14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42616" y="4725352"/>
              <a:ext cx="1237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当前：Branch 级门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321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Budget &amp; Stop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33316" y="472535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部分：轮次/调用/期限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28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Steer / Pause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4016" y="4725352"/>
              <a:ext cx="1818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部分：安全点；无 Takeover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135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Durable 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4716" y="472535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部分：可选 PG 重启恢复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4273" y="4358164"/>
              <a:ext cx="514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Trace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4725352"/>
              <a:ext cx="19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当前：named SSE + Snapshot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6156" y="5711190"/>
            <a:ext cx="7014972" cy="572071"/>
            <a:chOff x="486156" y="5711190"/>
            <a:chExt cx="7014972" cy="572071"/>
          </a:xfrm>
        </p:grpSpPr>
        <p:sp>
          <p:nvSpPr>
            <p:cNvPr id="65" name="TextBox 65"/>
            <p:cNvSpPr txBox="1"/>
            <p:nvPr/>
          </p:nvSpPr>
          <p:spPr>
            <a:xfrm>
              <a:off x="486156" y="5711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当前本质：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67256" y="57111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有反馈与恢复的只读办公任务纵切，不是完整执行器。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966" y="6077902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历史“约 30%”只属于早期架构审计基线，不是当前覆盖率或模型质量。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489966" y="6458902"/>
              <a:ext cx="678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线上运行时参照：LangGraph Persistence · OpenAI Agents SDK Human-in-the-loop · A2A Task States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8376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六个办公场景，共用同一条治理主线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场景地图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504950"/>
            <a:ext cx="6844741" cy="4436078"/>
            <a:chOff x="533400" y="1504950"/>
            <a:chExt cx="6844741" cy="4436078"/>
          </a:xfrm>
        </p:grpSpPr>
        <p:sp>
          <p:nvSpPr>
            <p:cNvPr id="9" name="Freeform 9"/>
            <p:cNvSpPr/>
            <p:nvPr/>
          </p:nvSpPr>
          <p:spPr>
            <a:xfrm>
              <a:off x="742950" y="15049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00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6912" y="173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806" y="1558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 入职资产匹配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7473" y="1881664"/>
              <a:ext cx="5951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产物：资产匹配表 人工门：业务规则复核 边界：引用定位问题不等于成果失败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362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6912" y="2500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806" y="2320290"/>
              <a:ext cx="218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 三期往来款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473" y="2643664"/>
              <a:ext cx="5187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产物：未收/未付统计 人工门：僵尸账款判断 边界：不核销、不记账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124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912" y="3262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806" y="3082290"/>
              <a:ext cx="2720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双岗位招聘筛选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473" y="3405664"/>
              <a:ext cx="5436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产物：候选建议与依据 人工门：招聘负责人决定 边界：未录用、未淘汰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886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806" y="3844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授权文件风控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473" y="4167664"/>
              <a:ext cx="526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产物：规则台账与风险候选 人工门：法务复核 边界：不代表法律意见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648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6912" y="4786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806" y="4606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合规外呼流程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473" y="4929664"/>
              <a:ext cx="6260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产物：流程图与 DOCX 人工门：执行批准 边界：不拨号、不写 CRM、不发短信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10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912" y="554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806" y="5368290"/>
              <a:ext cx="4306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/ TC-15 冲突诊断与说明对账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473" y="5691664"/>
              <a:ext cx="5805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产物：条件式提案 / 排序成果 人工门：复核权威顺序 边界：不静默覆盖冲突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39200" y="1504950"/>
            <a:ext cx="2857500" cy="4324350"/>
            <a:chOff x="8839200" y="1504950"/>
            <a:chExt cx="2857500" cy="4324350"/>
          </a:xfrm>
        </p:grpSpPr>
        <p:sp>
          <p:nvSpPr>
            <p:cNvPr id="35" name="Rectangle 35"/>
            <p:cNvSpPr/>
            <p:nvPr/>
          </p:nvSpPr>
          <p:spPr>
            <a:xfrm>
              <a:off x="8839200" y="1504950"/>
              <a:ext cx="2857500" cy="4324350"/>
            </a:xfrm>
            <a:prstGeom prst="roundRect">
              <a:avLst>
                <a:gd name="adj" fmla="val 2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142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同一治理主线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5806" y="22631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1 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473" y="25865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用户只说业务目标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5806" y="30060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2 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18473" y="33294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来源、计划、成果、验证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5806" y="37490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3 停顿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8473" y="40724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只暂停受影响部分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5806" y="4491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4 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473" y="4815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成果、依据、决定、边界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18473" y="52916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每个场景都可被反证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64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场景设计依据：Microsoft HAI Guidelines · W3C PROV-O · OpenAI Agents SDK Human-in-the-loop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918099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TC-01：成果正确，不等于引用定位完整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用户反馈驱动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28750"/>
            <a:ext cx="4016121" cy="4343400"/>
            <a:chOff x="495300" y="1428750"/>
            <a:chExt cx="4016121" cy="4343400"/>
          </a:xfrm>
        </p:grpSpPr>
        <p:sp>
          <p:nvSpPr>
            <p:cNvPr id="9" name="Rectangle 9"/>
            <p:cNvSpPr/>
            <p:nvPr/>
          </p:nvSpPr>
          <p:spPr>
            <a:xfrm>
              <a:off x="495300" y="1428750"/>
              <a:ext cx="3429000" cy="43434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6656" y="15582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旧体验：成果与审计缺口混在一起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2169953"/>
              <a:ext cx="3124200" cy="2899094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804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用户反馈样本，非正式目标用户研究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52900" y="1428750"/>
            <a:ext cx="5059871" cy="4343400"/>
            <a:chOff x="4152900" y="1428750"/>
            <a:chExt cx="5059871" cy="4343400"/>
          </a:xfrm>
        </p:grpSpPr>
        <p:sp>
          <p:nvSpPr>
            <p:cNvPr id="14" name="Rectangle 14"/>
            <p:cNvSpPr/>
            <p:nvPr/>
          </p:nvSpPr>
          <p:spPr>
            <a:xfrm>
              <a:off x="4152900" y="1428750"/>
              <a:ext cx="468630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2356" y="15582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现在把三个事实拆开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5023" y="1976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08423" y="1976914"/>
              <a:ext cx="3540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根据时间表和规则生成 3/20-4/20 资产匹配表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50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08423" y="2338864"/>
              <a:ext cx="3893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读取两份资料 → 生成 CSV → 文件检查 → 证据定位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5023" y="27008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8423" y="2700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日期与资产表可通过确定性文件检查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5023" y="30627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8423" y="3062764"/>
              <a:ext cx="4020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同一逐字 quote 多次出现，无法唯一映射到原文位置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486150"/>
              <a:ext cx="42291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523" y="361521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“缺一份引用”到底是什么意思？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523" y="3900964"/>
              <a:ext cx="4647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缺的是唯一可回开的定位，不是缺源文件，也不是日期算错。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5023" y="44915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8423" y="44915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成果置顶；同源缺口合并；只决定受影响定位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5023" y="48534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8423" y="4853464"/>
              <a:ext cx="394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Artifact/Effect 与 Resolution/Branch 分开负责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75023" y="5215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8423" y="5215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用户仍需复核资产规则与特殊备注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67800" y="1428750"/>
            <a:ext cx="2628900" cy="4343400"/>
            <a:chOff x="9067800" y="1428750"/>
            <a:chExt cx="2628900" cy="4343400"/>
          </a:xfrm>
        </p:grpSpPr>
        <p:sp>
          <p:nvSpPr>
            <p:cNvPr id="34" name="Rectangle 34"/>
            <p:cNvSpPr/>
            <p:nvPr/>
          </p:nvSpPr>
          <p:spPr>
            <a:xfrm>
              <a:off x="9067800" y="1428750"/>
              <a:ext cx="2628900" cy="43434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49156" y="1558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现在：成果优先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223" y="1962150"/>
              <a:ext cx="1564055" cy="33337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9252966" y="5411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489966" y="6458902"/>
              <a:ext cx="632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设计依据：Anthropic Citations · Microsoft HAI Guidelines；截图只证明当前系统渲染与运行事实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21152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TC-05：三份输入，不等于三期各出一份结果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语义说明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4632" y="1240155"/>
            <a:ext cx="10831068" cy="1179195"/>
            <a:chOff x="484632" y="1240155"/>
            <a:chExt cx="10831068" cy="11791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输入：三个期间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41363" y="1947863"/>
              <a:ext cx="155575" cy="200026"/>
              <a:chOff x="741363" y="1947863"/>
              <a:chExt cx="155575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41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4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4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8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79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上半年明细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62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408363" y="1947863"/>
              <a:ext cx="155575" cy="200026"/>
              <a:chOff x="3408363" y="1947863"/>
              <a:chExt cx="155575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508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08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441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41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75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746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下半年明细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29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075363" y="1947863"/>
              <a:ext cx="155575" cy="200026"/>
              <a:chOff x="6075363" y="1947863"/>
              <a:chExt cx="155575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75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75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08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08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142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413373" y="2005489"/>
              <a:ext cx="1184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2026 期初明细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496300" y="20669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25200" y="195262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8299" y="178641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按不同目的生成三份成果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95300" y="2895600"/>
            <a:ext cx="11201400" cy="2209800"/>
            <a:chOff x="495300" y="2895600"/>
            <a:chExt cx="11201400" cy="2209800"/>
          </a:xfrm>
        </p:grpSpPr>
        <p:sp>
          <p:nvSpPr>
            <p:cNvPr id="38" name="Rectangle 38"/>
            <p:cNvSpPr/>
            <p:nvPr/>
          </p:nvSpPr>
          <p:spPr>
            <a:xfrm>
              <a:off x="4953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7400" y="3162300"/>
              <a:ext cx="177800" cy="228599"/>
              <a:chOff x="787400" y="3162300"/>
              <a:chExt cx="177800" cy="22859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017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74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55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5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36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704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未付统计.csv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4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4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提取正数贷方期末余额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6374" y="4294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31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70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1529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445000" y="3162300"/>
              <a:ext cx="177800" cy="228599"/>
              <a:chOff x="4445000" y="3162300"/>
              <a:chExt cx="177800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5593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4450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831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4831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5212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8280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未收统计.csv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50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750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提取正数借方期末余额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639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941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10500" y="2895600"/>
              <a:ext cx="38862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102600" y="3162300"/>
              <a:ext cx="177800" cy="228599"/>
              <a:chOff x="8102600" y="3162300"/>
              <a:chExt cx="177800" cy="22859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2169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026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53400" y="32385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53400" y="32893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53400" y="33400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485632" y="3145155"/>
              <a:ext cx="2351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跨期核对说明.md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32623" y="3672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这份文件才比较三个期间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2623" y="3977164"/>
              <a:ext cx="3128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同一科目 + 客商的借方余额是否连续不变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215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D97706"/>
                  </a:solidFill>
                  <a:latin typeface="Segoe UI Semibold"/>
                  <a:ea typeface="Segoe UI Semibold"/>
                  <a:cs typeface="Segoe UI Semibold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51723" y="4529614"/>
              <a:ext cx="2098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条风险候选 · 仍需财务复核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5429250"/>
            <a:ext cx="11201400" cy="666750"/>
            <a:chOff x="495300" y="5429250"/>
            <a:chExt cx="11201400" cy="666750"/>
          </a:xfrm>
        </p:grpSpPr>
        <p:sp>
          <p:nvSpPr>
            <p:cNvPr id="75" name="Rectangle 75"/>
            <p:cNvSpPr/>
            <p:nvPr/>
          </p:nvSpPr>
          <p:spPr>
            <a:xfrm>
              <a:off x="495300" y="5429250"/>
              <a:ext cx="112014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4756" y="5520690"/>
              <a:ext cx="411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前台必须先解释“每份成果代表什么”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423" y="5844064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统计完成不等于僵尸账款定论；系统未付款、未核销、未记账，也不替代会计政策判断。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458902"/>
              <a:ext cx="4444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当前系统实测；交互依据：Microsoft HAI Guidelines · W3C PROV-O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/ TC-07：高影响判断必须保留人工门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38150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3235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人机责任分层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5300" y="1390650"/>
            <a:ext cx="5334000" cy="4267200"/>
            <a:chOff x="495300" y="1390650"/>
            <a:chExt cx="53340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53340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42963" y="1697831"/>
              <a:ext cx="202407" cy="242889"/>
              <a:chOff x="842963" y="1697831"/>
              <a:chExt cx="202407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9950" y="16978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3" y="18597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44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27582" y="1678305"/>
              <a:ext cx="3440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· 双岗位招聘筛选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152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5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6073" y="2338864"/>
              <a:ext cx="2833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两份 JD + 五份简历，形成候选建议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6073" y="27389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职位条件 → 经历证据 → 匹配/缺口 → 建议台账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5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60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候选顺序、支持证据、缺失信息、复核项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6073" y="35390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材料冲突或关键条件缺失时标为待复核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73" y="3939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回开依据，确认或改写筛选规则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419600"/>
              <a:ext cx="48006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910614"/>
              <a:ext cx="4398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这是建议，不是录用/淘汰；不隐藏不确定性与隐私边界。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390650"/>
            <a:ext cx="5600700" cy="4267200"/>
            <a:chOff x="6096000" y="1390650"/>
            <a:chExt cx="5600700" cy="42672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390650"/>
              <a:ext cx="56007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384971" y="1697831"/>
              <a:ext cx="263510" cy="242888"/>
              <a:chOff x="6384971" y="1697831"/>
              <a:chExt cx="263510" cy="24288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384971" y="16978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651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28282" y="167830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· 授权文件风控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362700" y="2152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773" y="23388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六份授权文件，核对授权范围与风险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6773" y="2738914"/>
              <a:ext cx="3351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条款抽取 → 原文定位 → 规则台账 → 风险候选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67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文件级规则、来源位置、冲突与复核清单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62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6773" y="3539014"/>
              <a:ext cx="3119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授权主体/期限/范围不一致时不自动裁决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1573" y="3939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逐项回开原文，交由法务作最终判断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62700" y="4419600"/>
              <a:ext cx="50673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67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6723" y="4910614"/>
              <a:ext cx="3960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这是风险候选，不代表法律意见，也不会代替签署。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6000750"/>
            <a:ext cx="11210544" cy="443484"/>
            <a:chOff x="486156" y="6000750"/>
            <a:chExt cx="11210544" cy="443484"/>
          </a:xfrm>
        </p:grpSpPr>
        <p:sp>
          <p:nvSpPr>
            <p:cNvPr id="50" name="Freeform 50"/>
            <p:cNvSpPr/>
            <p:nvPr/>
          </p:nvSpPr>
          <p:spPr>
            <a:xfrm>
              <a:off x="495300" y="6000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6156" y="6092190"/>
              <a:ext cx="7750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共同原则：Agent 提供证据与候选，业务权威仍由有职责的人承担。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89966" y="6458902"/>
              <a:ext cx="4486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人机交互研究依据：Microsoft Guidelines for Human-AI Interaction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/ TC-14：形成方案，不等于执行动作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动作边界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95300" y="1390650"/>
            <a:ext cx="4762500" cy="4381500"/>
            <a:chOff x="495300" y="1390650"/>
            <a:chExt cx="4762500" cy="43815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47625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3431" y="1678781"/>
              <a:ext cx="242888" cy="242888"/>
              <a:chOff x="783431" y="167878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83431" y="18676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2344" y="16787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0419" y="170576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08532" y="165925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· 合规外呼流程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473" y="2167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023" y="2167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根据材料形成外呼流程与话术规则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2548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7023" y="2548414"/>
              <a:ext cx="3168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来源抽取 → 节点/条件 → 流程图 → DOCX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2950" y="3048000"/>
              <a:ext cx="42672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64406" y="3288506"/>
              <a:ext cx="185737" cy="185737"/>
              <a:chOff x="964406" y="3288506"/>
              <a:chExt cx="185737" cy="1857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4406" y="32885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6318" y="33607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324356" y="3253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7023" y="3596164"/>
              <a:ext cx="3404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生成流程图与可下载 DOCX，完成结构检查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2950" y="4095750"/>
              <a:ext cx="42672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3209" y="4351878"/>
              <a:ext cx="208123" cy="178805"/>
              <a:chOff x="953209" y="4351878"/>
              <a:chExt cx="208123" cy="17880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57275" y="4417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3209" y="4351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7275" y="4489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324356" y="43205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7023" y="4682014"/>
              <a:ext cx="239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未拨号、未写 CRM、未发短信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166" y="4953952"/>
              <a:ext cx="3025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没有 Connector receipt，就不能显示“已执行”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24500" y="1390650"/>
            <a:ext cx="6172200" cy="4381500"/>
            <a:chOff x="5524500" y="1390650"/>
            <a:chExt cx="6172200" cy="4381500"/>
          </a:xfrm>
        </p:grpSpPr>
        <p:sp>
          <p:nvSpPr>
            <p:cNvPr id="34" name="Rectangle 34"/>
            <p:cNvSpPr/>
            <p:nvPr/>
          </p:nvSpPr>
          <p:spPr>
            <a:xfrm>
              <a:off x="5524500" y="1390650"/>
              <a:ext cx="61722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1482" y="1525905"/>
              <a:ext cx="37379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· SRE 冲突日志诊断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051" y="1943100"/>
              <a:ext cx="3591098" cy="27432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5772150" y="4857750"/>
              <a:ext cx="260985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7123" y="49868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已发生：条件式诊断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38266" y="5258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保留支持、反证与止损提案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53450" y="4857750"/>
              <a:ext cx="28956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8423" y="4986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未发生：生产变更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9566" y="525875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 ES 命令，未触发业务降级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6156" y="6038850"/>
            <a:ext cx="11210544" cy="443484"/>
            <a:chOff x="486156" y="6038850"/>
            <a:chExt cx="11210544" cy="443484"/>
          </a:xfrm>
        </p:grpSpPr>
        <p:sp>
          <p:nvSpPr>
            <p:cNvPr id="44" name="Freeform 44"/>
            <p:cNvSpPr/>
            <p:nvPr/>
          </p:nvSpPr>
          <p:spPr>
            <a:xfrm>
              <a:off x="495300" y="60388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6156" y="613029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前台输出必须同时写清：成果是什么，以及哪些业务动作没有发生。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7013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技术依据：OpenAI Agents SDK Human-in-the-loop · MCP Elicitation · W3C PROV-O；截图为当前系统实测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6657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TC-15：模型说明不能覆盖确定性成果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14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单一当前结论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390650"/>
            <a:ext cx="6819900" cy="4476750"/>
            <a:chOff x="495300" y="1390650"/>
            <a:chExt cx="6819900" cy="447675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6819900" cy="4476750"/>
            </a:xfrm>
            <a:prstGeom prst="roundRect">
              <a:avLst>
                <a:gd name="adj" fmla="val 127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4756" y="15392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当前系统实测：冲突说明被拒绝，成果仍保留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159" y="1943100"/>
              <a:ext cx="4364182" cy="33337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18566" y="55064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桌面端拒绝态 · 不伪造竞品或生产截图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81900" y="1390650"/>
            <a:ext cx="4114800" cy="4476750"/>
            <a:chOff x="7581900" y="1390650"/>
            <a:chExt cx="4114800" cy="4476750"/>
          </a:xfrm>
        </p:grpSpPr>
        <p:sp>
          <p:nvSpPr>
            <p:cNvPr id="14" name="Rectangle 14"/>
            <p:cNvSpPr/>
            <p:nvPr/>
          </p:nvSpPr>
          <p:spPr>
            <a:xfrm>
              <a:off x="7581900" y="139065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4023" y="15768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确定性成果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99832" y="1887855"/>
              <a:ext cx="2603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212/212 行 · 87 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281714"/>
              <a:ext cx="2352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P0-P4 = 25 / 40 / 14 / 6 /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81900" y="281940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C0362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04023" y="30056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模型冲突说明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023" y="3386614"/>
              <a:ext cx="2987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声称只覆盖 60 行，并改写 P0 优先级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4023" y="3691414"/>
              <a:ext cx="2724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81900" y="4248150"/>
              <a:ext cx="4114800" cy="1619250"/>
            </a:xfrm>
            <a:prstGeom prst="roundRect">
              <a:avLst>
                <a:gd name="adj" fmla="val 352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4023" y="44343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服务端采用回执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4815364"/>
              <a:ext cx="11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contradictory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101114"/>
              <a:ext cx="1935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deterministic_outcome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386864"/>
              <a:ext cx="725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7706"/>
                  </a:solidFill>
                  <a:latin typeface="Consolas"/>
                  <a:ea typeface="Consolas"/>
                  <a:cs typeface="Consolas"/>
                </a:rPr>
                <a:t>rejected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39706" y="5006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前台只保留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9706" y="533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一套当前结论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2019" y="6081193"/>
            <a:ext cx="8209071" cy="250360"/>
            <a:chOff x="512019" y="6081193"/>
            <a:chExt cx="8209071" cy="250360"/>
          </a:xfrm>
        </p:grpSpPr>
        <p:grpSp>
          <p:nvGrpSpPr>
            <p:cNvPr id="33" name="Group 33"/>
            <p:cNvGrpSpPr/>
            <p:nvPr/>
          </p:nvGrpSpPr>
          <p:grpSpPr>
            <a:xfrm>
              <a:off x="512019" y="6081193"/>
              <a:ext cx="176105" cy="151297"/>
              <a:chOff x="512019" y="6081193"/>
              <a:chExt cx="176105" cy="1512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0075" y="61364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2019" y="60811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0075" y="6197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12673" y="6082189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这只证明固定场景的结构化事实对账，不是通用自然语言真值证明器，也不证明排序方案带来用户价值。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89966" y="6458902"/>
              <a:ext cx="547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交互依据：Microsoft HAI Guidelines · W3C Status Messages；截图为当前系统实测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前台交互只需要先回答五个问题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5322" y="519589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界面与体验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5300" y="1409700"/>
            <a:ext cx="6286500" cy="4267200"/>
            <a:chOff x="495300" y="1409700"/>
            <a:chExt cx="62865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409700"/>
              <a:ext cx="62865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15830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业务用户的阅读顺序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85800" y="205740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0262" y="2176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106" y="2129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现在完成了什么？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8273" y="2186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成果文件与确定性检查置顶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5800" y="27241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0262" y="28436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106" y="2796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依据是什么？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28532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文件、原文位置与摘录可回开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5800" y="339090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262" y="35104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106" y="3463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为什么停？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273" y="3519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说明问题、影响范围和可选动作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5800" y="40576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262" y="4177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106" y="41300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我确认后会改变什么？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3573" y="4186714"/>
              <a:ext cx="1502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只恢复哪条 Branch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5800" y="472440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0262" y="4843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9106" y="4796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什么绝不会发生？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8273" y="4853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未执行边界与外部动作回执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53349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技术字段放入二级或审计层，不抢占首屏。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48500" y="1409700"/>
            <a:ext cx="4648200" cy="4267200"/>
            <a:chOff x="7048500" y="1409700"/>
            <a:chExt cx="4648200" cy="4267200"/>
          </a:xfrm>
        </p:grpSpPr>
        <p:sp>
          <p:nvSpPr>
            <p:cNvPr id="33" name="Rectangle 33"/>
            <p:cNvSpPr/>
            <p:nvPr/>
          </p:nvSpPr>
          <p:spPr>
            <a:xfrm>
              <a:off x="7048500" y="1409700"/>
              <a:ext cx="4648200" cy="4267200"/>
            </a:xfrm>
            <a:prstGeom prst="roundRect">
              <a:avLst>
                <a:gd name="adj" fmla="val 13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4532" y="1583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三层信息架构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15200" y="2095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34656" y="2186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首屏：当前结论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323" y="2529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成果、复核状态、未执行边界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15200" y="30480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34656" y="3139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展开：为什么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323" y="34818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来源、校验、说明采用、局部决定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15200" y="4000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4656" y="4091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审计：系统事实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7323" y="4434364"/>
              <a:ext cx="3456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Snapshot、version、SSE、DecisionRecord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15200" y="4991100"/>
              <a:ext cx="4114800" cy="476250"/>
            </a:xfrm>
            <a:prstGeom prst="roundRect">
              <a:avLst>
                <a:gd name="adj" fmla="val 12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4454" y="51582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目标：少解释概念，多解释下一步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6156" y="5844540"/>
            <a:ext cx="8655406" cy="352044"/>
            <a:chOff x="486156" y="5844540"/>
            <a:chExt cx="8655406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486156" y="5844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仍需用户研究验证：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17673" y="5901214"/>
              <a:ext cx="6423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能否无引导说出当前结果、来源、影响、下一步；并用 HEART 度量理解与负担。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634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用户研究依据：Microsoft HAI Guidelines · W3C Status Messages / Target Size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32528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我们到底做了什么：跑通办公任务纵切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172700" y="43815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133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4632" y="1221105"/>
            <a:ext cx="4473892" cy="4836795"/>
            <a:chOff x="484632" y="1221105"/>
            <a:chExt cx="4473892" cy="48367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21105"/>
              <a:ext cx="44738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不是回答页，而是一条可复核链路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42950" y="1943100"/>
              <a:ext cx="9525" cy="2876550"/>
            </a:xfrm>
            <a:custGeom>
              <a:avLst/>
              <a:gdLst/>
              <a:ahLst/>
              <a:cxnLst/>
              <a:rect l="l" t="t" r="r" b="b"/>
              <a:pathLst>
                <a:path w="9525" h="2876550">
                  <a:moveTo>
                    <a:pt x="0" y="0"/>
                  </a:moveTo>
                  <a:lnTo>
                    <a:pt x="0" y="28765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52450" y="18478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6912" y="1967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5756" y="1786890"/>
              <a:ext cx="133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8423" y="2110264"/>
              <a:ext cx="2064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15 个目录 · 96 份安全预览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52450" y="25336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6912" y="2653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5756" y="2472690"/>
              <a:ext cx="1790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423" y="2796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目标、范围、预算由服务端冻结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52450" y="32194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6912" y="33389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756" y="3158490"/>
              <a:ext cx="2159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 + Analyst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8423" y="34818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调用、校验、采用分别留回执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2450" y="39052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756" y="3844290"/>
              <a:ext cx="2650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Branch Evidence Gate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8423" y="4167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局部停、局部补证、保留已完成成果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2450" y="459105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6912" y="47105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756" y="4530090"/>
              <a:ext cx="2299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+ Receipt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8423" y="4853464"/>
              <a:ext cx="3432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真实文件、确定性检查、Snapshot 与 Trace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5257800"/>
              <a:ext cx="37338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756" y="5387340"/>
              <a:ext cx="3096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用户得到的不是一句“完成”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423" y="57297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而是成果、依据、影响和下一步。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1333500"/>
            <a:ext cx="7239000" cy="5029200"/>
            <a:chOff x="4457700" y="1333500"/>
            <a:chExt cx="7239000" cy="5029200"/>
          </a:xfrm>
        </p:grpSpPr>
        <p:sp>
          <p:nvSpPr>
            <p:cNvPr id="35" name="Rectangle 35"/>
            <p:cNvSpPr/>
            <p:nvPr/>
          </p:nvSpPr>
          <p:spPr>
            <a:xfrm>
              <a:off x="4457700" y="1333500"/>
              <a:ext cx="72390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1428750"/>
              <a:ext cx="7048500" cy="489585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4648200" y="1543050"/>
              <a:ext cx="1447800" cy="304800"/>
            </a:xfrm>
            <a:prstGeom prst="roundRect">
              <a:avLst>
                <a:gd name="adj" fmla="val 1875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24955" y="16149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真实运行界面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489966" y="6458902"/>
              <a:ext cx="6031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当前边界：有界只读 Agent Control Loop + 固定成果适配器；不是通用执行器或生产 SLA 证明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84936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1：用户只说目标，Agent 自主选择资料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336" y="1428750"/>
              <a:ext cx="6967728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466850" cy="304800"/>
            </a:xfrm>
            <a:prstGeom prst="roundRect">
              <a:avLst>
                <a:gd name="adj" fmla="val 1875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20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当前系统实测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05800" y="1333500"/>
            <a:ext cx="3505314" cy="5029200"/>
            <a:chOff x="8305800" y="1333500"/>
            <a:chExt cx="3505314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420100" y="1485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35512" y="1586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8156" y="1529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7923" y="19769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只写自然语言目标，不先猜文件。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9066" y="2248852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no selected_file_refs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05800" y="2743200"/>
              <a:ext cx="33909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20100" y="28956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5512" y="29960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8156" y="2939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服务端事实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7923" y="3386614"/>
              <a:ext cx="2218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冻结完整 allowlisted 索引；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7923" y="3653314"/>
              <a:ext cx="3283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Planner 只看安全元数据，提出本轮证据。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9066" y="392525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scope_mode=whole_workspace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43434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420100" y="44958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5512" y="45962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8156" y="4539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7923" y="4986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展示资料依据、模型采用、剩余预算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7923" y="5253514"/>
              <a:ext cx="1757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以及实时有序 Trace。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05800" y="5753100"/>
              <a:ext cx="33909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27923" y="5872639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9066" y="61255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自主选资料不等于穷举正确，仍需复核。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9966" y="6458902"/>
            <a:ext cx="11021568" cy="205359"/>
            <a:chOff x="489966" y="6458902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489966" y="6458902"/>
              <a:ext cx="4420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交互变化：从“用户先选文件”变为“用户说明目标，系统解释资料选择”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22746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2：证据有歧义，只恢复受影响的分支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320" y="1428750"/>
              <a:ext cx="6869759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619250" cy="304800"/>
            </a:xfrm>
            <a:prstGeom prst="roundRect">
              <a:avLst>
                <a:gd name="adj" fmla="val 1875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82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证据复核实景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05800" y="1333500"/>
            <a:ext cx="3390900" cy="5029200"/>
            <a:chOff x="8305800" y="1333500"/>
            <a:chExt cx="3390900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5256" y="14820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先解释发生了什么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27923" y="1881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同一逐字片段出现多次，服务端无法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27923" y="2148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唯一决定该回开哪一处原文。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05800" y="268605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25256" y="2834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再让用户决定位置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923" y="32342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界面同时给出事实、影响、下一步，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7923" y="35009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并在安全预览中高亮候选原文。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05800" y="4038600"/>
              <a:ext cx="3390900" cy="1600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4968" y="4133850"/>
              <a:ext cx="3192564" cy="1514475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8439150" y="4191000"/>
              <a:ext cx="1219200" cy="285750"/>
            </a:xfrm>
            <a:prstGeom prst="roundRect">
              <a:avLst>
                <a:gd name="adj" fmla="val 20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98160" y="42776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分支动作实景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05800" y="5791200"/>
              <a:ext cx="3390900" cy="571500"/>
            </a:xfrm>
            <a:prstGeom prst="roundRect">
              <a:avLst>
                <a:gd name="adj" fmla="val 100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7923" y="5901214"/>
              <a:ext cx="1577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只改变目标 Branch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9066" y="61350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已完成成果和其他分支继续保留。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489966" y="6458902"/>
              <a:ext cx="576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用户确认的是原文位置，不是替 Agent 为结论背书；来源版本变化会进入 stale 并重新核对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370522"/>
            <a:ext cx="9045416" cy="674751"/>
            <a:chOff x="477774" y="370522"/>
            <a:chExt cx="904541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9125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实操 3：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7322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成果可检查，模型说明不覆盖事实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333500"/>
            <a:ext cx="5219700" cy="4838700"/>
            <a:chOff x="495300" y="1333500"/>
            <a:chExt cx="5219700" cy="4838700"/>
          </a:xfrm>
        </p:grpSpPr>
        <p:sp>
          <p:nvSpPr>
            <p:cNvPr id="8" name="Rectangle 8"/>
            <p:cNvSpPr/>
            <p:nvPr/>
          </p:nvSpPr>
          <p:spPr>
            <a:xfrm>
              <a:off x="495300" y="1333500"/>
              <a:ext cx="52197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1501140"/>
              <a:ext cx="2814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A. 成果与业务效果分层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1869281"/>
              <a:ext cx="4953000" cy="2786062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723900" y="4857750"/>
              <a:ext cx="47625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5048250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5573" y="5063014"/>
              <a:ext cx="3204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真实文件写入隔离 Run 工作区，可下载。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57250" y="5381625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5573" y="5396389"/>
              <a:ext cx="3389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具名确定性检查与 EffectReceipt 可追溯。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57250" y="5715000"/>
              <a:ext cx="190500" cy="1905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573" y="572976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未付款、未核销等动作继续明确为未发生。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4015" y="1333500"/>
            <a:ext cx="5792685" cy="4838700"/>
            <a:chOff x="5904015" y="1333500"/>
            <a:chExt cx="5792685" cy="4838700"/>
          </a:xfrm>
        </p:grpSpPr>
        <p:sp>
          <p:nvSpPr>
            <p:cNvPr id="19" name="Rectangle 19"/>
            <p:cNvSpPr/>
            <p:nvPr/>
          </p:nvSpPr>
          <p:spPr>
            <a:xfrm>
              <a:off x="5981700" y="1333500"/>
              <a:ext cx="57150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156" y="1501140"/>
              <a:ext cx="415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B. 模型被调用，不代表说明被采用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050" y="1866900"/>
              <a:ext cx="5448300" cy="4162425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6229350" y="1962150"/>
              <a:ext cx="2209800" cy="304800"/>
            </a:xfrm>
            <a:prstGeom prst="roundRect">
              <a:avLst>
                <a:gd name="adj" fmla="val 18750"/>
              </a:avLst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4015" y="2034064"/>
              <a:ext cx="2860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8823" y="6282214"/>
            <a:ext cx="7087362" cy="249364"/>
            <a:chOff x="488823" y="6282214"/>
            <a:chExt cx="7087362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488823" y="62822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4173" y="62822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固定检查证明特定字段与效果，不是通用语义真值证明器；前台仍要求人工复核。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489966" y="6592252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交互变化：先展示可用成果与检查回执，再解释模型说明是否采用及其原因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54449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1：时间维连续性，单个任务如何持续推进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829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核心不是让 Agent 一直跑，而是让同一 Task ID 在证据冲突、用户纠偏和服务重启后仍能从可信状态继续。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5300" y="1657350"/>
            <a:ext cx="11201400" cy="1200150"/>
            <a:chOff x="495300" y="1657350"/>
            <a:chExt cx="11201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495300" y="1657350"/>
              <a:ext cx="112014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65023" y="1771650"/>
              <a:ext cx="1425321" cy="892111"/>
              <a:chOff x="565023" y="1771650"/>
              <a:chExt cx="1425321" cy="892111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2865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406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65023" y="2186464"/>
                <a:ext cx="12682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Task Contract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6166" y="24584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目标、交付、完成条件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2288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812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603373" y="1771650"/>
              <a:ext cx="1283970" cy="892111"/>
              <a:chOff x="2603373" y="1771650"/>
              <a:chExt cx="1283970" cy="89211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26289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7443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03373" y="2186464"/>
                <a:ext cx="7487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Observe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045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读事件、状态、来源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9052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576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279773" y="1771650"/>
              <a:ext cx="1283970" cy="892111"/>
              <a:chOff x="4279773" y="1771650"/>
              <a:chExt cx="1283970" cy="892111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3053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207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9773" y="2186464"/>
                <a:ext cx="3693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Plan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809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拆分支、依赖、预算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55816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340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956173" y="1771650"/>
              <a:ext cx="859917" cy="892111"/>
              <a:chOff x="5956173" y="1771650"/>
              <a:chExt cx="859917" cy="89211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59817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0971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56173" y="2186464"/>
                <a:ext cx="3159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Act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57316" y="24584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产出候选工件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72580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104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32573" y="1771650"/>
              <a:ext cx="1397051" cy="892111"/>
              <a:chOff x="7632573" y="1771650"/>
              <a:chExt cx="1397051" cy="892111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658100" y="1771650"/>
                <a:ext cx="342900" cy="3429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7735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32573" y="2186464"/>
                <a:ext cx="56781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Verify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33716" y="2458402"/>
                <a:ext cx="13959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0362C"/>
                    </a:solidFill>
                    <a:latin typeface="Segoe UI"/>
                    <a:ea typeface="Microsoft YaHei"/>
                    <a:cs typeface="Segoe UI"/>
                  </a:rPr>
                  <a:t>2,400 万 vs 2,680 万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2011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35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75673" y="1771650"/>
              <a:ext cx="1262634" cy="892111"/>
              <a:chOff x="9575673" y="1771650"/>
              <a:chExt cx="1262634" cy="892111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9601200" y="1771650"/>
                <a:ext cx="342900" cy="3429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7166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75673" y="2186464"/>
                <a:ext cx="6405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Commit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576816" y="2458402"/>
                <a:ext cx="12614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版本、来源、Trace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486156" y="3025140"/>
            <a:ext cx="7381494" cy="2423160"/>
            <a:chOff x="486156" y="3025140"/>
            <a:chExt cx="7381494" cy="2423160"/>
          </a:xfrm>
        </p:grpSpPr>
        <p:sp>
          <p:nvSpPr>
            <p:cNvPr id="52" name="TextBox 52"/>
            <p:cNvSpPr txBox="1"/>
            <p:nvPr/>
          </p:nvSpPr>
          <p:spPr>
            <a:xfrm>
              <a:off x="486156" y="3025140"/>
              <a:ext cx="3857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Evidence Gate 只暂停受影响分支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95300" y="3409950"/>
              <a:ext cx="737235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6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69156" y="3860006"/>
              <a:ext cx="185737" cy="185737"/>
              <a:chOff x="869156" y="3860006"/>
              <a:chExt cx="185737" cy="18573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69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1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93673" y="3862864"/>
              <a:ext cx="1436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customer-facts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952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155156" y="3860006"/>
              <a:ext cx="185737" cy="185737"/>
              <a:chOff x="3155156" y="3860006"/>
              <a:chExt cx="185737" cy="18573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155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217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3479673" y="3862864"/>
              <a:ext cx="1112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project-risk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18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38750" y="36385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472112" y="3880644"/>
              <a:ext cx="123825" cy="144462"/>
              <a:chOff x="5472112" y="3880644"/>
              <a:chExt cx="123825" cy="1444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47211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55466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5765673" y="3862864"/>
              <a:ext cx="1508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revenue-baseline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04866" y="4115752"/>
              <a:ext cx="193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waiting_input：等待口径决定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6457950" y="4362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400800" y="45148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952750" y="4667250"/>
              <a:ext cx="4743450" cy="590550"/>
            </a:xfrm>
            <a:prstGeom prst="roundRect">
              <a:avLst>
                <a:gd name="adj" fmla="val 9677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163640" y="4862453"/>
              <a:ext cx="206003" cy="182610"/>
            </a:xfrm>
            <a:custGeom>
              <a:avLst/>
              <a:gdLst/>
              <a:ahLst/>
              <a:cxnLst/>
              <a:rect l="l" t="t" r="r" b="b"/>
              <a:pathLst>
                <a:path w="206003" h="182610">
                  <a:moveTo>
                    <a:pt x="10566" y="173096"/>
                  </a:moveTo>
                  <a:lnTo>
                    <a:pt x="23981" y="132853"/>
                  </a:lnTo>
                  <a:cubicBezTo>
                    <a:pt x="0" y="97388"/>
                    <a:pt x="9266" y="51625"/>
                    <a:pt x="45650" y="25807"/>
                  </a:cubicBezTo>
                  <a:cubicBezTo>
                    <a:pt x="82034" y="0"/>
                    <a:pt x="134288" y="2115"/>
                    <a:pt x="167875" y="30760"/>
                  </a:cubicBezTo>
                  <a:cubicBezTo>
                    <a:pt x="201463" y="59415"/>
                    <a:pt x="206003" y="105736"/>
                    <a:pt x="178493" y="139117"/>
                  </a:cubicBezTo>
                  <a:cubicBezTo>
                    <a:pt x="150983" y="172498"/>
                    <a:pt x="99916" y="182610"/>
                    <a:pt x="59064" y="162778"/>
                  </a:cubicBezTo>
                  <a:lnTo>
                    <a:pt x="10566" y="173096"/>
                  </a:lnTo>
                </a:path>
              </a:pathLst>
            </a:custGeom>
            <a:noFill/>
            <a:ln w="19050">
              <a:solidFill>
                <a:srgbClr val="1769E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517773" y="4758214"/>
              <a:ext cx="3430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Steer：采用正式口径，保留预测差异说明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518916" y="5011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只恢复该分支；已完成工件和版本不被覆盖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144256" y="3025140"/>
            <a:ext cx="4519757" cy="2423160"/>
            <a:chOff x="8144256" y="3025140"/>
            <a:chExt cx="4519757" cy="2423160"/>
          </a:xfrm>
        </p:grpSpPr>
        <p:sp>
          <p:nvSpPr>
            <p:cNvPr id="79" name="TextBox 79"/>
            <p:cNvSpPr txBox="1"/>
            <p:nvPr/>
          </p:nvSpPr>
          <p:spPr>
            <a:xfrm>
              <a:off x="8144256" y="3025140"/>
              <a:ext cx="2906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从 07-16 目标到当前事实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53400" y="3409950"/>
              <a:ext cx="354330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343900" y="3600450"/>
              <a:ext cx="8953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15195" y="36680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当前已落地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37423" y="3958114"/>
              <a:ext cx="3105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服务端 Branch 与分支级 Evidence Gate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37423" y="4205764"/>
              <a:ext cx="3580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B2733"/>
                  </a:solidFill>
                  <a:latin typeface="Segoe UI"/>
                  <a:ea typeface="Segoe UI"/>
                  <a:cs typeface="Segoe UI"/>
                </a:rPr>
                <a:t>append-only ArtifactVersion / TaskCommit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37423" y="4453414"/>
              <a:ext cx="304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局部恢复与可选 PostgreSQL 重启恢复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343900" y="47625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38566" y="4896802"/>
              <a:ext cx="432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仍是目标：生产跨端身份、通用可写办公工件、长期后台 Worker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95300" y="5715000"/>
            <a:ext cx="11201400" cy="514350"/>
            <a:chOff x="495300" y="5715000"/>
            <a:chExt cx="11201400" cy="514350"/>
          </a:xfrm>
        </p:grpSpPr>
        <p:sp>
          <p:nvSpPr>
            <p:cNvPr id="89" name="Rectangle 89"/>
            <p:cNvSpPr/>
            <p:nvPr/>
          </p:nvSpPr>
          <p:spPr>
            <a:xfrm>
              <a:off x="495300" y="5715000"/>
              <a:ext cx="11201400" cy="514350"/>
            </a:xfrm>
            <a:prstGeom prst="roundRect">
              <a:avLst>
                <a:gd name="adj" fmla="val 11111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7423" y="589168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交互变化：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593723" y="58916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用户不再重开对话、重讲背景，而是在同一任务里查看分支、处理冲突、恢复受影响部分。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3" name="TextBox 93"/>
            <p:cNvSpPr txBox="1"/>
            <p:nvPr/>
          </p:nvSpPr>
          <p:spPr>
            <a:xfrm>
              <a:off x="489966" y="6458902"/>
              <a:ext cx="7405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1；线上实践依据：LangGraph Persistence · OpenAI Agents SDK Human-in-the-loop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04992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2：组织维复杂性，驾驶舱怎样分配工作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8423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Swarm 不是新的聊天入口，而是驾驶舱在复杂任务上选择的一种执行方式；简单工作继续走更低成本的路径。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6156" y="1596390"/>
            <a:ext cx="11578457" cy="1299210"/>
            <a:chOff x="486156" y="1596390"/>
            <a:chExt cx="11578457" cy="129921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936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1. 聚合工作信号，先形成统一待办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1981200"/>
              <a:ext cx="112014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750" y="2171700"/>
              <a:ext cx="106680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99871" y="2335768"/>
              <a:ext cx="190157" cy="168564"/>
            </a:xfrm>
            <a:custGeom>
              <a:avLst/>
              <a:gdLst/>
              <a:ahLst/>
              <a:cxnLst/>
              <a:rect l="l" t="t" r="r" b="b"/>
              <a:pathLst>
                <a:path w="190157" h="168564">
                  <a:moveTo>
                    <a:pt x="9754" y="159782"/>
                  </a:moveTo>
                  <a:lnTo>
                    <a:pt x="22136" y="122634"/>
                  </a:lnTo>
                  <a:cubicBezTo>
                    <a:pt x="0" y="89897"/>
                    <a:pt x="8553" y="47654"/>
                    <a:pt x="42139" y="23822"/>
                  </a:cubicBezTo>
                  <a:cubicBezTo>
                    <a:pt x="75724" y="0"/>
                    <a:pt x="123958" y="1953"/>
                    <a:pt x="154962" y="28394"/>
                  </a:cubicBezTo>
                  <a:cubicBezTo>
                    <a:pt x="185966" y="54845"/>
                    <a:pt x="190157" y="97603"/>
                    <a:pt x="164763" y="128416"/>
                  </a:cubicBezTo>
                  <a:cubicBezTo>
                    <a:pt x="139370" y="159229"/>
                    <a:pt x="92231" y="168564"/>
                    <a:pt x="54521" y="150257"/>
                  </a:cubicBezTo>
                  <a:lnTo>
                    <a:pt x="9754" y="159782"/>
                  </a:lnTo>
                </a:path>
              </a:pathLst>
            </a:custGeom>
            <a:noFill/>
            <a:ln w="19050">
              <a:solidFill>
                <a:srgbClr val="1769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8423" y="2348389"/>
              <a:ext cx="35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邮件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847850" y="2171700"/>
              <a:ext cx="106680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019300" y="2333625"/>
              <a:ext cx="142875" cy="171450"/>
              <a:chOff x="2019300" y="2333625"/>
              <a:chExt cx="142875" cy="1714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038350" y="233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019300" y="2447925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105025" y="24669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279523" y="2348389"/>
              <a:ext cx="348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32A3A"/>
                  </a:solidFill>
                  <a:latin typeface="Segoe UI"/>
                  <a:ea typeface="Segoe UI"/>
                  <a:cs typeface="Segoe UI"/>
                </a:rPr>
                <a:t>CRM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28950" y="2171700"/>
              <a:ext cx="106680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171825" y="2333625"/>
              <a:ext cx="171450" cy="161925"/>
              <a:chOff x="3171825" y="2333625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171825" y="2371725"/>
                <a:ext cx="1714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3825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04775"/>
                    </a:lnTo>
                    <a:cubicBezTo>
                      <a:pt x="171450" y="115296"/>
                      <a:pt x="162921" y="123825"/>
                      <a:pt x="152400" y="123825"/>
                    </a:cubicBezTo>
                    <a:lnTo>
                      <a:pt x="19050" y="123825"/>
                    </a:lnTo>
                    <a:cubicBezTo>
                      <a:pt x="8529" y="123825"/>
                      <a:pt x="0" y="115296"/>
                      <a:pt x="0" y="104775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219450" y="23336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257550" y="2419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171825" y="2428875"/>
                <a:ext cx="171450" cy="2717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7171">
                    <a:moveTo>
                      <a:pt x="0" y="0"/>
                    </a:moveTo>
                    <a:cubicBezTo>
                      <a:pt x="53921" y="27171"/>
                      <a:pt x="117529" y="27171"/>
                      <a:pt x="171450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60623" y="2348389"/>
              <a:ext cx="35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项目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10050" y="2171700"/>
              <a:ext cx="106680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371975" y="2333625"/>
              <a:ext cx="133350" cy="171450"/>
              <a:chOff x="4371975" y="2333625"/>
              <a:chExt cx="133350" cy="1714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57700" y="2333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371975" y="23336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00550" y="240982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400550" y="24479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429125" y="24098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41723" y="2348389"/>
              <a:ext cx="35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报销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91150" y="2171700"/>
              <a:ext cx="106680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534025" y="2371725"/>
              <a:ext cx="171450" cy="95250"/>
              <a:chOff x="5534025" y="2371725"/>
              <a:chExt cx="171450" cy="95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543550" y="23812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57150" y="9525"/>
                    </a:lnTo>
                    <a:lnTo>
                      <a:pt x="104775" y="5715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638800" y="24288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591175" y="23812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534025" y="24479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686425" y="23717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822823" y="2348389"/>
              <a:ext cx="35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日历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610350" y="24288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915150" y="23717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62800" y="2095500"/>
              <a:ext cx="4324350" cy="666750"/>
            </a:xfrm>
            <a:prstGeom prst="roundRect">
              <a:avLst>
                <a:gd name="adj" fmla="val 8571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63206" y="21678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智能工作驾驶舱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5873" y="2472214"/>
              <a:ext cx="4698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今日重点排序 · 解释截止时间与业务影响 · 用户可调整优先级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86156" y="3063240"/>
            <a:ext cx="11210544" cy="1318260"/>
            <a:chOff x="486156" y="3063240"/>
            <a:chExt cx="11210544" cy="1318260"/>
          </a:xfrm>
        </p:grpSpPr>
        <p:sp>
          <p:nvSpPr>
            <p:cNvPr id="50" name="TextBox 50"/>
            <p:cNvSpPr txBox="1"/>
            <p:nvPr/>
          </p:nvSpPr>
          <p:spPr>
            <a:xfrm>
              <a:off x="486156" y="3063240"/>
              <a:ext cx="4190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2. 每项待办选择成本合适的执行方式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5300" y="3448050"/>
              <a:ext cx="2514600" cy="933450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08025" y="3679825"/>
              <a:ext cx="165100" cy="165100"/>
              <a:chOff x="708025" y="3679825"/>
              <a:chExt cx="165100" cy="1651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4588" y="3700462"/>
                <a:ext cx="127898" cy="127898"/>
              </a:xfrm>
              <a:custGeom>
                <a:avLst/>
                <a:gdLst/>
                <a:ahLst/>
                <a:cxnLst/>
                <a:rect l="l" t="t" r="r" b="b"/>
                <a:pathLst>
                  <a:path w="127898" h="127898">
                    <a:moveTo>
                      <a:pt x="43130" y="0"/>
                    </a:moveTo>
                    <a:lnTo>
                      <a:pt x="127898" y="84768"/>
                    </a:lnTo>
                    <a:lnTo>
                      <a:pt x="106704" y="105963"/>
                    </a:lnTo>
                    <a:cubicBezTo>
                      <a:pt x="91664" y="121604"/>
                      <a:pt x="69346" y="127898"/>
                      <a:pt x="48350" y="122419"/>
                    </a:cubicBezTo>
                    <a:cubicBezTo>
                      <a:pt x="27355" y="116941"/>
                      <a:pt x="10958" y="100544"/>
                      <a:pt x="5479" y="79548"/>
                    </a:cubicBezTo>
                    <a:cubicBezTo>
                      <a:pt x="0" y="58552"/>
                      <a:pt x="6294" y="36234"/>
                      <a:pt x="21936" y="21195"/>
                    </a:cubicBezTo>
                    <a:lnTo>
                      <a:pt x="4313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08025" y="3808809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0" y="36116"/>
                    </a:moveTo>
                    <a:lnTo>
                      <a:pt x="36116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5415" y="3679825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7009" y="3731418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19556" y="3634740"/>
              <a:ext cx="10375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Tool Call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0273" y="39962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简单查证或单步调用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124200" y="3448050"/>
              <a:ext cx="2514600" cy="933450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3347244" y="3659187"/>
              <a:ext cx="144462" cy="196056"/>
              <a:chOff x="3347244" y="3659187"/>
              <a:chExt cx="144462" cy="19605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3357562" y="3679825"/>
                <a:ext cx="1238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2550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61912"/>
                    </a:lnTo>
                    <a:cubicBezTo>
                      <a:pt x="123825" y="73310"/>
                      <a:pt x="114585" y="82550"/>
                      <a:pt x="103187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3419475" y="3659187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388518" y="3762375"/>
                <a:ext cx="95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8">
                    <a:moveTo>
                      <a:pt x="0" y="0"/>
                    </a:moveTo>
                    <a:lnTo>
                      <a:pt x="0" y="9286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3450431" y="3762375"/>
                <a:ext cx="95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8">
                    <a:moveTo>
                      <a:pt x="0" y="0"/>
                    </a:moveTo>
                    <a:lnTo>
                      <a:pt x="0" y="9286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3347244" y="378301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20637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450431" y="378301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0"/>
                    </a:moveTo>
                    <a:lnTo>
                      <a:pt x="41275" y="20637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388518" y="3824287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398837" y="3721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440112" y="3721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3648456" y="3634740"/>
              <a:ext cx="1522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Single Agent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289173" y="39962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独立草稿与单任务处理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753100" y="3448050"/>
              <a:ext cx="2514600" cy="933450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955506" y="3669506"/>
              <a:ext cx="185737" cy="185737"/>
              <a:chOff x="5955506" y="3669506"/>
              <a:chExt cx="185737" cy="185737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955506" y="381396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099968" y="366950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976144" y="3690144"/>
                <a:ext cx="154781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2">
                    <a:moveTo>
                      <a:pt x="61912" y="144462"/>
                    </a:moveTo>
                    <a:lnTo>
                      <a:pt x="118665" y="144462"/>
                    </a:lnTo>
                    <a:cubicBezTo>
                      <a:pt x="138611" y="144462"/>
                      <a:pt x="154781" y="128293"/>
                      <a:pt x="154781" y="108347"/>
                    </a:cubicBezTo>
                    <a:cubicBezTo>
                      <a:pt x="154781" y="88400"/>
                      <a:pt x="138611" y="72231"/>
                      <a:pt x="118665" y="72231"/>
                    </a:cubicBezTo>
                    <a:lnTo>
                      <a:pt x="36116" y="72231"/>
                    </a:ln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277356" y="3634740"/>
              <a:ext cx="1904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Fixed Workflow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918073" y="39962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稳定、重复、步骤明确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382000" y="3448050"/>
              <a:ext cx="3314700" cy="933450"/>
            </a:xfrm>
            <a:prstGeom prst="roundRect">
              <a:avLst>
                <a:gd name="adj" fmla="val 612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  <a:custDash>
                <a:ds d="400000" sp="300000"/>
              </a:custDash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8605044" y="3679825"/>
              <a:ext cx="154780" cy="165099"/>
              <a:chOff x="8605044" y="3679825"/>
              <a:chExt cx="154780" cy="165099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605044" y="380364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605044" y="36798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08231" y="36798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25681" y="37211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646318" y="37520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lnTo>
                      <a:pt x="61912" y="72231"/>
                    </a:lnTo>
                    <a:cubicBezTo>
                      <a:pt x="73310" y="72231"/>
                      <a:pt x="82550" y="62991"/>
                      <a:pt x="82550" y="51594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697912" y="375205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8906256" y="3634740"/>
              <a:ext cx="1968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Adaptive Swarm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46973" y="3996214"/>
              <a:ext cx="3008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高价值 · 跨来源 · 可并行 · 预算可承受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486156" y="4568190"/>
            <a:ext cx="11210544" cy="1261110"/>
            <a:chOff x="486156" y="4568190"/>
            <a:chExt cx="11210544" cy="1261110"/>
          </a:xfrm>
        </p:grpSpPr>
        <p:sp>
          <p:nvSpPr>
            <p:cNvPr id="90" name="TextBox 90"/>
            <p:cNvSpPr txBox="1"/>
            <p:nvPr/>
          </p:nvSpPr>
          <p:spPr>
            <a:xfrm>
              <a:off x="486156" y="4568190"/>
              <a:ext cx="5817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3. 复杂任务通过 Admission 后，围绕共享成果协作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95300" y="4953000"/>
              <a:ext cx="78105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7423" y="5158264"/>
              <a:ext cx="856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Admission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1600200" y="52387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1828800" y="5181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2089023" y="5158264"/>
              <a:ext cx="964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Supervisor</a:t>
              </a:r>
            </a:p>
          </p:txBody>
        </p:sp>
        <p:sp>
          <p:nvSpPr>
            <p:cNvPr id="96" name="Freeform 96"/>
            <p:cNvSpPr/>
            <p:nvPr/>
          </p:nvSpPr>
          <p:spPr>
            <a:xfrm>
              <a:off x="3067050" y="52387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3295650" y="5181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3555873" y="5158264"/>
              <a:ext cx="1493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Dynamic Workers</a:t>
              </a:r>
            </a:p>
          </p:txBody>
        </p:sp>
        <p:sp>
          <p:nvSpPr>
            <p:cNvPr id="99" name="Freeform 99"/>
            <p:cNvSpPr/>
            <p:nvPr/>
          </p:nvSpPr>
          <p:spPr>
            <a:xfrm>
              <a:off x="4953000" y="52387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5181600" y="5181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441823" y="5158264"/>
              <a:ext cx="1420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Shared Artifact</a:t>
              </a:r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6724650" y="52387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953250" y="5181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213473" y="5158264"/>
              <a:ext cx="720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Verifier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18566" y="5487352"/>
              <a:ext cx="5995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Conflict Resolver 只在冲突时介入；统一成果、待确认事项和 Trace 最终回到同一个驾驶舱。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8515350" y="4762500"/>
              <a:ext cx="318135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705850" y="4933950"/>
              <a:ext cx="7048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756104" y="50015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当前边界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699373" y="5253514"/>
              <a:ext cx="2852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当前是单 Controller + 固定适配器；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699373" y="5482114"/>
              <a:ext cx="2629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通用多 Worker 自组织仍是目标。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495300" y="6000750"/>
            <a:ext cx="11201400" cy="321278"/>
            <a:chOff x="495300" y="6000750"/>
            <a:chExt cx="11201400" cy="321278"/>
          </a:xfrm>
        </p:grpSpPr>
        <p:sp>
          <p:nvSpPr>
            <p:cNvPr id="112" name="Rectangle 112"/>
            <p:cNvSpPr/>
            <p:nvPr/>
          </p:nvSpPr>
          <p:spPr>
            <a:xfrm>
              <a:off x="495300" y="6000750"/>
              <a:ext cx="11201400" cy="304800"/>
            </a:xfrm>
            <a:prstGeom prst="roundRect">
              <a:avLst>
                <a:gd name="adj" fmla="val 1875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2230109" y="6072664"/>
              <a:ext cx="77317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交互变化：用户只管理优先级、理由和统一结果，不必在多个 Agent 对话之间手工搬运上下文。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115" name="TextBox 115"/>
            <p:cNvSpPr txBox="1"/>
            <p:nvPr/>
          </p:nvSpPr>
          <p:spPr>
            <a:xfrm>
              <a:off x="489966" y="6458902"/>
              <a:ext cx="6616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2；线上实践依据：OpenClaw Multi-agent Routing · A2A Protocol · MCP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86333" cy="1131856"/>
            <a:chOff x="477774" y="370522"/>
            <a:chExt cx="11286333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12863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3：动作维风险，方案与执行之间必须有 Gate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生成建议、形成草稿和真实发送或付款是三种不同事实；风险越高，用户越需要在动作发生前看见影响。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6156" y="1596390"/>
            <a:ext cx="11210544" cy="994410"/>
            <a:chOff x="486156" y="1596390"/>
            <a:chExt cx="11210544" cy="99441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526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L0-L5 把风险映射为不同交互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3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32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自动执行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52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27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执行并通知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12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3222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只生成草稿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71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181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普通确认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391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31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4123" y="2262664"/>
              <a:ext cx="553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强确认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25050" y="1981200"/>
              <a:ext cx="177165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090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L5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900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直接拒绝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2758440"/>
            <a:ext cx="11210544" cy="1184910"/>
            <a:chOff x="486156" y="2758440"/>
            <a:chExt cx="11210544" cy="1184910"/>
          </a:xfrm>
        </p:grpSpPr>
        <p:sp>
          <p:nvSpPr>
            <p:cNvPr id="30" name="TextBox 30"/>
            <p:cNvSpPr txBox="1"/>
            <p:nvPr/>
          </p:nvSpPr>
          <p:spPr>
            <a:xfrm>
              <a:off x="486156" y="2758440"/>
              <a:ext cx="6066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动作链：先让用户看见影响，再决定是否发放 Permit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3143250"/>
              <a:ext cx="112014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81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方案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2192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668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270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影响预览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2628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876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36773" y="3481864"/>
              <a:ext cx="82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Risk Lens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0195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2672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7423" y="34818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7340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9817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92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人工确认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1247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723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32573" y="3481864"/>
              <a:ext cx="604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Permit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343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91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517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执行回执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5916" y="35061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或明确“未发生”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4191000"/>
            <a:ext cx="6457950" cy="1847850"/>
            <a:chOff x="495300" y="4191000"/>
            <a:chExt cx="6457950" cy="1847850"/>
          </a:xfrm>
        </p:grpSpPr>
        <p:sp>
          <p:nvSpPr>
            <p:cNvPr id="53" name="Rectangle 53"/>
            <p:cNvSpPr/>
            <p:nvPr/>
          </p:nvSpPr>
          <p:spPr>
            <a:xfrm>
              <a:off x="495300" y="4191000"/>
              <a:ext cx="64579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075" y="4286250"/>
              <a:ext cx="2946400" cy="165735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666750" y="4362450"/>
              <a:ext cx="1771650" cy="285750"/>
            </a:xfrm>
            <a:prstGeom prst="roundRect">
              <a:avLst>
                <a:gd name="adj" fmla="val 2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8311" y="4449128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当前有限实现：成果与效果边界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181850" y="4191000"/>
            <a:ext cx="4693851" cy="1847850"/>
            <a:chOff x="7181850" y="4191000"/>
            <a:chExt cx="4693851" cy="1847850"/>
          </a:xfrm>
        </p:grpSpPr>
        <p:sp>
          <p:nvSpPr>
            <p:cNvPr id="58" name="Rectangle 58"/>
            <p:cNvSpPr/>
            <p:nvPr/>
          </p:nvSpPr>
          <p:spPr>
            <a:xfrm>
              <a:off x="7181850" y="4191000"/>
              <a:ext cx="45148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1306" y="43395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当前已经能证明什么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439025" y="4733925"/>
              <a:ext cx="171450" cy="171450"/>
              <a:chOff x="7439025" y="4733925"/>
              <a:chExt cx="171450" cy="1714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39025" y="4733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96175" y="4800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746873" y="4739164"/>
              <a:ext cx="3834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实际 Artifact、具名 Validator、EffectReceipt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439025" y="5038725"/>
              <a:ext cx="171450" cy="171450"/>
              <a:chOff x="7439025" y="5038725"/>
              <a:chExt cx="171450" cy="1714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439025" y="50387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496175" y="51054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746873" y="5043964"/>
              <a:ext cx="3308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前台明确展示“已生成”与“外部动作未发生”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7410450" y="53340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428689" y="5492761"/>
              <a:ext cx="192114" cy="165051"/>
              <a:chOff x="7428689" y="5492761"/>
              <a:chExt cx="192114" cy="165051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524750" y="55530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28689" y="54927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524750" y="561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746873" y="5482114"/>
              <a:ext cx="4128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生产 Connector、身份授权、Permit 防重放仍未实现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48016" y="573500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因此当前不执行真实付款、发送、CRM 或生产变更。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6153150"/>
            <a:ext cx="11201400" cy="302228"/>
            <a:chOff x="495300" y="6153150"/>
            <a:chExt cx="11201400" cy="302228"/>
          </a:xfrm>
        </p:grpSpPr>
        <p:sp>
          <p:nvSpPr>
            <p:cNvPr id="76" name="Rectangle 76"/>
            <p:cNvSpPr/>
            <p:nvPr/>
          </p:nvSpPr>
          <p:spPr>
            <a:xfrm>
              <a:off x="495300" y="6153150"/>
              <a:ext cx="11201400" cy="266700"/>
            </a:xfrm>
            <a:prstGeom prst="roundRect">
              <a:avLst>
                <a:gd name="adj" fmla="val 21429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295839" y="6206014"/>
              <a:ext cx="7600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交互变化：按钮不再只写“确认”，而要说明对象、影响、可逆性、证据、风险级别和动作回执。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592252"/>
              <a:ext cx="687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3；线上实践依据：OpenAI Agents SDK Human-in-the-loop · MCP Elicitation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408622"/>
            <a:ext cx="8983630" cy="949262"/>
            <a:chOff x="477774" y="408622"/>
            <a:chExt cx="8983630" cy="949262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408622"/>
              <a:ext cx="89836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下一阶段：把 07-16 方向变成可证伪证据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156" y="1005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先闭合可信失败与恢复，再扩大业务效果和外部动作。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1962150"/>
            <a:ext cx="11201400" cy="2286000"/>
            <a:chOff x="495300" y="1962150"/>
            <a:chExt cx="11201400" cy="2286000"/>
          </a:xfrm>
        </p:grpSpPr>
        <p:sp>
          <p:nvSpPr>
            <p:cNvPr id="8" name="Freeform 8"/>
            <p:cNvSpPr/>
            <p:nvPr/>
          </p:nvSpPr>
          <p:spPr>
            <a:xfrm>
              <a:off x="495300" y="1962150"/>
              <a:ext cx="2114550" cy="2286000"/>
            </a:xfrm>
            <a:custGeom>
              <a:avLst/>
              <a:gdLst/>
              <a:ahLst/>
              <a:cxnLst/>
              <a:rect l="l" t="t" r="r" b="b"/>
              <a:pathLst>
                <a:path w="2114550" h="2286000">
                  <a:moveTo>
                    <a:pt x="0" y="0"/>
                  </a:moveTo>
                  <a:lnTo>
                    <a:pt x="1828800" y="0"/>
                  </a:lnTo>
                  <a:lnTo>
                    <a:pt x="2114550" y="1143000"/>
                  </a:lnTo>
                  <a:lnTo>
                    <a:pt x="1828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64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806" y="2586990"/>
              <a:ext cx="1595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原生 Locator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473" y="3005614"/>
              <a:ext cx="547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PDF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473" y="3272314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表格行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473" y="3539014"/>
              <a:ext cx="1394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正文块 + revision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098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843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17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携证成果包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4373" y="3005614"/>
              <a:ext cx="730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4373" y="3272314"/>
              <a:ext cx="1207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EffectReceipt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4373" y="3539014"/>
              <a:ext cx="1497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provenance + 边界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6291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36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006" y="2586990"/>
              <a:ext cx="1606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 Verifier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3673" y="30056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从固定适配器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3673" y="32723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扩展到可配置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36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数值与语义规则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484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29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03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执行能力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22973" y="3005614"/>
              <a:ext cx="1158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Worker / Tool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2973" y="3272314"/>
              <a:ext cx="1629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Connector / Permit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29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幂等与动作回执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667750" y="1962150"/>
              <a:ext cx="1981200" cy="2286000"/>
            </a:xfrm>
            <a:custGeom>
              <a:avLst/>
              <a:gdLst/>
              <a:ahLst/>
              <a:cxnLst/>
              <a:rect l="l" t="t" r="r" b="b"/>
              <a:pathLst>
                <a:path w="1981200" h="2286000">
                  <a:moveTo>
                    <a:pt x="0" y="0"/>
                  </a:moveTo>
                  <a:lnTo>
                    <a:pt x="1695450" y="0"/>
                  </a:lnTo>
                  <a:lnTo>
                    <a:pt x="1981200" y="1143000"/>
                  </a:lnTo>
                  <a:lnTo>
                    <a:pt x="16954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422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96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同场挑战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2273" y="3005614"/>
              <a:ext cx="1574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固定任务/模型/来源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2273" y="32723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竞品实测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2273" y="3539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目标用户研究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648950" y="1962150"/>
              <a:ext cx="1047750" cy="2286000"/>
            </a:xfrm>
            <a:custGeom>
              <a:avLst/>
              <a:gdLst/>
              <a:ahLst/>
              <a:cxnLst/>
              <a:rect l="l" t="t" r="r" b="b"/>
              <a:pathLst>
                <a:path w="1047750" h="2286000">
                  <a:moveTo>
                    <a:pt x="0" y="0"/>
                  </a:moveTo>
                  <a:lnTo>
                    <a:pt x="1047750" y="0"/>
                  </a:lnTo>
                  <a:lnTo>
                    <a:pt x="10477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91558" y="2491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已验证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8774" y="28155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差异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943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通过门后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52963" y="3601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才可升级结论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3108" y="4712970"/>
            <a:ext cx="7826959" cy="888492"/>
            <a:chOff x="483108" y="4712970"/>
            <a:chExt cx="7826959" cy="888492"/>
          </a:xfrm>
        </p:grpSpPr>
        <p:sp>
          <p:nvSpPr>
            <p:cNvPr id="44" name="TextBox 44"/>
            <p:cNvSpPr txBox="1"/>
            <p:nvPr/>
          </p:nvSpPr>
          <p:spPr>
            <a:xfrm>
              <a:off x="483108" y="4712970"/>
              <a:ext cx="6056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的产品，不是一段回答；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3108" y="513207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而是一份可复核、可恢复、可追责的当前工作结论。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95300" y="5810250"/>
            <a:ext cx="11201400" cy="419100"/>
            <a:chOff x="495300" y="5810250"/>
            <a:chExt cx="11201400" cy="419100"/>
          </a:xfrm>
        </p:grpSpPr>
        <p:sp>
          <p:nvSpPr>
            <p:cNvPr id="47" name="Rectangle 47"/>
            <p:cNvSpPr/>
            <p:nvPr/>
          </p:nvSpPr>
          <p:spPr>
            <a:xfrm>
              <a:off x="495300" y="5810250"/>
              <a:ext cx="11201400" cy="419100"/>
            </a:xfrm>
            <a:prstGeom prst="roundRect">
              <a:avLst>
                <a:gd name="adj" fmla="val 13636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423" y="5939314"/>
              <a:ext cx="586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当前不证明全面领先 · 不证明生产 SLA · 不证明用户已经更信任或更高效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639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研究路线依据：MCP · A2A · W3C PROV-O · Microsoft HAI Guidelines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2026-08-30T02:03:00Z</dcterms:created>
  <dcterms:modified xsi:type="dcterms:W3CDTF">2026-08-30T02:03:00Z</dcterms:modified>
  <cp:category/>
  <cp:contentStatus/>
</cp:coreProperties>
</file>
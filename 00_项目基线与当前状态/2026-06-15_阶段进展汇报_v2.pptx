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0.xml" ContentType="application/vnd.openxmlformats-officedocument.presentationml.tags+xml"/>
  <Override PartName="/ppt/notesSlides/notesSlide6.xml" ContentType="application/vnd.openxmlformats-officedocument.presentationml.notesSlide+xml"/>
  <Override PartName="/ppt/tags/tag3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4377" r:id="rId2"/>
    <p:sldId id="4607" r:id="rId3"/>
    <p:sldId id="4396" r:id="rId4"/>
    <p:sldId id="4394" r:id="rId5"/>
    <p:sldId id="4395" r:id="rId6"/>
    <p:sldId id="4608" r:id="rId7"/>
    <p:sldId id="4609" r:id="rId8"/>
    <p:sldId id="4659" r:id="rId9"/>
    <p:sldId id="4660" r:id="rId10"/>
    <p:sldId id="4655" r:id="rId11"/>
    <p:sldId id="4647" r:id="rId12"/>
    <p:sldId id="4661" r:id="rId13"/>
    <p:sldId id="4662" r:id="rId14"/>
    <p:sldId id="4663" r:id="rId15"/>
    <p:sldId id="4664" r:id="rId16"/>
    <p:sldId id="466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林炳" initials="G" lastIdx="0" clrIdx="0"/>
  <p:cmAuthor id="2" name="Microsoft 帐户" initials="M帐" lastIdx="0" clrIdx="1"/>
  <p:cmAuthor id="3" name="赵飞" initials="c" lastIdx="0" clrIdx="2"/>
  <p:cmAuthor id="4" name="shawn dong" initials="sd" lastIdx="0" clrIdx="3"/>
  <p:cmAuthor id="5" name="Gu, Yi (ES-CMS-BJ)" initials="GY(" lastIdx="0" clrIdx="4"/>
  <p:cmAuthor id="6" name="洪文静" initials="洪" lastIdx="0" clrIdx="5"/>
  <p:cmAuthor id="7" name="guoxx" initials="g" lastIdx="0" clrIdx="6"/>
  <p:cmAuthor id="8" name="PJ Landwehrle" initials="P" lastIdx="0" clrIdx="7"/>
  <p:cmAuthor id="9" name="Steve Thorne" initials="S" lastIdx="0" clrIdx="8"/>
  <p:cmAuthor id="10" name="smkhan" initials="s" lastIdx="0" clrIdx="9"/>
  <p:cmAuthor id="11" name="李超（IT）" initials="L" lastIdx="0" clrIdx="10"/>
  <p:cmAuthor id="12" name="朱磊" initials="朱" lastIdx="0" clrIdx="11"/>
  <p:cmAuthor id="13" name="李岩（IT）" initials="李" lastIdx="0" clrIdx="12"/>
  <p:cmAuthor id="14" name="13686" initials="1" lastIdx="0" clrIdx="13"/>
  <p:cmAuthor id="15" name="周辉" initials="周" lastIdx="0" clrIdx="14"/>
  <p:cmAuthor id="16" name="郭雨婷" initials="郭" lastIdx="0" clrIdx="15"/>
  <p:cmAuthor id="17" name="yanhexin" initials="y" lastIdx="0" clrIdx="16"/>
  <p:cmAuthor id="18" name="作者" initials="A" lastIdx="0" clrIdx="17"/>
  <p:cmAuthor id="19" name="sunyufang" initials="s" lastIdx="0" clrIdx="1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124A8C"/>
    <a:srgbClr val="D7E1F5"/>
    <a:srgbClr val="004EA2"/>
    <a:srgbClr val="F0C045"/>
    <a:srgbClr val="000066"/>
    <a:srgbClr val="FFFFFF"/>
    <a:srgbClr val="114C8D"/>
    <a:srgbClr val="004081"/>
    <a:srgbClr val="6E92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94" autoAdjust="0"/>
    <p:restoredTop sz="83489" autoAdjust="0"/>
  </p:normalViewPr>
  <p:slideViewPr>
    <p:cSldViewPr snapToGrid="0">
      <p:cViewPr varScale="1">
        <p:scale>
          <a:sx n="135" d="100"/>
          <a:sy n="135" d="100"/>
        </p:scale>
        <p:origin x="13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760D7-2EB5-432B-B621-EF382A95ED14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18D61-C387-4E84-B1C4-F518DF2B54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9538" y="741363"/>
            <a:ext cx="6578600" cy="37020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ECCDC-FE5F-4F96-B224-AA367A8E5660}" type="slidenum">
              <a:rPr lang="zh-CN" altLang="en-US" smtClean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7CF96-BF0C-29E7-CC6D-9CD16ACF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6DCDC4-B77B-80F0-FBC5-F624B2828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199B01-679A-DD7E-93C7-C7CEBB9DF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本次汇报将从五个部分进行分享。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D5A0C2-3821-90D0-2E49-D56317DE7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0ABFD4-A47C-48D2-87FA-9C83A580471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20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7CF96-BF0C-29E7-CC6D-9CD16ACF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6DCDC4-B77B-80F0-FBC5-F624B2828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199B01-679A-DD7E-93C7-C7CEBB9DF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本次汇报将从五个部分进行分享。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D5A0C2-3821-90D0-2E49-D56317DE7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0ABFD4-A47C-48D2-87FA-9C83A580471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3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9C156-9E6F-BA1B-2B0B-483802D7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CD4FB0-3525-DB4C-BF34-7F8A833FF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6D4134-45CC-051E-4813-5B4C28FBC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91D8ED-07EC-4010-DCE4-543EFF1FF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0ABFD4-A47C-48D2-87FA-9C83A580471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275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18D61-C387-4E84-B1C4-F518DF2B545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472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18D61-C387-4E84-B1C4-F518DF2B545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885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18D61-C387-4E84-B1C4-F518DF2B545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329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055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18D61-C387-4E84-B1C4-F518DF2B545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166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18D61-C387-4E84-B1C4-F518DF2B545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299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18D61-C387-4E84-B1C4-F518DF2B545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246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18D61-C387-4E84-B1C4-F518DF2B545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14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18D61-C387-4E84-B1C4-F518DF2B545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470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7175" y="41913"/>
            <a:ext cx="2469564" cy="138905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35" y="5872815"/>
            <a:ext cx="1437771" cy="808704"/>
          </a:xfrm>
          <a:prstGeom prst="rect">
            <a:avLst/>
          </a:prstGeom>
        </p:spPr>
      </p:pic>
      <p:sp>
        <p:nvSpPr>
          <p:cNvPr id="14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48" y="1334739"/>
            <a:ext cx="1036374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914448" y="396345"/>
            <a:ext cx="8153825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1617896" y="6577375"/>
            <a:ext cx="527408" cy="220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4173ED6-4A69-4FA8-8A09-51FC87ACF5D8}" type="slidenum">
              <a:rPr lang="zh-CN" altLang="en-US" sz="1440" b="1" smtClean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 sz="144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914448" y="1021976"/>
            <a:ext cx="840485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5606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84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E19DE-B379-4341-973E-1A4FAD0DA4C0}" type="datetimeFigureOut">
              <a:rPr lang="zh-CN" altLang="en-US" smtClean="0"/>
              <a:t>2026-06-15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6A1F7-3739-40EA-AE74-02882B9549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microsoft.com/office/2007/relationships/hdphoto" Target="../media/hdphoto2.wdp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notesSlide" Target="../notesSlides/notesSlide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microsoft.com/office/2007/relationships/hdphoto" Target="../media/hdphoto2.wdp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microsoft.com/office/2007/relationships/hdphoto" Target="../media/hdphoto2.wdp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C:/Users/02/AppData/Local/Temp/picturecompress_20211116124833/output_1.jpgoutput_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38099"/>
            <a:ext cx="12192000" cy="6896100"/>
          </a:xfrm>
          <a:prstGeom prst="rect">
            <a:avLst/>
          </a:prstGeom>
        </p:spPr>
      </p:pic>
      <p:sp>
        <p:nvSpPr>
          <p:cNvPr id="30" name="object 5"/>
          <p:cNvSpPr/>
          <p:nvPr/>
        </p:nvSpPr>
        <p:spPr>
          <a:xfrm>
            <a:off x="0" y="-38099"/>
            <a:ext cx="12189009" cy="6896099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5400" dirty="0">
              <a:solidFill>
                <a:srgbClr val="001F5F"/>
              </a:solidFill>
            </a:endParaRPr>
          </a:p>
        </p:txBody>
      </p:sp>
      <p:sp>
        <p:nvSpPr>
          <p:cNvPr id="16" name="object 5"/>
          <p:cNvSpPr/>
          <p:nvPr/>
        </p:nvSpPr>
        <p:spPr>
          <a:xfrm>
            <a:off x="2991" y="2242303"/>
            <a:ext cx="12189009" cy="1985853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solidFill>
            <a:srgbClr val="124A8C">
              <a:alpha val="90000"/>
            </a:srgbClr>
          </a:solidFill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r>
              <a:rPr lang="en-US" altLang="zh-CN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AI Agent </a:t>
            </a:r>
            <a:r>
              <a:rPr lang="zh-CN" alt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交互研究 季度汇报</a:t>
            </a:r>
          </a:p>
        </p:txBody>
      </p:sp>
      <p:sp>
        <p:nvSpPr>
          <p:cNvPr id="5" name="矩形 4"/>
          <p:cNvSpPr/>
          <p:nvPr/>
        </p:nvSpPr>
        <p:spPr>
          <a:xfrm>
            <a:off x="4050506" y="5888077"/>
            <a:ext cx="4090987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spcAft>
                <a:spcPts val="600"/>
              </a:spcAft>
              <a:defRPr/>
            </a:pPr>
            <a:r>
              <a:rPr kumimoji="1" lang="en-US" altLang="zh-CN" sz="2400" b="1" dirty="0">
                <a:solidFill>
                  <a:srgbClr val="124A8C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r>
              <a:rPr kumimoji="1" lang="zh-CN" altLang="en-US" sz="2400" b="1" dirty="0">
                <a:solidFill>
                  <a:srgbClr val="124A8C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kumimoji="1" lang="en-US" altLang="zh-CN" sz="2400" b="1" dirty="0">
                <a:solidFill>
                  <a:srgbClr val="124A8C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kumimoji="1" lang="zh-CN" altLang="en-US" sz="2400" b="1" dirty="0">
                <a:solidFill>
                  <a:srgbClr val="124A8C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1" lang="en-US" altLang="zh-CN" sz="2400" b="1" dirty="0">
                <a:solidFill>
                  <a:srgbClr val="124A8C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1" lang="zh-CN" altLang="en-US" sz="2400" b="1" dirty="0">
                <a:solidFill>
                  <a:srgbClr val="124A8C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</a:p>
        </p:txBody>
      </p:sp>
      <p:sp>
        <p:nvSpPr>
          <p:cNvPr id="6" name="矩形 5"/>
          <p:cNvSpPr/>
          <p:nvPr/>
        </p:nvSpPr>
        <p:spPr>
          <a:xfrm>
            <a:off x="2487330" y="5200641"/>
            <a:ext cx="72143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124A8C"/>
                </a:solidFill>
                <a:latin typeface="微软雅黑" panose="020B0503020204020204" charset="-122"/>
                <a:ea typeface="微软雅黑" panose="020B0503020204020204" charset="-122"/>
              </a:rPr>
              <a:t>单位：华南理工大学 未来技术学院</a:t>
            </a:r>
          </a:p>
        </p:txBody>
      </p:sp>
      <p:sp>
        <p:nvSpPr>
          <p:cNvPr id="10" name="副标题 2"/>
          <p:cNvSpPr txBox="1"/>
          <p:nvPr/>
        </p:nvSpPr>
        <p:spPr bwMode="auto">
          <a:xfrm>
            <a:off x="3524210" y="4451650"/>
            <a:ext cx="51405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宋体" panose="02010600030101010101" pitchFamily="2" charset="-122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宋体" panose="02010600030101010101" pitchFamily="2" charset="-122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宋体" panose="02010600030101010101" pitchFamily="2" charset="-122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宋体" panose="02010600030101010101" pitchFamily="2" charset="-122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宋体" panose="02010600030101010101" pitchFamily="2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b="1" dirty="0">
                <a:solidFill>
                  <a:srgbClr val="124A8C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汇报人：刘琦教授团队</a:t>
            </a:r>
            <a:endParaRPr lang="en-US" altLang="zh-CN" sz="2800" b="1" dirty="0">
              <a:solidFill>
                <a:srgbClr val="124A8C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9550060" y="192865"/>
            <a:ext cx="584728" cy="597971"/>
            <a:chOff x="2620" y="208"/>
            <a:chExt cx="1218" cy="1063"/>
          </a:xfrm>
          <a:gradFill flip="none" rotWithShape="1">
            <a:gsLst>
              <a:gs pos="51000">
                <a:srgbClr val="114C8D"/>
              </a:gs>
              <a:gs pos="75000">
                <a:srgbClr val="064484"/>
              </a:gs>
              <a:gs pos="29000">
                <a:srgbClr val="12498C"/>
              </a:gs>
              <a:gs pos="0">
                <a:srgbClr val="6E92BB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1"/>
            <a:tileRect/>
          </a:gradFill>
        </p:grpSpPr>
        <p:sp>
          <p:nvSpPr>
            <p:cNvPr id="14" name="椭圆 13"/>
            <p:cNvSpPr/>
            <p:nvPr/>
          </p:nvSpPr>
          <p:spPr>
            <a:xfrm>
              <a:off x="3083" y="637"/>
              <a:ext cx="374" cy="3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3141" y="208"/>
              <a:ext cx="697" cy="2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2620" y="208"/>
              <a:ext cx="386" cy="2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2691" y="442"/>
              <a:ext cx="244" cy="8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3594" y="451"/>
              <a:ext cx="244" cy="8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itle 6"/>
          <p:cNvSpPr txBox="1"/>
          <p:nvPr/>
        </p:nvSpPr>
        <p:spPr>
          <a:xfrm>
            <a:off x="10134788" y="192866"/>
            <a:ext cx="1993134" cy="5979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>
              <a:lnSpc>
                <a:spcPct val="120000"/>
              </a:lnSpc>
            </a:pPr>
            <a:r>
              <a:rPr lang="zh-CN" altLang="en-US" sz="2000" b="1" dirty="0">
                <a:solidFill>
                  <a:srgbClr val="1A5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未来技术学院</a:t>
            </a:r>
            <a:endParaRPr lang="en-US" altLang="zh-CN" sz="2000" b="1" dirty="0">
              <a:solidFill>
                <a:srgbClr val="1A539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dist">
              <a:lnSpc>
                <a:spcPct val="140000"/>
              </a:lnSpc>
            </a:pPr>
            <a:r>
              <a:rPr lang="en-US" altLang="zh-CN" sz="1050" b="1" dirty="0">
                <a:solidFill>
                  <a:srgbClr val="1A539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FUTURE TECH</a:t>
            </a:r>
            <a:endParaRPr lang="zh-CN" altLang="en-US" sz="1050" b="1" dirty="0">
              <a:solidFill>
                <a:srgbClr val="1A539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400" y="106033"/>
            <a:ext cx="2930508" cy="7173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8DC53-2CC6-4BE5-74B8-7A6BE6B5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2" name="Picture 12">
            <a:extLst>
              <a:ext uri="{FF2B5EF4-FFF2-40B4-BE49-F238E27FC236}">
                <a16:creationId xmlns:a16="http://schemas.microsoft.com/office/drawing/2014/main" id="{C02BE37B-22A5-7FC4-2FC9-CA77347DC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786" y="2487563"/>
            <a:ext cx="3703917" cy="3703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VectorPath 18">
            <a:extLst>
              <a:ext uri="{FF2B5EF4-FFF2-40B4-BE49-F238E27FC236}">
                <a16:creationId xmlns:a16="http://schemas.microsoft.com/office/drawing/2014/main" id="{472F5047-C2E7-1E33-E275-F7602EFBA59D}"/>
              </a:ext>
            </a:extLst>
          </p:cNvPr>
          <p:cNvSpPr/>
          <p:nvPr/>
        </p:nvSpPr>
        <p:spPr>
          <a:xfrm>
            <a:off x="0" y="-9563"/>
            <a:ext cx="12192000" cy="2126056"/>
          </a:xfrm>
          <a:custGeom>
            <a:avLst/>
            <a:gdLst/>
            <a:ahLst/>
            <a:cxnLst/>
            <a:rect l="l" t="t" r="r" b="b"/>
            <a:pathLst>
              <a:path w="12192000" h="2126056">
                <a:moveTo>
                  <a:pt x="0" y="0"/>
                </a:moveTo>
                <a:lnTo>
                  <a:pt x="12192000" y="0"/>
                </a:lnTo>
                <a:lnTo>
                  <a:pt x="0" y="2126056"/>
                </a:lnTo>
                <a:lnTo>
                  <a:pt x="0" y="0"/>
                </a:lnTo>
              </a:path>
            </a:pathLst>
          </a:custGeom>
          <a:solidFill>
            <a:srgbClr val="2F5597"/>
          </a:solidFill>
        </p:spPr>
      </p:sp>
      <p:pic>
        <p:nvPicPr>
          <p:cNvPr id="28" name="A4474D7D-499B-4866-68F9-A131686DB193">
            <a:extLst>
              <a:ext uri="{FF2B5EF4-FFF2-40B4-BE49-F238E27FC236}">
                <a16:creationId xmlns:a16="http://schemas.microsoft.com/office/drawing/2014/main" id="{FAF10EA1-69BA-DB02-8881-2125D26BEB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54DF7609-9E23-4F78-F66A-4626A8CF40D6}"/>
            </a:extLst>
          </a:blip>
          <a:srcRect/>
          <a:stretch>
            <a:fillRect/>
          </a:stretch>
        </p:blipFill>
        <p:spPr>
          <a:xfrm>
            <a:off x="0" y="0"/>
            <a:ext cx="842433" cy="694267"/>
          </a:xfrm>
          <a:prstGeom prst="rect">
            <a:avLst/>
          </a:prstGeom>
        </p:spPr>
      </p:pic>
      <p:sp>
        <p:nvSpPr>
          <p:cNvPr id="29" name="VectorPath 20">
            <a:extLst>
              <a:ext uri="{FF2B5EF4-FFF2-40B4-BE49-F238E27FC236}">
                <a16:creationId xmlns:a16="http://schemas.microsoft.com/office/drawing/2014/main" id="{2EC293A7-31B9-2BB0-55F3-B544728DEC1D}"/>
              </a:ext>
            </a:extLst>
          </p:cNvPr>
          <p:cNvSpPr/>
          <p:nvPr/>
        </p:nvSpPr>
        <p:spPr>
          <a:xfrm>
            <a:off x="2740203" y="-32396"/>
            <a:ext cx="7288987" cy="1664970"/>
          </a:xfrm>
          <a:custGeom>
            <a:avLst/>
            <a:gdLst/>
            <a:ahLst/>
            <a:cxnLst/>
            <a:rect l="l" t="t" r="r" b="b"/>
            <a:pathLst>
              <a:path w="7642453" h="1664869">
                <a:moveTo>
                  <a:pt x="2012213" y="0"/>
                </a:moveTo>
                <a:lnTo>
                  <a:pt x="7642453" y="0"/>
                </a:lnTo>
                <a:lnTo>
                  <a:pt x="7143395" y="412991"/>
                </a:lnTo>
                <a:lnTo>
                  <a:pt x="0" y="1665174"/>
                </a:lnTo>
                <a:lnTo>
                  <a:pt x="2012213" y="0"/>
                </a:lnTo>
              </a:path>
            </a:pathLst>
          </a:custGeom>
          <a:solidFill>
            <a:srgbClr val="003F87">
              <a:alpha val="100000"/>
            </a:srgbClr>
          </a:solidFill>
        </p:spPr>
      </p:sp>
      <p:sp>
        <p:nvSpPr>
          <p:cNvPr id="35" name="TextBox26">
            <a:extLst>
              <a:ext uri="{FF2B5EF4-FFF2-40B4-BE49-F238E27FC236}">
                <a16:creationId xmlns:a16="http://schemas.microsoft.com/office/drawing/2014/main" id="{75941236-D43C-C23A-28C7-5275FB425674}"/>
              </a:ext>
            </a:extLst>
          </p:cNvPr>
          <p:cNvSpPr txBox="1"/>
          <p:nvPr/>
        </p:nvSpPr>
        <p:spPr>
          <a:xfrm>
            <a:off x="1312549" y="2666963"/>
            <a:ext cx="9858731" cy="7309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4750" b="1" kern="0" spc="0" baseline="0" noProof="0" dirty="0">
                <a:solidFill>
                  <a:srgbClr val="2F5597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01</a:t>
            </a:r>
            <a:r>
              <a:rPr lang="en-US" altLang="zh-CN" sz="4750" b="1" kern="0" spc="1125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zh-CN" altLang="en-US" sz="4000" b="1" kern="0" spc="-60" baseline="11458" dirty="0">
                <a:solidFill>
                  <a:srgbClr val="C00000"/>
                </a:solidFill>
                <a:latin typeface="Microsoft YaHei" pitchFamily="34" charset="0"/>
                <a:ea typeface="Microsoft YaHei" pitchFamily="34" charset="0"/>
                <a:cs typeface="Arial" pitchFamily="34" charset="0"/>
              </a:rPr>
              <a:t>时间节点及完成情况汇总</a:t>
            </a:r>
            <a:endParaRPr lang="en-US" altLang="zh-CN" sz="4000" b="1" kern="0" spc="-60" baseline="11458" dirty="0">
              <a:solidFill>
                <a:srgbClr val="C00000"/>
              </a:solidFill>
              <a:latin typeface="Microsoft YaHei" pitchFamily="34" charset="0"/>
              <a:ea typeface="Microsoft YaHei" pitchFamily="34" charset="0"/>
              <a:cs typeface="Arial" pitchFamily="34" charset="0"/>
            </a:endParaRPr>
          </a:p>
        </p:txBody>
      </p:sp>
      <p:sp>
        <p:nvSpPr>
          <p:cNvPr id="36" name="VectorPath 27">
            <a:extLst>
              <a:ext uri="{FF2B5EF4-FFF2-40B4-BE49-F238E27FC236}">
                <a16:creationId xmlns:a16="http://schemas.microsoft.com/office/drawing/2014/main" id="{CDCC34F7-56CD-74B5-4DEB-9CAFC3BFAC9D}"/>
              </a:ext>
            </a:extLst>
          </p:cNvPr>
          <p:cNvSpPr/>
          <p:nvPr/>
        </p:nvSpPr>
        <p:spPr>
          <a:xfrm>
            <a:off x="1312550" y="3508338"/>
            <a:ext cx="9476104" cy="15240"/>
          </a:xfrm>
          <a:custGeom>
            <a:avLst/>
            <a:gdLst/>
            <a:ahLst/>
            <a:cxnLst/>
            <a:rect l="l" t="t" r="r" b="b"/>
            <a:pathLst>
              <a:path w="9476054" h="15202">
                <a:moveTo>
                  <a:pt x="9476054" y="2540"/>
                </a:moveTo>
                <a:lnTo>
                  <a:pt x="9476054" y="15240"/>
                </a:lnTo>
                <a:lnTo>
                  <a:pt x="-51" y="12700"/>
                </a:lnTo>
                <a:lnTo>
                  <a:pt x="-51" y="0"/>
                </a:lnTo>
              </a:path>
            </a:pathLst>
          </a:custGeom>
          <a:solidFill>
            <a:srgbClr val="BFBFBF">
              <a:alpha val="100000"/>
            </a:srgbClr>
          </a:solidFill>
        </p:spPr>
      </p:sp>
      <p:sp>
        <p:nvSpPr>
          <p:cNvPr id="37" name="TextBox28">
            <a:extLst>
              <a:ext uri="{FF2B5EF4-FFF2-40B4-BE49-F238E27FC236}">
                <a16:creationId xmlns:a16="http://schemas.microsoft.com/office/drawing/2014/main" id="{D134C2DF-917D-44AB-2FDF-CFA6E5EB1098}"/>
              </a:ext>
            </a:extLst>
          </p:cNvPr>
          <p:cNvSpPr txBox="1"/>
          <p:nvPr/>
        </p:nvSpPr>
        <p:spPr>
          <a:xfrm>
            <a:off x="1312549" y="3729953"/>
            <a:ext cx="929486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/>
            <a:r>
              <a:rPr lang="en-US" altLang="zh-CN" sz="4750" b="1" kern="0" spc="0" baseline="0" noProof="0" dirty="0">
                <a:solidFill>
                  <a:srgbClr val="2F5597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02</a:t>
            </a:r>
            <a:r>
              <a:rPr lang="en-US" altLang="zh-CN" sz="4750" b="1" kern="0" spc="1125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zh-CN" altLang="en-US" sz="4000" b="1" kern="0" spc="-60" baseline="11458" noProof="0" dirty="0">
                <a:latin typeface="Microsoft YaHei" pitchFamily="34" charset="0"/>
                <a:ea typeface="Microsoft YaHei" pitchFamily="34" charset="0"/>
                <a:cs typeface="Arial" pitchFamily="34" charset="0"/>
              </a:rPr>
              <a:t>产出汇报：</a:t>
            </a:r>
            <a:r>
              <a:rPr lang="zh-CN" altLang="en-US" sz="4000" b="1" kern="0" spc="-60" baseline="11458" dirty="0">
                <a:latin typeface="Microsoft YaHei" pitchFamily="34" charset="0"/>
                <a:ea typeface="Microsoft YaHei" pitchFamily="34" charset="0"/>
                <a:cs typeface="Arial" pitchFamily="34" charset="0"/>
              </a:rPr>
              <a:t>前沿办公</a:t>
            </a:r>
            <a:r>
              <a:rPr lang="en-US" altLang="zh-CN" sz="4000" b="1" kern="0" spc="-60" baseline="11458" dirty="0" err="1">
                <a:latin typeface="Microsoft YaHei" pitchFamily="34" charset="0"/>
                <a:ea typeface="Microsoft YaHei" pitchFamily="34" charset="0"/>
                <a:cs typeface="Arial" pitchFamily="34" charset="0"/>
              </a:rPr>
              <a:t>AIAgent</a:t>
            </a:r>
            <a:r>
              <a:rPr lang="zh-CN" altLang="en-US" sz="4000" b="1" kern="0" spc="-60" baseline="11458" dirty="0">
                <a:latin typeface="Microsoft YaHei" pitchFamily="34" charset="0"/>
                <a:ea typeface="Microsoft YaHei" pitchFamily="34" charset="0"/>
                <a:cs typeface="Arial" pitchFamily="34" charset="0"/>
              </a:rPr>
              <a:t>系统设计方案</a:t>
            </a:r>
            <a:endParaRPr lang="en-US" altLang="zh-CN" sz="4000" b="1" kern="0" spc="-60" baseline="11458" dirty="0">
              <a:latin typeface="Microsoft YaHei" pitchFamily="34" charset="0"/>
              <a:ea typeface="Microsoft YaHei" pitchFamily="34" charset="0"/>
              <a:cs typeface="Arial" pitchFamily="34" charset="0"/>
            </a:endParaRPr>
          </a:p>
        </p:txBody>
      </p:sp>
      <p:sp>
        <p:nvSpPr>
          <p:cNvPr id="38" name="VectorPath 29">
            <a:extLst>
              <a:ext uri="{FF2B5EF4-FFF2-40B4-BE49-F238E27FC236}">
                <a16:creationId xmlns:a16="http://schemas.microsoft.com/office/drawing/2014/main" id="{52EE924B-A578-9861-7133-669F62C76734}"/>
              </a:ext>
            </a:extLst>
          </p:cNvPr>
          <p:cNvSpPr/>
          <p:nvPr/>
        </p:nvSpPr>
        <p:spPr>
          <a:xfrm>
            <a:off x="1290960" y="4567518"/>
            <a:ext cx="9469120" cy="13970"/>
          </a:xfrm>
          <a:custGeom>
            <a:avLst/>
            <a:gdLst/>
            <a:ahLst/>
            <a:cxnLst/>
            <a:rect l="l" t="t" r="r" b="b"/>
            <a:pathLst>
              <a:path w="9468942" h="13856">
                <a:moveTo>
                  <a:pt x="9469122" y="12700"/>
                </a:moveTo>
                <a:lnTo>
                  <a:pt x="0" y="13970"/>
                </a:lnTo>
                <a:lnTo>
                  <a:pt x="0" y="1270"/>
                </a:lnTo>
                <a:lnTo>
                  <a:pt x="9469122" y="0"/>
                </a:lnTo>
              </a:path>
            </a:pathLst>
          </a:custGeom>
          <a:solidFill>
            <a:srgbClr val="BFBFBF">
              <a:alpha val="100000"/>
            </a:srgbClr>
          </a:solidFill>
        </p:spPr>
      </p:sp>
      <p:sp>
        <p:nvSpPr>
          <p:cNvPr id="39" name="TextBox30">
            <a:extLst>
              <a:ext uri="{FF2B5EF4-FFF2-40B4-BE49-F238E27FC236}">
                <a16:creationId xmlns:a16="http://schemas.microsoft.com/office/drawing/2014/main" id="{8F914AFE-A2D7-8D66-CB5F-EF8921325AE3}"/>
              </a:ext>
            </a:extLst>
          </p:cNvPr>
          <p:cNvSpPr txBox="1"/>
          <p:nvPr/>
        </p:nvSpPr>
        <p:spPr>
          <a:xfrm>
            <a:off x="1312550" y="4741508"/>
            <a:ext cx="10371590" cy="7309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/>
            <a:r>
              <a:rPr lang="en-US" altLang="zh-CN" sz="4750" b="1" kern="0" spc="0" baseline="0" noProof="0" dirty="0">
                <a:solidFill>
                  <a:srgbClr val="2F5597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03  </a:t>
            </a:r>
            <a:r>
              <a:rPr lang="zh-CN" altLang="en-US" sz="4000" b="1" kern="0" spc="-60" baseline="11458" dirty="0">
                <a:latin typeface="Microsoft YaHei" pitchFamily="34" charset="0"/>
                <a:ea typeface="Microsoft YaHei" pitchFamily="34" charset="0"/>
                <a:cs typeface="Arial" pitchFamily="34" charset="0"/>
              </a:rPr>
              <a:t>产出汇报：系统技术路线</a:t>
            </a:r>
            <a:endParaRPr lang="en-US" altLang="zh-CN" sz="4000" b="1" kern="0" spc="-60" baseline="11458" dirty="0">
              <a:latin typeface="Microsoft YaHei" pitchFamily="34" charset="0"/>
              <a:ea typeface="Microsoft YaHei" pitchFamily="34" charset="0"/>
              <a:cs typeface="Arial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8C84BEF-3382-A48C-3910-BC1B33AD03E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7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216" y="307406"/>
            <a:ext cx="2930508" cy="717379"/>
          </a:xfrm>
          <a:prstGeom prst="rect">
            <a:avLst/>
          </a:prstGeom>
        </p:spPr>
      </p:pic>
      <p:sp>
        <p:nvSpPr>
          <p:cNvPr id="17" name="TextBox291">
            <a:extLst>
              <a:ext uri="{FF2B5EF4-FFF2-40B4-BE49-F238E27FC236}">
                <a16:creationId xmlns:a16="http://schemas.microsoft.com/office/drawing/2014/main" id="{51BA1D5B-1CAD-6DFC-AC5C-6B6113034B8F}"/>
              </a:ext>
            </a:extLst>
          </p:cNvPr>
          <p:cNvSpPr txBox="1"/>
          <p:nvPr/>
        </p:nvSpPr>
        <p:spPr>
          <a:xfrm>
            <a:off x="9521190" y="1053465"/>
            <a:ext cx="1016000" cy="601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950" b="1" kern="0" spc="-15" baseline="0" noProof="0" dirty="0">
                <a:solidFill>
                  <a:srgbClr val="003F87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提</a:t>
            </a:r>
            <a:r>
              <a:rPr lang="en-US" altLang="zh-CN" sz="3950" b="1" kern="0" spc="0" baseline="0" noProof="0" dirty="0">
                <a:solidFill>
                  <a:srgbClr val="003F87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纲</a:t>
            </a:r>
          </a:p>
        </p:txBody>
      </p:sp>
      <p:grpSp>
        <p:nvGrpSpPr>
          <p:cNvPr id="18" name="Combination 292">
            <a:extLst>
              <a:ext uri="{FF2B5EF4-FFF2-40B4-BE49-F238E27FC236}">
                <a16:creationId xmlns:a16="http://schemas.microsoft.com/office/drawing/2014/main" id="{AE5B6BF3-31A1-05C0-056E-94ABE7D20866}"/>
              </a:ext>
            </a:extLst>
          </p:cNvPr>
          <p:cNvGrpSpPr/>
          <p:nvPr/>
        </p:nvGrpSpPr>
        <p:grpSpPr>
          <a:xfrm>
            <a:off x="7796530" y="1753235"/>
            <a:ext cx="3608070" cy="94615"/>
            <a:chOff x="7796530" y="1753235"/>
            <a:chExt cx="3608070" cy="94615"/>
          </a:xfrm>
        </p:grpSpPr>
        <p:sp>
          <p:nvSpPr>
            <p:cNvPr id="19" name="VectorPath 293">
              <a:extLst>
                <a:ext uri="{FF2B5EF4-FFF2-40B4-BE49-F238E27FC236}">
                  <a16:creationId xmlns:a16="http://schemas.microsoft.com/office/drawing/2014/main" id="{480B5178-BE1B-23F9-8FF8-855E13B1E168}"/>
                </a:ext>
              </a:extLst>
            </p:cNvPr>
            <p:cNvSpPr/>
            <p:nvPr/>
          </p:nvSpPr>
          <p:spPr>
            <a:xfrm>
              <a:off x="7796467" y="1828774"/>
              <a:ext cx="3607854" cy="19050"/>
            </a:xfrm>
            <a:custGeom>
              <a:avLst/>
              <a:gdLst/>
              <a:ahLst/>
              <a:cxnLst/>
              <a:rect l="l" t="t" r="r" b="b"/>
              <a:pathLst>
                <a:path w="3607791" h="19050">
                  <a:moveTo>
                    <a:pt x="3607791" y="0"/>
                  </a:moveTo>
                  <a:lnTo>
                    <a:pt x="-64" y="0"/>
                  </a:lnTo>
                  <a:lnTo>
                    <a:pt x="-64" y="19050"/>
                  </a:lnTo>
                  <a:lnTo>
                    <a:pt x="3607791" y="19050"/>
                  </a:lnTo>
                  <a:lnTo>
                    <a:pt x="3607791" y="0"/>
                  </a:lnTo>
                </a:path>
              </a:pathLst>
            </a:custGeom>
            <a:solidFill>
              <a:srgbClr val="BFBFBF">
                <a:alpha val="100000"/>
              </a:srgbClr>
            </a:solidFill>
          </p:spPr>
        </p:sp>
        <p:sp>
          <p:nvSpPr>
            <p:cNvPr id="20" name="VectorPath 294">
              <a:extLst>
                <a:ext uri="{FF2B5EF4-FFF2-40B4-BE49-F238E27FC236}">
                  <a16:creationId xmlns:a16="http://schemas.microsoft.com/office/drawing/2014/main" id="{FFDDD00D-99B3-4889-9102-14D1F5792CD9}"/>
                </a:ext>
              </a:extLst>
            </p:cNvPr>
            <p:cNvSpPr/>
            <p:nvPr/>
          </p:nvSpPr>
          <p:spPr>
            <a:xfrm>
              <a:off x="10544176" y="1753476"/>
              <a:ext cx="860146" cy="19050"/>
            </a:xfrm>
            <a:custGeom>
              <a:avLst/>
              <a:gdLst/>
              <a:ahLst/>
              <a:cxnLst/>
              <a:rect l="l" t="t" r="r" b="b"/>
              <a:pathLst>
                <a:path w="860146" h="19050">
                  <a:moveTo>
                    <a:pt x="860146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860146" y="19050"/>
                  </a:lnTo>
                  <a:lnTo>
                    <a:pt x="860146" y="0"/>
                  </a:lnTo>
                </a:path>
              </a:pathLst>
            </a:custGeom>
            <a:solidFill>
              <a:srgbClr val="BFBFBF">
                <a:alpha val="100000"/>
              </a:srgbClr>
            </a:solidFill>
          </p:spPr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8779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658495" y="4858385"/>
            <a:ext cx="11170285" cy="13963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9" name="TextBox 3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84061" y="6025029"/>
            <a:ext cx="3201035" cy="459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 anchor="b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整体成果产出规划</a:t>
            </a:r>
          </a:p>
        </p:txBody>
      </p:sp>
      <p:sp>
        <p:nvSpPr>
          <p:cNvPr id="10" name="圆角矩形 76"/>
          <p:cNvSpPr/>
          <p:nvPr>
            <p:custDataLst>
              <p:tags r:id="rId3"/>
            </p:custDataLst>
          </p:nvPr>
        </p:nvSpPr>
        <p:spPr bwMode="auto">
          <a:xfrm>
            <a:off x="3449320" y="5033010"/>
            <a:ext cx="1827530" cy="898525"/>
          </a:xfrm>
          <a:prstGeom prst="roundRect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TextBox 2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541668" y="5076329"/>
            <a:ext cx="1657985" cy="828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推理引擎系统设计方案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用户流程图与需求说明</a:t>
            </a:r>
          </a:p>
        </p:txBody>
      </p:sp>
      <p:sp>
        <p:nvSpPr>
          <p:cNvPr id="20" name="TextBox 2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169166" y="5171126"/>
            <a:ext cx="659644" cy="4001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…</a:t>
            </a:r>
          </a:p>
        </p:txBody>
      </p:sp>
      <p:sp>
        <p:nvSpPr>
          <p:cNvPr id="21" name="圆角矩形 76"/>
          <p:cNvSpPr/>
          <p:nvPr>
            <p:custDataLst>
              <p:tags r:id="rId6"/>
            </p:custDataLst>
          </p:nvPr>
        </p:nvSpPr>
        <p:spPr bwMode="auto">
          <a:xfrm>
            <a:off x="866140" y="5038725"/>
            <a:ext cx="1840230" cy="895350"/>
          </a:xfrm>
          <a:prstGeom prst="roundRect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4" name="TextBox 25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26111" y="5080073"/>
            <a:ext cx="1732917" cy="828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《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AI Agent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交互趋势报告》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场景需求分析书</a:t>
            </a:r>
          </a:p>
        </p:txBody>
      </p:sp>
      <p:sp>
        <p:nvSpPr>
          <p:cNvPr id="25" name="圆角矩形 76"/>
          <p:cNvSpPr/>
          <p:nvPr>
            <p:custDataLst>
              <p:tags r:id="rId8"/>
            </p:custDataLst>
          </p:nvPr>
        </p:nvSpPr>
        <p:spPr bwMode="auto">
          <a:xfrm>
            <a:off x="9142095" y="5036820"/>
            <a:ext cx="1948815" cy="872490"/>
          </a:xfrm>
          <a:prstGeom prst="round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2" name="TextBox 25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9115233" y="5080435"/>
            <a:ext cx="1975031" cy="828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3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个高保真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Demo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演示视频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项目验收报告与总结</a:t>
            </a:r>
          </a:p>
        </p:txBody>
      </p:sp>
      <p:sp>
        <p:nvSpPr>
          <p:cNvPr id="65" name="圆角矩形 76"/>
          <p:cNvSpPr/>
          <p:nvPr>
            <p:custDataLst>
              <p:tags r:id="rId10"/>
            </p:custDataLst>
          </p:nvPr>
        </p:nvSpPr>
        <p:spPr bwMode="auto">
          <a:xfrm>
            <a:off x="6313805" y="5038725"/>
            <a:ext cx="1851025" cy="874395"/>
          </a:xfrm>
          <a:prstGeom prst="roundRect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66" name="TextBox 25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339602" y="5038435"/>
            <a:ext cx="1781702" cy="828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多模态交互机制说明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协同推理引擎原型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Demo</a:t>
            </a:r>
          </a:p>
        </p:txBody>
      </p:sp>
      <p:sp>
        <p:nvSpPr>
          <p:cNvPr id="36" name="五边形 35"/>
          <p:cNvSpPr/>
          <p:nvPr>
            <p:custDataLst>
              <p:tags r:id="rId12"/>
            </p:custDataLst>
          </p:nvPr>
        </p:nvSpPr>
        <p:spPr>
          <a:xfrm>
            <a:off x="445135" y="1856740"/>
            <a:ext cx="2894965" cy="2449195"/>
          </a:xfrm>
          <a:prstGeom prst="homePlate">
            <a:avLst>
              <a:gd name="adj" fmla="val 32872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燕尾形 38"/>
          <p:cNvSpPr/>
          <p:nvPr>
            <p:custDataLst>
              <p:tags r:id="rId13"/>
            </p:custDataLst>
          </p:nvPr>
        </p:nvSpPr>
        <p:spPr>
          <a:xfrm>
            <a:off x="2771775" y="1854200"/>
            <a:ext cx="3437890" cy="2451735"/>
          </a:xfrm>
          <a:prstGeom prst="chevron">
            <a:avLst>
              <a:gd name="adj" fmla="val 32258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40" name="燕尾形 39"/>
          <p:cNvSpPr/>
          <p:nvPr>
            <p:custDataLst>
              <p:tags r:id="rId14"/>
            </p:custDataLst>
          </p:nvPr>
        </p:nvSpPr>
        <p:spPr>
          <a:xfrm>
            <a:off x="5654675" y="1854200"/>
            <a:ext cx="3376930" cy="2451735"/>
          </a:xfrm>
          <a:prstGeom prst="chevron">
            <a:avLst>
              <a:gd name="adj" fmla="val 3193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41" name="燕尾形 40"/>
          <p:cNvSpPr/>
          <p:nvPr>
            <p:custDataLst>
              <p:tags r:id="rId15"/>
            </p:custDataLst>
          </p:nvPr>
        </p:nvSpPr>
        <p:spPr>
          <a:xfrm>
            <a:off x="8451849" y="1835150"/>
            <a:ext cx="3549651" cy="2473325"/>
          </a:xfrm>
          <a:prstGeom prst="chevron">
            <a:avLst>
              <a:gd name="adj" fmla="val 3256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25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13457" y="2212615"/>
            <a:ext cx="2092913" cy="17519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阶段一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b="1" i="0" u="none" strike="noStrike" kern="1200" cap="none" spc="0" normalizeH="0" baseline="0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交互调研与定义</a:t>
            </a:r>
            <a:r>
              <a:rPr kumimoji="0" lang="en-US" altLang="zh-CN" b="1" i="0" u="none" strike="noStrike" kern="1200" cap="none" spc="0" normalizeH="0" baseline="0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0" lang="zh-CN" altLang="en-US" b="1" i="0" u="none" strike="noStrike" kern="1200" cap="none" spc="0" normalizeH="0" baseline="0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明确技术路线与场景边界，完成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人机协同</a:t>
            </a:r>
            <a:r>
              <a:rPr kumimoji="0" lang="zh-CN" altLang="en-US" b="1" i="0" u="none" strike="noStrike" kern="1200" cap="none" spc="0" normalizeH="0" baseline="0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多模态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交互现状调研</a:t>
            </a:r>
            <a:r>
              <a:rPr kumimoji="0" lang="zh-CN" altLang="en-US" b="1" i="0" u="none" strike="noStrike" kern="1200" cap="none" spc="0" normalizeH="0" baseline="0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，定义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核心交互模型</a:t>
            </a:r>
            <a:endParaRPr kumimoji="0" lang="zh-CN" altLang="en-US" b="1" i="0" u="none" strike="noStrike" kern="1200" cap="none" spc="0" normalizeH="0" baseline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25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434080" y="2212340"/>
            <a:ext cx="2378710" cy="17519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阶段二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b="1" i="0" u="none" strike="noStrike" kern="1200" cap="none" spc="0" normalizeH="0" baseline="0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智能体多模块设计</a:t>
            </a:r>
            <a:r>
              <a:rPr kumimoji="0" lang="en-US" altLang="zh-CN" b="1" i="0" u="none" strike="noStrike" kern="1200" cap="none" spc="0" normalizeH="0" baseline="0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0" lang="zh-CN" altLang="en-US" b="1" i="0" u="none" strike="noStrike" kern="1200" cap="none" spc="0" normalizeH="0" baseline="0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多模块协同推理引擎架构</a:t>
            </a:r>
            <a:r>
              <a:rPr kumimoji="0" lang="zh-CN" altLang="en-US" b="1" i="0" u="none" strike="noStrike" kern="1200" cap="none" spc="0" normalizeH="0" baseline="0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，完成任务意图槽位建模，输出场景流程设计与模拟</a:t>
            </a:r>
          </a:p>
        </p:txBody>
      </p:sp>
      <p:sp>
        <p:nvSpPr>
          <p:cNvPr id="45" name="TextBox 25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339840" y="2212340"/>
            <a:ext cx="2284095" cy="1475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>
            <a:spAutoFit/>
          </a:bodyPr>
          <a:lstStyle/>
          <a:p>
            <a:pPr lvl="0" algn="just" eaLnBrk="0" fontAlgn="base" hangingPunct="0">
              <a:buClrTx/>
              <a:buSzTx/>
              <a:buFontTx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等线" panose="02010600030101010101" charset="-122"/>
              </a:rPr>
              <a:t>阶段三</a:t>
            </a:r>
            <a:r>
              <a:rPr lang="zh-CN" altLang="en-US" b="1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等线" panose="02010600030101010101" charset="-122"/>
              </a:rPr>
              <a:t>：</a:t>
            </a:r>
            <a:r>
              <a:rPr lang="zh-CN" altLang="en-US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多模态&amp;HOI框架实现 </a:t>
            </a: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构建多模态融合框架</a:t>
            </a:r>
            <a:r>
              <a:rPr lang="zh-CN" altLang="en-US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，实现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动态调度逻辑</a:t>
            </a:r>
            <a:r>
              <a:rPr lang="zh-CN" altLang="en-US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，完成</a:t>
            </a: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原型Demo开发</a:t>
            </a:r>
            <a:endParaRPr lang="zh-CN" altLang="en-US" b="1" dirty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25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9130677" y="2218308"/>
            <a:ext cx="2368311" cy="17519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阶段四：闭环验证与成果交付 搭建闭环反馈机制，完成模型校准与测试，制作高保真演示视频，完成项目验收</a:t>
            </a:r>
          </a:p>
        </p:txBody>
      </p:sp>
      <p:sp>
        <p:nvSpPr>
          <p:cNvPr id="50" name="TextBox 12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181985" y="1866265"/>
            <a:ext cx="2414270" cy="3359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37" tIns="45719" rIns="91437" bIns="45719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i="0" u="none" strike="noStrike" kern="1200" normalizeH="0" baseline="0" noProof="0" dirty="0"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2026.5.1-2026.5.31</a:t>
            </a:r>
          </a:p>
        </p:txBody>
      </p:sp>
      <p:sp>
        <p:nvSpPr>
          <p:cNvPr id="51" name="TextBox 12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654675" y="1866265"/>
            <a:ext cx="3007360" cy="3359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37" tIns="45719" rIns="91437" bIns="45719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i="0" u="none" strike="noStrike" kern="1200" normalizeH="0" baseline="0" noProof="0" dirty="0"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2026.6.1-2026.10.31</a:t>
            </a:r>
          </a:p>
        </p:txBody>
      </p:sp>
      <p:sp>
        <p:nvSpPr>
          <p:cNvPr id="53" name="TextBox 12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8672195" y="1856740"/>
            <a:ext cx="2583815" cy="3359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37" tIns="45719" rIns="91437" bIns="45719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i="0" u="none" strike="noStrike" kern="1200" normalizeH="0" baseline="0" noProof="0" dirty="0">
                <a:solidFill>
                  <a:schemeClr val="bg1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2026.11.1-2027.1.30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11008818" y="1124693"/>
            <a:ext cx="828675" cy="944880"/>
            <a:chOff x="10381294" y="4409435"/>
            <a:chExt cx="453072" cy="609152"/>
          </a:xfrm>
        </p:grpSpPr>
        <p:sp>
          <p:nvSpPr>
            <p:cNvPr id="55" name="流程图: 磁盘 54"/>
            <p:cNvSpPr/>
            <p:nvPr>
              <p:custDataLst>
                <p:tags r:id="rId25"/>
              </p:custDataLst>
            </p:nvPr>
          </p:nvSpPr>
          <p:spPr>
            <a:xfrm>
              <a:off x="10381294" y="4972868"/>
              <a:ext cx="135255" cy="45719"/>
            </a:xfrm>
            <a:prstGeom prst="flowChartMagneticDisk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56" name="流程图: 资料带 55"/>
            <p:cNvSpPr/>
            <p:nvPr>
              <p:custDataLst>
                <p:tags r:id="rId26"/>
              </p:custDataLst>
            </p:nvPr>
          </p:nvSpPr>
          <p:spPr>
            <a:xfrm flipV="1">
              <a:off x="10448921" y="4436068"/>
              <a:ext cx="385445" cy="223449"/>
            </a:xfrm>
            <a:prstGeom prst="flowChartPunchedTap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57" name="矩形 56"/>
            <p:cNvSpPr/>
            <p:nvPr>
              <p:custDataLst>
                <p:tags r:id="rId27"/>
              </p:custDataLst>
            </p:nvPr>
          </p:nvSpPr>
          <p:spPr>
            <a:xfrm>
              <a:off x="10426063" y="4409435"/>
              <a:ext cx="45719" cy="58272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58" name="TextBox 12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0" y="1856740"/>
            <a:ext cx="3034030" cy="3359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37" tIns="45719" rIns="91437" bIns="45719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i="0" u="none" strike="noStrike" kern="1200" normalizeH="0" baseline="0" noProof="0" dirty="0"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2026.1.31-2026.4.30</a:t>
            </a:r>
          </a:p>
        </p:txBody>
      </p:sp>
      <p:sp>
        <p:nvSpPr>
          <p:cNvPr id="59" name="右箭头 58"/>
          <p:cNvSpPr/>
          <p:nvPr/>
        </p:nvSpPr>
        <p:spPr>
          <a:xfrm rot="5400000">
            <a:off x="1364857" y="4370998"/>
            <a:ext cx="603824" cy="600612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4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0545" y="1233805"/>
            <a:ext cx="3872865" cy="459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 anchor="b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AI Agent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交互研究课题规划</a:t>
            </a:r>
          </a:p>
        </p:txBody>
      </p:sp>
      <p:sp>
        <p:nvSpPr>
          <p:cNvPr id="35" name="右箭头 58"/>
          <p:cNvSpPr/>
          <p:nvPr/>
        </p:nvSpPr>
        <p:spPr>
          <a:xfrm rot="5400000">
            <a:off x="4046462" y="4370998"/>
            <a:ext cx="603824" cy="600612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右箭头 58"/>
          <p:cNvSpPr/>
          <p:nvPr/>
        </p:nvSpPr>
        <p:spPr>
          <a:xfrm rot="5400000">
            <a:off x="6867399" y="4372151"/>
            <a:ext cx="603824" cy="600612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右箭头 58"/>
          <p:cNvSpPr/>
          <p:nvPr/>
        </p:nvSpPr>
        <p:spPr>
          <a:xfrm rot="5400000">
            <a:off x="9758824" y="4367582"/>
            <a:ext cx="603824" cy="600612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0" y="-14271"/>
            <a:ext cx="12189009" cy="783809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gradFill flip="none" rotWithShape="1">
            <a:gsLst>
              <a:gs pos="0">
                <a:srgbClr val="124A8C"/>
              </a:gs>
              <a:gs pos="34000">
                <a:srgbClr val="124A8C"/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5400" dirty="0">
              <a:solidFill>
                <a:srgbClr val="001F5F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08" y="52159"/>
            <a:ext cx="2930508" cy="717379"/>
          </a:xfrm>
          <a:prstGeom prst="rect">
            <a:avLst/>
          </a:prstGeom>
        </p:spPr>
      </p:pic>
      <p:sp>
        <p:nvSpPr>
          <p:cNvPr id="14" name="标题 1"/>
          <p:cNvSpPr>
            <a:spLocks noGrp="1"/>
          </p:cNvSpPr>
          <p:nvPr/>
        </p:nvSpPr>
        <p:spPr>
          <a:xfrm>
            <a:off x="636495" y="66576"/>
            <a:ext cx="3747246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合同时间节点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80DFEE-B58D-E1F8-6B3C-FA15C3E0833A}"/>
              </a:ext>
            </a:extLst>
          </p:cNvPr>
          <p:cNvSpPr/>
          <p:nvPr/>
        </p:nvSpPr>
        <p:spPr>
          <a:xfrm>
            <a:off x="3224224" y="1606731"/>
            <a:ext cx="2596515" cy="47151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1145" y="950195"/>
            <a:ext cx="3872865" cy="459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7" tIns="45719" rIns="91437" bIns="45719" anchor="b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AI Agent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交互研究课题规划</a:t>
            </a:r>
          </a:p>
        </p:txBody>
      </p:sp>
      <p:sp>
        <p:nvSpPr>
          <p:cNvPr id="12" name="object 5"/>
          <p:cNvSpPr/>
          <p:nvPr/>
        </p:nvSpPr>
        <p:spPr>
          <a:xfrm>
            <a:off x="0" y="-14271"/>
            <a:ext cx="12189009" cy="783809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gradFill flip="none" rotWithShape="1">
            <a:gsLst>
              <a:gs pos="0">
                <a:srgbClr val="124A8C"/>
              </a:gs>
              <a:gs pos="34000">
                <a:srgbClr val="124A8C"/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5400" dirty="0">
              <a:solidFill>
                <a:srgbClr val="001F5F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08" y="52159"/>
            <a:ext cx="2930508" cy="717379"/>
          </a:xfrm>
          <a:prstGeom prst="rect">
            <a:avLst/>
          </a:prstGeom>
        </p:spPr>
      </p:pic>
      <p:sp>
        <p:nvSpPr>
          <p:cNvPr id="14" name="标题 1"/>
          <p:cNvSpPr>
            <a:spLocks noGrp="1"/>
          </p:cNvSpPr>
          <p:nvPr/>
        </p:nvSpPr>
        <p:spPr>
          <a:xfrm>
            <a:off x="636495" y="66576"/>
            <a:ext cx="3747246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合同时间节点</a:t>
            </a:r>
          </a:p>
        </p:txBody>
      </p:sp>
      <p:cxnSp>
        <p:nvCxnSpPr>
          <p:cNvPr id="5" name="直接箭头连接符 4"/>
          <p:cNvCxnSpPr/>
          <p:nvPr/>
        </p:nvCxnSpPr>
        <p:spPr>
          <a:xfrm>
            <a:off x="6898818" y="1720965"/>
            <a:ext cx="0" cy="41021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333668" y="1306747"/>
            <a:ext cx="113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目前进展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AE4260-555C-438E-2D43-752BB1C72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991" y="2213289"/>
            <a:ext cx="12192000" cy="3607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5"/>
          <p:cNvSpPr/>
          <p:nvPr/>
        </p:nvSpPr>
        <p:spPr>
          <a:xfrm>
            <a:off x="0" y="-14271"/>
            <a:ext cx="12189009" cy="783809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gradFill flip="none" rotWithShape="1">
            <a:gsLst>
              <a:gs pos="0">
                <a:srgbClr val="124A8C"/>
              </a:gs>
              <a:gs pos="34000">
                <a:srgbClr val="124A8C"/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5400" dirty="0">
              <a:solidFill>
                <a:srgbClr val="001F5F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08" y="52159"/>
            <a:ext cx="2930508" cy="717379"/>
          </a:xfrm>
          <a:prstGeom prst="rect">
            <a:avLst/>
          </a:prstGeom>
        </p:spPr>
      </p:pic>
      <p:sp>
        <p:nvSpPr>
          <p:cNvPr id="14" name="标题 1"/>
          <p:cNvSpPr>
            <a:spLocks noGrp="1"/>
          </p:cNvSpPr>
          <p:nvPr/>
        </p:nvSpPr>
        <p:spPr>
          <a:xfrm>
            <a:off x="636495" y="66576"/>
            <a:ext cx="3747246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合同时间节点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570660"/>
              </p:ext>
            </p:extLst>
          </p:nvPr>
        </p:nvGraphicFramePr>
        <p:xfrm>
          <a:off x="1688351" y="954554"/>
          <a:ext cx="8812305" cy="5656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1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2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91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b="1" u="none" strike="noStrike" dirty="0">
                          <a:effectLst/>
                        </a:rPr>
                        <a:t>技术模块分类 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u="none" strike="noStrike" dirty="0">
                          <a:effectLst/>
                        </a:rPr>
                        <a:t>Phase 1: </a:t>
                      </a:r>
                      <a:r>
                        <a:rPr lang="zh-CN" altLang="en-US" sz="1050" b="1" u="none" strike="noStrike" dirty="0">
                          <a:effectLst/>
                        </a:rPr>
                        <a:t>交互调研</a:t>
                      </a:r>
                      <a:r>
                        <a:rPr lang="en-US" altLang="zh-CN" sz="1050" b="1" u="none" strike="noStrike" dirty="0">
                          <a:effectLst/>
                        </a:rPr>
                        <a:t>(2026.1 - 4) </a:t>
                      </a:r>
                      <a:r>
                        <a:rPr lang="zh-CN" altLang="en-US" sz="1050" b="1" u="none" strike="noStrike" dirty="0">
                          <a:effectLst/>
                        </a:rPr>
                        <a:t>🔴 当前阶段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u="none" strike="noStrike" dirty="0">
                          <a:effectLst/>
                        </a:rPr>
                        <a:t>Phase 2: </a:t>
                      </a:r>
                      <a:r>
                        <a:rPr lang="zh-CN" altLang="en-US" sz="1050" b="1" u="none" strike="noStrike" dirty="0">
                          <a:effectLst/>
                        </a:rPr>
                        <a:t>多模块设计</a:t>
                      </a:r>
                      <a:r>
                        <a:rPr lang="en-US" altLang="zh-CN" sz="1050" b="1" u="none" strike="noStrike" dirty="0">
                          <a:effectLst/>
                        </a:rPr>
                        <a:t>(2026.5)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u="none" strike="noStrike" dirty="0">
                          <a:effectLst/>
                        </a:rPr>
                        <a:t>Phase 3: </a:t>
                      </a:r>
                      <a:r>
                        <a:rPr lang="zh-CN" altLang="en-US" sz="1050" b="1" u="none" strike="noStrike" dirty="0">
                          <a:effectLst/>
                        </a:rPr>
                        <a:t>多模态与</a:t>
                      </a:r>
                      <a:r>
                        <a:rPr lang="en-US" sz="1050" b="1" u="none" strike="noStrike" dirty="0">
                          <a:effectLst/>
                        </a:rPr>
                        <a:t>HOI</a:t>
                      </a:r>
                      <a:r>
                        <a:rPr lang="zh-CN" altLang="en-US" sz="1050" b="1" u="none" strike="noStrike" dirty="0">
                          <a:effectLst/>
                        </a:rPr>
                        <a:t>实现</a:t>
                      </a:r>
                      <a:r>
                        <a:rPr lang="en-US" altLang="zh-CN" sz="1050" b="1" u="none" strike="noStrike" dirty="0">
                          <a:effectLst/>
                        </a:rPr>
                        <a:t>(2026.6 - 10)</a:t>
                      </a:r>
                      <a:endParaRPr lang="en-US" altLang="zh-CN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u="none" strike="noStrike" dirty="0">
                          <a:effectLst/>
                        </a:rPr>
                        <a:t>Phase 4: </a:t>
                      </a:r>
                      <a:r>
                        <a:rPr lang="zh-CN" altLang="en-US" sz="1050" b="1" u="none" strike="noStrike" dirty="0">
                          <a:effectLst/>
                        </a:rPr>
                        <a:t>闭环与交付</a:t>
                      </a:r>
                      <a:r>
                        <a:rPr lang="en-US" altLang="zh-CN" sz="1050" b="1" u="none" strike="noStrike" dirty="0">
                          <a:effectLst/>
                        </a:rPr>
                        <a:t>(2026.11 - 27.1)</a:t>
                      </a:r>
                      <a:endParaRPr lang="en-US" altLang="zh-CN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21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u="none" strike="noStrike" dirty="0">
                          <a:effectLst/>
                        </a:rPr>
                        <a:t>1. </a:t>
                      </a:r>
                      <a:r>
                        <a:rPr lang="zh-CN" altLang="en-US" sz="1400" b="1" u="none" strike="noStrike" dirty="0">
                          <a:effectLst/>
                        </a:rPr>
                        <a:t>调研与需求分析</a:t>
                      </a: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b="1" u="none" strike="noStrike" dirty="0">
                          <a:effectLst/>
                        </a:rPr>
                        <a:t>交互趋势与前沿拆解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启动工作与路线明确 ☑</a:t>
                      </a:r>
                      <a:endParaRPr lang="en-US" altLang="zh-CN" sz="1050" u="none" strike="noStrike" dirty="0">
                        <a:effectLst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u="none" strike="noStrike" dirty="0">
                          <a:effectLst/>
                        </a:rPr>
                        <a:t>文献调研设计与机制拆解  ☑</a:t>
                      </a:r>
                      <a:endParaRPr lang="en-US" altLang="zh-CN" sz="1050" u="none" strike="noStrike" dirty="0">
                        <a:effectLst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产品调研场景需求分析  ☑</a:t>
                      </a:r>
                      <a:endParaRPr lang="en-US" altLang="zh-CN" sz="1050" u="none" strike="noStrike" dirty="0">
                        <a:effectLst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报告撰写☑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9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b="1" u="none" strike="noStrike" dirty="0">
                          <a:effectLst/>
                        </a:rPr>
                        <a:t>办公</a:t>
                      </a:r>
                      <a:r>
                        <a:rPr lang="en-US" altLang="zh-CN" sz="1050" b="1" u="none" strike="noStrike" dirty="0">
                          <a:effectLst/>
                        </a:rPr>
                        <a:t>/</a:t>
                      </a:r>
                      <a:r>
                        <a:rPr lang="zh-CN" altLang="en-US" sz="1050" b="1" u="none" strike="noStrike" dirty="0">
                          <a:effectLst/>
                        </a:rPr>
                        <a:t>出行场景建模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个人办公及出行场景需求分析 </a:t>
                      </a:r>
                      <a:r>
                        <a:rPr lang="zh-CN" altLang="en-US" sz="1050" u="none" strike="noStrike" dirty="0">
                          <a:effectLst/>
                        </a:rPr>
                        <a:t>☑</a:t>
                      </a:r>
                      <a:endParaRPr lang="en-US" altLang="zh-CN" sz="1050" u="none" strike="noStrike" dirty="0">
                        <a:effectLst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场景需求说明书定稿 ☑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9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altLang="zh-CN" sz="1400" b="1" u="none" strike="noStrike" dirty="0">
                          <a:effectLst/>
                        </a:rPr>
                        <a:t>2. 算法引擎与感知 </a:t>
                      </a:r>
                      <a:endParaRPr lang="fr-FR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6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b="1" u="none" strike="noStrike" dirty="0">
                          <a:effectLst/>
                        </a:rPr>
                        <a:t>模块化协同推理引擎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多模块解耦架构设计</a:t>
                      </a:r>
                      <a:r>
                        <a:rPr lang="en-US" altLang="zh-CN" sz="1050" u="none" strike="noStrike" dirty="0">
                          <a:effectLst/>
                        </a:rPr>
                        <a:t>(</a:t>
                      </a:r>
                      <a:r>
                        <a:rPr lang="zh-CN" altLang="en-US" sz="1050" u="none" strike="noStrike" dirty="0">
                          <a:effectLst/>
                        </a:rPr>
                        <a:t>规划</a:t>
                      </a:r>
                      <a:r>
                        <a:rPr lang="en-US" altLang="zh-CN" sz="1050" u="none" strike="noStrike" dirty="0">
                          <a:effectLst/>
                        </a:rPr>
                        <a:t>/</a:t>
                      </a:r>
                      <a:r>
                        <a:rPr lang="zh-CN" altLang="en-US" sz="1050" u="none" strike="noStrike" dirty="0">
                          <a:effectLst/>
                        </a:rPr>
                        <a:t>检索</a:t>
                      </a:r>
                      <a:r>
                        <a:rPr lang="en-US" altLang="zh-CN" sz="1050" u="none" strike="noStrike" dirty="0">
                          <a:effectLst/>
                        </a:rPr>
                        <a:t>/</a:t>
                      </a:r>
                      <a:r>
                        <a:rPr lang="zh-CN" altLang="en-US" sz="1050" u="none" strike="noStrike" dirty="0">
                          <a:effectLst/>
                        </a:rPr>
                        <a:t>异常处理</a:t>
                      </a:r>
                      <a:r>
                        <a:rPr lang="en-US" altLang="zh-CN" sz="1050" u="none" strike="noStrike" dirty="0">
                          <a:effectLst/>
                        </a:rPr>
                        <a:t>) </a:t>
                      </a:r>
                      <a:r>
                        <a:rPr lang="zh-CN" altLang="en-US" sz="1050" u="none" strike="noStrike" dirty="0">
                          <a:effectLst/>
                        </a:rPr>
                        <a:t>☑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原型系统</a:t>
                      </a:r>
                      <a:r>
                        <a:rPr lang="en-US" altLang="zh-CN" sz="1050" u="none" strike="noStrike" dirty="0">
                          <a:effectLst/>
                        </a:rPr>
                        <a:t>Demo</a:t>
                      </a:r>
                      <a:r>
                        <a:rPr lang="zh-CN" altLang="en-US" sz="1050" u="none" strike="noStrike" dirty="0">
                          <a:effectLst/>
                        </a:rPr>
                        <a:t>发布 ☐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逻辑闭环验收模型校准与质控落地 ☐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1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b="1" u="none" strike="noStrike" dirty="0">
                          <a:effectLst/>
                        </a:rPr>
                        <a:t>意图理解与多模态感知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意图槽位填充机制构建 ☑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多模态动态调度与置信度融合（待细化）☐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模型实测与优化 </a:t>
                      </a:r>
                      <a:r>
                        <a:rPr lang="en-US" altLang="zh-CN" sz="1050" u="none" strike="noStrike" dirty="0">
                          <a:effectLst/>
                        </a:rPr>
                        <a:t>☐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b="1" u="none" strike="noStrike" dirty="0">
                          <a:effectLst/>
                        </a:rPr>
                        <a:t>视觉</a:t>
                      </a:r>
                      <a:r>
                        <a:rPr lang="en-US" altLang="zh-CN" sz="1050" b="1" u="none" strike="noStrike" dirty="0">
                          <a:effectLst/>
                        </a:rPr>
                        <a:t>-</a:t>
                      </a:r>
                      <a:r>
                        <a:rPr lang="zh-CN" altLang="en-US" sz="1050" b="1" u="none" strike="noStrike" dirty="0">
                          <a:effectLst/>
                        </a:rPr>
                        <a:t>语言模型 </a:t>
                      </a:r>
                      <a:r>
                        <a:rPr lang="en-US" altLang="zh-CN" sz="1050" b="1" u="none" strike="noStrike" dirty="0">
                          <a:effectLst/>
                        </a:rPr>
                        <a:t>(VLM) </a:t>
                      </a:r>
                      <a:r>
                        <a:rPr lang="zh-CN" altLang="en-US" sz="1050" b="1" u="none" strike="noStrike" dirty="0">
                          <a:effectLst/>
                        </a:rPr>
                        <a:t>集成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基于</a:t>
                      </a:r>
                      <a:r>
                        <a:rPr lang="en-US" altLang="zh-CN" sz="1050" u="none" strike="noStrike" dirty="0">
                          <a:effectLst/>
                        </a:rPr>
                        <a:t>VLM</a:t>
                      </a:r>
                      <a:r>
                        <a:rPr lang="zh-CN" altLang="en-US" sz="1050" u="none" strike="noStrike" dirty="0">
                          <a:effectLst/>
                        </a:rPr>
                        <a:t>的通用</a:t>
                      </a:r>
                      <a:r>
                        <a:rPr lang="en-US" altLang="zh-CN" sz="1050" u="none" strike="noStrike" dirty="0">
                          <a:effectLst/>
                        </a:rPr>
                        <a:t>HOI</a:t>
                      </a:r>
                      <a:r>
                        <a:rPr lang="zh-CN" altLang="en-US" sz="1050" u="none" strike="noStrike" dirty="0">
                          <a:effectLst/>
                        </a:rPr>
                        <a:t>感知模块集成（待细化） ☐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754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u="none" strike="noStrike" dirty="0">
                          <a:effectLst/>
                        </a:rPr>
                        <a:t>3. </a:t>
                      </a:r>
                      <a:r>
                        <a:rPr lang="zh-CN" altLang="en-US" sz="1400" b="1" u="none" strike="noStrike" dirty="0">
                          <a:effectLst/>
                        </a:rPr>
                        <a:t>交互设计与体验评估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b="1" u="none" strike="noStrike" dirty="0">
                          <a:effectLst/>
                        </a:rPr>
                        <a:t>个人办公与出行场景设计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用户流程图设计与模拟 ☐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3</a:t>
                      </a:r>
                      <a:r>
                        <a:rPr lang="zh-CN" altLang="en-US" sz="1050" u="none" strike="noStrike" dirty="0">
                          <a:effectLst/>
                        </a:rPr>
                        <a:t>个场景的交互原型图 ☐</a:t>
                      </a:r>
                      <a:endParaRPr lang="en-US" altLang="zh-CN" sz="1050" u="none" strike="noStrike" dirty="0">
                        <a:effectLst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场景设计定稿 </a:t>
                      </a:r>
                      <a:r>
                        <a:rPr lang="en-US" altLang="zh-CN" sz="1050" u="none" strike="noStrike" dirty="0">
                          <a:effectLst/>
                        </a:rPr>
                        <a:t>(Figma + PDF</a:t>
                      </a:r>
                      <a:r>
                        <a:rPr lang="zh-CN" altLang="en-US" sz="1050" u="none" strike="noStrike" dirty="0">
                          <a:effectLst/>
                        </a:rPr>
                        <a:t>文档</a:t>
                      </a:r>
                      <a:r>
                        <a:rPr lang="en-US" altLang="zh-CN" sz="1050" u="none" strike="noStrike" dirty="0">
                          <a:effectLst/>
                        </a:rPr>
                        <a:t>) ☐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1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b="1" u="none" strike="noStrike" dirty="0">
                          <a:effectLst/>
                        </a:rPr>
                        <a:t>量化用户体验指标 </a:t>
                      </a:r>
                      <a:r>
                        <a:rPr lang="en-US" altLang="zh-CN" sz="1050" b="1" u="none" strike="noStrike" dirty="0">
                          <a:effectLst/>
                        </a:rPr>
                        <a:t>(KPIs)</a:t>
                      </a:r>
                      <a:endParaRPr lang="en-US" altLang="zh-CN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多模态呈现机制说明及示例 ☐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操作步骤 ≤ </a:t>
                      </a:r>
                      <a:r>
                        <a:rPr lang="en-US" altLang="zh-CN" sz="1050" u="none" strike="noStrike" dirty="0">
                          <a:effectLst/>
                        </a:rPr>
                        <a:t>5 </a:t>
                      </a:r>
                      <a:r>
                        <a:rPr lang="zh-CN" altLang="en-US" sz="1050" u="none" strike="noStrike" dirty="0">
                          <a:effectLst/>
                        </a:rPr>
                        <a:t>步 ☐</a:t>
                      </a:r>
                      <a:endParaRPr lang="en-US" altLang="zh-CN" sz="1050" u="none" strike="noStrike" dirty="0">
                        <a:effectLst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完成时间 ≤ </a:t>
                      </a:r>
                      <a:r>
                        <a:rPr lang="en-US" altLang="zh-CN" sz="1050" u="none" strike="noStrike" dirty="0">
                          <a:effectLst/>
                        </a:rPr>
                        <a:t>3 </a:t>
                      </a:r>
                      <a:r>
                        <a:rPr lang="zh-CN" altLang="en-US" sz="1050" u="none" strike="noStrike" dirty="0">
                          <a:effectLst/>
                        </a:rPr>
                        <a:t>分钟 ☐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754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u="none" strike="noStrike" dirty="0">
                          <a:effectLst/>
                        </a:rPr>
                        <a:t>4. </a:t>
                      </a:r>
                      <a:r>
                        <a:rPr lang="zh-CN" altLang="en-US" sz="1400" b="1" u="none" strike="noStrike" dirty="0">
                          <a:effectLst/>
                        </a:rPr>
                        <a:t>原型系统集成与演示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8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b="1" u="none" strike="noStrike" dirty="0">
                          <a:effectLst/>
                        </a:rPr>
                        <a:t>场景实测与视频制作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办公</a:t>
                      </a:r>
                      <a:r>
                        <a:rPr lang="en-US" altLang="zh-CN" sz="1050" u="none" strike="noStrike" dirty="0">
                          <a:effectLst/>
                        </a:rPr>
                        <a:t>/</a:t>
                      </a:r>
                      <a:r>
                        <a:rPr lang="zh-CN" altLang="en-US" sz="1050" u="none" strike="noStrike" dirty="0">
                          <a:effectLst/>
                        </a:rPr>
                        <a:t>出行初步</a:t>
                      </a:r>
                      <a:r>
                        <a:rPr lang="en-US" altLang="zh-CN" sz="1050" u="none" strike="noStrike" dirty="0">
                          <a:effectLst/>
                        </a:rPr>
                        <a:t>Demo</a:t>
                      </a:r>
                      <a:r>
                        <a:rPr lang="zh-CN" altLang="en-US" sz="1050" u="none" strike="noStrike" dirty="0">
                          <a:effectLst/>
                        </a:rPr>
                        <a:t>展示 ☐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3</a:t>
                      </a:r>
                      <a:r>
                        <a:rPr lang="zh-CN" altLang="en-US" sz="1050" u="none" strike="noStrike" dirty="0">
                          <a:effectLst/>
                        </a:rPr>
                        <a:t>个高保真</a:t>
                      </a:r>
                      <a:r>
                        <a:rPr lang="en-US" altLang="zh-CN" sz="1050" u="none" strike="noStrike" dirty="0">
                          <a:effectLst/>
                        </a:rPr>
                        <a:t>Demo</a:t>
                      </a:r>
                      <a:r>
                        <a:rPr lang="zh-CN" altLang="en-US" sz="1050" u="none" strike="noStrike" dirty="0">
                          <a:effectLst/>
                        </a:rPr>
                        <a:t>演示视频交付 ☐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b="1" u="none" strike="noStrike" dirty="0">
                          <a:effectLst/>
                        </a:rPr>
                        <a:t>核心技术展示要求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创新点</a:t>
                      </a:r>
                      <a:r>
                        <a:rPr lang="en-US" altLang="zh-CN" sz="1050" u="none" strike="noStrike" dirty="0">
                          <a:effectLst/>
                        </a:rPr>
                        <a:t>/</a:t>
                      </a:r>
                      <a:r>
                        <a:rPr lang="zh-CN" altLang="en-US" sz="1050" u="none" strike="noStrike" dirty="0">
                          <a:effectLst/>
                        </a:rPr>
                        <a:t>技术路径说明 ☐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涵盖</a:t>
                      </a:r>
                      <a:r>
                        <a:rPr lang="en-US" altLang="zh-CN" sz="1050" u="none" strike="noStrike" dirty="0">
                          <a:effectLst/>
                        </a:rPr>
                        <a:t>: </a:t>
                      </a:r>
                      <a:r>
                        <a:rPr lang="zh-CN" altLang="en-US" sz="1050" u="none" strike="noStrike" dirty="0">
                          <a:effectLst/>
                        </a:rPr>
                        <a:t>多模态输入</a:t>
                      </a:r>
                      <a:r>
                        <a:rPr lang="en-US" altLang="zh-CN" sz="1050" u="none" strike="noStrike" dirty="0">
                          <a:effectLst/>
                        </a:rPr>
                        <a:t>+</a:t>
                      </a:r>
                      <a:r>
                        <a:rPr lang="zh-CN" altLang="en-US" sz="1050" u="none" strike="noStrike" dirty="0">
                          <a:effectLst/>
                        </a:rPr>
                        <a:t>协同</a:t>
                      </a:r>
                      <a:r>
                        <a:rPr lang="en-US" altLang="zh-CN" sz="1050" u="none" strike="noStrike" dirty="0">
                          <a:effectLst/>
                        </a:rPr>
                        <a:t>+</a:t>
                      </a:r>
                      <a:r>
                        <a:rPr lang="zh-CN" altLang="en-US" sz="1050" u="none" strike="noStrike" dirty="0">
                          <a:effectLst/>
                        </a:rPr>
                        <a:t>结果</a:t>
                      </a:r>
                      <a:r>
                        <a:rPr lang="en-US" altLang="zh-CN" sz="1050" u="none" strike="noStrike" dirty="0">
                          <a:effectLst/>
                        </a:rPr>
                        <a:t>+</a:t>
                      </a:r>
                      <a:r>
                        <a:rPr lang="zh-CN" altLang="en-US" sz="1050" u="none" strike="noStrike" dirty="0">
                          <a:effectLst/>
                        </a:rPr>
                        <a:t>异常处理 ☐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334" marR="6334" marT="6334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8DC53-2CC6-4BE5-74B8-7A6BE6B5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2" name="Picture 12">
            <a:extLst>
              <a:ext uri="{FF2B5EF4-FFF2-40B4-BE49-F238E27FC236}">
                <a16:creationId xmlns:a16="http://schemas.microsoft.com/office/drawing/2014/main" id="{C02BE37B-22A5-7FC4-2FC9-CA77347DC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786" y="2487563"/>
            <a:ext cx="3703917" cy="3703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VectorPath 18">
            <a:extLst>
              <a:ext uri="{FF2B5EF4-FFF2-40B4-BE49-F238E27FC236}">
                <a16:creationId xmlns:a16="http://schemas.microsoft.com/office/drawing/2014/main" id="{472F5047-C2E7-1E33-E275-F7602EFBA59D}"/>
              </a:ext>
            </a:extLst>
          </p:cNvPr>
          <p:cNvSpPr/>
          <p:nvPr/>
        </p:nvSpPr>
        <p:spPr>
          <a:xfrm>
            <a:off x="0" y="-9563"/>
            <a:ext cx="12192000" cy="2126056"/>
          </a:xfrm>
          <a:custGeom>
            <a:avLst/>
            <a:gdLst/>
            <a:ahLst/>
            <a:cxnLst/>
            <a:rect l="l" t="t" r="r" b="b"/>
            <a:pathLst>
              <a:path w="12192000" h="2126056">
                <a:moveTo>
                  <a:pt x="0" y="0"/>
                </a:moveTo>
                <a:lnTo>
                  <a:pt x="12192000" y="0"/>
                </a:lnTo>
                <a:lnTo>
                  <a:pt x="0" y="2126056"/>
                </a:lnTo>
                <a:lnTo>
                  <a:pt x="0" y="0"/>
                </a:lnTo>
              </a:path>
            </a:pathLst>
          </a:custGeom>
          <a:solidFill>
            <a:srgbClr val="2F5597"/>
          </a:solidFill>
        </p:spPr>
      </p:sp>
      <p:pic>
        <p:nvPicPr>
          <p:cNvPr id="28" name="A4474D7D-499B-4866-68F9-A131686DB193">
            <a:extLst>
              <a:ext uri="{FF2B5EF4-FFF2-40B4-BE49-F238E27FC236}">
                <a16:creationId xmlns:a16="http://schemas.microsoft.com/office/drawing/2014/main" id="{FAF10EA1-69BA-DB02-8881-2125D26BEB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54DF7609-9E23-4F78-F66A-4626A8CF40D6}"/>
            </a:extLst>
          </a:blip>
          <a:srcRect/>
          <a:stretch>
            <a:fillRect/>
          </a:stretch>
        </p:blipFill>
        <p:spPr>
          <a:xfrm>
            <a:off x="0" y="0"/>
            <a:ext cx="842433" cy="694267"/>
          </a:xfrm>
          <a:prstGeom prst="rect">
            <a:avLst/>
          </a:prstGeom>
        </p:spPr>
      </p:pic>
      <p:sp>
        <p:nvSpPr>
          <p:cNvPr id="29" name="VectorPath 20">
            <a:extLst>
              <a:ext uri="{FF2B5EF4-FFF2-40B4-BE49-F238E27FC236}">
                <a16:creationId xmlns:a16="http://schemas.microsoft.com/office/drawing/2014/main" id="{2EC293A7-31B9-2BB0-55F3-B544728DEC1D}"/>
              </a:ext>
            </a:extLst>
          </p:cNvPr>
          <p:cNvSpPr/>
          <p:nvPr/>
        </p:nvSpPr>
        <p:spPr>
          <a:xfrm>
            <a:off x="2740203" y="-32396"/>
            <a:ext cx="7288987" cy="1664970"/>
          </a:xfrm>
          <a:custGeom>
            <a:avLst/>
            <a:gdLst/>
            <a:ahLst/>
            <a:cxnLst/>
            <a:rect l="l" t="t" r="r" b="b"/>
            <a:pathLst>
              <a:path w="7642453" h="1664869">
                <a:moveTo>
                  <a:pt x="2012213" y="0"/>
                </a:moveTo>
                <a:lnTo>
                  <a:pt x="7642453" y="0"/>
                </a:lnTo>
                <a:lnTo>
                  <a:pt x="7143395" y="412991"/>
                </a:lnTo>
                <a:lnTo>
                  <a:pt x="0" y="1665174"/>
                </a:lnTo>
                <a:lnTo>
                  <a:pt x="2012213" y="0"/>
                </a:lnTo>
              </a:path>
            </a:pathLst>
          </a:custGeom>
          <a:solidFill>
            <a:srgbClr val="003F87">
              <a:alpha val="100000"/>
            </a:srgbClr>
          </a:solidFill>
        </p:spPr>
      </p:sp>
      <p:sp>
        <p:nvSpPr>
          <p:cNvPr id="35" name="TextBox26">
            <a:extLst>
              <a:ext uri="{FF2B5EF4-FFF2-40B4-BE49-F238E27FC236}">
                <a16:creationId xmlns:a16="http://schemas.microsoft.com/office/drawing/2014/main" id="{75941236-D43C-C23A-28C7-5275FB425674}"/>
              </a:ext>
            </a:extLst>
          </p:cNvPr>
          <p:cNvSpPr txBox="1"/>
          <p:nvPr/>
        </p:nvSpPr>
        <p:spPr>
          <a:xfrm>
            <a:off x="1312549" y="2666963"/>
            <a:ext cx="9858731" cy="7309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4750" b="1" kern="0" spc="0" baseline="0" noProof="0" dirty="0">
                <a:solidFill>
                  <a:srgbClr val="2F5597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01</a:t>
            </a:r>
            <a:r>
              <a:rPr lang="en-US" altLang="zh-CN" sz="4750" b="1" kern="0" spc="1125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zh-CN" altLang="en-US" sz="4000" b="1" kern="0" spc="-60" baseline="11458" dirty="0">
                <a:latin typeface="Microsoft YaHei" pitchFamily="34" charset="0"/>
                <a:ea typeface="Microsoft YaHei" pitchFamily="34" charset="0"/>
                <a:cs typeface="Arial" pitchFamily="34" charset="0"/>
              </a:rPr>
              <a:t>时间节点及完成情况汇总</a:t>
            </a:r>
            <a:endParaRPr lang="en-US" altLang="zh-CN" sz="4000" b="1" kern="0" spc="-60" baseline="11458" dirty="0">
              <a:latin typeface="Microsoft YaHei" pitchFamily="34" charset="0"/>
              <a:ea typeface="Microsoft YaHei" pitchFamily="34" charset="0"/>
              <a:cs typeface="Arial" pitchFamily="34" charset="0"/>
            </a:endParaRPr>
          </a:p>
        </p:txBody>
      </p:sp>
      <p:sp>
        <p:nvSpPr>
          <p:cNvPr id="36" name="VectorPath 27">
            <a:extLst>
              <a:ext uri="{FF2B5EF4-FFF2-40B4-BE49-F238E27FC236}">
                <a16:creationId xmlns:a16="http://schemas.microsoft.com/office/drawing/2014/main" id="{CDCC34F7-56CD-74B5-4DEB-9CAFC3BFAC9D}"/>
              </a:ext>
            </a:extLst>
          </p:cNvPr>
          <p:cNvSpPr/>
          <p:nvPr/>
        </p:nvSpPr>
        <p:spPr>
          <a:xfrm>
            <a:off x="1312550" y="3508338"/>
            <a:ext cx="9476104" cy="15240"/>
          </a:xfrm>
          <a:custGeom>
            <a:avLst/>
            <a:gdLst/>
            <a:ahLst/>
            <a:cxnLst/>
            <a:rect l="l" t="t" r="r" b="b"/>
            <a:pathLst>
              <a:path w="9476054" h="15202">
                <a:moveTo>
                  <a:pt x="9476054" y="2540"/>
                </a:moveTo>
                <a:lnTo>
                  <a:pt x="9476054" y="15240"/>
                </a:lnTo>
                <a:lnTo>
                  <a:pt x="-51" y="12700"/>
                </a:lnTo>
                <a:lnTo>
                  <a:pt x="-51" y="0"/>
                </a:lnTo>
              </a:path>
            </a:pathLst>
          </a:custGeom>
          <a:solidFill>
            <a:srgbClr val="BFBFBF">
              <a:alpha val="100000"/>
            </a:srgbClr>
          </a:solidFill>
        </p:spPr>
      </p:sp>
      <p:sp>
        <p:nvSpPr>
          <p:cNvPr id="37" name="TextBox28">
            <a:extLst>
              <a:ext uri="{FF2B5EF4-FFF2-40B4-BE49-F238E27FC236}">
                <a16:creationId xmlns:a16="http://schemas.microsoft.com/office/drawing/2014/main" id="{D134C2DF-917D-44AB-2FDF-CFA6E5EB1098}"/>
              </a:ext>
            </a:extLst>
          </p:cNvPr>
          <p:cNvSpPr txBox="1"/>
          <p:nvPr/>
        </p:nvSpPr>
        <p:spPr>
          <a:xfrm>
            <a:off x="1312549" y="3729953"/>
            <a:ext cx="929486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/>
            <a:r>
              <a:rPr lang="en-US" altLang="zh-CN" sz="4750" b="1" kern="0" spc="0" baseline="0" noProof="0" dirty="0">
                <a:solidFill>
                  <a:srgbClr val="2F5597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02</a:t>
            </a:r>
            <a:r>
              <a:rPr lang="en-US" altLang="zh-CN" sz="4750" b="1" kern="0" spc="1125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zh-CN" altLang="en-US" sz="4000" b="1" kern="0" spc="-60" baseline="11458" noProof="0" dirty="0">
                <a:solidFill>
                  <a:srgbClr val="C00000"/>
                </a:solidFill>
                <a:latin typeface="Microsoft YaHei" pitchFamily="34" charset="0"/>
                <a:ea typeface="Microsoft YaHei" pitchFamily="34" charset="0"/>
                <a:cs typeface="Arial" pitchFamily="34" charset="0"/>
              </a:rPr>
              <a:t>产出汇报：</a:t>
            </a:r>
            <a:r>
              <a:rPr lang="zh-CN" altLang="en-US" sz="4000" b="1" kern="0" spc="-60" baseline="11458" dirty="0">
                <a:solidFill>
                  <a:srgbClr val="C00000"/>
                </a:solidFill>
                <a:latin typeface="Microsoft YaHei" pitchFamily="34" charset="0"/>
                <a:ea typeface="Microsoft YaHei" pitchFamily="34" charset="0"/>
                <a:cs typeface="Arial" pitchFamily="34" charset="0"/>
              </a:rPr>
              <a:t>前沿办公</a:t>
            </a:r>
            <a:r>
              <a:rPr lang="en-US" altLang="zh-CN" sz="4000" b="1" kern="0" spc="-60" baseline="11458" dirty="0" err="1">
                <a:solidFill>
                  <a:srgbClr val="C00000"/>
                </a:solidFill>
                <a:latin typeface="Microsoft YaHei" pitchFamily="34" charset="0"/>
                <a:ea typeface="Microsoft YaHei" pitchFamily="34" charset="0"/>
                <a:cs typeface="Arial" pitchFamily="34" charset="0"/>
              </a:rPr>
              <a:t>AIAgent</a:t>
            </a:r>
            <a:r>
              <a:rPr lang="zh-CN" altLang="en-US" sz="4000" b="1" kern="0" spc="-60" baseline="11458" dirty="0">
                <a:solidFill>
                  <a:srgbClr val="C00000"/>
                </a:solidFill>
                <a:latin typeface="Microsoft YaHei" pitchFamily="34" charset="0"/>
                <a:ea typeface="Microsoft YaHei" pitchFamily="34" charset="0"/>
                <a:cs typeface="Arial" pitchFamily="34" charset="0"/>
              </a:rPr>
              <a:t>系统设计方案</a:t>
            </a:r>
            <a:endParaRPr lang="en-US" altLang="zh-CN" sz="4000" b="1" kern="0" spc="-60" baseline="11458" dirty="0">
              <a:solidFill>
                <a:srgbClr val="C00000"/>
              </a:solidFill>
              <a:latin typeface="Microsoft YaHei" pitchFamily="34" charset="0"/>
              <a:ea typeface="Microsoft YaHei" pitchFamily="34" charset="0"/>
              <a:cs typeface="Arial" pitchFamily="34" charset="0"/>
            </a:endParaRPr>
          </a:p>
        </p:txBody>
      </p:sp>
      <p:sp>
        <p:nvSpPr>
          <p:cNvPr id="38" name="VectorPath 29">
            <a:extLst>
              <a:ext uri="{FF2B5EF4-FFF2-40B4-BE49-F238E27FC236}">
                <a16:creationId xmlns:a16="http://schemas.microsoft.com/office/drawing/2014/main" id="{52EE924B-A578-9861-7133-669F62C76734}"/>
              </a:ext>
            </a:extLst>
          </p:cNvPr>
          <p:cNvSpPr/>
          <p:nvPr/>
        </p:nvSpPr>
        <p:spPr>
          <a:xfrm>
            <a:off x="1290960" y="4567518"/>
            <a:ext cx="9469120" cy="13970"/>
          </a:xfrm>
          <a:custGeom>
            <a:avLst/>
            <a:gdLst/>
            <a:ahLst/>
            <a:cxnLst/>
            <a:rect l="l" t="t" r="r" b="b"/>
            <a:pathLst>
              <a:path w="9468942" h="13856">
                <a:moveTo>
                  <a:pt x="9469122" y="12700"/>
                </a:moveTo>
                <a:lnTo>
                  <a:pt x="0" y="13970"/>
                </a:lnTo>
                <a:lnTo>
                  <a:pt x="0" y="1270"/>
                </a:lnTo>
                <a:lnTo>
                  <a:pt x="9469122" y="0"/>
                </a:lnTo>
              </a:path>
            </a:pathLst>
          </a:custGeom>
          <a:solidFill>
            <a:srgbClr val="BFBFBF">
              <a:alpha val="100000"/>
            </a:srgbClr>
          </a:solidFill>
        </p:spPr>
      </p:sp>
      <p:sp>
        <p:nvSpPr>
          <p:cNvPr id="39" name="TextBox30">
            <a:extLst>
              <a:ext uri="{FF2B5EF4-FFF2-40B4-BE49-F238E27FC236}">
                <a16:creationId xmlns:a16="http://schemas.microsoft.com/office/drawing/2014/main" id="{8F914AFE-A2D7-8D66-CB5F-EF8921325AE3}"/>
              </a:ext>
            </a:extLst>
          </p:cNvPr>
          <p:cNvSpPr txBox="1"/>
          <p:nvPr/>
        </p:nvSpPr>
        <p:spPr>
          <a:xfrm>
            <a:off x="1312550" y="4741508"/>
            <a:ext cx="10371590" cy="7309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/>
            <a:r>
              <a:rPr lang="en-US" altLang="zh-CN" sz="4750" b="1" kern="0" spc="0" baseline="0" noProof="0" dirty="0">
                <a:solidFill>
                  <a:srgbClr val="2F5597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03  </a:t>
            </a:r>
            <a:r>
              <a:rPr lang="zh-CN" altLang="en-US" sz="4000" b="1" kern="0" spc="-60" baseline="11458" dirty="0">
                <a:latin typeface="Microsoft YaHei" pitchFamily="34" charset="0"/>
                <a:ea typeface="Microsoft YaHei" pitchFamily="34" charset="0"/>
                <a:cs typeface="Arial" pitchFamily="34" charset="0"/>
              </a:rPr>
              <a:t>产出汇报：系统技术路线</a:t>
            </a:r>
            <a:endParaRPr lang="en-US" altLang="zh-CN" sz="4000" b="1" kern="0" spc="-60" baseline="11458" dirty="0">
              <a:latin typeface="Microsoft YaHei" pitchFamily="34" charset="0"/>
              <a:ea typeface="Microsoft YaHei" pitchFamily="34" charset="0"/>
              <a:cs typeface="Arial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8C84BEF-3382-A48C-3910-BC1B33AD03E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7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216" y="307406"/>
            <a:ext cx="2930508" cy="717379"/>
          </a:xfrm>
          <a:prstGeom prst="rect">
            <a:avLst/>
          </a:prstGeom>
        </p:spPr>
      </p:pic>
      <p:sp>
        <p:nvSpPr>
          <p:cNvPr id="17" name="TextBox291">
            <a:extLst>
              <a:ext uri="{FF2B5EF4-FFF2-40B4-BE49-F238E27FC236}">
                <a16:creationId xmlns:a16="http://schemas.microsoft.com/office/drawing/2014/main" id="{51BA1D5B-1CAD-6DFC-AC5C-6B6113034B8F}"/>
              </a:ext>
            </a:extLst>
          </p:cNvPr>
          <p:cNvSpPr txBox="1"/>
          <p:nvPr/>
        </p:nvSpPr>
        <p:spPr>
          <a:xfrm>
            <a:off x="9521190" y="1053465"/>
            <a:ext cx="1016000" cy="601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950" b="1" kern="0" spc="-15" baseline="0" noProof="0" dirty="0">
                <a:solidFill>
                  <a:srgbClr val="003F87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提</a:t>
            </a:r>
            <a:r>
              <a:rPr lang="en-US" altLang="zh-CN" sz="3950" b="1" kern="0" spc="0" baseline="0" noProof="0" dirty="0">
                <a:solidFill>
                  <a:srgbClr val="003F87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纲</a:t>
            </a:r>
          </a:p>
        </p:txBody>
      </p:sp>
      <p:grpSp>
        <p:nvGrpSpPr>
          <p:cNvPr id="18" name="Combination 292">
            <a:extLst>
              <a:ext uri="{FF2B5EF4-FFF2-40B4-BE49-F238E27FC236}">
                <a16:creationId xmlns:a16="http://schemas.microsoft.com/office/drawing/2014/main" id="{AE5B6BF3-31A1-05C0-056E-94ABE7D20866}"/>
              </a:ext>
            </a:extLst>
          </p:cNvPr>
          <p:cNvGrpSpPr/>
          <p:nvPr/>
        </p:nvGrpSpPr>
        <p:grpSpPr>
          <a:xfrm>
            <a:off x="7796530" y="1753235"/>
            <a:ext cx="3608070" cy="94615"/>
            <a:chOff x="7796530" y="1753235"/>
            <a:chExt cx="3608070" cy="94615"/>
          </a:xfrm>
        </p:grpSpPr>
        <p:sp>
          <p:nvSpPr>
            <p:cNvPr id="19" name="VectorPath 293">
              <a:extLst>
                <a:ext uri="{FF2B5EF4-FFF2-40B4-BE49-F238E27FC236}">
                  <a16:creationId xmlns:a16="http://schemas.microsoft.com/office/drawing/2014/main" id="{480B5178-BE1B-23F9-8FF8-855E13B1E168}"/>
                </a:ext>
              </a:extLst>
            </p:cNvPr>
            <p:cNvSpPr/>
            <p:nvPr/>
          </p:nvSpPr>
          <p:spPr>
            <a:xfrm>
              <a:off x="7796467" y="1828774"/>
              <a:ext cx="3607854" cy="19050"/>
            </a:xfrm>
            <a:custGeom>
              <a:avLst/>
              <a:gdLst/>
              <a:ahLst/>
              <a:cxnLst/>
              <a:rect l="l" t="t" r="r" b="b"/>
              <a:pathLst>
                <a:path w="3607791" h="19050">
                  <a:moveTo>
                    <a:pt x="3607791" y="0"/>
                  </a:moveTo>
                  <a:lnTo>
                    <a:pt x="-64" y="0"/>
                  </a:lnTo>
                  <a:lnTo>
                    <a:pt x="-64" y="19050"/>
                  </a:lnTo>
                  <a:lnTo>
                    <a:pt x="3607791" y="19050"/>
                  </a:lnTo>
                  <a:lnTo>
                    <a:pt x="3607791" y="0"/>
                  </a:lnTo>
                </a:path>
              </a:pathLst>
            </a:custGeom>
            <a:solidFill>
              <a:srgbClr val="BFBFBF">
                <a:alpha val="100000"/>
              </a:srgbClr>
            </a:solidFill>
          </p:spPr>
        </p:sp>
        <p:sp>
          <p:nvSpPr>
            <p:cNvPr id="20" name="VectorPath 294">
              <a:extLst>
                <a:ext uri="{FF2B5EF4-FFF2-40B4-BE49-F238E27FC236}">
                  <a16:creationId xmlns:a16="http://schemas.microsoft.com/office/drawing/2014/main" id="{FFDDD00D-99B3-4889-9102-14D1F5792CD9}"/>
                </a:ext>
              </a:extLst>
            </p:cNvPr>
            <p:cNvSpPr/>
            <p:nvPr/>
          </p:nvSpPr>
          <p:spPr>
            <a:xfrm>
              <a:off x="10544176" y="1753476"/>
              <a:ext cx="860146" cy="19050"/>
            </a:xfrm>
            <a:custGeom>
              <a:avLst/>
              <a:gdLst/>
              <a:ahLst/>
              <a:cxnLst/>
              <a:rect l="l" t="t" r="r" b="b"/>
              <a:pathLst>
                <a:path w="860146" h="19050">
                  <a:moveTo>
                    <a:pt x="860146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860146" y="19050"/>
                  </a:lnTo>
                  <a:lnTo>
                    <a:pt x="860146" y="0"/>
                  </a:lnTo>
                </a:path>
              </a:pathLst>
            </a:custGeom>
            <a:solidFill>
              <a:srgbClr val="BFBFBF">
                <a:alpha val="100000"/>
              </a:srgbClr>
            </a:solidFill>
          </p:spPr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7588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17671-9808-3F35-E2CA-2D18A586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2" name="Picture 12">
            <a:extLst>
              <a:ext uri="{FF2B5EF4-FFF2-40B4-BE49-F238E27FC236}">
                <a16:creationId xmlns:a16="http://schemas.microsoft.com/office/drawing/2014/main" id="{E420FE3A-8DD1-5732-3A10-7A109F39A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786" y="2487563"/>
            <a:ext cx="3703917" cy="3703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VectorPath 18">
            <a:extLst>
              <a:ext uri="{FF2B5EF4-FFF2-40B4-BE49-F238E27FC236}">
                <a16:creationId xmlns:a16="http://schemas.microsoft.com/office/drawing/2014/main" id="{934CAD31-9B48-A87C-ABF5-04E752701310}"/>
              </a:ext>
            </a:extLst>
          </p:cNvPr>
          <p:cNvSpPr/>
          <p:nvPr/>
        </p:nvSpPr>
        <p:spPr>
          <a:xfrm>
            <a:off x="0" y="-9563"/>
            <a:ext cx="12192000" cy="2126056"/>
          </a:xfrm>
          <a:custGeom>
            <a:avLst/>
            <a:gdLst/>
            <a:ahLst/>
            <a:cxnLst/>
            <a:rect l="l" t="t" r="r" b="b"/>
            <a:pathLst>
              <a:path w="12192000" h="2126056">
                <a:moveTo>
                  <a:pt x="0" y="0"/>
                </a:moveTo>
                <a:lnTo>
                  <a:pt x="12192000" y="0"/>
                </a:lnTo>
                <a:lnTo>
                  <a:pt x="0" y="2126056"/>
                </a:lnTo>
                <a:lnTo>
                  <a:pt x="0" y="0"/>
                </a:lnTo>
              </a:path>
            </a:pathLst>
          </a:custGeom>
          <a:solidFill>
            <a:srgbClr val="2F5597"/>
          </a:solidFill>
        </p:spPr>
      </p:sp>
      <p:pic>
        <p:nvPicPr>
          <p:cNvPr id="28" name="A4474D7D-499B-4866-68F9-A131686DB193">
            <a:extLst>
              <a:ext uri="{FF2B5EF4-FFF2-40B4-BE49-F238E27FC236}">
                <a16:creationId xmlns:a16="http://schemas.microsoft.com/office/drawing/2014/main" id="{75643EE6-F4CF-472F-0371-729A89B647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54DF7609-9E23-4F78-F66A-4626A8CF40D6}"/>
            </a:extLst>
          </a:blip>
          <a:srcRect/>
          <a:stretch>
            <a:fillRect/>
          </a:stretch>
        </p:blipFill>
        <p:spPr>
          <a:xfrm>
            <a:off x="0" y="0"/>
            <a:ext cx="842433" cy="694267"/>
          </a:xfrm>
          <a:prstGeom prst="rect">
            <a:avLst/>
          </a:prstGeom>
        </p:spPr>
      </p:pic>
      <p:sp>
        <p:nvSpPr>
          <p:cNvPr id="29" name="VectorPath 20">
            <a:extLst>
              <a:ext uri="{FF2B5EF4-FFF2-40B4-BE49-F238E27FC236}">
                <a16:creationId xmlns:a16="http://schemas.microsoft.com/office/drawing/2014/main" id="{DC9E92C9-61B8-8822-85E6-F4EB2DF5C6F9}"/>
              </a:ext>
            </a:extLst>
          </p:cNvPr>
          <p:cNvSpPr/>
          <p:nvPr/>
        </p:nvSpPr>
        <p:spPr>
          <a:xfrm>
            <a:off x="2740203" y="-32396"/>
            <a:ext cx="7288987" cy="1664970"/>
          </a:xfrm>
          <a:custGeom>
            <a:avLst/>
            <a:gdLst/>
            <a:ahLst/>
            <a:cxnLst/>
            <a:rect l="l" t="t" r="r" b="b"/>
            <a:pathLst>
              <a:path w="7642453" h="1664869">
                <a:moveTo>
                  <a:pt x="2012213" y="0"/>
                </a:moveTo>
                <a:lnTo>
                  <a:pt x="7642453" y="0"/>
                </a:lnTo>
                <a:lnTo>
                  <a:pt x="7143395" y="412991"/>
                </a:lnTo>
                <a:lnTo>
                  <a:pt x="0" y="1665174"/>
                </a:lnTo>
                <a:lnTo>
                  <a:pt x="2012213" y="0"/>
                </a:lnTo>
              </a:path>
            </a:pathLst>
          </a:custGeom>
          <a:solidFill>
            <a:srgbClr val="003F87">
              <a:alpha val="100000"/>
            </a:srgbClr>
          </a:solidFill>
        </p:spPr>
      </p:sp>
      <p:sp>
        <p:nvSpPr>
          <p:cNvPr id="35" name="TextBox26">
            <a:extLst>
              <a:ext uri="{FF2B5EF4-FFF2-40B4-BE49-F238E27FC236}">
                <a16:creationId xmlns:a16="http://schemas.microsoft.com/office/drawing/2014/main" id="{34421DA1-1A4E-CEB9-6C5F-F7FAEFC63149}"/>
              </a:ext>
            </a:extLst>
          </p:cNvPr>
          <p:cNvSpPr txBox="1"/>
          <p:nvPr/>
        </p:nvSpPr>
        <p:spPr>
          <a:xfrm>
            <a:off x="1312549" y="2666963"/>
            <a:ext cx="9858731" cy="7309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4750" b="1" kern="0" spc="0" baseline="0" noProof="0" dirty="0">
                <a:solidFill>
                  <a:srgbClr val="2F5597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01</a:t>
            </a:r>
            <a:r>
              <a:rPr lang="en-US" altLang="zh-CN" sz="4750" b="1" kern="0" spc="1125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zh-CN" altLang="en-US" sz="4000" b="1" kern="0" spc="-60" baseline="11458" dirty="0">
                <a:latin typeface="Microsoft YaHei" pitchFamily="34" charset="0"/>
                <a:ea typeface="Microsoft YaHei" pitchFamily="34" charset="0"/>
                <a:cs typeface="Arial" pitchFamily="34" charset="0"/>
              </a:rPr>
              <a:t>时间节点及完成情况汇总</a:t>
            </a:r>
            <a:endParaRPr lang="en-US" altLang="zh-CN" sz="4000" b="1" kern="0" spc="-60" baseline="11458" dirty="0">
              <a:latin typeface="Microsoft YaHei" pitchFamily="34" charset="0"/>
              <a:ea typeface="Microsoft YaHei" pitchFamily="34" charset="0"/>
              <a:cs typeface="Arial" pitchFamily="34" charset="0"/>
            </a:endParaRPr>
          </a:p>
        </p:txBody>
      </p:sp>
      <p:sp>
        <p:nvSpPr>
          <p:cNvPr id="36" name="VectorPath 27">
            <a:extLst>
              <a:ext uri="{FF2B5EF4-FFF2-40B4-BE49-F238E27FC236}">
                <a16:creationId xmlns:a16="http://schemas.microsoft.com/office/drawing/2014/main" id="{7B35B596-2F87-B2D5-A354-E75645AB8B3F}"/>
              </a:ext>
            </a:extLst>
          </p:cNvPr>
          <p:cNvSpPr/>
          <p:nvPr/>
        </p:nvSpPr>
        <p:spPr>
          <a:xfrm>
            <a:off x="1312550" y="3508338"/>
            <a:ext cx="9476104" cy="15240"/>
          </a:xfrm>
          <a:custGeom>
            <a:avLst/>
            <a:gdLst/>
            <a:ahLst/>
            <a:cxnLst/>
            <a:rect l="l" t="t" r="r" b="b"/>
            <a:pathLst>
              <a:path w="9476054" h="15202">
                <a:moveTo>
                  <a:pt x="9476054" y="2540"/>
                </a:moveTo>
                <a:lnTo>
                  <a:pt x="9476054" y="15240"/>
                </a:lnTo>
                <a:lnTo>
                  <a:pt x="-51" y="12700"/>
                </a:lnTo>
                <a:lnTo>
                  <a:pt x="-51" y="0"/>
                </a:lnTo>
              </a:path>
            </a:pathLst>
          </a:custGeom>
          <a:solidFill>
            <a:srgbClr val="BFBFBF">
              <a:alpha val="100000"/>
            </a:srgbClr>
          </a:solidFill>
        </p:spPr>
      </p:sp>
      <p:sp>
        <p:nvSpPr>
          <p:cNvPr id="37" name="TextBox28">
            <a:extLst>
              <a:ext uri="{FF2B5EF4-FFF2-40B4-BE49-F238E27FC236}">
                <a16:creationId xmlns:a16="http://schemas.microsoft.com/office/drawing/2014/main" id="{55215C21-FFCD-6745-26F2-CC4B144B4CD0}"/>
              </a:ext>
            </a:extLst>
          </p:cNvPr>
          <p:cNvSpPr txBox="1"/>
          <p:nvPr/>
        </p:nvSpPr>
        <p:spPr>
          <a:xfrm>
            <a:off x="1312549" y="3729953"/>
            <a:ext cx="929486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/>
            <a:r>
              <a:rPr lang="en-US" altLang="zh-CN" sz="4750" b="1" kern="0" spc="0" baseline="0" noProof="0" dirty="0">
                <a:solidFill>
                  <a:srgbClr val="2F5597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02</a:t>
            </a:r>
            <a:r>
              <a:rPr lang="en-US" altLang="zh-CN" sz="4750" b="1" kern="0" spc="1125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zh-CN" altLang="en-US" sz="4000" b="1" kern="0" spc="-60" baseline="11458" noProof="0" dirty="0">
                <a:latin typeface="Microsoft YaHei" pitchFamily="34" charset="0"/>
                <a:ea typeface="Microsoft YaHei" pitchFamily="34" charset="0"/>
                <a:cs typeface="Arial" pitchFamily="34" charset="0"/>
              </a:rPr>
              <a:t>产出汇报：</a:t>
            </a:r>
            <a:r>
              <a:rPr lang="zh-CN" altLang="en-US" sz="4000" b="1" kern="0" spc="-60" baseline="11458" dirty="0">
                <a:latin typeface="Microsoft YaHei" pitchFamily="34" charset="0"/>
                <a:ea typeface="Microsoft YaHei" pitchFamily="34" charset="0"/>
                <a:cs typeface="Arial" pitchFamily="34" charset="0"/>
              </a:rPr>
              <a:t>前沿办公</a:t>
            </a:r>
            <a:r>
              <a:rPr lang="en-US" altLang="zh-CN" sz="4000" b="1" kern="0" spc="-60" baseline="11458" dirty="0" err="1">
                <a:latin typeface="Microsoft YaHei" pitchFamily="34" charset="0"/>
                <a:ea typeface="Microsoft YaHei" pitchFamily="34" charset="0"/>
                <a:cs typeface="Arial" pitchFamily="34" charset="0"/>
              </a:rPr>
              <a:t>AIAgent</a:t>
            </a:r>
            <a:r>
              <a:rPr lang="zh-CN" altLang="en-US" sz="4000" b="1" kern="0" spc="-60" baseline="11458" dirty="0">
                <a:latin typeface="Microsoft YaHei" pitchFamily="34" charset="0"/>
                <a:ea typeface="Microsoft YaHei" pitchFamily="34" charset="0"/>
                <a:cs typeface="Arial" pitchFamily="34" charset="0"/>
              </a:rPr>
              <a:t>系统设计方案</a:t>
            </a:r>
            <a:endParaRPr lang="en-US" altLang="zh-CN" sz="4000" b="1" kern="0" spc="-60" baseline="11458" dirty="0">
              <a:latin typeface="Microsoft YaHei" pitchFamily="34" charset="0"/>
              <a:ea typeface="Microsoft YaHei" pitchFamily="34" charset="0"/>
              <a:cs typeface="Arial" pitchFamily="34" charset="0"/>
            </a:endParaRPr>
          </a:p>
        </p:txBody>
      </p:sp>
      <p:sp>
        <p:nvSpPr>
          <p:cNvPr id="38" name="VectorPath 29">
            <a:extLst>
              <a:ext uri="{FF2B5EF4-FFF2-40B4-BE49-F238E27FC236}">
                <a16:creationId xmlns:a16="http://schemas.microsoft.com/office/drawing/2014/main" id="{184D4FEC-F4A7-5D10-843C-675774C046F8}"/>
              </a:ext>
            </a:extLst>
          </p:cNvPr>
          <p:cNvSpPr/>
          <p:nvPr/>
        </p:nvSpPr>
        <p:spPr>
          <a:xfrm>
            <a:off x="1290960" y="4567518"/>
            <a:ext cx="9469120" cy="13970"/>
          </a:xfrm>
          <a:custGeom>
            <a:avLst/>
            <a:gdLst/>
            <a:ahLst/>
            <a:cxnLst/>
            <a:rect l="l" t="t" r="r" b="b"/>
            <a:pathLst>
              <a:path w="9468942" h="13856">
                <a:moveTo>
                  <a:pt x="9469122" y="12700"/>
                </a:moveTo>
                <a:lnTo>
                  <a:pt x="0" y="13970"/>
                </a:lnTo>
                <a:lnTo>
                  <a:pt x="0" y="1270"/>
                </a:lnTo>
                <a:lnTo>
                  <a:pt x="9469122" y="0"/>
                </a:lnTo>
              </a:path>
            </a:pathLst>
          </a:custGeom>
          <a:solidFill>
            <a:srgbClr val="BFBFBF">
              <a:alpha val="100000"/>
            </a:srgbClr>
          </a:solidFill>
        </p:spPr>
      </p:sp>
      <p:sp>
        <p:nvSpPr>
          <p:cNvPr id="39" name="TextBox30">
            <a:extLst>
              <a:ext uri="{FF2B5EF4-FFF2-40B4-BE49-F238E27FC236}">
                <a16:creationId xmlns:a16="http://schemas.microsoft.com/office/drawing/2014/main" id="{A1D6C2AA-51FB-4050-1EC3-6F6AE788D217}"/>
              </a:ext>
            </a:extLst>
          </p:cNvPr>
          <p:cNvSpPr txBox="1"/>
          <p:nvPr/>
        </p:nvSpPr>
        <p:spPr>
          <a:xfrm>
            <a:off x="1312550" y="4741508"/>
            <a:ext cx="10371590" cy="7309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/>
            <a:r>
              <a:rPr lang="en-US" altLang="zh-CN" sz="4750" b="1" kern="0" spc="0" baseline="0" noProof="0" dirty="0">
                <a:solidFill>
                  <a:srgbClr val="2F5597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03  </a:t>
            </a:r>
            <a:r>
              <a:rPr lang="zh-CN" altLang="en-US" sz="4000" b="1" kern="0" spc="-60" baseline="11458" dirty="0">
                <a:solidFill>
                  <a:srgbClr val="FF0000"/>
                </a:solidFill>
                <a:latin typeface="Microsoft YaHei" pitchFamily="34" charset="0"/>
                <a:ea typeface="Microsoft YaHei" pitchFamily="34" charset="0"/>
                <a:cs typeface="Arial" pitchFamily="34" charset="0"/>
              </a:rPr>
              <a:t>产出汇报：系统技术路线</a:t>
            </a:r>
            <a:endParaRPr lang="en-US" altLang="zh-CN" sz="4000" b="1" kern="0" spc="-60" baseline="11458" dirty="0">
              <a:solidFill>
                <a:srgbClr val="FF0000"/>
              </a:solidFill>
              <a:latin typeface="Microsoft YaHei" pitchFamily="34" charset="0"/>
              <a:ea typeface="Microsoft YaHei" pitchFamily="34" charset="0"/>
              <a:cs typeface="Arial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567B3B8-6BBF-5770-522A-4DEF01A22DF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7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216" y="307406"/>
            <a:ext cx="2930508" cy="717379"/>
          </a:xfrm>
          <a:prstGeom prst="rect">
            <a:avLst/>
          </a:prstGeom>
        </p:spPr>
      </p:pic>
      <p:sp>
        <p:nvSpPr>
          <p:cNvPr id="17" name="TextBox291">
            <a:extLst>
              <a:ext uri="{FF2B5EF4-FFF2-40B4-BE49-F238E27FC236}">
                <a16:creationId xmlns:a16="http://schemas.microsoft.com/office/drawing/2014/main" id="{BE11C79D-A9FB-22C6-443B-EA16D6A9813C}"/>
              </a:ext>
            </a:extLst>
          </p:cNvPr>
          <p:cNvSpPr txBox="1"/>
          <p:nvPr/>
        </p:nvSpPr>
        <p:spPr>
          <a:xfrm>
            <a:off x="9521190" y="1053465"/>
            <a:ext cx="1016000" cy="601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950" b="1" kern="0" spc="-15" baseline="0" noProof="0" dirty="0">
                <a:solidFill>
                  <a:srgbClr val="003F87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提</a:t>
            </a:r>
            <a:r>
              <a:rPr lang="en-US" altLang="zh-CN" sz="3950" b="1" kern="0" spc="0" baseline="0" noProof="0" dirty="0">
                <a:solidFill>
                  <a:srgbClr val="003F87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纲</a:t>
            </a:r>
          </a:p>
        </p:txBody>
      </p:sp>
      <p:grpSp>
        <p:nvGrpSpPr>
          <p:cNvPr id="18" name="Combination 292">
            <a:extLst>
              <a:ext uri="{FF2B5EF4-FFF2-40B4-BE49-F238E27FC236}">
                <a16:creationId xmlns:a16="http://schemas.microsoft.com/office/drawing/2014/main" id="{B4C4D871-1B1C-615A-6CF8-C94CA6DF359A}"/>
              </a:ext>
            </a:extLst>
          </p:cNvPr>
          <p:cNvGrpSpPr/>
          <p:nvPr/>
        </p:nvGrpSpPr>
        <p:grpSpPr>
          <a:xfrm>
            <a:off x="7796530" y="1753235"/>
            <a:ext cx="3608070" cy="94615"/>
            <a:chOff x="7796530" y="1753235"/>
            <a:chExt cx="3608070" cy="94615"/>
          </a:xfrm>
        </p:grpSpPr>
        <p:sp>
          <p:nvSpPr>
            <p:cNvPr id="19" name="VectorPath 293">
              <a:extLst>
                <a:ext uri="{FF2B5EF4-FFF2-40B4-BE49-F238E27FC236}">
                  <a16:creationId xmlns:a16="http://schemas.microsoft.com/office/drawing/2014/main" id="{9B4F0D31-E81A-D3B6-2C25-E3FB23866B9F}"/>
                </a:ext>
              </a:extLst>
            </p:cNvPr>
            <p:cNvSpPr/>
            <p:nvPr/>
          </p:nvSpPr>
          <p:spPr>
            <a:xfrm>
              <a:off x="7796467" y="1828774"/>
              <a:ext cx="3607854" cy="19050"/>
            </a:xfrm>
            <a:custGeom>
              <a:avLst/>
              <a:gdLst/>
              <a:ahLst/>
              <a:cxnLst/>
              <a:rect l="l" t="t" r="r" b="b"/>
              <a:pathLst>
                <a:path w="3607791" h="19050">
                  <a:moveTo>
                    <a:pt x="3607791" y="0"/>
                  </a:moveTo>
                  <a:lnTo>
                    <a:pt x="-64" y="0"/>
                  </a:lnTo>
                  <a:lnTo>
                    <a:pt x="-64" y="19050"/>
                  </a:lnTo>
                  <a:lnTo>
                    <a:pt x="3607791" y="19050"/>
                  </a:lnTo>
                  <a:lnTo>
                    <a:pt x="3607791" y="0"/>
                  </a:lnTo>
                </a:path>
              </a:pathLst>
            </a:custGeom>
            <a:solidFill>
              <a:srgbClr val="BFBFBF">
                <a:alpha val="100000"/>
              </a:srgbClr>
            </a:solidFill>
          </p:spPr>
        </p:sp>
        <p:sp>
          <p:nvSpPr>
            <p:cNvPr id="20" name="VectorPath 294">
              <a:extLst>
                <a:ext uri="{FF2B5EF4-FFF2-40B4-BE49-F238E27FC236}">
                  <a16:creationId xmlns:a16="http://schemas.microsoft.com/office/drawing/2014/main" id="{AC515CF7-6A1D-EF2E-F944-CB1D537AEB6C}"/>
                </a:ext>
              </a:extLst>
            </p:cNvPr>
            <p:cNvSpPr/>
            <p:nvPr/>
          </p:nvSpPr>
          <p:spPr>
            <a:xfrm>
              <a:off x="10544176" y="1753476"/>
              <a:ext cx="860146" cy="19050"/>
            </a:xfrm>
            <a:custGeom>
              <a:avLst/>
              <a:gdLst/>
              <a:ahLst/>
              <a:cxnLst/>
              <a:rect l="l" t="t" r="r" b="b"/>
              <a:pathLst>
                <a:path w="860146" h="19050">
                  <a:moveTo>
                    <a:pt x="860146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860146" y="19050"/>
                  </a:lnTo>
                  <a:lnTo>
                    <a:pt x="860146" y="0"/>
                  </a:lnTo>
                </a:path>
              </a:pathLst>
            </a:custGeom>
            <a:solidFill>
              <a:srgbClr val="BFBFBF">
                <a:alpha val="100000"/>
              </a:srgbClr>
            </a:solidFill>
          </p:spPr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2819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18B2DEB-6914-EAB5-326C-8161DA6C8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71"/>
            <a:ext cx="12185522" cy="6858000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119B6831-8CAC-93D3-02B7-49C3EBCB36A7}"/>
              </a:ext>
            </a:extLst>
          </p:cNvPr>
          <p:cNvSpPr/>
          <p:nvPr/>
        </p:nvSpPr>
        <p:spPr>
          <a:xfrm>
            <a:off x="2991" y="0"/>
            <a:ext cx="12189009" cy="800847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gradFill flip="none" rotWithShape="1">
            <a:gsLst>
              <a:gs pos="0">
                <a:srgbClr val="124A8C"/>
              </a:gs>
              <a:gs pos="34000">
                <a:srgbClr val="124A8C"/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6000" dirty="0">
              <a:solidFill>
                <a:srgbClr val="001F5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7F55F0-04BE-6F7B-499A-AD8A2F5E3D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999" y="66430"/>
            <a:ext cx="2930508" cy="717379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0DABDBB4-B488-FB97-24F9-D50619874DD3}"/>
              </a:ext>
            </a:extLst>
          </p:cNvPr>
          <p:cNvSpPr>
            <a:spLocks noGrp="1"/>
          </p:cNvSpPr>
          <p:nvPr/>
        </p:nvSpPr>
        <p:spPr>
          <a:xfrm>
            <a:off x="639485" y="80847"/>
            <a:ext cx="5459505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总体实现链路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4E1478-3E5E-1A8D-3963-D0588E8667A9}"/>
              </a:ext>
            </a:extLst>
          </p:cNvPr>
          <p:cNvSpPr/>
          <p:nvPr/>
        </p:nvSpPr>
        <p:spPr>
          <a:xfrm>
            <a:off x="4196316" y="4260112"/>
            <a:ext cx="3664689" cy="1183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03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A85CD09D-C3EF-15AE-2BC1-14AED85BECA1}"/>
              </a:ext>
            </a:extLst>
          </p:cNvPr>
          <p:cNvSpPr/>
          <p:nvPr/>
        </p:nvSpPr>
        <p:spPr>
          <a:xfrm>
            <a:off x="2991" y="0"/>
            <a:ext cx="12189009" cy="800847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gradFill flip="none" rotWithShape="1">
            <a:gsLst>
              <a:gs pos="0">
                <a:srgbClr val="124A8C"/>
              </a:gs>
              <a:gs pos="34000">
                <a:srgbClr val="124A8C"/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6000" dirty="0">
              <a:solidFill>
                <a:srgbClr val="001F5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BD354F-865B-8523-349F-301D22C62A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999" y="66430"/>
            <a:ext cx="2930508" cy="717379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A9FAE08D-92DC-4D64-D875-670101D70AF8}"/>
              </a:ext>
            </a:extLst>
          </p:cNvPr>
          <p:cNvSpPr>
            <a:spLocks noGrp="1"/>
          </p:cNvSpPr>
          <p:nvPr/>
        </p:nvSpPr>
        <p:spPr>
          <a:xfrm>
            <a:off x="639485" y="80847"/>
            <a:ext cx="5459505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Context Adapter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5B9E41-C0F3-49CC-158B-1DA60E7AF27F}"/>
              </a:ext>
            </a:extLst>
          </p:cNvPr>
          <p:cNvSpPr>
            <a:spLocks noGrp="1"/>
          </p:cNvSpPr>
          <p:nvPr/>
        </p:nvSpPr>
        <p:spPr>
          <a:xfrm>
            <a:off x="359742" y="914324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dirty="0" err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不是把整屏内容塞给模型，而是把当前任务、对象、来源和权限整理成</a:t>
            </a:r>
            <a:r>
              <a:rPr sz="1950" b="1" dirty="0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1" dirty="0" err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ContextPacket</a:t>
            </a:r>
            <a:endParaRPr sz="1950" b="1" dirty="0">
              <a:solidFill>
                <a:srgbClr val="00408B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ABE578C-DD26-7437-D0D3-BD6C02ADB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742" y="1314374"/>
            <a:ext cx="3464109" cy="5309476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E19AD5D-FA4A-6619-3FCE-FCF908598E87}"/>
              </a:ext>
            </a:extLst>
          </p:cNvPr>
          <p:cNvSpPr>
            <a:spLocks noGrp="1"/>
          </p:cNvSpPr>
          <p:nvPr/>
        </p:nvSpPr>
        <p:spPr>
          <a:xfrm>
            <a:off x="6010666" y="1521053"/>
            <a:ext cx="3790950" cy="2257425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C8DAF1"/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A8D59C2-1AF1-A828-EB61-B48417EEA3D0}"/>
              </a:ext>
            </a:extLst>
          </p:cNvPr>
          <p:cNvSpPr>
            <a:spLocks noGrp="1"/>
          </p:cNvSpPr>
          <p:nvPr/>
        </p:nvSpPr>
        <p:spPr>
          <a:xfrm>
            <a:off x="6010666" y="1521053"/>
            <a:ext cx="3790950" cy="647700"/>
          </a:xfrm>
          <a:prstGeom prst="roundRect">
            <a:avLst>
              <a:gd name="adj" fmla="val 11765"/>
            </a:avLst>
          </a:prstGeom>
          <a:solidFill>
            <a:srgbClr val="003B82"/>
          </a:solidFill>
          <a:ln w="9525">
            <a:solidFill>
              <a:srgbClr val="003B82"/>
            </a:solidFill>
            <a:prstDash val="solid"/>
          </a:ln>
        </p:spPr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A61DFC44-0961-EB46-EA6F-3B0E6495F1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220216" y="1682978"/>
            <a:ext cx="323850" cy="32385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7FDD415F-7BF2-0CA2-2EF7-D708C9C7A768}"/>
              </a:ext>
            </a:extLst>
          </p:cNvPr>
          <p:cNvSpPr>
            <a:spLocks noGrp="1"/>
          </p:cNvSpPr>
          <p:nvPr/>
        </p:nvSpPr>
        <p:spPr>
          <a:xfrm>
            <a:off x="6696466" y="1673453"/>
            <a:ext cx="2933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84322B7-B693-62A1-AC17-26047E0A8E0F}"/>
              </a:ext>
            </a:extLst>
          </p:cNvPr>
          <p:cNvSpPr>
            <a:spLocks noGrp="1"/>
          </p:cNvSpPr>
          <p:nvPr/>
        </p:nvSpPr>
        <p:spPr>
          <a:xfrm>
            <a:off x="7306066" y="2168753"/>
            <a:ext cx="9525" cy="533400"/>
          </a:xfrm>
          <a:prstGeom prst="rect">
            <a:avLst/>
          </a:prstGeom>
          <a:solidFill>
            <a:srgbClr val="E5EFFB"/>
          </a:solidFill>
          <a:ln w="9525">
            <a:solidFill>
              <a:srgbClr val="E5EFFB"/>
            </a:solidFill>
            <a:prstDash val="solid"/>
          </a:ln>
        </p:spPr>
      </p:sp>
      <p:pic>
        <p:nvPicPr>
          <p:cNvPr id="20" name="图形 19">
            <a:extLst>
              <a:ext uri="{FF2B5EF4-FFF2-40B4-BE49-F238E27FC236}">
                <a16:creationId xmlns:a16="http://schemas.microsoft.com/office/drawing/2014/main" id="{0491BCF2-CE30-5543-39C9-F3989FDB59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220216" y="2330678"/>
            <a:ext cx="266700" cy="26670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F4E0D064-81A6-7BB6-584C-8DC24A63A0FF}"/>
              </a:ext>
            </a:extLst>
          </p:cNvPr>
          <p:cNvSpPr>
            <a:spLocks noGrp="1"/>
          </p:cNvSpPr>
          <p:nvPr/>
        </p:nvSpPr>
        <p:spPr>
          <a:xfrm>
            <a:off x="6601216" y="2330678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DF017F-9D2A-4870-9C49-3EF915F67940}"/>
              </a:ext>
            </a:extLst>
          </p:cNvPr>
          <p:cNvSpPr>
            <a:spLocks noGrp="1"/>
          </p:cNvSpPr>
          <p:nvPr/>
        </p:nvSpPr>
        <p:spPr>
          <a:xfrm>
            <a:off x="7477516" y="2283053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模型到底该看哪些上下文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1F23D5-2D77-1397-C0D5-E1DF000DF655}"/>
              </a:ext>
            </a:extLst>
          </p:cNvPr>
          <p:cNvSpPr>
            <a:spLocks noGrp="1"/>
          </p:cNvSpPr>
          <p:nvPr/>
        </p:nvSpPr>
        <p:spPr>
          <a:xfrm>
            <a:off x="6010666" y="2702153"/>
            <a:ext cx="3790950" cy="9525"/>
          </a:xfrm>
          <a:prstGeom prst="rect">
            <a:avLst/>
          </a:prstGeom>
          <a:solidFill>
            <a:srgbClr val="E5EFFB"/>
          </a:solidFill>
          <a:ln w="9525">
            <a:solidFill>
              <a:srgbClr val="E5EFF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FD6F9AC-5548-2177-3ECA-30ACB4F7C60C}"/>
              </a:ext>
            </a:extLst>
          </p:cNvPr>
          <p:cNvSpPr>
            <a:spLocks noGrp="1"/>
          </p:cNvSpPr>
          <p:nvPr/>
        </p:nvSpPr>
        <p:spPr>
          <a:xfrm>
            <a:off x="7306066" y="2702153"/>
            <a:ext cx="9525" cy="533400"/>
          </a:xfrm>
          <a:prstGeom prst="rect">
            <a:avLst/>
          </a:prstGeom>
          <a:solidFill>
            <a:srgbClr val="E5EFFB"/>
          </a:solidFill>
          <a:ln w="9525">
            <a:solidFill>
              <a:srgbClr val="E5EFFB"/>
            </a:solidFill>
            <a:prstDash val="solid"/>
          </a:ln>
        </p:spPr>
      </p:sp>
      <p:pic>
        <p:nvPicPr>
          <p:cNvPr id="25" name="图形 24">
            <a:extLst>
              <a:ext uri="{FF2B5EF4-FFF2-40B4-BE49-F238E27FC236}">
                <a16:creationId xmlns:a16="http://schemas.microsoft.com/office/drawing/2014/main" id="{7A8ECCF1-4357-820C-BF69-A140F6E008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220216" y="2864078"/>
            <a:ext cx="266700" cy="26670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8F9222E5-2AF1-E4D0-F4E8-83BE47D118B9}"/>
              </a:ext>
            </a:extLst>
          </p:cNvPr>
          <p:cNvSpPr>
            <a:spLocks noGrp="1"/>
          </p:cNvSpPr>
          <p:nvPr/>
        </p:nvSpPr>
        <p:spPr>
          <a:xfrm>
            <a:off x="6601216" y="2864078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1CE5C6-2B99-E03D-A30F-4B4E520222C5}"/>
              </a:ext>
            </a:extLst>
          </p:cNvPr>
          <p:cNvSpPr>
            <a:spLocks noGrp="1"/>
          </p:cNvSpPr>
          <p:nvPr/>
        </p:nvSpPr>
        <p:spPr>
          <a:xfrm>
            <a:off x="7477516" y="2816453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当前任务、文档、邮件、CRM</a:t>
            </a:r>
            <a:r>
              <a:rPr sz="1200" b="0" dirty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引用</a:t>
            </a:r>
            <a:endParaRPr sz="1200" b="0" dirty="0">
              <a:solidFill>
                <a:srgbClr val="10182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1DAE50A-EFC0-E93F-562F-C8B0DE0D6E92}"/>
              </a:ext>
            </a:extLst>
          </p:cNvPr>
          <p:cNvSpPr>
            <a:spLocks noGrp="1"/>
          </p:cNvSpPr>
          <p:nvPr/>
        </p:nvSpPr>
        <p:spPr>
          <a:xfrm>
            <a:off x="6010666" y="3235553"/>
            <a:ext cx="3790950" cy="9525"/>
          </a:xfrm>
          <a:prstGeom prst="rect">
            <a:avLst/>
          </a:prstGeom>
          <a:solidFill>
            <a:srgbClr val="E5EFFB"/>
          </a:solidFill>
          <a:ln w="9525">
            <a:solidFill>
              <a:srgbClr val="E5EFF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2FCE596-02DF-B45F-30D3-5BCC855F4C6C}"/>
              </a:ext>
            </a:extLst>
          </p:cNvPr>
          <p:cNvSpPr>
            <a:spLocks noGrp="1"/>
          </p:cNvSpPr>
          <p:nvPr/>
        </p:nvSpPr>
        <p:spPr>
          <a:xfrm>
            <a:off x="7306066" y="3235553"/>
            <a:ext cx="9525" cy="533400"/>
          </a:xfrm>
          <a:prstGeom prst="rect">
            <a:avLst/>
          </a:prstGeom>
          <a:solidFill>
            <a:srgbClr val="E5EFFB"/>
          </a:solidFill>
          <a:ln w="9525">
            <a:solidFill>
              <a:srgbClr val="E5EFFB"/>
            </a:solidFill>
            <a:prstDash val="solid"/>
          </a:ln>
        </p:spPr>
      </p:sp>
      <p:pic>
        <p:nvPicPr>
          <p:cNvPr id="30" name="图形 29">
            <a:extLst>
              <a:ext uri="{FF2B5EF4-FFF2-40B4-BE49-F238E27FC236}">
                <a16:creationId xmlns:a16="http://schemas.microsoft.com/office/drawing/2014/main" id="{38775146-7055-6DDB-6E96-1FC3C22AB2C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6220216" y="3397478"/>
            <a:ext cx="266700" cy="26670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BCE708FE-3A9A-D881-C1B8-9294782667CF}"/>
              </a:ext>
            </a:extLst>
          </p:cNvPr>
          <p:cNvSpPr>
            <a:spLocks noGrp="1"/>
          </p:cNvSpPr>
          <p:nvPr/>
        </p:nvSpPr>
        <p:spPr>
          <a:xfrm>
            <a:off x="6601216" y="3397478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00408B"/>
                </a:solidFill>
                <a:latin typeface="Microsoft YaHei"/>
                <a:ea typeface="Microsoft YaHei"/>
                <a:cs typeface="Microsoft YaHei"/>
              </a:rPr>
              <a:t>核心</a:t>
            </a:r>
            <a:endParaRPr sz="1200" b="1" dirty="0">
              <a:solidFill>
                <a:srgbClr val="0040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9CD102-8C57-419E-39AF-10EF2B3EE355}"/>
              </a:ext>
            </a:extLst>
          </p:cNvPr>
          <p:cNvSpPr>
            <a:spLocks noGrp="1"/>
          </p:cNvSpPr>
          <p:nvPr/>
        </p:nvSpPr>
        <p:spPr>
          <a:xfrm>
            <a:off x="7477516" y="3349853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通过读取当前用户的操作，提取对应的可用上下文</a:t>
            </a:r>
            <a:endParaRPr sz="1200" b="0" dirty="0">
              <a:solidFill>
                <a:srgbClr val="10182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30BB72E-FBBB-5E19-25F9-3F9943F04416}"/>
              </a:ext>
            </a:extLst>
          </p:cNvPr>
          <p:cNvSpPr>
            <a:spLocks noGrp="1"/>
          </p:cNvSpPr>
          <p:nvPr/>
        </p:nvSpPr>
        <p:spPr>
          <a:xfrm>
            <a:off x="6010666" y="3768953"/>
            <a:ext cx="3790950" cy="9525"/>
          </a:xfrm>
          <a:prstGeom prst="rect">
            <a:avLst/>
          </a:prstGeom>
          <a:solidFill>
            <a:srgbClr val="E5EFFB"/>
          </a:solidFill>
          <a:ln w="9525">
            <a:solidFill>
              <a:srgbClr val="E5EFFB"/>
            </a:solidFill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27B5369-AFD9-B798-B596-0CDAE14FF590}"/>
              </a:ext>
            </a:extLst>
          </p:cNvPr>
          <p:cNvSpPr>
            <a:spLocks noGrp="1"/>
          </p:cNvSpPr>
          <p:nvPr/>
        </p:nvSpPr>
        <p:spPr>
          <a:xfrm>
            <a:off x="5581008" y="4146323"/>
            <a:ext cx="4913727" cy="152796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dirty="0"/>
              <a:t>把拟真页面中的可读字段，统一转换成 </a:t>
            </a:r>
            <a:r>
              <a:rPr lang="en-US" altLang="zh-CN" sz="1600" dirty="0"/>
              <a:t>Agent </a:t>
            </a:r>
            <a:r>
              <a:rPr lang="zh-CN" altLang="en-US" sz="1600" dirty="0"/>
              <a:t>能理解的上下文包。</a:t>
            </a:r>
            <a:endParaRPr lang="en-US" altLang="zh-CN" sz="1600" dirty="0"/>
          </a:p>
          <a:p>
            <a:pPr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600" dirty="0"/>
          </a:p>
          <a:p>
            <a:pPr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dirty="0"/>
              <a:t>避免</a:t>
            </a:r>
            <a:r>
              <a:rPr lang="en-US" altLang="zh-CN" sz="1600" dirty="0"/>
              <a:t>Agent</a:t>
            </a:r>
            <a:r>
              <a:rPr lang="zh-CN" altLang="en-US" sz="1600" dirty="0"/>
              <a:t>读了不该读的干扰内容，也确保</a:t>
            </a:r>
            <a:r>
              <a:rPr lang="en-US" altLang="zh-CN" sz="1600" dirty="0"/>
              <a:t>Agent</a:t>
            </a:r>
            <a:r>
              <a:rPr lang="zh-CN" altLang="en-US" sz="1600" dirty="0"/>
              <a:t>能读到需要的内容。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12326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8A98DCF-098D-7775-572B-33467493D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35815484-0AA7-F388-62C5-128B07BAE2B5}"/>
              </a:ext>
            </a:extLst>
          </p:cNvPr>
          <p:cNvSpPr/>
          <p:nvPr/>
        </p:nvSpPr>
        <p:spPr>
          <a:xfrm>
            <a:off x="0" y="-14271"/>
            <a:ext cx="12189009" cy="800847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gradFill flip="none" rotWithShape="1">
            <a:gsLst>
              <a:gs pos="0">
                <a:srgbClr val="124A8C"/>
              </a:gs>
              <a:gs pos="34000">
                <a:srgbClr val="124A8C"/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6000" dirty="0">
              <a:solidFill>
                <a:srgbClr val="001F5F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17AEAFC-0541-9937-80CF-548FB0B645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08" y="52159"/>
            <a:ext cx="2930508" cy="717379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46C94D19-AE8F-B12D-A272-660361827BE8}"/>
              </a:ext>
            </a:extLst>
          </p:cNvPr>
          <p:cNvSpPr>
            <a:spLocks noGrp="1"/>
          </p:cNvSpPr>
          <p:nvPr/>
        </p:nvSpPr>
        <p:spPr>
          <a:xfrm>
            <a:off x="636494" y="66576"/>
            <a:ext cx="5459505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上下文与隐私过滤</a:t>
            </a:r>
          </a:p>
        </p:txBody>
      </p:sp>
    </p:spTree>
    <p:extLst>
      <p:ext uri="{BB962C8B-B14F-4D97-AF65-F5344CB8AC3E}">
        <p14:creationId xmlns:p14="http://schemas.microsoft.com/office/powerpoint/2010/main" val="3124186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958001E-F15C-4CA5-995F-033DA3276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79BBDBB2-2248-CE4E-3548-80230636DB75}"/>
              </a:ext>
            </a:extLst>
          </p:cNvPr>
          <p:cNvSpPr/>
          <p:nvPr/>
        </p:nvSpPr>
        <p:spPr>
          <a:xfrm>
            <a:off x="0" y="-14271"/>
            <a:ext cx="12189009" cy="783809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gradFill flip="none" rotWithShape="1">
            <a:gsLst>
              <a:gs pos="0">
                <a:srgbClr val="124A8C"/>
              </a:gs>
              <a:gs pos="34000">
                <a:srgbClr val="124A8C"/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6000" dirty="0">
              <a:solidFill>
                <a:srgbClr val="001F5F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D9B6E0-EF88-00A2-96C2-EC40F2556E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08" y="52159"/>
            <a:ext cx="2930508" cy="71737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8C1B29B2-8DE2-96A7-91CB-A95B067F15ED}"/>
              </a:ext>
            </a:extLst>
          </p:cNvPr>
          <p:cNvSpPr>
            <a:spLocks noGrp="1"/>
          </p:cNvSpPr>
          <p:nvPr/>
        </p:nvSpPr>
        <p:spPr>
          <a:xfrm>
            <a:off x="636495" y="66576"/>
            <a:ext cx="5176476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个人办公及出行场景需求分析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F160A1EC-8207-20CE-EBA4-7C8D0CF6A3C6}"/>
              </a:ext>
            </a:extLst>
          </p:cNvPr>
          <p:cNvSpPr/>
          <p:nvPr/>
        </p:nvSpPr>
        <p:spPr>
          <a:xfrm>
            <a:off x="-248" y="-24454"/>
            <a:ext cx="12189009" cy="783809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gradFill flip="none" rotWithShape="1">
            <a:gsLst>
              <a:gs pos="0">
                <a:srgbClr val="124A8C"/>
              </a:gs>
              <a:gs pos="34000">
                <a:srgbClr val="124A8C"/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6000" dirty="0">
              <a:solidFill>
                <a:srgbClr val="001F5F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42C8673-0624-F13B-4BDA-70372B506E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760" y="41976"/>
            <a:ext cx="2930508" cy="717379"/>
          </a:xfrm>
          <a:prstGeom prst="rect">
            <a:avLst/>
          </a:prstGeom>
        </p:spPr>
      </p:pic>
      <p:sp>
        <p:nvSpPr>
          <p:cNvPr id="16" name="标题 1">
            <a:extLst>
              <a:ext uri="{FF2B5EF4-FFF2-40B4-BE49-F238E27FC236}">
                <a16:creationId xmlns:a16="http://schemas.microsoft.com/office/drawing/2014/main" id="{C7C932D4-2B20-7883-A2F9-6F971F18ABF6}"/>
              </a:ext>
            </a:extLst>
          </p:cNvPr>
          <p:cNvSpPr>
            <a:spLocks noGrp="1"/>
          </p:cNvSpPr>
          <p:nvPr/>
        </p:nvSpPr>
        <p:spPr>
          <a:xfrm>
            <a:off x="636246" y="56393"/>
            <a:ext cx="6754109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ActionSpec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：把意图变为动作</a:t>
            </a:r>
          </a:p>
        </p:txBody>
      </p:sp>
    </p:spTree>
    <p:extLst>
      <p:ext uri="{BB962C8B-B14F-4D97-AF65-F5344CB8AC3E}">
        <p14:creationId xmlns:p14="http://schemas.microsoft.com/office/powerpoint/2010/main" val="434820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EBD4D0-7E7F-F337-9480-FFCD965F2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F6543B8-6B5E-554F-EF22-2BF007F60C6E}"/>
              </a:ext>
            </a:extLst>
          </p:cNvPr>
          <p:cNvSpPr/>
          <p:nvPr/>
        </p:nvSpPr>
        <p:spPr>
          <a:xfrm>
            <a:off x="155944" y="921488"/>
            <a:ext cx="6188149" cy="4536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949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308E-4641-C74E-C484-27B35B5B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EAC67B-7716-3568-3384-21FDF8FCE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3139758-08E0-8644-9D01-B9532F351742}"/>
              </a:ext>
            </a:extLst>
          </p:cNvPr>
          <p:cNvSpPr/>
          <p:nvPr/>
        </p:nvSpPr>
        <p:spPr>
          <a:xfrm>
            <a:off x="155944" y="921488"/>
            <a:ext cx="6663070" cy="4536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354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A4927-6F02-22B5-2AD7-C5FE6B88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D98FEEB-3C90-C919-D101-06403EDB1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object 5">
            <a:extLst>
              <a:ext uri="{FF2B5EF4-FFF2-40B4-BE49-F238E27FC236}">
                <a16:creationId xmlns:a16="http://schemas.microsoft.com/office/drawing/2014/main" id="{595D2D33-24B3-961D-BF92-BF9F51842131}"/>
              </a:ext>
            </a:extLst>
          </p:cNvPr>
          <p:cNvSpPr/>
          <p:nvPr/>
        </p:nvSpPr>
        <p:spPr>
          <a:xfrm>
            <a:off x="-248" y="-24454"/>
            <a:ext cx="12189009" cy="783809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gradFill flip="none" rotWithShape="1">
            <a:gsLst>
              <a:gs pos="0">
                <a:srgbClr val="124A8C"/>
              </a:gs>
              <a:gs pos="34000">
                <a:srgbClr val="124A8C"/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6000" dirty="0">
              <a:solidFill>
                <a:srgbClr val="001F5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D94BE8-C0DE-0CCC-7F16-25A5028D6E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760" y="41976"/>
            <a:ext cx="2930508" cy="717379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0FA6019F-00C1-B894-F808-E56E0DC0C907}"/>
              </a:ext>
            </a:extLst>
          </p:cNvPr>
          <p:cNvSpPr>
            <a:spLocks noGrp="1"/>
          </p:cNvSpPr>
          <p:nvPr/>
        </p:nvSpPr>
        <p:spPr>
          <a:xfrm>
            <a:off x="405732" y="63809"/>
            <a:ext cx="6754109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人机共驾的四个边界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DAEB0B-B7E3-FBE3-075A-BE37FD69FAB8}"/>
              </a:ext>
            </a:extLst>
          </p:cNvPr>
          <p:cNvSpPr/>
          <p:nvPr/>
        </p:nvSpPr>
        <p:spPr>
          <a:xfrm>
            <a:off x="347330" y="5160335"/>
            <a:ext cx="11575312" cy="12546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209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E65EE-1A5F-8740-A79B-71476452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D4431B2-3FAD-5574-9B6F-821AAC6C5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object 5">
            <a:extLst>
              <a:ext uri="{FF2B5EF4-FFF2-40B4-BE49-F238E27FC236}">
                <a16:creationId xmlns:a16="http://schemas.microsoft.com/office/drawing/2014/main" id="{B8ABB307-1ED5-EF41-0170-16EC1DE093AD}"/>
              </a:ext>
            </a:extLst>
          </p:cNvPr>
          <p:cNvSpPr/>
          <p:nvPr/>
        </p:nvSpPr>
        <p:spPr>
          <a:xfrm>
            <a:off x="-248" y="-24454"/>
            <a:ext cx="12189009" cy="851172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gradFill flip="none" rotWithShape="1">
            <a:gsLst>
              <a:gs pos="0">
                <a:srgbClr val="124A8C"/>
              </a:gs>
              <a:gs pos="34000">
                <a:srgbClr val="124A8C"/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6000" dirty="0">
              <a:solidFill>
                <a:srgbClr val="001F5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95F405-D8EB-E001-F2FA-7BCC972A6F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760" y="41976"/>
            <a:ext cx="2930508" cy="717379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2BB1E0F6-BE1E-747D-20EC-746A6A232246}"/>
              </a:ext>
            </a:extLst>
          </p:cNvPr>
          <p:cNvSpPr>
            <a:spLocks noGrp="1"/>
          </p:cNvSpPr>
          <p:nvPr/>
        </p:nvSpPr>
        <p:spPr>
          <a:xfrm>
            <a:off x="636246" y="56393"/>
            <a:ext cx="6754109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四个边界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人机共驾：落地映射</a:t>
            </a:r>
          </a:p>
        </p:txBody>
      </p:sp>
    </p:spTree>
    <p:extLst>
      <p:ext uri="{BB962C8B-B14F-4D97-AF65-F5344CB8AC3E}">
        <p14:creationId xmlns:p14="http://schemas.microsoft.com/office/powerpoint/2010/main" val="1118925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78E1-D28D-DE31-B34E-3B5F1655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37487B47-F323-AFF2-693D-C1E9889DA660}"/>
              </a:ext>
            </a:extLst>
          </p:cNvPr>
          <p:cNvSpPr/>
          <p:nvPr/>
        </p:nvSpPr>
        <p:spPr>
          <a:xfrm>
            <a:off x="-248" y="-24454"/>
            <a:ext cx="12189009" cy="783809"/>
          </a:xfrm>
          <a:custGeom>
            <a:avLst/>
            <a:gdLst/>
            <a:ahLst/>
            <a:cxnLst/>
            <a:rect l="l" t="t" r="r" b="b"/>
            <a:pathLst>
              <a:path w="9144000" h="2910840">
                <a:moveTo>
                  <a:pt x="9144000" y="0"/>
                </a:moveTo>
                <a:lnTo>
                  <a:pt x="0" y="0"/>
                </a:lnTo>
                <a:lnTo>
                  <a:pt x="0" y="2910839"/>
                </a:lnTo>
                <a:lnTo>
                  <a:pt x="9144000" y="2910839"/>
                </a:lnTo>
                <a:lnTo>
                  <a:pt x="9144000" y="0"/>
                </a:lnTo>
                <a:close/>
              </a:path>
            </a:pathLst>
          </a:custGeom>
          <a:gradFill flip="none" rotWithShape="1">
            <a:gsLst>
              <a:gs pos="0">
                <a:srgbClr val="124A8C"/>
              </a:gs>
              <a:gs pos="34000">
                <a:srgbClr val="124A8C"/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200000"/>
              </a:lnSpc>
            </a:pPr>
            <a:endParaRPr sz="6000" dirty="0">
              <a:solidFill>
                <a:srgbClr val="001F5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DF1D78-B414-CAB5-D31D-2AE15A1DC8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760" y="41976"/>
            <a:ext cx="2930508" cy="717379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38817728-2C6D-E159-6517-736A301BDB52}"/>
              </a:ext>
            </a:extLst>
          </p:cNvPr>
          <p:cNvSpPr>
            <a:spLocks noGrp="1"/>
          </p:cNvSpPr>
          <p:nvPr/>
        </p:nvSpPr>
        <p:spPr>
          <a:xfrm>
            <a:off x="636246" y="56393"/>
            <a:ext cx="6754109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四个边界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X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人机共驾：落地映射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4E51C-4AD6-06B1-75C5-08C0915B4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94765"/>
            <a:ext cx="12192000" cy="282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602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16|3.0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16|3.06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16|3.065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5052</TotalTime>
  <Words>728</Words>
  <Application>Microsoft Office PowerPoint</Application>
  <PresentationFormat>宽屏</PresentationFormat>
  <Paragraphs>112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等线</vt:lpstr>
      <vt:lpstr>等线 Light</vt:lpstr>
      <vt:lpstr>方正黑体简体</vt:lpstr>
      <vt:lpstr>Microsoft YaHei</vt:lpstr>
      <vt:lpstr>Microsoft YaHei</vt:lpstr>
      <vt:lpstr>Arial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王浩</dc:creator>
  <cp:lastModifiedBy>浩 王</cp:lastModifiedBy>
  <cp:revision>307</cp:revision>
  <dcterms:created xsi:type="dcterms:W3CDTF">2025-03-26T05:14:00Z</dcterms:created>
  <dcterms:modified xsi:type="dcterms:W3CDTF">2026-06-15T06:56:23Z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3AECC7800BE34D2BB741520B173CBB46_13</vt:lpwstr>
  </property>
  <property fmtid="{D5CDD505-2E9C-101B-9397-08002B2CF9AE}" pid="3" name="KSOProductBuildVer">
    <vt:lpwstr>2052-12.1.0.24657</vt:lpwstr>
  </property>
</Properties>
</file>